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62" r:id="rId1"/>
  </p:sldMasterIdLst>
  <p:notesMasterIdLst>
    <p:notesMasterId r:id="rId62"/>
  </p:notesMasterIdLst>
  <p:handoutMasterIdLst>
    <p:handoutMasterId r:id="rId63"/>
  </p:handoutMasterIdLst>
  <p:sldIdLst>
    <p:sldId id="332" r:id="rId2"/>
    <p:sldId id="338" r:id="rId3"/>
    <p:sldId id="339" r:id="rId4"/>
    <p:sldId id="340" r:id="rId5"/>
    <p:sldId id="341" r:id="rId6"/>
    <p:sldId id="342" r:id="rId7"/>
    <p:sldId id="343" r:id="rId8"/>
    <p:sldId id="344" r:id="rId9"/>
    <p:sldId id="345" r:id="rId10"/>
    <p:sldId id="347" r:id="rId11"/>
    <p:sldId id="348" r:id="rId12"/>
    <p:sldId id="349" r:id="rId13"/>
    <p:sldId id="350" r:id="rId14"/>
    <p:sldId id="351" r:id="rId15"/>
    <p:sldId id="352" r:id="rId16"/>
    <p:sldId id="353" r:id="rId17"/>
    <p:sldId id="354" r:id="rId18"/>
    <p:sldId id="355" r:id="rId19"/>
    <p:sldId id="356" r:id="rId20"/>
    <p:sldId id="357" r:id="rId21"/>
    <p:sldId id="425" r:id="rId22"/>
    <p:sldId id="359" r:id="rId23"/>
    <p:sldId id="360" r:id="rId24"/>
    <p:sldId id="426" r:id="rId25"/>
    <p:sldId id="363" r:id="rId26"/>
    <p:sldId id="364" r:id="rId27"/>
    <p:sldId id="365" r:id="rId28"/>
    <p:sldId id="366" r:id="rId29"/>
    <p:sldId id="367" r:id="rId30"/>
    <p:sldId id="368" r:id="rId31"/>
    <p:sldId id="369" r:id="rId32"/>
    <p:sldId id="371" r:id="rId33"/>
    <p:sldId id="373" r:id="rId34"/>
    <p:sldId id="375" r:id="rId35"/>
    <p:sldId id="377" r:id="rId36"/>
    <p:sldId id="379" r:id="rId37"/>
    <p:sldId id="381" r:id="rId38"/>
    <p:sldId id="383" r:id="rId39"/>
    <p:sldId id="385" r:id="rId40"/>
    <p:sldId id="387" r:id="rId41"/>
    <p:sldId id="389" r:id="rId42"/>
    <p:sldId id="391" r:id="rId43"/>
    <p:sldId id="393" r:id="rId44"/>
    <p:sldId id="395" r:id="rId45"/>
    <p:sldId id="397" r:id="rId46"/>
    <p:sldId id="399" r:id="rId47"/>
    <p:sldId id="401" r:id="rId48"/>
    <p:sldId id="403" r:id="rId49"/>
    <p:sldId id="405" r:id="rId50"/>
    <p:sldId id="407" r:id="rId51"/>
    <p:sldId id="409" r:id="rId52"/>
    <p:sldId id="411" r:id="rId53"/>
    <p:sldId id="413" r:id="rId54"/>
    <p:sldId id="415" r:id="rId55"/>
    <p:sldId id="417" r:id="rId56"/>
    <p:sldId id="419" r:id="rId57"/>
    <p:sldId id="421" r:id="rId58"/>
    <p:sldId id="422" r:id="rId59"/>
    <p:sldId id="423" r:id="rId60"/>
    <p:sldId id="424" r:id="rId61"/>
  </p:sldIdLst>
  <p:sldSz cx="9144000" cy="6858000" type="screen4x3"/>
  <p:notesSz cx="6858000" cy="9144000"/>
  <p:defaultTextStyle>
    <a:defPPr>
      <a:defRPr lang="en-US"/>
    </a:defPPr>
    <a:lvl1pPr algn="l" rtl="0" eaLnBrk="0" fontAlgn="base" hangingPunct="0">
      <a:spcBef>
        <a:spcPct val="0"/>
      </a:spcBef>
      <a:spcAft>
        <a:spcPct val="0"/>
      </a:spcAft>
      <a:defRPr sz="2400" kern="1200">
        <a:solidFill>
          <a:schemeClr val="tx1"/>
        </a:solidFill>
        <a:latin typeface="Times New Roman" panose="02020603050405020304" pitchFamily="18" charset="0"/>
        <a:ea typeface="MS PGothic" panose="020B0600070205080204" pitchFamily="34" charset="-128"/>
        <a:cs typeface="+mn-cs"/>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MS PGothic" panose="020B0600070205080204" pitchFamily="34" charset="-128"/>
        <a:cs typeface="+mn-cs"/>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MS PGothic" panose="020B0600070205080204" pitchFamily="34" charset="-128"/>
        <a:cs typeface="+mn-cs"/>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MS PGothic" panose="020B0600070205080204" pitchFamily="34" charset="-128"/>
        <a:cs typeface="+mn-cs"/>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MS PGothic" panose="020B0600070205080204" pitchFamily="34" charset="-128"/>
        <a:cs typeface="+mn-cs"/>
      </a:defRPr>
    </a:lvl5pPr>
    <a:lvl6pPr marL="2286000" algn="l" defTabSz="914400" rtl="0" eaLnBrk="1" latinLnBrk="0" hangingPunct="1">
      <a:defRPr sz="2400" kern="1200">
        <a:solidFill>
          <a:schemeClr val="tx1"/>
        </a:solidFill>
        <a:latin typeface="Times New Roman" panose="02020603050405020304" pitchFamily="18" charset="0"/>
        <a:ea typeface="MS PGothic" panose="020B0600070205080204" pitchFamily="34" charset="-128"/>
        <a:cs typeface="+mn-cs"/>
      </a:defRPr>
    </a:lvl6pPr>
    <a:lvl7pPr marL="2743200" algn="l" defTabSz="914400" rtl="0" eaLnBrk="1" latinLnBrk="0" hangingPunct="1">
      <a:defRPr sz="2400" kern="1200">
        <a:solidFill>
          <a:schemeClr val="tx1"/>
        </a:solidFill>
        <a:latin typeface="Times New Roman" panose="02020603050405020304" pitchFamily="18" charset="0"/>
        <a:ea typeface="MS PGothic" panose="020B0600070205080204" pitchFamily="34" charset="-128"/>
        <a:cs typeface="+mn-cs"/>
      </a:defRPr>
    </a:lvl7pPr>
    <a:lvl8pPr marL="3200400" algn="l" defTabSz="914400" rtl="0" eaLnBrk="1" latinLnBrk="0" hangingPunct="1">
      <a:defRPr sz="2400" kern="1200">
        <a:solidFill>
          <a:schemeClr val="tx1"/>
        </a:solidFill>
        <a:latin typeface="Times New Roman" panose="02020603050405020304" pitchFamily="18" charset="0"/>
        <a:ea typeface="MS PGothic" panose="020B0600070205080204" pitchFamily="34" charset="-128"/>
        <a:cs typeface="+mn-cs"/>
      </a:defRPr>
    </a:lvl8pPr>
    <a:lvl9pPr marL="3657600" algn="l" defTabSz="914400" rtl="0" eaLnBrk="1" latinLnBrk="0" hangingPunct="1">
      <a:defRPr sz="2400" kern="1200">
        <a:solidFill>
          <a:schemeClr val="tx1"/>
        </a:solidFill>
        <a:latin typeface="Times New Roman" panose="02020603050405020304" pitchFamily="18" charset="0"/>
        <a:ea typeface="MS PGothic" panose="020B0600070205080204" pitchFamily="34" charset="-128"/>
        <a:cs typeface="+mn-cs"/>
      </a:defRPr>
    </a:lvl9pPr>
  </p:defaultTextStyle>
  <p:extLst>
    <p:ext uri="{EFAFB233-063F-42B5-8137-9DF3F51BA10A}">
      <p15:sldGuideLst xmlns:p15="http://schemas.microsoft.com/office/powerpoint/2012/main">
        <p15:guide id="1" orient="horz" pos="1008">
          <p15:clr>
            <a:srgbClr val="A4A3A4"/>
          </p15:clr>
        </p15:guide>
        <p15:guide id="2" pos="432">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99BCBFF-48D1-46F4-BE0B-F16576F84182}" v="2" dt="2023-09-27T00:50:15.22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1492" autoAdjust="0"/>
    <p:restoredTop sz="80777" autoAdjust="0"/>
  </p:normalViewPr>
  <p:slideViewPr>
    <p:cSldViewPr>
      <p:cViewPr varScale="1">
        <p:scale>
          <a:sx n="66" d="100"/>
          <a:sy n="66" d="100"/>
        </p:scale>
        <p:origin x="1661" y="62"/>
      </p:cViewPr>
      <p:guideLst>
        <p:guide orient="horz" pos="1008"/>
        <p:guide pos="432"/>
      </p:guideLst>
    </p:cSldViewPr>
  </p:slideViewPr>
  <p:outlineViewPr>
    <p:cViewPr>
      <p:scale>
        <a:sx n="33" d="100"/>
        <a:sy n="33" d="100"/>
      </p:scale>
      <p:origin x="0" y="1192"/>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handoutMaster" Target="handoutMasters/handoutMaster1.xml"/><Relationship Id="rId68" Type="http://schemas.microsoft.com/office/2015/10/relationships/revisionInfo" Target="revisionInfo.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8002" name="Rectangle 2"/>
          <p:cNvSpPr>
            <a:spLocks noGrp="1" noChangeArrowheads="1"/>
          </p:cNvSpPr>
          <p:nvPr>
            <p:ph type="hdr" sz="quarter"/>
          </p:nvPr>
        </p:nvSpPr>
        <p:spPr bwMode="auto">
          <a:xfrm>
            <a:off x="0" y="0"/>
            <a:ext cx="2971800" cy="457200"/>
          </a:xfrm>
          <a:prstGeom prst="rect">
            <a:avLst/>
          </a:prstGeom>
          <a:noFill/>
          <a:ln w="12700" cap="sq">
            <a:noFill/>
            <a:miter lim="800000"/>
            <a:headEnd type="none" w="sm" len="sm"/>
            <a:tailEnd type="none" w="sm" len="sm"/>
          </a:ln>
          <a:effectLst/>
        </p:spPr>
        <p:txBody>
          <a:bodyPr vert="horz" wrap="none" lIns="91440" tIns="45720" rIns="91440" bIns="45720" numCol="1" anchor="t" anchorCtr="0" compatLnSpc="1">
            <a:prstTxWarp prst="textNoShape">
              <a:avLst/>
            </a:prstTxWarp>
          </a:bodyPr>
          <a:lstStyle>
            <a:lvl1pPr eaLnBrk="1" hangingPunct="1">
              <a:defRPr sz="1200">
                <a:latin typeface="Times New Roman" pitchFamily="80" charset="0"/>
                <a:ea typeface="+mn-ea"/>
                <a:cs typeface="+mn-cs"/>
              </a:defRPr>
            </a:lvl1pPr>
          </a:lstStyle>
          <a:p>
            <a:pPr>
              <a:defRPr/>
            </a:pPr>
            <a:endParaRPr lang="en-US"/>
          </a:p>
        </p:txBody>
      </p:sp>
      <p:sp>
        <p:nvSpPr>
          <p:cNvPr id="128003" name="Rectangle 3"/>
          <p:cNvSpPr>
            <a:spLocks noGrp="1" noChangeArrowheads="1"/>
          </p:cNvSpPr>
          <p:nvPr>
            <p:ph type="dt" sz="quarter" idx="1"/>
          </p:nvPr>
        </p:nvSpPr>
        <p:spPr bwMode="auto">
          <a:xfrm>
            <a:off x="3886200" y="0"/>
            <a:ext cx="2971800" cy="457200"/>
          </a:xfrm>
          <a:prstGeom prst="rect">
            <a:avLst/>
          </a:prstGeom>
          <a:noFill/>
          <a:ln w="12700" cap="sq">
            <a:noFill/>
            <a:miter lim="800000"/>
            <a:headEnd type="none" w="sm" len="sm"/>
            <a:tailEnd type="none" w="sm" len="sm"/>
          </a:ln>
          <a:effectLst/>
        </p:spPr>
        <p:txBody>
          <a:bodyPr vert="horz" wrap="none" lIns="91440" tIns="45720" rIns="91440" bIns="45720" numCol="1" anchor="t" anchorCtr="0" compatLnSpc="1">
            <a:prstTxWarp prst="textNoShape">
              <a:avLst/>
            </a:prstTxWarp>
          </a:bodyPr>
          <a:lstStyle>
            <a:lvl1pPr algn="r" eaLnBrk="1" hangingPunct="1">
              <a:defRPr sz="1200">
                <a:latin typeface="Times New Roman" pitchFamily="80" charset="0"/>
                <a:ea typeface="+mn-ea"/>
                <a:cs typeface="+mn-cs"/>
              </a:defRPr>
            </a:lvl1pPr>
          </a:lstStyle>
          <a:p>
            <a:pPr>
              <a:defRPr/>
            </a:pPr>
            <a:endParaRPr lang="en-US"/>
          </a:p>
        </p:txBody>
      </p:sp>
      <p:sp>
        <p:nvSpPr>
          <p:cNvPr id="128004" name="Rectangle 4"/>
          <p:cNvSpPr>
            <a:spLocks noGrp="1" noChangeArrowheads="1"/>
          </p:cNvSpPr>
          <p:nvPr>
            <p:ph type="ftr" sz="quarter" idx="2"/>
          </p:nvPr>
        </p:nvSpPr>
        <p:spPr bwMode="auto">
          <a:xfrm>
            <a:off x="0" y="8686800"/>
            <a:ext cx="2971800" cy="457200"/>
          </a:xfrm>
          <a:prstGeom prst="rect">
            <a:avLst/>
          </a:prstGeom>
          <a:noFill/>
          <a:ln w="12700" cap="sq">
            <a:noFill/>
            <a:miter lim="800000"/>
            <a:headEnd type="none" w="sm" len="sm"/>
            <a:tailEnd type="none" w="sm" len="sm"/>
          </a:ln>
          <a:effectLst/>
        </p:spPr>
        <p:txBody>
          <a:bodyPr vert="horz" wrap="none" lIns="91440" tIns="45720" rIns="91440" bIns="45720" numCol="1" anchor="b" anchorCtr="0" compatLnSpc="1">
            <a:prstTxWarp prst="textNoShape">
              <a:avLst/>
            </a:prstTxWarp>
          </a:bodyPr>
          <a:lstStyle>
            <a:lvl1pPr eaLnBrk="1" hangingPunct="1">
              <a:defRPr sz="1200">
                <a:latin typeface="Times New Roman" pitchFamily="80" charset="0"/>
                <a:ea typeface="+mn-ea"/>
                <a:cs typeface="+mn-cs"/>
              </a:defRPr>
            </a:lvl1pPr>
          </a:lstStyle>
          <a:p>
            <a:pPr>
              <a:defRPr/>
            </a:pPr>
            <a:endParaRPr lang="en-US"/>
          </a:p>
        </p:txBody>
      </p:sp>
      <p:sp>
        <p:nvSpPr>
          <p:cNvPr id="128005" name="Rectangle 5"/>
          <p:cNvSpPr>
            <a:spLocks noGrp="1" noChangeArrowheads="1"/>
          </p:cNvSpPr>
          <p:nvPr>
            <p:ph type="sldNum" sz="quarter" idx="3"/>
          </p:nvPr>
        </p:nvSpPr>
        <p:spPr bwMode="auto">
          <a:xfrm>
            <a:off x="3886200" y="8686800"/>
            <a:ext cx="2971800" cy="457200"/>
          </a:xfrm>
          <a:prstGeom prst="rect">
            <a:avLst/>
          </a:prstGeom>
          <a:noFill/>
          <a:ln w="12700" cap="sq">
            <a:noFill/>
            <a:miter lim="800000"/>
            <a:headEnd type="none" w="sm" len="sm"/>
            <a:tailEnd type="none" w="sm" len="sm"/>
          </a:ln>
          <a:effectLst/>
        </p:spPr>
        <p:txBody>
          <a:bodyPr vert="horz" wrap="none" lIns="91440" tIns="45720" rIns="91440" bIns="45720" numCol="1" anchor="b" anchorCtr="0" compatLnSpc="1">
            <a:prstTxWarp prst="textNoShape">
              <a:avLst/>
            </a:prstTxWarp>
          </a:bodyPr>
          <a:lstStyle>
            <a:lvl1pPr algn="r" eaLnBrk="1" hangingPunct="1">
              <a:defRPr sz="1200"/>
            </a:lvl1pPr>
          </a:lstStyle>
          <a:p>
            <a:fld id="{5FB9E71A-E6C8-4FD3-B040-DCC6247393BF}" type="slidenum">
              <a:rPr lang="en-US" altLang="en-US"/>
              <a:pPr/>
              <a:t>‹#›</a:t>
            </a:fld>
            <a:endParaRPr lang="en-US" altLang="en-US"/>
          </a:p>
        </p:txBody>
      </p:sp>
    </p:spTree>
    <p:extLst>
      <p:ext uri="{BB962C8B-B14F-4D97-AF65-F5344CB8AC3E}">
        <p14:creationId xmlns:p14="http://schemas.microsoft.com/office/powerpoint/2010/main" val="150746506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2"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latin typeface="Arial" charset="0"/>
                <a:ea typeface="+mn-ea"/>
                <a:cs typeface="+mn-cs"/>
              </a:defRPr>
            </a:lvl1pPr>
          </a:lstStyle>
          <a:p>
            <a:pPr>
              <a:defRPr/>
            </a:pPr>
            <a:endParaRPr lang="en-US"/>
          </a:p>
        </p:txBody>
      </p:sp>
      <p:sp>
        <p:nvSpPr>
          <p:cNvPr id="5123"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latin typeface="Arial" charset="0"/>
                <a:ea typeface="+mn-ea"/>
                <a:cs typeface="+mn-cs"/>
              </a:defRPr>
            </a:lvl1pPr>
          </a:lstStyle>
          <a:p>
            <a:pPr>
              <a:defRPr/>
            </a:pPr>
            <a:endParaRPr lang="en-US"/>
          </a:p>
        </p:txBody>
      </p:sp>
      <p:sp>
        <p:nvSpPr>
          <p:cNvPr id="36868"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 xmlns:a14="http://schemas.microsoft.com/office/drawing/2010/main">
                <a:solidFill>
                  <a:srgbClr val="FFFFFF"/>
                </a:solidFill>
              </a14:hiddenFill>
            </a:ext>
          </a:extLst>
        </p:spPr>
      </p:sp>
      <p:sp>
        <p:nvSpPr>
          <p:cNvPr id="5125"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126"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latin typeface="Arial" charset="0"/>
                <a:ea typeface="+mn-ea"/>
                <a:cs typeface="+mn-cs"/>
              </a:defRPr>
            </a:lvl1pPr>
          </a:lstStyle>
          <a:p>
            <a:pPr>
              <a:defRPr/>
            </a:pPr>
            <a:endParaRPr lang="en-US"/>
          </a:p>
        </p:txBody>
      </p:sp>
      <p:sp>
        <p:nvSpPr>
          <p:cNvPr id="5127"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atin typeface="Arial" panose="020B0604020202020204" pitchFamily="34" charset="0"/>
              </a:defRPr>
            </a:lvl1pPr>
          </a:lstStyle>
          <a:p>
            <a:fld id="{9DD8956B-8F79-4131-A174-E4232C945132}" type="slidenum">
              <a:rPr lang="en-US" altLang="en-US"/>
              <a:pPr/>
              <a:t>‹#›</a:t>
            </a:fld>
            <a:endParaRPr lang="en-US" altLang="en-US"/>
          </a:p>
        </p:txBody>
      </p:sp>
    </p:spTree>
    <p:extLst>
      <p:ext uri="{BB962C8B-B14F-4D97-AF65-F5344CB8AC3E}">
        <p14:creationId xmlns:p14="http://schemas.microsoft.com/office/powerpoint/2010/main" val="3327361912"/>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S PGothic" pitchFamily="34" charset="-128"/>
        <a:cs typeface="ＭＳ Ｐゴシック" charset="0"/>
      </a:defRPr>
    </a:lvl1pPr>
    <a:lvl2pPr marL="457200" algn="l" rtl="0" eaLnBrk="0" fontAlgn="base" hangingPunct="0">
      <a:spcBef>
        <a:spcPct val="30000"/>
      </a:spcBef>
      <a:spcAft>
        <a:spcPct val="0"/>
      </a:spcAft>
      <a:defRPr sz="1200" kern="1200">
        <a:solidFill>
          <a:schemeClr val="tx1"/>
        </a:solidFill>
        <a:latin typeface="Arial" charset="0"/>
        <a:ea typeface="MS PGothic" pitchFamily="34" charset="-128"/>
        <a:cs typeface="+mn-cs"/>
      </a:defRPr>
    </a:lvl2pPr>
    <a:lvl3pPr marL="914400" algn="l" rtl="0" eaLnBrk="0" fontAlgn="base" hangingPunct="0">
      <a:spcBef>
        <a:spcPct val="30000"/>
      </a:spcBef>
      <a:spcAft>
        <a:spcPct val="0"/>
      </a:spcAft>
      <a:defRPr sz="1200" kern="1200">
        <a:solidFill>
          <a:schemeClr val="tx1"/>
        </a:solidFill>
        <a:latin typeface="Arial" charset="0"/>
        <a:ea typeface="MS PGothic" pitchFamily="34" charset="-128"/>
        <a:cs typeface="+mn-cs"/>
      </a:defRPr>
    </a:lvl3pPr>
    <a:lvl4pPr marL="1371600" algn="l" rtl="0" eaLnBrk="0" fontAlgn="base" hangingPunct="0">
      <a:spcBef>
        <a:spcPct val="30000"/>
      </a:spcBef>
      <a:spcAft>
        <a:spcPct val="0"/>
      </a:spcAft>
      <a:defRPr sz="1200" kern="1200">
        <a:solidFill>
          <a:schemeClr val="tx1"/>
        </a:solidFill>
        <a:latin typeface="Arial" charset="0"/>
        <a:ea typeface="MS PGothic" pitchFamily="34" charset="-128"/>
        <a:cs typeface="+mn-cs"/>
      </a:defRPr>
    </a:lvl4pPr>
    <a:lvl5pPr marL="1828800" algn="l" rtl="0" eaLnBrk="0" fontAlgn="base" hangingPunct="0">
      <a:spcBef>
        <a:spcPct val="30000"/>
      </a:spcBef>
      <a:spcAft>
        <a:spcPct val="0"/>
      </a:spcAft>
      <a:defRPr sz="1200" kern="1200">
        <a:solidFill>
          <a:schemeClr val="tx1"/>
        </a:solidFill>
        <a:latin typeface="Arial" charset="0"/>
        <a:ea typeface="MS PGothic" pitchFamily="34"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900">
                <a:solidFill>
                  <a:schemeClr val="tx1"/>
                </a:solidFill>
                <a:latin typeface="Times New Roman" panose="02020603050405020304" pitchFamily="18" charset="0"/>
                <a:ea typeface="MS PGothic" panose="020B0600070205080204" pitchFamily="34" charset="-128"/>
              </a:defRPr>
            </a:lvl1pPr>
            <a:lvl2pPr marL="742950" indent="-285750">
              <a:defRPr sz="900">
                <a:solidFill>
                  <a:schemeClr val="tx1"/>
                </a:solidFill>
                <a:latin typeface="Times New Roman" panose="02020603050405020304" pitchFamily="18" charset="0"/>
                <a:ea typeface="MS PGothic" panose="020B0600070205080204" pitchFamily="34" charset="-128"/>
              </a:defRPr>
            </a:lvl2pPr>
            <a:lvl3pPr marL="1143000" indent="-228600">
              <a:defRPr sz="900">
                <a:solidFill>
                  <a:schemeClr val="tx1"/>
                </a:solidFill>
                <a:latin typeface="Times New Roman" panose="02020603050405020304" pitchFamily="18" charset="0"/>
                <a:ea typeface="MS PGothic" panose="020B0600070205080204" pitchFamily="34" charset="-128"/>
              </a:defRPr>
            </a:lvl3pPr>
            <a:lvl4pPr marL="1600200" indent="-228600">
              <a:defRPr sz="900">
                <a:solidFill>
                  <a:schemeClr val="tx1"/>
                </a:solidFill>
                <a:latin typeface="Times New Roman" panose="02020603050405020304" pitchFamily="18" charset="0"/>
                <a:ea typeface="MS PGothic" panose="020B0600070205080204" pitchFamily="34" charset="-128"/>
              </a:defRPr>
            </a:lvl4pPr>
            <a:lvl5pPr marL="2057400" indent="-228600">
              <a:defRPr sz="9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9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9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9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900">
                <a:solidFill>
                  <a:schemeClr val="tx1"/>
                </a:solidFill>
                <a:latin typeface="Times New Roman" panose="02020603050405020304" pitchFamily="18" charset="0"/>
                <a:ea typeface="MS PGothic" panose="020B0600070205080204" pitchFamily="34" charset="-128"/>
              </a:defRPr>
            </a:lvl9pPr>
          </a:lstStyle>
          <a:p>
            <a:fld id="{A7D0FCEA-BE51-4857-A8F2-E0DB458541EF}" type="slidenum">
              <a:rPr lang="en-US" altLang="en-US" sz="1200"/>
              <a:pPr/>
              <a:t>2</a:t>
            </a:fld>
            <a:endParaRPr lang="en-US" altLang="en-US" sz="1200"/>
          </a:p>
        </p:txBody>
      </p:sp>
      <p:sp>
        <p:nvSpPr>
          <p:cNvPr id="96259" name="Rectangle 2"/>
          <p:cNvSpPr>
            <a:spLocks noGrp="1" noRot="1" noChangeAspect="1" noChangeArrowheads="1" noTextEdit="1"/>
          </p:cNvSpPr>
          <p:nvPr>
            <p:ph type="sldImg"/>
          </p:nvPr>
        </p:nvSpPr>
        <p:spPr>
          <a:ln/>
        </p:spPr>
      </p:sp>
      <p:sp>
        <p:nvSpPr>
          <p:cNvPr id="96260"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endParaRPr lang="en-GB" altLang="en-US">
              <a:latin typeface="Times New Roman" panose="02020603050405020304" pitchFamily="18" charset="0"/>
            </a:endParaRPr>
          </a:p>
        </p:txBody>
      </p:sp>
    </p:spTree>
    <p:extLst>
      <p:ext uri="{BB962C8B-B14F-4D97-AF65-F5344CB8AC3E}">
        <p14:creationId xmlns:p14="http://schemas.microsoft.com/office/powerpoint/2010/main" val="333390768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900">
                <a:solidFill>
                  <a:schemeClr val="tx1"/>
                </a:solidFill>
                <a:latin typeface="Times New Roman" panose="02020603050405020304" pitchFamily="18" charset="0"/>
                <a:ea typeface="MS PGothic" panose="020B0600070205080204" pitchFamily="34" charset="-128"/>
              </a:defRPr>
            </a:lvl1pPr>
            <a:lvl2pPr marL="742950" indent="-285750">
              <a:defRPr sz="900">
                <a:solidFill>
                  <a:schemeClr val="tx1"/>
                </a:solidFill>
                <a:latin typeface="Times New Roman" panose="02020603050405020304" pitchFamily="18" charset="0"/>
                <a:ea typeface="MS PGothic" panose="020B0600070205080204" pitchFamily="34" charset="-128"/>
              </a:defRPr>
            </a:lvl2pPr>
            <a:lvl3pPr marL="1143000" indent="-228600">
              <a:defRPr sz="900">
                <a:solidFill>
                  <a:schemeClr val="tx1"/>
                </a:solidFill>
                <a:latin typeface="Times New Roman" panose="02020603050405020304" pitchFamily="18" charset="0"/>
                <a:ea typeface="MS PGothic" panose="020B0600070205080204" pitchFamily="34" charset="-128"/>
              </a:defRPr>
            </a:lvl3pPr>
            <a:lvl4pPr marL="1600200" indent="-228600">
              <a:defRPr sz="900">
                <a:solidFill>
                  <a:schemeClr val="tx1"/>
                </a:solidFill>
                <a:latin typeface="Times New Roman" panose="02020603050405020304" pitchFamily="18" charset="0"/>
                <a:ea typeface="MS PGothic" panose="020B0600070205080204" pitchFamily="34" charset="-128"/>
              </a:defRPr>
            </a:lvl4pPr>
            <a:lvl5pPr marL="2057400" indent="-228600">
              <a:defRPr sz="9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9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9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9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900">
                <a:solidFill>
                  <a:schemeClr val="tx1"/>
                </a:solidFill>
                <a:latin typeface="Times New Roman" panose="02020603050405020304" pitchFamily="18" charset="0"/>
                <a:ea typeface="MS PGothic" panose="020B0600070205080204" pitchFamily="34" charset="-128"/>
              </a:defRPr>
            </a:lvl9pPr>
          </a:lstStyle>
          <a:p>
            <a:fld id="{DCCFBA97-221B-437E-A521-5CD4D647B181}" type="slidenum">
              <a:rPr lang="en-US" altLang="en-US" sz="1200"/>
              <a:pPr/>
              <a:t>3</a:t>
            </a:fld>
            <a:endParaRPr lang="en-US" altLang="en-US" sz="1200"/>
          </a:p>
        </p:txBody>
      </p:sp>
      <p:sp>
        <p:nvSpPr>
          <p:cNvPr id="97283" name="Rectangle 2"/>
          <p:cNvSpPr>
            <a:spLocks noGrp="1" noRot="1" noChangeAspect="1" noChangeArrowheads="1" noTextEdit="1"/>
          </p:cNvSpPr>
          <p:nvPr>
            <p:ph type="sldImg"/>
          </p:nvPr>
        </p:nvSpPr>
        <p:spPr>
          <a:ln/>
        </p:spPr>
      </p:sp>
      <p:sp>
        <p:nvSpPr>
          <p:cNvPr id="97284"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endParaRPr lang="en-GB" altLang="en-US">
              <a:latin typeface="Times New Roman" panose="02020603050405020304" pitchFamily="18" charset="0"/>
            </a:endParaRPr>
          </a:p>
        </p:txBody>
      </p:sp>
    </p:spTree>
    <p:extLst>
      <p:ext uri="{BB962C8B-B14F-4D97-AF65-F5344CB8AC3E}">
        <p14:creationId xmlns:p14="http://schemas.microsoft.com/office/powerpoint/2010/main" val="310805137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900">
                <a:solidFill>
                  <a:schemeClr val="tx1"/>
                </a:solidFill>
                <a:latin typeface="Times New Roman" panose="02020603050405020304" pitchFamily="18" charset="0"/>
                <a:ea typeface="MS PGothic" panose="020B0600070205080204" pitchFamily="34" charset="-128"/>
              </a:defRPr>
            </a:lvl1pPr>
            <a:lvl2pPr marL="742950" indent="-285750">
              <a:defRPr sz="900">
                <a:solidFill>
                  <a:schemeClr val="tx1"/>
                </a:solidFill>
                <a:latin typeface="Times New Roman" panose="02020603050405020304" pitchFamily="18" charset="0"/>
                <a:ea typeface="MS PGothic" panose="020B0600070205080204" pitchFamily="34" charset="-128"/>
              </a:defRPr>
            </a:lvl2pPr>
            <a:lvl3pPr marL="1143000" indent="-228600">
              <a:defRPr sz="900">
                <a:solidFill>
                  <a:schemeClr val="tx1"/>
                </a:solidFill>
                <a:latin typeface="Times New Roman" panose="02020603050405020304" pitchFamily="18" charset="0"/>
                <a:ea typeface="MS PGothic" panose="020B0600070205080204" pitchFamily="34" charset="-128"/>
              </a:defRPr>
            </a:lvl3pPr>
            <a:lvl4pPr marL="1600200" indent="-228600">
              <a:defRPr sz="900">
                <a:solidFill>
                  <a:schemeClr val="tx1"/>
                </a:solidFill>
                <a:latin typeface="Times New Roman" panose="02020603050405020304" pitchFamily="18" charset="0"/>
                <a:ea typeface="MS PGothic" panose="020B0600070205080204" pitchFamily="34" charset="-128"/>
              </a:defRPr>
            </a:lvl4pPr>
            <a:lvl5pPr marL="2057400" indent="-228600">
              <a:defRPr sz="9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9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9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9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900">
                <a:solidFill>
                  <a:schemeClr val="tx1"/>
                </a:solidFill>
                <a:latin typeface="Times New Roman" panose="02020603050405020304" pitchFamily="18" charset="0"/>
                <a:ea typeface="MS PGothic" panose="020B0600070205080204" pitchFamily="34" charset="-128"/>
              </a:defRPr>
            </a:lvl9pPr>
          </a:lstStyle>
          <a:p>
            <a:fld id="{1AB59F58-36C3-4774-A1E6-928914E515F3}" type="slidenum">
              <a:rPr lang="en-US" altLang="en-US" sz="1200"/>
              <a:pPr/>
              <a:t>4</a:t>
            </a:fld>
            <a:endParaRPr lang="en-US" altLang="en-US" sz="1200"/>
          </a:p>
        </p:txBody>
      </p:sp>
      <p:sp>
        <p:nvSpPr>
          <p:cNvPr id="98307" name="Rectangle 2"/>
          <p:cNvSpPr>
            <a:spLocks noGrp="1" noRot="1" noChangeAspect="1" noChangeArrowheads="1" noTextEdit="1"/>
          </p:cNvSpPr>
          <p:nvPr>
            <p:ph type="sldImg"/>
          </p:nvPr>
        </p:nvSpPr>
        <p:spPr>
          <a:ln/>
        </p:spPr>
      </p:sp>
      <p:sp>
        <p:nvSpPr>
          <p:cNvPr id="98308"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endParaRPr lang="en-GB" altLang="en-US">
              <a:latin typeface="Times New Roman" panose="02020603050405020304" pitchFamily="18" charset="0"/>
            </a:endParaRPr>
          </a:p>
        </p:txBody>
      </p:sp>
    </p:spTree>
    <p:extLst>
      <p:ext uri="{BB962C8B-B14F-4D97-AF65-F5344CB8AC3E}">
        <p14:creationId xmlns:p14="http://schemas.microsoft.com/office/powerpoint/2010/main" val="62886159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900">
                <a:solidFill>
                  <a:schemeClr val="tx1"/>
                </a:solidFill>
                <a:latin typeface="Times New Roman" panose="02020603050405020304" pitchFamily="18" charset="0"/>
                <a:ea typeface="MS PGothic" panose="020B0600070205080204" pitchFamily="34" charset="-128"/>
              </a:defRPr>
            </a:lvl1pPr>
            <a:lvl2pPr marL="742950" indent="-285750">
              <a:defRPr sz="900">
                <a:solidFill>
                  <a:schemeClr val="tx1"/>
                </a:solidFill>
                <a:latin typeface="Times New Roman" panose="02020603050405020304" pitchFamily="18" charset="0"/>
                <a:ea typeface="MS PGothic" panose="020B0600070205080204" pitchFamily="34" charset="-128"/>
              </a:defRPr>
            </a:lvl2pPr>
            <a:lvl3pPr marL="1143000" indent="-228600">
              <a:defRPr sz="900">
                <a:solidFill>
                  <a:schemeClr val="tx1"/>
                </a:solidFill>
                <a:latin typeface="Times New Roman" panose="02020603050405020304" pitchFamily="18" charset="0"/>
                <a:ea typeface="MS PGothic" panose="020B0600070205080204" pitchFamily="34" charset="-128"/>
              </a:defRPr>
            </a:lvl3pPr>
            <a:lvl4pPr marL="1600200" indent="-228600">
              <a:defRPr sz="900">
                <a:solidFill>
                  <a:schemeClr val="tx1"/>
                </a:solidFill>
                <a:latin typeface="Times New Roman" panose="02020603050405020304" pitchFamily="18" charset="0"/>
                <a:ea typeface="MS PGothic" panose="020B0600070205080204" pitchFamily="34" charset="-128"/>
              </a:defRPr>
            </a:lvl4pPr>
            <a:lvl5pPr marL="2057400" indent="-228600">
              <a:defRPr sz="9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9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9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9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900">
                <a:solidFill>
                  <a:schemeClr val="tx1"/>
                </a:solidFill>
                <a:latin typeface="Times New Roman" panose="02020603050405020304" pitchFamily="18" charset="0"/>
                <a:ea typeface="MS PGothic" panose="020B0600070205080204" pitchFamily="34" charset="-128"/>
              </a:defRPr>
            </a:lvl9pPr>
          </a:lstStyle>
          <a:p>
            <a:fld id="{BD85EFF4-CAA5-460E-877E-DAE92E761632}" type="slidenum">
              <a:rPr lang="en-US" altLang="en-US" sz="1200"/>
              <a:pPr/>
              <a:t>5</a:t>
            </a:fld>
            <a:endParaRPr lang="en-US" altLang="en-US" sz="1200"/>
          </a:p>
        </p:txBody>
      </p:sp>
      <p:sp>
        <p:nvSpPr>
          <p:cNvPr id="99331" name="Rectangle 2"/>
          <p:cNvSpPr>
            <a:spLocks noGrp="1" noRot="1" noChangeAspect="1" noChangeArrowheads="1" noTextEdit="1"/>
          </p:cNvSpPr>
          <p:nvPr>
            <p:ph type="sldImg"/>
          </p:nvPr>
        </p:nvSpPr>
        <p:spPr>
          <a:ln/>
        </p:spPr>
      </p:sp>
      <p:sp>
        <p:nvSpPr>
          <p:cNvPr id="99332"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endParaRPr lang="en-GB" altLang="en-US">
              <a:latin typeface="Times New Roman" panose="02020603050405020304" pitchFamily="18" charset="0"/>
            </a:endParaRPr>
          </a:p>
        </p:txBody>
      </p:sp>
    </p:spTree>
    <p:extLst>
      <p:ext uri="{BB962C8B-B14F-4D97-AF65-F5344CB8AC3E}">
        <p14:creationId xmlns:p14="http://schemas.microsoft.com/office/powerpoint/2010/main" val="192811924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900">
                <a:solidFill>
                  <a:schemeClr val="tx1"/>
                </a:solidFill>
                <a:latin typeface="Times New Roman" panose="02020603050405020304" pitchFamily="18" charset="0"/>
                <a:ea typeface="MS PGothic" panose="020B0600070205080204" pitchFamily="34" charset="-128"/>
              </a:defRPr>
            </a:lvl1pPr>
            <a:lvl2pPr marL="742950" indent="-285750">
              <a:defRPr sz="900">
                <a:solidFill>
                  <a:schemeClr val="tx1"/>
                </a:solidFill>
                <a:latin typeface="Times New Roman" panose="02020603050405020304" pitchFamily="18" charset="0"/>
                <a:ea typeface="MS PGothic" panose="020B0600070205080204" pitchFamily="34" charset="-128"/>
              </a:defRPr>
            </a:lvl2pPr>
            <a:lvl3pPr marL="1143000" indent="-228600">
              <a:defRPr sz="900">
                <a:solidFill>
                  <a:schemeClr val="tx1"/>
                </a:solidFill>
                <a:latin typeface="Times New Roman" panose="02020603050405020304" pitchFamily="18" charset="0"/>
                <a:ea typeface="MS PGothic" panose="020B0600070205080204" pitchFamily="34" charset="-128"/>
              </a:defRPr>
            </a:lvl3pPr>
            <a:lvl4pPr marL="1600200" indent="-228600">
              <a:defRPr sz="900">
                <a:solidFill>
                  <a:schemeClr val="tx1"/>
                </a:solidFill>
                <a:latin typeface="Times New Roman" panose="02020603050405020304" pitchFamily="18" charset="0"/>
                <a:ea typeface="MS PGothic" panose="020B0600070205080204" pitchFamily="34" charset="-128"/>
              </a:defRPr>
            </a:lvl4pPr>
            <a:lvl5pPr marL="2057400" indent="-228600">
              <a:defRPr sz="9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9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9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9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900">
                <a:solidFill>
                  <a:schemeClr val="tx1"/>
                </a:solidFill>
                <a:latin typeface="Times New Roman" panose="02020603050405020304" pitchFamily="18" charset="0"/>
                <a:ea typeface="MS PGothic" panose="020B0600070205080204" pitchFamily="34" charset="-128"/>
              </a:defRPr>
            </a:lvl9pPr>
          </a:lstStyle>
          <a:p>
            <a:fld id="{EAC433DB-33C0-4C2D-8FB5-5AAE0425F682}" type="slidenum">
              <a:rPr lang="en-US" altLang="en-US" sz="1200"/>
              <a:pPr/>
              <a:t>6</a:t>
            </a:fld>
            <a:endParaRPr lang="en-US" altLang="en-US" sz="1200"/>
          </a:p>
        </p:txBody>
      </p:sp>
      <p:sp>
        <p:nvSpPr>
          <p:cNvPr id="100355" name="Rectangle 2"/>
          <p:cNvSpPr>
            <a:spLocks noGrp="1" noRot="1" noChangeAspect="1" noChangeArrowheads="1" noTextEdit="1"/>
          </p:cNvSpPr>
          <p:nvPr>
            <p:ph type="sldImg"/>
          </p:nvPr>
        </p:nvSpPr>
        <p:spPr>
          <a:ln/>
        </p:spPr>
      </p:sp>
      <p:sp>
        <p:nvSpPr>
          <p:cNvPr id="100356"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endParaRPr lang="en-GB" altLang="en-US">
              <a:latin typeface="Times New Roman" panose="02020603050405020304" pitchFamily="18" charset="0"/>
            </a:endParaRPr>
          </a:p>
        </p:txBody>
      </p:sp>
    </p:spTree>
    <p:extLst>
      <p:ext uri="{BB962C8B-B14F-4D97-AF65-F5344CB8AC3E}">
        <p14:creationId xmlns:p14="http://schemas.microsoft.com/office/powerpoint/2010/main" val="148062504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900">
                <a:solidFill>
                  <a:schemeClr val="tx1"/>
                </a:solidFill>
                <a:latin typeface="Times New Roman" panose="02020603050405020304" pitchFamily="18" charset="0"/>
                <a:ea typeface="MS PGothic" panose="020B0600070205080204" pitchFamily="34" charset="-128"/>
              </a:defRPr>
            </a:lvl1pPr>
            <a:lvl2pPr marL="742950" indent="-285750">
              <a:defRPr sz="900">
                <a:solidFill>
                  <a:schemeClr val="tx1"/>
                </a:solidFill>
                <a:latin typeface="Times New Roman" panose="02020603050405020304" pitchFamily="18" charset="0"/>
                <a:ea typeface="MS PGothic" panose="020B0600070205080204" pitchFamily="34" charset="-128"/>
              </a:defRPr>
            </a:lvl2pPr>
            <a:lvl3pPr marL="1143000" indent="-228600">
              <a:defRPr sz="900">
                <a:solidFill>
                  <a:schemeClr val="tx1"/>
                </a:solidFill>
                <a:latin typeface="Times New Roman" panose="02020603050405020304" pitchFamily="18" charset="0"/>
                <a:ea typeface="MS PGothic" panose="020B0600070205080204" pitchFamily="34" charset="-128"/>
              </a:defRPr>
            </a:lvl3pPr>
            <a:lvl4pPr marL="1600200" indent="-228600">
              <a:defRPr sz="900">
                <a:solidFill>
                  <a:schemeClr val="tx1"/>
                </a:solidFill>
                <a:latin typeface="Times New Roman" panose="02020603050405020304" pitchFamily="18" charset="0"/>
                <a:ea typeface="MS PGothic" panose="020B0600070205080204" pitchFamily="34" charset="-128"/>
              </a:defRPr>
            </a:lvl4pPr>
            <a:lvl5pPr marL="2057400" indent="-228600">
              <a:defRPr sz="9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9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9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9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900">
                <a:solidFill>
                  <a:schemeClr val="tx1"/>
                </a:solidFill>
                <a:latin typeface="Times New Roman" panose="02020603050405020304" pitchFamily="18" charset="0"/>
                <a:ea typeface="MS PGothic" panose="020B0600070205080204" pitchFamily="34" charset="-128"/>
              </a:defRPr>
            </a:lvl9pPr>
          </a:lstStyle>
          <a:p>
            <a:fld id="{ECBC4BF2-E674-480A-9E37-3E030EC322BC}" type="slidenum">
              <a:rPr lang="en-US" altLang="en-US" sz="1200"/>
              <a:pPr/>
              <a:t>7</a:t>
            </a:fld>
            <a:endParaRPr lang="en-US" altLang="en-US" sz="1200"/>
          </a:p>
        </p:txBody>
      </p:sp>
      <p:sp>
        <p:nvSpPr>
          <p:cNvPr id="101379" name="Rectangle 2"/>
          <p:cNvSpPr>
            <a:spLocks noGrp="1" noRot="1" noChangeAspect="1" noChangeArrowheads="1" noTextEdit="1"/>
          </p:cNvSpPr>
          <p:nvPr>
            <p:ph type="sldImg"/>
          </p:nvPr>
        </p:nvSpPr>
        <p:spPr>
          <a:ln/>
        </p:spPr>
      </p:sp>
      <p:sp>
        <p:nvSpPr>
          <p:cNvPr id="101380"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buFontTx/>
              <a:buChar char="•"/>
            </a:pPr>
            <a:r>
              <a:rPr lang="en-US" altLang="en-US" dirty="0">
                <a:latin typeface="Times New Roman" panose="02020603050405020304" pitchFamily="18" charset="0"/>
              </a:rPr>
              <a:t> Which of these health professionals have an MD degree? </a:t>
            </a:r>
            <a:r>
              <a:rPr lang="en-US" altLang="en-US" i="1" dirty="0">
                <a:latin typeface="Times New Roman" panose="02020603050405020304" pitchFamily="18" charset="0"/>
              </a:rPr>
              <a:t>(Psychiatrists) </a:t>
            </a:r>
          </a:p>
          <a:p>
            <a:pPr eaLnBrk="1" hangingPunct="1">
              <a:buFontTx/>
              <a:buChar char="•"/>
            </a:pPr>
            <a:r>
              <a:rPr lang="en-US" altLang="en-US" dirty="0">
                <a:latin typeface="Times New Roman" panose="02020603050405020304" pitchFamily="18" charset="0"/>
              </a:rPr>
              <a:t> What</a:t>
            </a:r>
            <a:r>
              <a:rPr lang="ja-JP" altLang="en-US" dirty="0">
                <a:latin typeface="Times New Roman" panose="02020603050405020304" pitchFamily="18" charset="0"/>
              </a:rPr>
              <a:t>’</a:t>
            </a:r>
            <a:r>
              <a:rPr lang="en-US" altLang="ja-JP" dirty="0">
                <a:latin typeface="Times New Roman" panose="02020603050405020304" pitchFamily="18" charset="0"/>
              </a:rPr>
              <a:t>s the difference between a psychologist and a clinical psychologist? </a:t>
            </a:r>
            <a:r>
              <a:rPr lang="en-US" altLang="ja-JP" i="1" dirty="0">
                <a:latin typeface="Times New Roman" panose="02020603050405020304" pitchFamily="18" charset="0"/>
              </a:rPr>
              <a:t>(A psychologist is a nonmedical person who is trained in methods of psychotherapy, analysis, and research. He or she completes a masters or PhD degree in a specific field of interest. A clinical psychologist is trained in the use of tests to evaluate various aspects of a patient</a:t>
            </a:r>
            <a:r>
              <a:rPr lang="ja-JP" altLang="en-US" i="1" dirty="0">
                <a:latin typeface="Times New Roman" panose="02020603050405020304" pitchFamily="18" charset="0"/>
              </a:rPr>
              <a:t>’</a:t>
            </a:r>
            <a:r>
              <a:rPr lang="en-US" altLang="ja-JP" i="1" dirty="0">
                <a:latin typeface="Times New Roman" panose="02020603050405020304" pitchFamily="18" charset="0"/>
              </a:rPr>
              <a:t>s mental health and intelligence.)</a:t>
            </a:r>
            <a:endParaRPr lang="en-US" altLang="en-US" i="1" dirty="0">
              <a:latin typeface="Times New Roman" panose="02020603050405020304" pitchFamily="18" charset="0"/>
            </a:endParaRPr>
          </a:p>
        </p:txBody>
      </p:sp>
    </p:spTree>
    <p:extLst>
      <p:ext uri="{BB962C8B-B14F-4D97-AF65-F5344CB8AC3E}">
        <p14:creationId xmlns:p14="http://schemas.microsoft.com/office/powerpoint/2010/main" val="162351605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900">
                <a:solidFill>
                  <a:schemeClr val="tx1"/>
                </a:solidFill>
                <a:latin typeface="Times New Roman" panose="02020603050405020304" pitchFamily="18" charset="0"/>
                <a:ea typeface="MS PGothic" panose="020B0600070205080204" pitchFamily="34" charset="-128"/>
              </a:defRPr>
            </a:lvl1pPr>
            <a:lvl2pPr marL="742950" indent="-285750">
              <a:defRPr sz="900">
                <a:solidFill>
                  <a:schemeClr val="tx1"/>
                </a:solidFill>
                <a:latin typeface="Times New Roman" panose="02020603050405020304" pitchFamily="18" charset="0"/>
                <a:ea typeface="MS PGothic" panose="020B0600070205080204" pitchFamily="34" charset="-128"/>
              </a:defRPr>
            </a:lvl2pPr>
            <a:lvl3pPr marL="1143000" indent="-228600">
              <a:defRPr sz="900">
                <a:solidFill>
                  <a:schemeClr val="tx1"/>
                </a:solidFill>
                <a:latin typeface="Times New Roman" panose="02020603050405020304" pitchFamily="18" charset="0"/>
                <a:ea typeface="MS PGothic" panose="020B0600070205080204" pitchFamily="34" charset="-128"/>
              </a:defRPr>
            </a:lvl3pPr>
            <a:lvl4pPr marL="1600200" indent="-228600">
              <a:defRPr sz="900">
                <a:solidFill>
                  <a:schemeClr val="tx1"/>
                </a:solidFill>
                <a:latin typeface="Times New Roman" panose="02020603050405020304" pitchFamily="18" charset="0"/>
                <a:ea typeface="MS PGothic" panose="020B0600070205080204" pitchFamily="34" charset="-128"/>
              </a:defRPr>
            </a:lvl4pPr>
            <a:lvl5pPr marL="2057400" indent="-228600">
              <a:defRPr sz="9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9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9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9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900">
                <a:solidFill>
                  <a:schemeClr val="tx1"/>
                </a:solidFill>
                <a:latin typeface="Times New Roman" panose="02020603050405020304" pitchFamily="18" charset="0"/>
                <a:ea typeface="MS PGothic" panose="020B0600070205080204" pitchFamily="34" charset="-128"/>
              </a:defRPr>
            </a:lvl9pPr>
          </a:lstStyle>
          <a:p>
            <a:fld id="{DE3ADAF1-1318-404F-8218-9706E969F090}" type="slidenum">
              <a:rPr lang="en-US" altLang="en-US" sz="1200"/>
              <a:pPr/>
              <a:t>8</a:t>
            </a:fld>
            <a:endParaRPr lang="en-US" altLang="en-US" sz="1200"/>
          </a:p>
        </p:txBody>
      </p:sp>
      <p:sp>
        <p:nvSpPr>
          <p:cNvPr id="102403" name="Rectangle 2"/>
          <p:cNvSpPr>
            <a:spLocks noGrp="1" noRot="1" noChangeAspect="1" noChangeArrowheads="1" noTextEdit="1"/>
          </p:cNvSpPr>
          <p:nvPr>
            <p:ph type="sldImg"/>
          </p:nvPr>
        </p:nvSpPr>
        <p:spPr>
          <a:ln/>
        </p:spPr>
      </p:sp>
      <p:sp>
        <p:nvSpPr>
          <p:cNvPr id="102404"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buFontTx/>
              <a:buChar char="•"/>
            </a:pPr>
            <a:r>
              <a:rPr lang="en-US" altLang="en-US">
                <a:latin typeface="Times New Roman" panose="02020603050405020304" pitchFamily="18" charset="0"/>
              </a:rPr>
              <a:t> How many years of training do psychoanalysts need to conduct psychoanalysis? </a:t>
            </a:r>
            <a:r>
              <a:rPr lang="en-US" altLang="en-US" i="1">
                <a:latin typeface="Times New Roman" panose="02020603050405020304" pitchFamily="18" charset="0"/>
              </a:rPr>
              <a:t>(They need to complete 3 to 5 years of training in the special psychotherapeutic technique.)</a:t>
            </a:r>
            <a:r>
              <a:rPr lang="en-US" altLang="en-US">
                <a:latin typeface="Times New Roman" panose="02020603050405020304" pitchFamily="18" charset="0"/>
              </a:rPr>
              <a:t> </a:t>
            </a:r>
          </a:p>
          <a:p>
            <a:pPr eaLnBrk="1" hangingPunct="1">
              <a:buFontTx/>
              <a:buChar char="•"/>
            </a:pPr>
            <a:r>
              <a:rPr lang="en-US" altLang="en-US">
                <a:latin typeface="Times New Roman" panose="02020603050405020304" pitchFamily="18" charset="0"/>
              </a:rPr>
              <a:t> What is psychoanalysis? </a:t>
            </a:r>
            <a:r>
              <a:rPr lang="en-US" altLang="en-US" i="1">
                <a:latin typeface="Times New Roman" panose="02020603050405020304" pitchFamily="18" charset="0"/>
              </a:rPr>
              <a:t>(Patients freely relate their thoughts to the analyst, who does not interfere in the flow of thoughts</a:t>
            </a:r>
            <a:r>
              <a:rPr lang="en-US" altLang="en-US">
                <a:latin typeface="Times New Roman" panose="02020603050405020304" pitchFamily="18" charset="0"/>
              </a:rPr>
              <a:t>.</a:t>
            </a:r>
            <a:r>
              <a:rPr lang="en-US" altLang="en-US" i="1">
                <a:latin typeface="Times New Roman" panose="02020603050405020304" pitchFamily="18" charset="0"/>
              </a:rPr>
              <a:t>)</a:t>
            </a:r>
          </a:p>
          <a:p>
            <a:pPr eaLnBrk="1" hangingPunct="1">
              <a:buFontTx/>
              <a:buChar char="•"/>
            </a:pPr>
            <a:endParaRPr lang="en-US" altLang="en-US">
              <a:latin typeface="Times New Roman" panose="02020603050405020304" pitchFamily="18" charset="0"/>
            </a:endParaRPr>
          </a:p>
          <a:p>
            <a:pPr eaLnBrk="1" hangingPunct="1"/>
            <a:r>
              <a:rPr lang="en-US" altLang="en-US">
                <a:latin typeface="Times New Roman" panose="02020603050405020304" pitchFamily="18" charset="0"/>
              </a:rPr>
              <a:t> </a:t>
            </a:r>
          </a:p>
        </p:txBody>
      </p:sp>
    </p:spTree>
    <p:extLst>
      <p:ext uri="{BB962C8B-B14F-4D97-AF65-F5344CB8AC3E}">
        <p14:creationId xmlns:p14="http://schemas.microsoft.com/office/powerpoint/2010/main" val="316875095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900">
                <a:solidFill>
                  <a:schemeClr val="tx1"/>
                </a:solidFill>
                <a:latin typeface="Times New Roman" panose="02020603050405020304" pitchFamily="18" charset="0"/>
                <a:ea typeface="MS PGothic" panose="020B0600070205080204" pitchFamily="34" charset="-128"/>
              </a:defRPr>
            </a:lvl1pPr>
            <a:lvl2pPr marL="742950" indent="-285750">
              <a:defRPr sz="900">
                <a:solidFill>
                  <a:schemeClr val="tx1"/>
                </a:solidFill>
                <a:latin typeface="Times New Roman" panose="02020603050405020304" pitchFamily="18" charset="0"/>
                <a:ea typeface="MS PGothic" panose="020B0600070205080204" pitchFamily="34" charset="-128"/>
              </a:defRPr>
            </a:lvl2pPr>
            <a:lvl3pPr marL="1143000" indent="-228600">
              <a:defRPr sz="900">
                <a:solidFill>
                  <a:schemeClr val="tx1"/>
                </a:solidFill>
                <a:latin typeface="Times New Roman" panose="02020603050405020304" pitchFamily="18" charset="0"/>
                <a:ea typeface="MS PGothic" panose="020B0600070205080204" pitchFamily="34" charset="-128"/>
              </a:defRPr>
            </a:lvl3pPr>
            <a:lvl4pPr marL="1600200" indent="-228600">
              <a:defRPr sz="900">
                <a:solidFill>
                  <a:schemeClr val="tx1"/>
                </a:solidFill>
                <a:latin typeface="Times New Roman" panose="02020603050405020304" pitchFamily="18" charset="0"/>
                <a:ea typeface="MS PGothic" panose="020B0600070205080204" pitchFamily="34" charset="-128"/>
              </a:defRPr>
            </a:lvl4pPr>
            <a:lvl5pPr marL="2057400" indent="-228600">
              <a:defRPr sz="9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9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9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9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900">
                <a:solidFill>
                  <a:schemeClr val="tx1"/>
                </a:solidFill>
                <a:latin typeface="Times New Roman" panose="02020603050405020304" pitchFamily="18" charset="0"/>
                <a:ea typeface="MS PGothic" panose="020B0600070205080204" pitchFamily="34" charset="-128"/>
              </a:defRPr>
            </a:lvl9pPr>
          </a:lstStyle>
          <a:p>
            <a:fld id="{B131F784-E40A-40FB-A010-DA5C5065E495}" type="slidenum">
              <a:rPr lang="en-US" altLang="en-US" sz="1200"/>
              <a:pPr/>
              <a:t>9</a:t>
            </a:fld>
            <a:endParaRPr lang="en-US" altLang="en-US" sz="1200"/>
          </a:p>
        </p:txBody>
      </p:sp>
      <p:sp>
        <p:nvSpPr>
          <p:cNvPr id="103427" name="Rectangle 2"/>
          <p:cNvSpPr>
            <a:spLocks noGrp="1" noRot="1" noChangeAspect="1" noChangeArrowheads="1" noTextEdit="1"/>
          </p:cNvSpPr>
          <p:nvPr>
            <p:ph type="sldImg"/>
          </p:nvPr>
        </p:nvSpPr>
        <p:spPr>
          <a:ln/>
        </p:spPr>
      </p:sp>
      <p:sp>
        <p:nvSpPr>
          <p:cNvPr id="103428"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buFontTx/>
              <a:buChar char="•"/>
            </a:pPr>
            <a:r>
              <a:rPr lang="en-US" altLang="en-US" dirty="0">
                <a:latin typeface="Times New Roman" panose="02020603050405020304" pitchFamily="18" charset="0"/>
              </a:rPr>
              <a:t> What are some intelligence tests? </a:t>
            </a:r>
            <a:r>
              <a:rPr lang="en-US" altLang="en-US" i="1" dirty="0">
                <a:latin typeface="Times New Roman" panose="02020603050405020304" pitchFamily="18" charset="0"/>
              </a:rPr>
              <a:t>(Examples of I.Q. tests include the Wechsler Adult Intelligence Scale [WAIS] and the Stanford-Binet Intelligence Scale</a:t>
            </a:r>
            <a:r>
              <a:rPr lang="en-US" altLang="en-US" dirty="0">
                <a:latin typeface="Times New Roman" panose="02020603050405020304" pitchFamily="18" charset="0"/>
              </a:rPr>
              <a:t>.</a:t>
            </a:r>
            <a:r>
              <a:rPr lang="en-US" altLang="en-US" i="1" dirty="0">
                <a:latin typeface="Times New Roman" panose="02020603050405020304" pitchFamily="18" charset="0"/>
              </a:rPr>
              <a:t>)</a:t>
            </a:r>
          </a:p>
          <a:p>
            <a:pPr eaLnBrk="1" hangingPunct="1">
              <a:buFontTx/>
              <a:buChar char="•"/>
            </a:pPr>
            <a:r>
              <a:rPr lang="en-US" altLang="en-US" dirty="0">
                <a:latin typeface="Times New Roman" panose="02020603050405020304" pitchFamily="18" charset="0"/>
              </a:rPr>
              <a:t> What are some examples of personality tests? </a:t>
            </a:r>
            <a:r>
              <a:rPr lang="en-US" altLang="en-US" i="1" dirty="0">
                <a:latin typeface="Times New Roman" panose="02020603050405020304" pitchFamily="18" charset="0"/>
              </a:rPr>
              <a:t>(The Rorschach technique, which are inkblots, and the Thematic Apperception Test [TAT], in which pictures are used as stimuli for making up stories. Both tests are especially revealing of personality structure.)</a:t>
            </a:r>
          </a:p>
        </p:txBody>
      </p:sp>
    </p:spTree>
    <p:extLst>
      <p:ext uri="{BB962C8B-B14F-4D97-AF65-F5344CB8AC3E}">
        <p14:creationId xmlns:p14="http://schemas.microsoft.com/office/powerpoint/2010/main" val="249974667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900">
                <a:solidFill>
                  <a:schemeClr val="tx1"/>
                </a:solidFill>
                <a:latin typeface="Times New Roman" panose="02020603050405020304" pitchFamily="18" charset="0"/>
                <a:ea typeface="MS PGothic" panose="020B0600070205080204" pitchFamily="34" charset="-128"/>
              </a:defRPr>
            </a:lvl1pPr>
            <a:lvl2pPr marL="742950" indent="-285750">
              <a:defRPr sz="900">
                <a:solidFill>
                  <a:schemeClr val="tx1"/>
                </a:solidFill>
                <a:latin typeface="Times New Roman" panose="02020603050405020304" pitchFamily="18" charset="0"/>
                <a:ea typeface="MS PGothic" panose="020B0600070205080204" pitchFamily="34" charset="-128"/>
              </a:defRPr>
            </a:lvl2pPr>
            <a:lvl3pPr marL="1143000" indent="-228600">
              <a:defRPr sz="900">
                <a:solidFill>
                  <a:schemeClr val="tx1"/>
                </a:solidFill>
                <a:latin typeface="Times New Roman" panose="02020603050405020304" pitchFamily="18" charset="0"/>
                <a:ea typeface="MS PGothic" panose="020B0600070205080204" pitchFamily="34" charset="-128"/>
              </a:defRPr>
            </a:lvl3pPr>
            <a:lvl4pPr marL="1600200" indent="-228600">
              <a:defRPr sz="900">
                <a:solidFill>
                  <a:schemeClr val="tx1"/>
                </a:solidFill>
                <a:latin typeface="Times New Roman" panose="02020603050405020304" pitchFamily="18" charset="0"/>
                <a:ea typeface="MS PGothic" panose="020B0600070205080204" pitchFamily="34" charset="-128"/>
              </a:defRPr>
            </a:lvl4pPr>
            <a:lvl5pPr marL="2057400" indent="-228600">
              <a:defRPr sz="9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9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9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9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900">
                <a:solidFill>
                  <a:schemeClr val="tx1"/>
                </a:solidFill>
                <a:latin typeface="Times New Roman" panose="02020603050405020304" pitchFamily="18" charset="0"/>
                <a:ea typeface="MS PGothic" panose="020B0600070205080204" pitchFamily="34" charset="-128"/>
              </a:defRPr>
            </a:lvl9pPr>
          </a:lstStyle>
          <a:p>
            <a:fld id="{2CCFBEF3-34DE-4676-B937-9D3FFF60AE86}" type="slidenum">
              <a:rPr lang="en-US" altLang="en-US" sz="1200"/>
              <a:pPr/>
              <a:t>10</a:t>
            </a:fld>
            <a:endParaRPr lang="en-US" altLang="en-US" sz="1200"/>
          </a:p>
        </p:txBody>
      </p:sp>
      <p:sp>
        <p:nvSpPr>
          <p:cNvPr id="105475" name="Rectangle 2"/>
          <p:cNvSpPr>
            <a:spLocks noGrp="1" noRot="1" noChangeAspect="1" noChangeArrowheads="1" noTextEdit="1"/>
          </p:cNvSpPr>
          <p:nvPr>
            <p:ph type="sldImg"/>
          </p:nvPr>
        </p:nvSpPr>
        <p:spPr>
          <a:ln/>
        </p:spPr>
      </p:sp>
      <p:sp>
        <p:nvSpPr>
          <p:cNvPr id="105476"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buFontTx/>
              <a:buChar char="•"/>
            </a:pPr>
            <a:r>
              <a:rPr lang="en-US" altLang="en-US" dirty="0">
                <a:latin typeface="Times New Roman" panose="02020603050405020304" pitchFamily="18" charset="0"/>
              </a:rPr>
              <a:t> Which of these three parts of the personality is more like a referee to the other two parts?</a:t>
            </a:r>
            <a:r>
              <a:rPr lang="en-US" altLang="en-US" i="1" dirty="0">
                <a:latin typeface="Times New Roman" panose="02020603050405020304" pitchFamily="18" charset="0"/>
              </a:rPr>
              <a:t> (The ego. It is the central coordinating branch of the personality. It is the mediator between the id and the outside world</a:t>
            </a:r>
            <a:r>
              <a:rPr lang="en-US" altLang="en-US" dirty="0">
                <a:latin typeface="Times New Roman" panose="02020603050405020304" pitchFamily="18" charset="0"/>
              </a:rPr>
              <a:t>.</a:t>
            </a:r>
            <a:r>
              <a:rPr lang="en-US" altLang="en-US" i="1" dirty="0">
                <a:latin typeface="Times New Roman" panose="02020603050405020304" pitchFamily="18" charset="0"/>
              </a:rPr>
              <a:t>)</a:t>
            </a:r>
          </a:p>
          <a:p>
            <a:pPr eaLnBrk="1" hangingPunct="1">
              <a:buFontTx/>
              <a:buChar char="•"/>
            </a:pPr>
            <a:r>
              <a:rPr lang="en-US" altLang="en-US" dirty="0">
                <a:latin typeface="Times New Roman" panose="02020603050405020304" pitchFamily="18" charset="0"/>
              </a:rPr>
              <a:t> In one corner is the id. It represents the unconscious instincts and psychic energy present at birth and thereafter. From the id arises basic drives that seek immediate gratification regardless of the reality of the situation.</a:t>
            </a:r>
          </a:p>
          <a:p>
            <a:pPr eaLnBrk="1" hangingPunct="1">
              <a:buFontTx/>
              <a:buChar char="•"/>
            </a:pPr>
            <a:r>
              <a:rPr lang="en-US" altLang="en-US" dirty="0">
                <a:latin typeface="Times New Roman" panose="02020603050405020304" pitchFamily="18" charset="0"/>
              </a:rPr>
              <a:t> And in the other corner? The superego. It is the internalized conscience and moral part of the personality. Guilt feelings, for instance, arise from behavior and thoughts that do not conform to the standards of the superego.</a:t>
            </a:r>
          </a:p>
        </p:txBody>
      </p:sp>
    </p:spTree>
    <p:extLst>
      <p:ext uri="{BB962C8B-B14F-4D97-AF65-F5344CB8AC3E}">
        <p14:creationId xmlns:p14="http://schemas.microsoft.com/office/powerpoint/2010/main" val="14128414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900">
                <a:solidFill>
                  <a:schemeClr val="tx1"/>
                </a:solidFill>
                <a:latin typeface="Times New Roman" panose="02020603050405020304" pitchFamily="18" charset="0"/>
                <a:ea typeface="MS PGothic" panose="020B0600070205080204" pitchFamily="34" charset="-128"/>
              </a:defRPr>
            </a:lvl1pPr>
            <a:lvl2pPr marL="742950" indent="-285750">
              <a:defRPr sz="900">
                <a:solidFill>
                  <a:schemeClr val="tx1"/>
                </a:solidFill>
                <a:latin typeface="Times New Roman" panose="02020603050405020304" pitchFamily="18" charset="0"/>
                <a:ea typeface="MS PGothic" panose="020B0600070205080204" pitchFamily="34" charset="-128"/>
              </a:defRPr>
            </a:lvl2pPr>
            <a:lvl3pPr marL="1143000" indent="-228600">
              <a:defRPr sz="900">
                <a:solidFill>
                  <a:schemeClr val="tx1"/>
                </a:solidFill>
                <a:latin typeface="Times New Roman" panose="02020603050405020304" pitchFamily="18" charset="0"/>
                <a:ea typeface="MS PGothic" panose="020B0600070205080204" pitchFamily="34" charset="-128"/>
              </a:defRPr>
            </a:lvl3pPr>
            <a:lvl4pPr marL="1600200" indent="-228600">
              <a:defRPr sz="900">
                <a:solidFill>
                  <a:schemeClr val="tx1"/>
                </a:solidFill>
                <a:latin typeface="Times New Roman" panose="02020603050405020304" pitchFamily="18" charset="0"/>
                <a:ea typeface="MS PGothic" panose="020B0600070205080204" pitchFamily="34" charset="-128"/>
              </a:defRPr>
            </a:lvl4pPr>
            <a:lvl5pPr marL="2057400" indent="-228600">
              <a:defRPr sz="9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9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9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9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900">
                <a:solidFill>
                  <a:schemeClr val="tx1"/>
                </a:solidFill>
                <a:latin typeface="Times New Roman" panose="02020603050405020304" pitchFamily="18" charset="0"/>
                <a:ea typeface="MS PGothic" panose="020B0600070205080204" pitchFamily="34" charset="-128"/>
              </a:defRPr>
            </a:lvl9pPr>
          </a:lstStyle>
          <a:p>
            <a:fld id="{F0AC291D-8BDF-4D1A-8286-956FEA75A06D}" type="slidenum">
              <a:rPr lang="en-US" altLang="en-US" sz="1200"/>
              <a:pPr/>
              <a:t>11</a:t>
            </a:fld>
            <a:endParaRPr lang="en-US" altLang="en-US" sz="1200"/>
          </a:p>
        </p:txBody>
      </p:sp>
      <p:sp>
        <p:nvSpPr>
          <p:cNvPr id="106499" name="Rectangle 2"/>
          <p:cNvSpPr>
            <a:spLocks noGrp="1" noRot="1" noChangeAspect="1" noChangeArrowheads="1" noTextEdit="1"/>
          </p:cNvSpPr>
          <p:nvPr>
            <p:ph type="sldImg"/>
          </p:nvPr>
        </p:nvSpPr>
        <p:spPr>
          <a:ln/>
        </p:spPr>
      </p:sp>
      <p:sp>
        <p:nvSpPr>
          <p:cNvPr id="106500"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buFont typeface="Times" panose="02020603050405020304" pitchFamily="18" charset="0"/>
              <a:buChar char="•"/>
            </a:pPr>
            <a:r>
              <a:rPr lang="en-US" altLang="en-US" dirty="0">
                <a:latin typeface="Times New Roman" panose="02020603050405020304" pitchFamily="18" charset="0"/>
              </a:rPr>
              <a:t> Eating disorders predominantly affect adolescent females and include anorexia and bulimia. </a:t>
            </a:r>
          </a:p>
          <a:p>
            <a:pPr eaLnBrk="1" hangingPunct="1">
              <a:buFont typeface="Times" panose="02020603050405020304" pitchFamily="18" charset="0"/>
              <a:buChar char="•"/>
            </a:pPr>
            <a:r>
              <a:rPr lang="en-US" altLang="en-US" dirty="0">
                <a:latin typeface="Times New Roman" panose="02020603050405020304" pitchFamily="18" charset="0"/>
              </a:rPr>
              <a:t> How many of you have already heard of eating disorders? </a:t>
            </a:r>
          </a:p>
          <a:p>
            <a:pPr eaLnBrk="1" hangingPunct="1">
              <a:buFont typeface="Times" panose="02020603050405020304" pitchFamily="18" charset="0"/>
              <a:buChar char="•"/>
            </a:pPr>
            <a:r>
              <a:rPr lang="en-US" altLang="en-US" dirty="0">
                <a:latin typeface="Times New Roman" panose="02020603050405020304" pitchFamily="18" charset="0"/>
              </a:rPr>
              <a:t> What are some ways to detect whether someone has an eating disorder?</a:t>
            </a:r>
          </a:p>
          <a:p>
            <a:pPr eaLnBrk="1" hangingPunct="1">
              <a:buFont typeface="Times" panose="02020603050405020304" pitchFamily="18" charset="0"/>
              <a:buChar char="•"/>
            </a:pPr>
            <a:r>
              <a:rPr lang="en-US" altLang="en-US" dirty="0">
                <a:latin typeface="Times New Roman" panose="02020603050405020304" pitchFamily="18" charset="0"/>
              </a:rPr>
              <a:t> What are different types of bipolar and depressive disorders? </a:t>
            </a:r>
            <a:r>
              <a:rPr lang="en-US" altLang="en-US" i="1" dirty="0">
                <a:latin typeface="Times New Roman" panose="02020603050405020304" pitchFamily="18" charset="0"/>
              </a:rPr>
              <a:t>(Bipolar disorders, depressive disorders,  and cyclothymic disorder—a mild form of bipolar disorder characterized by at least 2 years of hypomania and numerous depressive episodes that do not meet the criteria that define a major depressive episode.)</a:t>
            </a:r>
          </a:p>
        </p:txBody>
      </p:sp>
    </p:spTree>
    <p:extLst>
      <p:ext uri="{BB962C8B-B14F-4D97-AF65-F5344CB8AC3E}">
        <p14:creationId xmlns:p14="http://schemas.microsoft.com/office/powerpoint/2010/main" val="241612681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900">
                <a:solidFill>
                  <a:schemeClr val="tx1"/>
                </a:solidFill>
                <a:latin typeface="Times New Roman" panose="02020603050405020304" pitchFamily="18" charset="0"/>
                <a:ea typeface="MS PGothic" panose="020B0600070205080204" pitchFamily="34" charset="-128"/>
              </a:defRPr>
            </a:lvl1pPr>
            <a:lvl2pPr marL="742950" indent="-285750">
              <a:defRPr sz="900">
                <a:solidFill>
                  <a:schemeClr val="tx1"/>
                </a:solidFill>
                <a:latin typeface="Times New Roman" panose="02020603050405020304" pitchFamily="18" charset="0"/>
                <a:ea typeface="MS PGothic" panose="020B0600070205080204" pitchFamily="34" charset="-128"/>
              </a:defRPr>
            </a:lvl2pPr>
            <a:lvl3pPr marL="1143000" indent="-228600">
              <a:defRPr sz="900">
                <a:solidFill>
                  <a:schemeClr val="tx1"/>
                </a:solidFill>
                <a:latin typeface="Times New Roman" panose="02020603050405020304" pitchFamily="18" charset="0"/>
                <a:ea typeface="MS PGothic" panose="020B0600070205080204" pitchFamily="34" charset="-128"/>
              </a:defRPr>
            </a:lvl3pPr>
            <a:lvl4pPr marL="1600200" indent="-228600">
              <a:defRPr sz="900">
                <a:solidFill>
                  <a:schemeClr val="tx1"/>
                </a:solidFill>
                <a:latin typeface="Times New Roman" panose="02020603050405020304" pitchFamily="18" charset="0"/>
                <a:ea typeface="MS PGothic" panose="020B0600070205080204" pitchFamily="34" charset="-128"/>
              </a:defRPr>
            </a:lvl4pPr>
            <a:lvl5pPr marL="2057400" indent="-228600">
              <a:defRPr sz="9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9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9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9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900">
                <a:solidFill>
                  <a:schemeClr val="tx1"/>
                </a:solidFill>
                <a:latin typeface="Times New Roman" panose="02020603050405020304" pitchFamily="18" charset="0"/>
                <a:ea typeface="MS PGothic" panose="020B0600070205080204" pitchFamily="34" charset="-128"/>
              </a:defRPr>
            </a:lvl9pPr>
          </a:lstStyle>
          <a:p>
            <a:fld id="{7018505E-7F1E-481D-9925-65DDA6317167}" type="slidenum">
              <a:rPr lang="en-US" altLang="en-US" sz="1200"/>
              <a:pPr/>
              <a:t>12</a:t>
            </a:fld>
            <a:endParaRPr lang="en-US" altLang="en-US" sz="1200"/>
          </a:p>
        </p:txBody>
      </p:sp>
      <p:sp>
        <p:nvSpPr>
          <p:cNvPr id="107523" name="Rectangle 2"/>
          <p:cNvSpPr>
            <a:spLocks noGrp="1" noRot="1" noChangeAspect="1" noChangeArrowheads="1" noTextEdit="1"/>
          </p:cNvSpPr>
          <p:nvPr>
            <p:ph type="sldImg"/>
          </p:nvPr>
        </p:nvSpPr>
        <p:spPr>
          <a:ln/>
        </p:spPr>
      </p:sp>
      <p:sp>
        <p:nvSpPr>
          <p:cNvPr id="107524"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buFontTx/>
              <a:buChar char="•"/>
            </a:pPr>
            <a:r>
              <a:rPr lang="en-US" altLang="en-US" dirty="0">
                <a:latin typeface="Times New Roman" panose="02020603050405020304" pitchFamily="18" charset="0"/>
              </a:rPr>
              <a:t>Another symptom of PTSD is a diminished response to the external world.</a:t>
            </a:r>
            <a:endParaRPr lang="en-US" altLang="en-US" sz="1600" dirty="0">
              <a:latin typeface="Times New Roman" panose="02020603050405020304" pitchFamily="18" charset="0"/>
            </a:endParaRPr>
          </a:p>
          <a:p>
            <a:pPr eaLnBrk="1" hangingPunct="1">
              <a:buFontTx/>
              <a:buChar char="•"/>
            </a:pPr>
            <a:endParaRPr lang="en-US" altLang="en-US" dirty="0">
              <a:latin typeface="Times New Roman" panose="02020603050405020304" pitchFamily="18" charset="0"/>
            </a:endParaRPr>
          </a:p>
        </p:txBody>
      </p:sp>
    </p:spTree>
    <p:extLst>
      <p:ext uri="{BB962C8B-B14F-4D97-AF65-F5344CB8AC3E}">
        <p14:creationId xmlns:p14="http://schemas.microsoft.com/office/powerpoint/2010/main" val="282010591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900">
                <a:solidFill>
                  <a:schemeClr val="tx1"/>
                </a:solidFill>
                <a:latin typeface="Times New Roman" panose="02020603050405020304" pitchFamily="18" charset="0"/>
                <a:ea typeface="MS PGothic" panose="020B0600070205080204" pitchFamily="34" charset="-128"/>
              </a:defRPr>
            </a:lvl1pPr>
            <a:lvl2pPr marL="742950" indent="-285750">
              <a:defRPr sz="900">
                <a:solidFill>
                  <a:schemeClr val="tx1"/>
                </a:solidFill>
                <a:latin typeface="Times New Roman" panose="02020603050405020304" pitchFamily="18" charset="0"/>
                <a:ea typeface="MS PGothic" panose="020B0600070205080204" pitchFamily="34" charset="-128"/>
              </a:defRPr>
            </a:lvl2pPr>
            <a:lvl3pPr marL="1143000" indent="-228600">
              <a:defRPr sz="900">
                <a:solidFill>
                  <a:schemeClr val="tx1"/>
                </a:solidFill>
                <a:latin typeface="Times New Roman" panose="02020603050405020304" pitchFamily="18" charset="0"/>
                <a:ea typeface="MS PGothic" panose="020B0600070205080204" pitchFamily="34" charset="-128"/>
              </a:defRPr>
            </a:lvl3pPr>
            <a:lvl4pPr marL="1600200" indent="-228600">
              <a:defRPr sz="900">
                <a:solidFill>
                  <a:schemeClr val="tx1"/>
                </a:solidFill>
                <a:latin typeface="Times New Roman" panose="02020603050405020304" pitchFamily="18" charset="0"/>
                <a:ea typeface="MS PGothic" panose="020B0600070205080204" pitchFamily="34" charset="-128"/>
              </a:defRPr>
            </a:lvl4pPr>
            <a:lvl5pPr marL="2057400" indent="-228600">
              <a:defRPr sz="9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9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9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9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900">
                <a:solidFill>
                  <a:schemeClr val="tx1"/>
                </a:solidFill>
                <a:latin typeface="Times New Roman" panose="02020603050405020304" pitchFamily="18" charset="0"/>
                <a:ea typeface="MS PGothic" panose="020B0600070205080204" pitchFamily="34" charset="-128"/>
              </a:defRPr>
            </a:lvl9pPr>
          </a:lstStyle>
          <a:p>
            <a:fld id="{A12855BC-330F-4D9E-AE25-069F55C5896D}" type="slidenum">
              <a:rPr lang="en-US" altLang="en-US" sz="1200"/>
              <a:pPr/>
              <a:t>13</a:t>
            </a:fld>
            <a:endParaRPr lang="en-US" altLang="en-US" sz="1200"/>
          </a:p>
        </p:txBody>
      </p:sp>
      <p:sp>
        <p:nvSpPr>
          <p:cNvPr id="108547" name="Rectangle 2"/>
          <p:cNvSpPr>
            <a:spLocks noGrp="1" noRot="1" noChangeAspect="1" noChangeArrowheads="1" noTextEdit="1"/>
          </p:cNvSpPr>
          <p:nvPr>
            <p:ph type="sldImg"/>
          </p:nvPr>
        </p:nvSpPr>
        <p:spPr>
          <a:ln/>
        </p:spPr>
      </p:sp>
      <p:sp>
        <p:nvSpPr>
          <p:cNvPr id="108548"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buFontTx/>
              <a:buChar char="•"/>
            </a:pPr>
            <a:r>
              <a:rPr lang="en-US" altLang="en-US" dirty="0">
                <a:latin typeface="Times New Roman" panose="02020603050405020304" pitchFamily="18" charset="0"/>
              </a:rPr>
              <a:t> Major depression involves episodes of dysphoria. What is that? </a:t>
            </a:r>
            <a:r>
              <a:rPr lang="en-US" altLang="en-US" i="1" dirty="0">
                <a:latin typeface="Times New Roman" panose="02020603050405020304" pitchFamily="18" charset="0"/>
              </a:rPr>
              <a:t>(Sadness, hopelessness, worry, discouragement.)</a:t>
            </a:r>
            <a:r>
              <a:rPr lang="en-US" altLang="en-US" dirty="0">
                <a:latin typeface="Times New Roman" panose="02020603050405020304" pitchFamily="18" charset="0"/>
              </a:rPr>
              <a:t> </a:t>
            </a:r>
          </a:p>
          <a:p>
            <a:pPr eaLnBrk="1" hangingPunct="1">
              <a:buFontTx/>
              <a:buChar char="•"/>
            </a:pPr>
            <a:r>
              <a:rPr lang="en-US" altLang="en-US" dirty="0">
                <a:latin typeface="Times New Roman" panose="02020603050405020304" pitchFamily="18" charset="0"/>
              </a:rPr>
              <a:t> Depression has other symptoms, including appetite disturbances and changes in weight, sleep, fatigue, sense of worthlessness, hopelessness, inappropriate guilt, difficulty thinking or concentrating, thoughts of death or suicide.</a:t>
            </a:r>
          </a:p>
          <a:p>
            <a:pPr eaLnBrk="1" hangingPunct="1">
              <a:buFontTx/>
              <a:buChar char="•"/>
            </a:pPr>
            <a:r>
              <a:rPr lang="en-US" altLang="en-US" dirty="0">
                <a:latin typeface="Times New Roman" panose="02020603050405020304" pitchFamily="18" charset="0"/>
              </a:rPr>
              <a:t> Dysthymia is a depressive disorder involving a depressed mood that persists over a 2-year period, but it is not as severe as major depression. </a:t>
            </a:r>
          </a:p>
          <a:p>
            <a:pPr eaLnBrk="1" hangingPunct="1">
              <a:buFontTx/>
              <a:buChar char="•"/>
            </a:pPr>
            <a:r>
              <a:rPr lang="en-US" altLang="en-US" dirty="0">
                <a:latin typeface="Times New Roman" panose="02020603050405020304" pitchFamily="18" charset="0"/>
              </a:rPr>
              <a:t> What is SAD? </a:t>
            </a:r>
            <a:r>
              <a:rPr lang="en-US" altLang="en-US" i="1" dirty="0">
                <a:latin typeface="Times New Roman" panose="02020603050405020304" pitchFamily="18" charset="0"/>
              </a:rPr>
              <a:t>(A regular appearance of depression during low light periods of the year lasting roughly 60 days. In the United States, it tends to occur beginning around October or November every year</a:t>
            </a:r>
            <a:r>
              <a:rPr lang="en-US" altLang="en-US" dirty="0">
                <a:latin typeface="Times New Roman" panose="02020603050405020304" pitchFamily="18" charset="0"/>
              </a:rPr>
              <a:t>.</a:t>
            </a:r>
            <a:r>
              <a:rPr lang="en-US" altLang="en-US" i="1" dirty="0">
                <a:latin typeface="Times New Roman" panose="02020603050405020304" pitchFamily="18" charset="0"/>
              </a:rPr>
              <a:t>)</a:t>
            </a:r>
          </a:p>
        </p:txBody>
      </p:sp>
    </p:spTree>
    <p:extLst>
      <p:ext uri="{BB962C8B-B14F-4D97-AF65-F5344CB8AC3E}">
        <p14:creationId xmlns:p14="http://schemas.microsoft.com/office/powerpoint/2010/main" val="57936901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900">
                <a:solidFill>
                  <a:schemeClr val="tx1"/>
                </a:solidFill>
                <a:latin typeface="Times New Roman" panose="02020603050405020304" pitchFamily="18" charset="0"/>
                <a:ea typeface="MS PGothic" panose="020B0600070205080204" pitchFamily="34" charset="-128"/>
              </a:defRPr>
            </a:lvl1pPr>
            <a:lvl2pPr marL="742950" indent="-285750">
              <a:defRPr sz="900">
                <a:solidFill>
                  <a:schemeClr val="tx1"/>
                </a:solidFill>
                <a:latin typeface="Times New Roman" panose="02020603050405020304" pitchFamily="18" charset="0"/>
                <a:ea typeface="MS PGothic" panose="020B0600070205080204" pitchFamily="34" charset="-128"/>
              </a:defRPr>
            </a:lvl2pPr>
            <a:lvl3pPr marL="1143000" indent="-228600">
              <a:defRPr sz="900">
                <a:solidFill>
                  <a:schemeClr val="tx1"/>
                </a:solidFill>
                <a:latin typeface="Times New Roman" panose="02020603050405020304" pitchFamily="18" charset="0"/>
                <a:ea typeface="MS PGothic" panose="020B0600070205080204" pitchFamily="34" charset="-128"/>
              </a:defRPr>
            </a:lvl3pPr>
            <a:lvl4pPr marL="1600200" indent="-228600">
              <a:defRPr sz="900">
                <a:solidFill>
                  <a:schemeClr val="tx1"/>
                </a:solidFill>
                <a:latin typeface="Times New Roman" panose="02020603050405020304" pitchFamily="18" charset="0"/>
                <a:ea typeface="MS PGothic" panose="020B0600070205080204" pitchFamily="34" charset="-128"/>
              </a:defRPr>
            </a:lvl4pPr>
            <a:lvl5pPr marL="2057400" indent="-228600">
              <a:defRPr sz="9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9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9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9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900">
                <a:solidFill>
                  <a:schemeClr val="tx1"/>
                </a:solidFill>
                <a:latin typeface="Times New Roman" panose="02020603050405020304" pitchFamily="18" charset="0"/>
                <a:ea typeface="MS PGothic" panose="020B0600070205080204" pitchFamily="34" charset="-128"/>
              </a:defRPr>
            </a:lvl9pPr>
          </a:lstStyle>
          <a:p>
            <a:fld id="{419D8A97-EBF2-4718-891A-6492DFCC2339}" type="slidenum">
              <a:rPr lang="en-US" altLang="en-US" sz="1200"/>
              <a:pPr/>
              <a:t>14</a:t>
            </a:fld>
            <a:endParaRPr lang="en-US" altLang="en-US" sz="1200"/>
          </a:p>
        </p:txBody>
      </p:sp>
      <p:sp>
        <p:nvSpPr>
          <p:cNvPr id="109571" name="Rectangle 2"/>
          <p:cNvSpPr>
            <a:spLocks noGrp="1" noRot="1" noChangeAspect="1" noChangeArrowheads="1" noTextEdit="1"/>
          </p:cNvSpPr>
          <p:nvPr>
            <p:ph type="sldImg"/>
          </p:nvPr>
        </p:nvSpPr>
        <p:spPr>
          <a:ln/>
        </p:spPr>
      </p:sp>
      <p:sp>
        <p:nvSpPr>
          <p:cNvPr id="109572"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buFontTx/>
              <a:buChar char="•"/>
            </a:pPr>
            <a:r>
              <a:rPr lang="en-US" altLang="en-US">
                <a:latin typeface="Times New Roman" panose="02020603050405020304" pitchFamily="18" charset="0"/>
              </a:rPr>
              <a:t> Major depression involves episodes of dysphoria. What is that? </a:t>
            </a:r>
            <a:r>
              <a:rPr lang="en-US" altLang="en-US" i="1">
                <a:latin typeface="Times New Roman" panose="02020603050405020304" pitchFamily="18" charset="0"/>
              </a:rPr>
              <a:t>(Sadness, hopelessness, worry, discouragement.)</a:t>
            </a:r>
            <a:r>
              <a:rPr lang="en-US" altLang="en-US">
                <a:latin typeface="Times New Roman" panose="02020603050405020304" pitchFamily="18" charset="0"/>
              </a:rPr>
              <a:t> </a:t>
            </a:r>
          </a:p>
          <a:p>
            <a:pPr eaLnBrk="1" hangingPunct="1">
              <a:buFontTx/>
              <a:buChar char="•"/>
            </a:pPr>
            <a:r>
              <a:rPr lang="en-US" altLang="en-US">
                <a:latin typeface="Times New Roman" panose="02020603050405020304" pitchFamily="18" charset="0"/>
              </a:rPr>
              <a:t> Depression has other symptoms, including appetite disturbances and changes in weight, sleep, fatigue, sense of worthlessness, hopelessness, inappropriate guilt, difficulty thinking or concentrating, thoughts of death or suicide.</a:t>
            </a:r>
          </a:p>
          <a:p>
            <a:pPr eaLnBrk="1" hangingPunct="1">
              <a:buFontTx/>
              <a:buChar char="•"/>
            </a:pPr>
            <a:r>
              <a:rPr lang="en-US" altLang="en-US">
                <a:latin typeface="Times New Roman" panose="02020603050405020304" pitchFamily="18" charset="0"/>
              </a:rPr>
              <a:t> Dysthymia is a depressive disorder involving a depressed mood that persists over a 2-year period, but it is not as severe as major depression. </a:t>
            </a:r>
          </a:p>
          <a:p>
            <a:pPr eaLnBrk="1" hangingPunct="1">
              <a:buFontTx/>
              <a:buChar char="•"/>
            </a:pPr>
            <a:r>
              <a:rPr lang="en-US" altLang="en-US">
                <a:latin typeface="Times New Roman" panose="02020603050405020304" pitchFamily="18" charset="0"/>
              </a:rPr>
              <a:t> What is SAD? </a:t>
            </a:r>
            <a:r>
              <a:rPr lang="en-US" altLang="en-US" i="1">
                <a:latin typeface="Times New Roman" panose="02020603050405020304" pitchFamily="18" charset="0"/>
              </a:rPr>
              <a:t>(A regular appearance of depression during low light periods of the year lasting roughly 60 days. In the United States, it tends to occur beginning around October or November every year</a:t>
            </a:r>
            <a:r>
              <a:rPr lang="en-US" altLang="en-US">
                <a:latin typeface="Times New Roman" panose="02020603050405020304" pitchFamily="18" charset="0"/>
              </a:rPr>
              <a:t>.</a:t>
            </a:r>
            <a:r>
              <a:rPr lang="en-US" altLang="en-US" i="1">
                <a:latin typeface="Times New Roman" panose="02020603050405020304" pitchFamily="18" charset="0"/>
              </a:rPr>
              <a:t>)</a:t>
            </a:r>
          </a:p>
        </p:txBody>
      </p:sp>
    </p:spTree>
    <p:extLst>
      <p:ext uri="{BB962C8B-B14F-4D97-AF65-F5344CB8AC3E}">
        <p14:creationId xmlns:p14="http://schemas.microsoft.com/office/powerpoint/2010/main" val="183671960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900">
                <a:solidFill>
                  <a:schemeClr val="tx1"/>
                </a:solidFill>
                <a:latin typeface="Times New Roman" panose="02020603050405020304" pitchFamily="18" charset="0"/>
                <a:ea typeface="MS PGothic" panose="020B0600070205080204" pitchFamily="34" charset="-128"/>
              </a:defRPr>
            </a:lvl1pPr>
            <a:lvl2pPr marL="742950" indent="-285750">
              <a:defRPr sz="900">
                <a:solidFill>
                  <a:schemeClr val="tx1"/>
                </a:solidFill>
                <a:latin typeface="Times New Roman" panose="02020603050405020304" pitchFamily="18" charset="0"/>
                <a:ea typeface="MS PGothic" panose="020B0600070205080204" pitchFamily="34" charset="-128"/>
              </a:defRPr>
            </a:lvl2pPr>
            <a:lvl3pPr marL="1143000" indent="-228600">
              <a:defRPr sz="900">
                <a:solidFill>
                  <a:schemeClr val="tx1"/>
                </a:solidFill>
                <a:latin typeface="Times New Roman" panose="02020603050405020304" pitchFamily="18" charset="0"/>
                <a:ea typeface="MS PGothic" panose="020B0600070205080204" pitchFamily="34" charset="-128"/>
              </a:defRPr>
            </a:lvl3pPr>
            <a:lvl4pPr marL="1600200" indent="-228600">
              <a:defRPr sz="900">
                <a:solidFill>
                  <a:schemeClr val="tx1"/>
                </a:solidFill>
                <a:latin typeface="Times New Roman" panose="02020603050405020304" pitchFamily="18" charset="0"/>
                <a:ea typeface="MS PGothic" panose="020B0600070205080204" pitchFamily="34" charset="-128"/>
              </a:defRPr>
            </a:lvl4pPr>
            <a:lvl5pPr marL="2057400" indent="-228600">
              <a:defRPr sz="9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9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9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9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900">
                <a:solidFill>
                  <a:schemeClr val="tx1"/>
                </a:solidFill>
                <a:latin typeface="Times New Roman" panose="02020603050405020304" pitchFamily="18" charset="0"/>
                <a:ea typeface="MS PGothic" panose="020B0600070205080204" pitchFamily="34" charset="-128"/>
              </a:defRPr>
            </a:lvl9pPr>
          </a:lstStyle>
          <a:p>
            <a:fld id="{1F296E7F-69AE-4962-9BBE-46A275F16174}" type="slidenum">
              <a:rPr lang="en-US" altLang="en-US" sz="1200"/>
              <a:pPr/>
              <a:t>15</a:t>
            </a:fld>
            <a:endParaRPr lang="en-US" altLang="en-US" sz="1200"/>
          </a:p>
        </p:txBody>
      </p:sp>
      <p:sp>
        <p:nvSpPr>
          <p:cNvPr id="110595" name="Rectangle 2"/>
          <p:cNvSpPr>
            <a:spLocks noGrp="1" noRot="1" noChangeAspect="1" noChangeArrowheads="1" noTextEdit="1"/>
          </p:cNvSpPr>
          <p:nvPr>
            <p:ph type="sldImg"/>
          </p:nvPr>
        </p:nvSpPr>
        <p:spPr>
          <a:ln/>
        </p:spPr>
      </p:sp>
      <p:sp>
        <p:nvSpPr>
          <p:cNvPr id="110596"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marL="228600" indent="-228600" eaLnBrk="1" hangingPunct="1">
              <a:buFontTx/>
              <a:buChar char="•"/>
            </a:pPr>
            <a:r>
              <a:rPr lang="en-US" altLang="en-US">
                <a:latin typeface="Times New Roman" panose="02020603050405020304" pitchFamily="18" charset="0"/>
              </a:rPr>
              <a:t>What </a:t>
            </a:r>
            <a:r>
              <a:rPr lang="ja-JP" altLang="en-US">
                <a:latin typeface="Times New Roman" panose="02020603050405020304" pitchFamily="18" charset="0"/>
              </a:rPr>
              <a:t>“</a:t>
            </a:r>
            <a:r>
              <a:rPr lang="en-US" altLang="ja-JP">
                <a:latin typeface="Times New Roman" panose="02020603050405020304" pitchFamily="18" charset="0"/>
              </a:rPr>
              <a:t>two</a:t>
            </a:r>
            <a:r>
              <a:rPr lang="ja-JP" altLang="en-US">
                <a:latin typeface="Times New Roman" panose="02020603050405020304" pitchFamily="18" charset="0"/>
              </a:rPr>
              <a:t>”</a:t>
            </a:r>
            <a:r>
              <a:rPr lang="en-US" altLang="ja-JP">
                <a:latin typeface="Times New Roman" panose="02020603050405020304" pitchFamily="18" charset="0"/>
              </a:rPr>
              <a:t> literary figures represent dissociative identity disorder? </a:t>
            </a:r>
            <a:r>
              <a:rPr lang="en-US" altLang="ja-JP" i="1">
                <a:latin typeface="Times New Roman" panose="02020603050405020304" pitchFamily="18" charset="0"/>
              </a:rPr>
              <a:t>(Dr. Jekyll and Mr. Hyde)</a:t>
            </a:r>
          </a:p>
          <a:p>
            <a:pPr marL="228600" indent="-228600" eaLnBrk="1" hangingPunct="1">
              <a:buFontTx/>
              <a:buChar char="•"/>
            </a:pPr>
            <a:r>
              <a:rPr lang="en-US" altLang="en-US">
                <a:latin typeface="Times New Roman" panose="02020603050405020304" pitchFamily="18" charset="0"/>
              </a:rPr>
              <a:t>What does </a:t>
            </a:r>
            <a:r>
              <a:rPr lang="ja-JP" altLang="en-US">
                <a:latin typeface="Times New Roman" panose="02020603050405020304" pitchFamily="18" charset="0"/>
              </a:rPr>
              <a:t>“</a:t>
            </a:r>
            <a:r>
              <a:rPr lang="en-US" altLang="ja-JP">
                <a:latin typeface="Times New Roman" panose="02020603050405020304" pitchFamily="18" charset="0"/>
              </a:rPr>
              <a:t>fugue</a:t>
            </a:r>
            <a:r>
              <a:rPr lang="ja-JP" altLang="en-US">
                <a:latin typeface="Times New Roman" panose="02020603050405020304" pitchFamily="18" charset="0"/>
              </a:rPr>
              <a:t>”</a:t>
            </a:r>
            <a:r>
              <a:rPr lang="en-US" altLang="ja-JP">
                <a:latin typeface="Times New Roman" panose="02020603050405020304" pitchFamily="18" charset="0"/>
              </a:rPr>
              <a:t> mean? </a:t>
            </a:r>
            <a:r>
              <a:rPr lang="en-US" altLang="ja-JP" i="1">
                <a:latin typeface="Times New Roman" panose="02020603050405020304" pitchFamily="18" charset="0"/>
              </a:rPr>
              <a:t>(Flight. The fugue disorder includes the assumption of a new identity and an inability to recall one</a:t>
            </a:r>
            <a:r>
              <a:rPr lang="ja-JP" altLang="en-US" i="1">
                <a:latin typeface="Times New Roman" panose="02020603050405020304" pitchFamily="18" charset="0"/>
              </a:rPr>
              <a:t>’</a:t>
            </a:r>
            <a:r>
              <a:rPr lang="en-US" altLang="ja-JP" i="1">
                <a:latin typeface="Times New Roman" panose="02020603050405020304" pitchFamily="18" charset="0"/>
              </a:rPr>
              <a:t>s previous identity</a:t>
            </a:r>
            <a:r>
              <a:rPr lang="en-US" altLang="ja-JP">
                <a:latin typeface="Times New Roman" panose="02020603050405020304" pitchFamily="18" charset="0"/>
              </a:rPr>
              <a:t>.</a:t>
            </a:r>
            <a:r>
              <a:rPr lang="en-US" altLang="ja-JP" i="1">
                <a:latin typeface="Times New Roman" panose="02020603050405020304" pitchFamily="18" charset="0"/>
              </a:rPr>
              <a:t>)</a:t>
            </a:r>
            <a:endParaRPr lang="en-US" altLang="en-US" i="1">
              <a:latin typeface="Times New Roman" panose="02020603050405020304" pitchFamily="18" charset="0"/>
            </a:endParaRPr>
          </a:p>
        </p:txBody>
      </p:sp>
    </p:spTree>
    <p:extLst>
      <p:ext uri="{BB962C8B-B14F-4D97-AF65-F5344CB8AC3E}">
        <p14:creationId xmlns:p14="http://schemas.microsoft.com/office/powerpoint/2010/main" val="95789035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900">
                <a:solidFill>
                  <a:schemeClr val="tx1"/>
                </a:solidFill>
                <a:latin typeface="Times New Roman" panose="02020603050405020304" pitchFamily="18" charset="0"/>
                <a:ea typeface="MS PGothic" panose="020B0600070205080204" pitchFamily="34" charset="-128"/>
              </a:defRPr>
            </a:lvl1pPr>
            <a:lvl2pPr marL="742950" indent="-285750">
              <a:defRPr sz="900">
                <a:solidFill>
                  <a:schemeClr val="tx1"/>
                </a:solidFill>
                <a:latin typeface="Times New Roman" panose="02020603050405020304" pitchFamily="18" charset="0"/>
                <a:ea typeface="MS PGothic" panose="020B0600070205080204" pitchFamily="34" charset="-128"/>
              </a:defRPr>
            </a:lvl2pPr>
            <a:lvl3pPr marL="1143000" indent="-228600">
              <a:defRPr sz="900">
                <a:solidFill>
                  <a:schemeClr val="tx1"/>
                </a:solidFill>
                <a:latin typeface="Times New Roman" panose="02020603050405020304" pitchFamily="18" charset="0"/>
                <a:ea typeface="MS PGothic" panose="020B0600070205080204" pitchFamily="34" charset="-128"/>
              </a:defRPr>
            </a:lvl3pPr>
            <a:lvl4pPr marL="1600200" indent="-228600">
              <a:defRPr sz="900">
                <a:solidFill>
                  <a:schemeClr val="tx1"/>
                </a:solidFill>
                <a:latin typeface="Times New Roman" panose="02020603050405020304" pitchFamily="18" charset="0"/>
                <a:ea typeface="MS PGothic" panose="020B0600070205080204" pitchFamily="34" charset="-128"/>
              </a:defRPr>
            </a:lvl4pPr>
            <a:lvl5pPr marL="2057400" indent="-228600">
              <a:defRPr sz="9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9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9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9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900">
                <a:solidFill>
                  <a:schemeClr val="tx1"/>
                </a:solidFill>
                <a:latin typeface="Times New Roman" panose="02020603050405020304" pitchFamily="18" charset="0"/>
                <a:ea typeface="MS PGothic" panose="020B0600070205080204" pitchFamily="34" charset="-128"/>
              </a:defRPr>
            </a:lvl9pPr>
          </a:lstStyle>
          <a:p>
            <a:fld id="{464D459E-A9B0-4C31-9599-6927238BFD04}" type="slidenum">
              <a:rPr lang="en-US" altLang="en-US" sz="1200"/>
              <a:pPr/>
              <a:t>16</a:t>
            </a:fld>
            <a:endParaRPr lang="en-US" altLang="en-US" sz="1200"/>
          </a:p>
        </p:txBody>
      </p:sp>
      <p:sp>
        <p:nvSpPr>
          <p:cNvPr id="111619" name="Rectangle 2"/>
          <p:cNvSpPr>
            <a:spLocks noGrp="1" noRot="1" noChangeAspect="1" noChangeArrowheads="1" noTextEdit="1"/>
          </p:cNvSpPr>
          <p:nvPr>
            <p:ph type="sldImg"/>
          </p:nvPr>
        </p:nvSpPr>
        <p:spPr>
          <a:ln/>
        </p:spPr>
      </p:sp>
      <p:sp>
        <p:nvSpPr>
          <p:cNvPr id="111620"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buFontTx/>
              <a:buChar char="•"/>
            </a:pPr>
            <a:r>
              <a:rPr lang="en-US" altLang="en-US">
                <a:latin typeface="Times New Roman" panose="02020603050405020304" pitchFamily="18" charset="0"/>
              </a:rPr>
              <a:t> Bulimics usually have low to normal body weight. Is that the same with anorexics? </a:t>
            </a:r>
          </a:p>
          <a:p>
            <a:pPr eaLnBrk="1" hangingPunct="1">
              <a:buFontTx/>
              <a:buChar char="•"/>
            </a:pPr>
            <a:r>
              <a:rPr lang="en-US" altLang="en-US">
                <a:latin typeface="Times New Roman" panose="02020603050405020304" pitchFamily="18" charset="0"/>
              </a:rPr>
              <a:t> This condition</a:t>
            </a:r>
            <a:r>
              <a:rPr lang="ja-JP" altLang="en-US">
                <a:latin typeface="Times New Roman" panose="02020603050405020304" pitchFamily="18" charset="0"/>
              </a:rPr>
              <a:t>’</a:t>
            </a:r>
            <a:r>
              <a:rPr lang="en-US" altLang="ja-JP">
                <a:latin typeface="Times New Roman" panose="02020603050405020304" pitchFamily="18" charset="0"/>
              </a:rPr>
              <a:t>s principal symptom is a conscious, relentless attempt to diet along with excessive, compulsive overactivity, such as exercise, running, or gymnastics. </a:t>
            </a:r>
            <a:endParaRPr lang="en-US" altLang="en-US">
              <a:latin typeface="Times New Roman" panose="02020603050405020304" pitchFamily="18" charset="0"/>
            </a:endParaRPr>
          </a:p>
        </p:txBody>
      </p:sp>
    </p:spTree>
    <p:extLst>
      <p:ext uri="{BB962C8B-B14F-4D97-AF65-F5344CB8AC3E}">
        <p14:creationId xmlns:p14="http://schemas.microsoft.com/office/powerpoint/2010/main" val="136070530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900">
                <a:solidFill>
                  <a:schemeClr val="tx1"/>
                </a:solidFill>
                <a:latin typeface="Times New Roman" panose="02020603050405020304" pitchFamily="18" charset="0"/>
                <a:ea typeface="MS PGothic" panose="020B0600070205080204" pitchFamily="34" charset="-128"/>
              </a:defRPr>
            </a:lvl1pPr>
            <a:lvl2pPr marL="742950" indent="-285750">
              <a:defRPr sz="900">
                <a:solidFill>
                  <a:schemeClr val="tx1"/>
                </a:solidFill>
                <a:latin typeface="Times New Roman" panose="02020603050405020304" pitchFamily="18" charset="0"/>
                <a:ea typeface="MS PGothic" panose="020B0600070205080204" pitchFamily="34" charset="-128"/>
              </a:defRPr>
            </a:lvl2pPr>
            <a:lvl3pPr marL="1143000" indent="-228600">
              <a:defRPr sz="900">
                <a:solidFill>
                  <a:schemeClr val="tx1"/>
                </a:solidFill>
                <a:latin typeface="Times New Roman" panose="02020603050405020304" pitchFamily="18" charset="0"/>
                <a:ea typeface="MS PGothic" panose="020B0600070205080204" pitchFamily="34" charset="-128"/>
              </a:defRPr>
            </a:lvl3pPr>
            <a:lvl4pPr marL="1600200" indent="-228600">
              <a:defRPr sz="900">
                <a:solidFill>
                  <a:schemeClr val="tx1"/>
                </a:solidFill>
                <a:latin typeface="Times New Roman" panose="02020603050405020304" pitchFamily="18" charset="0"/>
                <a:ea typeface="MS PGothic" panose="020B0600070205080204" pitchFamily="34" charset="-128"/>
              </a:defRPr>
            </a:lvl4pPr>
            <a:lvl5pPr marL="2057400" indent="-228600">
              <a:defRPr sz="9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9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9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9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900">
                <a:solidFill>
                  <a:schemeClr val="tx1"/>
                </a:solidFill>
                <a:latin typeface="Times New Roman" panose="02020603050405020304" pitchFamily="18" charset="0"/>
                <a:ea typeface="MS PGothic" panose="020B0600070205080204" pitchFamily="34" charset="-128"/>
              </a:defRPr>
            </a:lvl9pPr>
          </a:lstStyle>
          <a:p>
            <a:fld id="{B2F05AC9-04A1-4272-BF3E-C08BE2AE95FE}" type="slidenum">
              <a:rPr lang="en-US" altLang="en-US" sz="1200"/>
              <a:pPr/>
              <a:t>17</a:t>
            </a:fld>
            <a:endParaRPr lang="en-US" altLang="en-US" sz="120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buFontTx/>
              <a:buChar char="•"/>
            </a:pPr>
            <a:r>
              <a:rPr lang="en-US" altLang="en-US">
                <a:latin typeface="Times New Roman" panose="02020603050405020304" pitchFamily="18" charset="0"/>
              </a:rPr>
              <a:t> What delirium is caused by alcohol withdrawal? </a:t>
            </a:r>
            <a:r>
              <a:rPr lang="en-US" altLang="en-US" i="1">
                <a:latin typeface="Times New Roman" panose="02020603050405020304" pitchFamily="18" charset="0"/>
              </a:rPr>
              <a:t>(Delirium tremens) </a:t>
            </a:r>
          </a:p>
          <a:p>
            <a:pPr eaLnBrk="1" hangingPunct="1">
              <a:buFontTx/>
              <a:buChar char="•"/>
            </a:pPr>
            <a:r>
              <a:rPr lang="en-US" altLang="en-US">
                <a:latin typeface="Times New Roman" panose="02020603050405020304" pitchFamily="18" charset="0"/>
              </a:rPr>
              <a:t> What are some possible causes of these conditions? </a:t>
            </a:r>
            <a:r>
              <a:rPr lang="en-US" altLang="en-US" i="1">
                <a:latin typeface="Times New Roman" panose="02020603050405020304" pitchFamily="18" charset="0"/>
              </a:rPr>
              <a:t>(Dementia is usually due to Alzheimer disease, but it also can be due to cerebrovascular disease, CNS infection, brain trauma, tumors, Parkinson, and Huntington diseases</a:t>
            </a:r>
            <a:r>
              <a:rPr lang="en-US" altLang="en-US">
                <a:latin typeface="Times New Roman" panose="02020603050405020304" pitchFamily="18" charset="0"/>
              </a:rPr>
              <a:t>.</a:t>
            </a:r>
            <a:r>
              <a:rPr lang="en-US" altLang="en-US" i="1">
                <a:latin typeface="Times New Roman" panose="02020603050405020304" pitchFamily="18" charset="0"/>
              </a:rPr>
              <a:t>)</a:t>
            </a:r>
          </a:p>
        </p:txBody>
      </p:sp>
    </p:spTree>
    <p:extLst>
      <p:ext uri="{BB962C8B-B14F-4D97-AF65-F5344CB8AC3E}">
        <p14:creationId xmlns:p14="http://schemas.microsoft.com/office/powerpoint/2010/main" val="215079143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900">
                <a:solidFill>
                  <a:schemeClr val="tx1"/>
                </a:solidFill>
                <a:latin typeface="Times New Roman" panose="02020603050405020304" pitchFamily="18" charset="0"/>
                <a:ea typeface="MS PGothic" panose="020B0600070205080204" pitchFamily="34" charset="-128"/>
              </a:defRPr>
            </a:lvl1pPr>
            <a:lvl2pPr marL="742950" indent="-285750">
              <a:defRPr sz="900">
                <a:solidFill>
                  <a:schemeClr val="tx1"/>
                </a:solidFill>
                <a:latin typeface="Times New Roman" panose="02020603050405020304" pitchFamily="18" charset="0"/>
                <a:ea typeface="MS PGothic" panose="020B0600070205080204" pitchFamily="34" charset="-128"/>
              </a:defRPr>
            </a:lvl2pPr>
            <a:lvl3pPr marL="1143000" indent="-228600">
              <a:defRPr sz="900">
                <a:solidFill>
                  <a:schemeClr val="tx1"/>
                </a:solidFill>
                <a:latin typeface="Times New Roman" panose="02020603050405020304" pitchFamily="18" charset="0"/>
                <a:ea typeface="MS PGothic" panose="020B0600070205080204" pitchFamily="34" charset="-128"/>
              </a:defRPr>
            </a:lvl3pPr>
            <a:lvl4pPr marL="1600200" indent="-228600">
              <a:defRPr sz="900">
                <a:solidFill>
                  <a:schemeClr val="tx1"/>
                </a:solidFill>
                <a:latin typeface="Times New Roman" panose="02020603050405020304" pitchFamily="18" charset="0"/>
                <a:ea typeface="MS PGothic" panose="020B0600070205080204" pitchFamily="34" charset="-128"/>
              </a:defRPr>
            </a:lvl4pPr>
            <a:lvl5pPr marL="2057400" indent="-228600">
              <a:defRPr sz="9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9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9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9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900">
                <a:solidFill>
                  <a:schemeClr val="tx1"/>
                </a:solidFill>
                <a:latin typeface="Times New Roman" panose="02020603050405020304" pitchFamily="18" charset="0"/>
                <a:ea typeface="MS PGothic" panose="020B0600070205080204" pitchFamily="34" charset="-128"/>
              </a:defRPr>
            </a:lvl9pPr>
          </a:lstStyle>
          <a:p>
            <a:fld id="{B4951CBF-81C5-4496-9B2C-B50769E9D2BC}" type="slidenum">
              <a:rPr lang="en-US" altLang="en-US" sz="1200"/>
              <a:pPr/>
              <a:t>18</a:t>
            </a:fld>
            <a:endParaRPr lang="en-US" altLang="en-US" sz="1200"/>
          </a:p>
        </p:txBody>
      </p:sp>
      <p:sp>
        <p:nvSpPr>
          <p:cNvPr id="113667" name="Rectangle 2"/>
          <p:cNvSpPr>
            <a:spLocks noGrp="1" noRot="1" noChangeAspect="1" noChangeArrowheads="1" noTextEdit="1"/>
          </p:cNvSpPr>
          <p:nvPr>
            <p:ph type="sldImg"/>
          </p:nvPr>
        </p:nvSpPr>
        <p:spPr>
          <a:ln/>
        </p:spPr>
      </p:sp>
      <p:sp>
        <p:nvSpPr>
          <p:cNvPr id="113668"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endParaRPr lang="en-GB" altLang="en-US">
              <a:latin typeface="Times New Roman" panose="02020603050405020304" pitchFamily="18" charset="0"/>
            </a:endParaRPr>
          </a:p>
        </p:txBody>
      </p:sp>
    </p:spTree>
    <p:extLst>
      <p:ext uri="{BB962C8B-B14F-4D97-AF65-F5344CB8AC3E}">
        <p14:creationId xmlns:p14="http://schemas.microsoft.com/office/powerpoint/2010/main" val="192571303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900">
                <a:solidFill>
                  <a:schemeClr val="tx1"/>
                </a:solidFill>
                <a:latin typeface="Times New Roman" panose="02020603050405020304" pitchFamily="18" charset="0"/>
                <a:ea typeface="MS PGothic" panose="020B0600070205080204" pitchFamily="34" charset="-128"/>
              </a:defRPr>
            </a:lvl1pPr>
            <a:lvl2pPr marL="742950" indent="-285750">
              <a:defRPr sz="900">
                <a:solidFill>
                  <a:schemeClr val="tx1"/>
                </a:solidFill>
                <a:latin typeface="Times New Roman" panose="02020603050405020304" pitchFamily="18" charset="0"/>
                <a:ea typeface="MS PGothic" panose="020B0600070205080204" pitchFamily="34" charset="-128"/>
              </a:defRPr>
            </a:lvl2pPr>
            <a:lvl3pPr marL="1143000" indent="-228600">
              <a:defRPr sz="900">
                <a:solidFill>
                  <a:schemeClr val="tx1"/>
                </a:solidFill>
                <a:latin typeface="Times New Roman" panose="02020603050405020304" pitchFamily="18" charset="0"/>
                <a:ea typeface="MS PGothic" panose="020B0600070205080204" pitchFamily="34" charset="-128"/>
              </a:defRPr>
            </a:lvl3pPr>
            <a:lvl4pPr marL="1600200" indent="-228600">
              <a:defRPr sz="900">
                <a:solidFill>
                  <a:schemeClr val="tx1"/>
                </a:solidFill>
                <a:latin typeface="Times New Roman" panose="02020603050405020304" pitchFamily="18" charset="0"/>
                <a:ea typeface="MS PGothic" panose="020B0600070205080204" pitchFamily="34" charset="-128"/>
              </a:defRPr>
            </a:lvl4pPr>
            <a:lvl5pPr marL="2057400" indent="-228600">
              <a:defRPr sz="9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9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9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9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900">
                <a:solidFill>
                  <a:schemeClr val="tx1"/>
                </a:solidFill>
                <a:latin typeface="Times New Roman" panose="02020603050405020304" pitchFamily="18" charset="0"/>
                <a:ea typeface="MS PGothic" panose="020B0600070205080204" pitchFamily="34" charset="-128"/>
              </a:defRPr>
            </a:lvl9pPr>
          </a:lstStyle>
          <a:p>
            <a:fld id="{B11846ED-AA69-4D1B-B1D9-22ABFA3DE313}" type="slidenum">
              <a:rPr lang="en-US" altLang="en-US" sz="1200"/>
              <a:pPr/>
              <a:t>19</a:t>
            </a:fld>
            <a:endParaRPr lang="en-US" altLang="en-US" sz="1200"/>
          </a:p>
        </p:txBody>
      </p:sp>
      <p:sp>
        <p:nvSpPr>
          <p:cNvPr id="114691" name="Rectangle 2"/>
          <p:cNvSpPr>
            <a:spLocks noGrp="1" noRot="1" noChangeAspect="1" noChangeArrowheads="1" noTextEdit="1"/>
          </p:cNvSpPr>
          <p:nvPr>
            <p:ph type="sldImg"/>
          </p:nvPr>
        </p:nvSpPr>
        <p:spPr>
          <a:ln/>
        </p:spPr>
      </p:sp>
      <p:sp>
        <p:nvSpPr>
          <p:cNvPr id="114692"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buFontTx/>
              <a:buChar char="•"/>
            </a:pPr>
            <a:r>
              <a:rPr lang="en-US" altLang="en-US">
                <a:latin typeface="Times New Roman" panose="02020603050405020304" pitchFamily="18" charset="0"/>
              </a:rPr>
              <a:t> Review definitions by asking students to define and pronounce these disorders correctly.</a:t>
            </a:r>
          </a:p>
        </p:txBody>
      </p:sp>
    </p:spTree>
    <p:extLst>
      <p:ext uri="{BB962C8B-B14F-4D97-AF65-F5344CB8AC3E}">
        <p14:creationId xmlns:p14="http://schemas.microsoft.com/office/powerpoint/2010/main" val="53902331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900">
                <a:solidFill>
                  <a:schemeClr val="tx1"/>
                </a:solidFill>
                <a:latin typeface="Times New Roman" panose="02020603050405020304" pitchFamily="18" charset="0"/>
                <a:ea typeface="MS PGothic" panose="020B0600070205080204" pitchFamily="34" charset="-128"/>
              </a:defRPr>
            </a:lvl1pPr>
            <a:lvl2pPr marL="742950" indent="-285750">
              <a:defRPr sz="900">
                <a:solidFill>
                  <a:schemeClr val="tx1"/>
                </a:solidFill>
                <a:latin typeface="Times New Roman" panose="02020603050405020304" pitchFamily="18" charset="0"/>
                <a:ea typeface="MS PGothic" panose="020B0600070205080204" pitchFamily="34" charset="-128"/>
              </a:defRPr>
            </a:lvl2pPr>
            <a:lvl3pPr marL="1143000" indent="-228600">
              <a:defRPr sz="900">
                <a:solidFill>
                  <a:schemeClr val="tx1"/>
                </a:solidFill>
                <a:latin typeface="Times New Roman" panose="02020603050405020304" pitchFamily="18" charset="0"/>
                <a:ea typeface="MS PGothic" panose="020B0600070205080204" pitchFamily="34" charset="-128"/>
              </a:defRPr>
            </a:lvl3pPr>
            <a:lvl4pPr marL="1600200" indent="-228600">
              <a:defRPr sz="900">
                <a:solidFill>
                  <a:schemeClr val="tx1"/>
                </a:solidFill>
                <a:latin typeface="Times New Roman" panose="02020603050405020304" pitchFamily="18" charset="0"/>
                <a:ea typeface="MS PGothic" panose="020B0600070205080204" pitchFamily="34" charset="-128"/>
              </a:defRPr>
            </a:lvl4pPr>
            <a:lvl5pPr marL="2057400" indent="-228600">
              <a:defRPr sz="9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9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9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9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900">
                <a:solidFill>
                  <a:schemeClr val="tx1"/>
                </a:solidFill>
                <a:latin typeface="Times New Roman" panose="02020603050405020304" pitchFamily="18" charset="0"/>
                <a:ea typeface="MS PGothic" panose="020B0600070205080204" pitchFamily="34" charset="-128"/>
              </a:defRPr>
            </a:lvl9pPr>
          </a:lstStyle>
          <a:p>
            <a:fld id="{67E841D1-B37D-458B-A00F-FB93E1948B39}" type="slidenum">
              <a:rPr lang="en-US" altLang="en-US" sz="1200"/>
              <a:pPr/>
              <a:t>20</a:t>
            </a:fld>
            <a:endParaRPr lang="en-US" altLang="en-US" sz="1200"/>
          </a:p>
        </p:txBody>
      </p:sp>
      <p:sp>
        <p:nvSpPr>
          <p:cNvPr id="115715" name="Rectangle 2"/>
          <p:cNvSpPr>
            <a:spLocks noGrp="1" noRot="1" noChangeAspect="1" noChangeArrowheads="1" noTextEdit="1"/>
          </p:cNvSpPr>
          <p:nvPr>
            <p:ph type="sldImg"/>
          </p:nvPr>
        </p:nvSpPr>
        <p:spPr>
          <a:ln/>
        </p:spPr>
      </p:sp>
      <p:sp>
        <p:nvSpPr>
          <p:cNvPr id="115716"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buFontTx/>
              <a:buChar char="•"/>
            </a:pPr>
            <a:r>
              <a:rPr lang="en-US" altLang="en-US">
                <a:latin typeface="Times New Roman" panose="02020603050405020304" pitchFamily="18" charset="0"/>
              </a:rPr>
              <a:t> Review definitions by asking students to define and pronounce these disorders correctly.</a:t>
            </a:r>
          </a:p>
        </p:txBody>
      </p:sp>
    </p:spTree>
    <p:extLst>
      <p:ext uri="{BB962C8B-B14F-4D97-AF65-F5344CB8AC3E}">
        <p14:creationId xmlns:p14="http://schemas.microsoft.com/office/powerpoint/2010/main" val="421276235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900">
                <a:solidFill>
                  <a:schemeClr val="tx1"/>
                </a:solidFill>
                <a:latin typeface="Times New Roman" panose="02020603050405020304" pitchFamily="18" charset="0"/>
                <a:ea typeface="MS PGothic" panose="020B0600070205080204" pitchFamily="34" charset="-128"/>
              </a:defRPr>
            </a:lvl1pPr>
            <a:lvl2pPr marL="742950" indent="-285750">
              <a:defRPr sz="900">
                <a:solidFill>
                  <a:schemeClr val="tx1"/>
                </a:solidFill>
                <a:latin typeface="Times New Roman" panose="02020603050405020304" pitchFamily="18" charset="0"/>
                <a:ea typeface="MS PGothic" panose="020B0600070205080204" pitchFamily="34" charset="-128"/>
              </a:defRPr>
            </a:lvl2pPr>
            <a:lvl3pPr marL="1143000" indent="-228600">
              <a:defRPr sz="900">
                <a:solidFill>
                  <a:schemeClr val="tx1"/>
                </a:solidFill>
                <a:latin typeface="Times New Roman" panose="02020603050405020304" pitchFamily="18" charset="0"/>
                <a:ea typeface="MS PGothic" panose="020B0600070205080204" pitchFamily="34" charset="-128"/>
              </a:defRPr>
            </a:lvl3pPr>
            <a:lvl4pPr marL="1600200" indent="-228600">
              <a:defRPr sz="900">
                <a:solidFill>
                  <a:schemeClr val="tx1"/>
                </a:solidFill>
                <a:latin typeface="Times New Roman" panose="02020603050405020304" pitchFamily="18" charset="0"/>
                <a:ea typeface="MS PGothic" panose="020B0600070205080204" pitchFamily="34" charset="-128"/>
              </a:defRPr>
            </a:lvl4pPr>
            <a:lvl5pPr marL="2057400" indent="-228600">
              <a:defRPr sz="9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9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9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9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900">
                <a:solidFill>
                  <a:schemeClr val="tx1"/>
                </a:solidFill>
                <a:latin typeface="Times New Roman" panose="02020603050405020304" pitchFamily="18" charset="0"/>
                <a:ea typeface="MS PGothic" panose="020B0600070205080204" pitchFamily="34" charset="-128"/>
              </a:defRPr>
            </a:lvl9pPr>
          </a:lstStyle>
          <a:p>
            <a:fld id="{67E841D1-B37D-458B-A00F-FB93E1948B39}" type="slidenum">
              <a:rPr lang="en-US" altLang="en-US" sz="1200"/>
              <a:pPr/>
              <a:t>21</a:t>
            </a:fld>
            <a:endParaRPr lang="en-US" altLang="en-US" sz="1200"/>
          </a:p>
        </p:txBody>
      </p:sp>
      <p:sp>
        <p:nvSpPr>
          <p:cNvPr id="115715" name="Rectangle 2"/>
          <p:cNvSpPr>
            <a:spLocks noGrp="1" noRot="1" noChangeAspect="1" noChangeArrowheads="1" noTextEdit="1"/>
          </p:cNvSpPr>
          <p:nvPr>
            <p:ph type="sldImg"/>
          </p:nvPr>
        </p:nvSpPr>
        <p:spPr>
          <a:ln/>
        </p:spPr>
      </p:sp>
      <p:sp>
        <p:nvSpPr>
          <p:cNvPr id="115716"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buFontTx/>
              <a:buChar char="•"/>
            </a:pPr>
            <a:r>
              <a:rPr lang="en-US" altLang="en-US">
                <a:latin typeface="Times New Roman" panose="02020603050405020304" pitchFamily="18" charset="0"/>
              </a:rPr>
              <a:t> Review definitions by asking students to define and pronounce these disorders correctly.</a:t>
            </a:r>
          </a:p>
        </p:txBody>
      </p:sp>
    </p:spTree>
    <p:extLst>
      <p:ext uri="{BB962C8B-B14F-4D97-AF65-F5344CB8AC3E}">
        <p14:creationId xmlns:p14="http://schemas.microsoft.com/office/powerpoint/2010/main" val="414395749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900">
                <a:solidFill>
                  <a:schemeClr val="tx1"/>
                </a:solidFill>
                <a:latin typeface="Times New Roman" panose="02020603050405020304" pitchFamily="18" charset="0"/>
                <a:ea typeface="MS PGothic" panose="020B0600070205080204" pitchFamily="34" charset="-128"/>
              </a:defRPr>
            </a:lvl1pPr>
            <a:lvl2pPr marL="742950" indent="-285750">
              <a:defRPr sz="900">
                <a:solidFill>
                  <a:schemeClr val="tx1"/>
                </a:solidFill>
                <a:latin typeface="Times New Roman" panose="02020603050405020304" pitchFamily="18" charset="0"/>
                <a:ea typeface="MS PGothic" panose="020B0600070205080204" pitchFamily="34" charset="-128"/>
              </a:defRPr>
            </a:lvl2pPr>
            <a:lvl3pPr marL="1143000" indent="-228600">
              <a:defRPr sz="900">
                <a:solidFill>
                  <a:schemeClr val="tx1"/>
                </a:solidFill>
                <a:latin typeface="Times New Roman" panose="02020603050405020304" pitchFamily="18" charset="0"/>
                <a:ea typeface="MS PGothic" panose="020B0600070205080204" pitchFamily="34" charset="-128"/>
              </a:defRPr>
            </a:lvl3pPr>
            <a:lvl4pPr marL="1600200" indent="-228600">
              <a:defRPr sz="900">
                <a:solidFill>
                  <a:schemeClr val="tx1"/>
                </a:solidFill>
                <a:latin typeface="Times New Roman" panose="02020603050405020304" pitchFamily="18" charset="0"/>
                <a:ea typeface="MS PGothic" panose="020B0600070205080204" pitchFamily="34" charset="-128"/>
              </a:defRPr>
            </a:lvl4pPr>
            <a:lvl5pPr marL="2057400" indent="-228600">
              <a:defRPr sz="9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9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9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9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900">
                <a:solidFill>
                  <a:schemeClr val="tx1"/>
                </a:solidFill>
                <a:latin typeface="Times New Roman" panose="02020603050405020304" pitchFamily="18" charset="0"/>
                <a:ea typeface="MS PGothic" panose="020B0600070205080204" pitchFamily="34" charset="-128"/>
              </a:defRPr>
            </a:lvl9pPr>
          </a:lstStyle>
          <a:p>
            <a:fld id="{2999AD53-1973-41CD-98E6-21A9527DCB19}" type="slidenum">
              <a:rPr lang="en-US" altLang="en-US" sz="1200"/>
              <a:pPr/>
              <a:t>22</a:t>
            </a:fld>
            <a:endParaRPr lang="en-US" altLang="en-US" sz="1200"/>
          </a:p>
        </p:txBody>
      </p:sp>
      <p:sp>
        <p:nvSpPr>
          <p:cNvPr id="117763" name="Rectangle 2"/>
          <p:cNvSpPr>
            <a:spLocks noGrp="1" noRot="1" noChangeAspect="1" noChangeArrowheads="1" noTextEdit="1"/>
          </p:cNvSpPr>
          <p:nvPr>
            <p:ph type="sldImg"/>
          </p:nvPr>
        </p:nvSpPr>
        <p:spPr>
          <a:ln/>
        </p:spPr>
      </p:sp>
      <p:sp>
        <p:nvSpPr>
          <p:cNvPr id="117764"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buFontTx/>
              <a:buChar char="•"/>
            </a:pPr>
            <a:r>
              <a:rPr lang="en-US" altLang="en-US">
                <a:latin typeface="Times New Roman" panose="02020603050405020304" pitchFamily="18" charset="0"/>
              </a:rPr>
              <a:t> Review definitions by asking students to define and pronounce these disorders correctly.</a:t>
            </a:r>
          </a:p>
        </p:txBody>
      </p:sp>
    </p:spTree>
    <p:extLst>
      <p:ext uri="{BB962C8B-B14F-4D97-AF65-F5344CB8AC3E}">
        <p14:creationId xmlns:p14="http://schemas.microsoft.com/office/powerpoint/2010/main" val="2998699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900">
                <a:solidFill>
                  <a:schemeClr val="tx1"/>
                </a:solidFill>
                <a:latin typeface="Times New Roman" panose="02020603050405020304" pitchFamily="18" charset="0"/>
                <a:ea typeface="MS PGothic" panose="020B0600070205080204" pitchFamily="34" charset="-128"/>
              </a:defRPr>
            </a:lvl1pPr>
            <a:lvl2pPr marL="742950" indent="-285750">
              <a:defRPr sz="900">
                <a:solidFill>
                  <a:schemeClr val="tx1"/>
                </a:solidFill>
                <a:latin typeface="Times New Roman" panose="02020603050405020304" pitchFamily="18" charset="0"/>
                <a:ea typeface="MS PGothic" panose="020B0600070205080204" pitchFamily="34" charset="-128"/>
              </a:defRPr>
            </a:lvl2pPr>
            <a:lvl3pPr marL="1143000" indent="-228600">
              <a:defRPr sz="900">
                <a:solidFill>
                  <a:schemeClr val="tx1"/>
                </a:solidFill>
                <a:latin typeface="Times New Roman" panose="02020603050405020304" pitchFamily="18" charset="0"/>
                <a:ea typeface="MS PGothic" panose="020B0600070205080204" pitchFamily="34" charset="-128"/>
              </a:defRPr>
            </a:lvl3pPr>
            <a:lvl4pPr marL="1600200" indent="-228600">
              <a:defRPr sz="900">
                <a:solidFill>
                  <a:schemeClr val="tx1"/>
                </a:solidFill>
                <a:latin typeface="Times New Roman" panose="02020603050405020304" pitchFamily="18" charset="0"/>
                <a:ea typeface="MS PGothic" panose="020B0600070205080204" pitchFamily="34" charset="-128"/>
              </a:defRPr>
            </a:lvl4pPr>
            <a:lvl5pPr marL="2057400" indent="-228600">
              <a:defRPr sz="9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9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9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9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900">
                <a:solidFill>
                  <a:schemeClr val="tx1"/>
                </a:solidFill>
                <a:latin typeface="Times New Roman" panose="02020603050405020304" pitchFamily="18" charset="0"/>
                <a:ea typeface="MS PGothic" panose="020B0600070205080204" pitchFamily="34" charset="-128"/>
              </a:defRPr>
            </a:lvl9pPr>
          </a:lstStyle>
          <a:p>
            <a:fld id="{AA75B5CD-1837-420E-BB51-6CEB141AE4FE}" type="slidenum">
              <a:rPr lang="en-US" altLang="en-US" sz="1200"/>
              <a:pPr/>
              <a:t>23</a:t>
            </a:fld>
            <a:endParaRPr lang="en-US" altLang="en-US" sz="1200"/>
          </a:p>
        </p:txBody>
      </p:sp>
      <p:sp>
        <p:nvSpPr>
          <p:cNvPr id="118787" name="Rectangle 2"/>
          <p:cNvSpPr>
            <a:spLocks noGrp="1" noRot="1" noChangeAspect="1" noChangeArrowheads="1" noTextEdit="1"/>
          </p:cNvSpPr>
          <p:nvPr>
            <p:ph type="sldImg"/>
          </p:nvPr>
        </p:nvSpPr>
        <p:spPr>
          <a:ln/>
        </p:spPr>
      </p:sp>
      <p:sp>
        <p:nvSpPr>
          <p:cNvPr id="118788"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endParaRPr lang="en-GB" altLang="en-US">
              <a:latin typeface="Times New Roman" panose="02020603050405020304" pitchFamily="18" charset="0"/>
            </a:endParaRPr>
          </a:p>
        </p:txBody>
      </p:sp>
    </p:spTree>
    <p:extLst>
      <p:ext uri="{BB962C8B-B14F-4D97-AF65-F5344CB8AC3E}">
        <p14:creationId xmlns:p14="http://schemas.microsoft.com/office/powerpoint/2010/main" val="414395977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buFontTx/>
              <a:buChar char="•"/>
            </a:pPr>
            <a:r>
              <a:rPr lang="en-US" altLang="en-US" dirty="0">
                <a:latin typeface="Times New Roman" panose="02020603050405020304" pitchFamily="18" charset="0"/>
              </a:rPr>
              <a:t> Go over definitions. Make distinctions between positive affect (paranoid psychosis) and negative affect (catatonia) types of symptoms, both constituting the same disease.</a:t>
            </a:r>
          </a:p>
          <a:p>
            <a:pPr eaLnBrk="1" hangingPunct="1">
              <a:buFontTx/>
              <a:buChar char="•"/>
            </a:pPr>
            <a:r>
              <a:rPr lang="en-US" altLang="en-US" dirty="0">
                <a:latin typeface="Times New Roman" panose="02020603050405020304" pitchFamily="18" charset="0"/>
              </a:rPr>
              <a:t> What is flat affect? </a:t>
            </a:r>
            <a:r>
              <a:rPr lang="en-US" altLang="en-US" i="1" dirty="0">
                <a:latin typeface="Times New Roman" panose="02020603050405020304" pitchFamily="18" charset="0"/>
              </a:rPr>
              <a:t>(Marked by monotonous voice, immobile face, and no signs of expression</a:t>
            </a:r>
            <a:r>
              <a:rPr lang="en-US" altLang="en-US" dirty="0">
                <a:latin typeface="Times New Roman" panose="02020603050405020304" pitchFamily="18" charset="0"/>
              </a:rPr>
              <a:t>.</a:t>
            </a:r>
            <a:r>
              <a:rPr lang="en-US" altLang="en-US" i="1" dirty="0">
                <a:latin typeface="Times New Roman" panose="02020603050405020304" pitchFamily="18" charset="0"/>
              </a:rPr>
              <a:t>)</a:t>
            </a:r>
          </a:p>
          <a:p>
            <a:pPr eaLnBrk="1" hangingPunct="1">
              <a:buFontTx/>
              <a:buChar char="•"/>
            </a:pPr>
            <a:r>
              <a:rPr lang="en-US" altLang="en-US" dirty="0">
                <a:latin typeface="Times New Roman" panose="02020603050405020304" pitchFamily="18" charset="0"/>
              </a:rPr>
              <a:t> What are different types of schizophrenia? </a:t>
            </a:r>
            <a:r>
              <a:rPr lang="en-US" altLang="en-US" i="1" dirty="0">
                <a:latin typeface="Times New Roman" panose="02020603050405020304" pitchFamily="18" charset="0"/>
              </a:rPr>
              <a:t>(Catatonic type, disorganized type, and paranoid type)</a:t>
            </a:r>
            <a:r>
              <a:rPr lang="en-US" altLang="en-US" dirty="0">
                <a:latin typeface="Times New Roman" panose="02020603050405020304" pitchFamily="18" charset="0"/>
              </a:rPr>
              <a:t> </a:t>
            </a:r>
          </a:p>
          <a:p>
            <a:endParaRPr lang="es-419" dirty="0"/>
          </a:p>
        </p:txBody>
      </p:sp>
      <p:sp>
        <p:nvSpPr>
          <p:cNvPr id="4" name="Slide Number Placeholder 3"/>
          <p:cNvSpPr>
            <a:spLocks noGrp="1"/>
          </p:cNvSpPr>
          <p:nvPr>
            <p:ph type="sldNum" sz="quarter" idx="10"/>
          </p:nvPr>
        </p:nvSpPr>
        <p:spPr/>
        <p:txBody>
          <a:bodyPr/>
          <a:lstStyle/>
          <a:p>
            <a:fld id="{9DD8956B-8F79-4131-A174-E4232C945132}" type="slidenum">
              <a:rPr lang="en-US" altLang="en-US" smtClean="0"/>
              <a:pPr/>
              <a:t>24</a:t>
            </a:fld>
            <a:endParaRPr lang="en-US" altLang="en-US"/>
          </a:p>
        </p:txBody>
      </p:sp>
    </p:spTree>
    <p:extLst>
      <p:ext uri="{BB962C8B-B14F-4D97-AF65-F5344CB8AC3E}">
        <p14:creationId xmlns:p14="http://schemas.microsoft.com/office/powerpoint/2010/main" val="385313771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900">
                <a:solidFill>
                  <a:schemeClr val="tx1"/>
                </a:solidFill>
                <a:latin typeface="Times New Roman" panose="02020603050405020304" pitchFamily="18" charset="0"/>
                <a:ea typeface="MS PGothic" panose="020B0600070205080204" pitchFamily="34" charset="-128"/>
              </a:defRPr>
            </a:lvl1pPr>
            <a:lvl2pPr marL="742950" indent="-285750">
              <a:defRPr sz="900">
                <a:solidFill>
                  <a:schemeClr val="tx1"/>
                </a:solidFill>
                <a:latin typeface="Times New Roman" panose="02020603050405020304" pitchFamily="18" charset="0"/>
                <a:ea typeface="MS PGothic" panose="020B0600070205080204" pitchFamily="34" charset="-128"/>
              </a:defRPr>
            </a:lvl2pPr>
            <a:lvl3pPr marL="1143000" indent="-228600">
              <a:defRPr sz="900">
                <a:solidFill>
                  <a:schemeClr val="tx1"/>
                </a:solidFill>
                <a:latin typeface="Times New Roman" panose="02020603050405020304" pitchFamily="18" charset="0"/>
                <a:ea typeface="MS PGothic" panose="020B0600070205080204" pitchFamily="34" charset="-128"/>
              </a:defRPr>
            </a:lvl3pPr>
            <a:lvl4pPr marL="1600200" indent="-228600">
              <a:defRPr sz="900">
                <a:solidFill>
                  <a:schemeClr val="tx1"/>
                </a:solidFill>
                <a:latin typeface="Times New Roman" panose="02020603050405020304" pitchFamily="18" charset="0"/>
                <a:ea typeface="MS PGothic" panose="020B0600070205080204" pitchFamily="34" charset="-128"/>
              </a:defRPr>
            </a:lvl4pPr>
            <a:lvl5pPr marL="2057400" indent="-228600">
              <a:defRPr sz="9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9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9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9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900">
                <a:solidFill>
                  <a:schemeClr val="tx1"/>
                </a:solidFill>
                <a:latin typeface="Times New Roman" panose="02020603050405020304" pitchFamily="18" charset="0"/>
                <a:ea typeface="MS PGothic" panose="020B0600070205080204" pitchFamily="34" charset="-128"/>
              </a:defRPr>
            </a:lvl9pPr>
          </a:lstStyle>
          <a:p>
            <a:fld id="{8A91AAFC-4D62-4EF8-9680-1CF7327FFC01}" type="slidenum">
              <a:rPr lang="en-US" altLang="en-US" sz="1200"/>
              <a:pPr/>
              <a:t>25</a:t>
            </a:fld>
            <a:endParaRPr lang="en-US" altLang="en-US" sz="1200"/>
          </a:p>
        </p:txBody>
      </p:sp>
      <p:sp>
        <p:nvSpPr>
          <p:cNvPr id="121859" name="Rectangle 2"/>
          <p:cNvSpPr>
            <a:spLocks noGrp="1" noRot="1" noChangeAspect="1" noChangeArrowheads="1" noTextEdit="1"/>
          </p:cNvSpPr>
          <p:nvPr>
            <p:ph type="sldImg"/>
          </p:nvPr>
        </p:nvSpPr>
        <p:spPr>
          <a:ln/>
        </p:spPr>
      </p:sp>
      <p:sp>
        <p:nvSpPr>
          <p:cNvPr id="121860"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buFontTx/>
              <a:buChar char="•"/>
            </a:pPr>
            <a:r>
              <a:rPr lang="en-US" altLang="en-US">
                <a:latin typeface="Times New Roman" panose="02020603050405020304" pitchFamily="18" charset="0"/>
              </a:rPr>
              <a:t> What is an example of conversion disorder? </a:t>
            </a:r>
            <a:r>
              <a:rPr lang="en-US" altLang="en-US" i="1">
                <a:latin typeface="Times New Roman" panose="02020603050405020304" pitchFamily="18" charset="0"/>
              </a:rPr>
              <a:t>(A person with repressed anger and desire to physically harm a family member may suddenly develop a paralysis of the arm</a:t>
            </a:r>
            <a:r>
              <a:rPr lang="en-US" altLang="en-US">
                <a:latin typeface="Times New Roman" panose="02020603050405020304" pitchFamily="18" charset="0"/>
              </a:rPr>
              <a:t>.</a:t>
            </a:r>
            <a:r>
              <a:rPr lang="en-US" altLang="en-US" i="1">
                <a:latin typeface="Times New Roman" panose="02020603050405020304" pitchFamily="18" charset="0"/>
              </a:rPr>
              <a:t>)</a:t>
            </a:r>
          </a:p>
        </p:txBody>
      </p:sp>
    </p:spTree>
    <p:extLst>
      <p:ext uri="{BB962C8B-B14F-4D97-AF65-F5344CB8AC3E}">
        <p14:creationId xmlns:p14="http://schemas.microsoft.com/office/powerpoint/2010/main" val="32701653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900">
                <a:solidFill>
                  <a:schemeClr val="tx1"/>
                </a:solidFill>
                <a:latin typeface="Times New Roman" panose="02020603050405020304" pitchFamily="18" charset="0"/>
                <a:ea typeface="MS PGothic" panose="020B0600070205080204" pitchFamily="34" charset="-128"/>
              </a:defRPr>
            </a:lvl1pPr>
            <a:lvl2pPr marL="742950" indent="-285750">
              <a:defRPr sz="900">
                <a:solidFill>
                  <a:schemeClr val="tx1"/>
                </a:solidFill>
                <a:latin typeface="Times New Roman" panose="02020603050405020304" pitchFamily="18" charset="0"/>
                <a:ea typeface="MS PGothic" panose="020B0600070205080204" pitchFamily="34" charset="-128"/>
              </a:defRPr>
            </a:lvl2pPr>
            <a:lvl3pPr marL="1143000" indent="-228600">
              <a:defRPr sz="900">
                <a:solidFill>
                  <a:schemeClr val="tx1"/>
                </a:solidFill>
                <a:latin typeface="Times New Roman" panose="02020603050405020304" pitchFamily="18" charset="0"/>
                <a:ea typeface="MS PGothic" panose="020B0600070205080204" pitchFamily="34" charset="-128"/>
              </a:defRPr>
            </a:lvl3pPr>
            <a:lvl4pPr marL="1600200" indent="-228600">
              <a:defRPr sz="900">
                <a:solidFill>
                  <a:schemeClr val="tx1"/>
                </a:solidFill>
                <a:latin typeface="Times New Roman" panose="02020603050405020304" pitchFamily="18" charset="0"/>
                <a:ea typeface="MS PGothic" panose="020B0600070205080204" pitchFamily="34" charset="-128"/>
              </a:defRPr>
            </a:lvl4pPr>
            <a:lvl5pPr marL="2057400" indent="-228600">
              <a:defRPr sz="9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9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9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9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900">
                <a:solidFill>
                  <a:schemeClr val="tx1"/>
                </a:solidFill>
                <a:latin typeface="Times New Roman" panose="02020603050405020304" pitchFamily="18" charset="0"/>
                <a:ea typeface="MS PGothic" panose="020B0600070205080204" pitchFamily="34" charset="-128"/>
              </a:defRPr>
            </a:lvl9pPr>
          </a:lstStyle>
          <a:p>
            <a:fld id="{A65586CD-510D-483D-B7F4-645AE7092E85}" type="slidenum">
              <a:rPr lang="en-US" altLang="en-US" sz="1200"/>
              <a:pPr/>
              <a:t>26</a:t>
            </a:fld>
            <a:endParaRPr lang="en-US" altLang="en-US" sz="1200"/>
          </a:p>
        </p:txBody>
      </p:sp>
      <p:sp>
        <p:nvSpPr>
          <p:cNvPr id="122883" name="Rectangle 2"/>
          <p:cNvSpPr>
            <a:spLocks noGrp="1" noRot="1" noChangeAspect="1" noChangeArrowheads="1" noTextEdit="1"/>
          </p:cNvSpPr>
          <p:nvPr>
            <p:ph type="sldImg"/>
          </p:nvPr>
        </p:nvSpPr>
        <p:spPr>
          <a:ln/>
        </p:spPr>
      </p:sp>
      <p:sp>
        <p:nvSpPr>
          <p:cNvPr id="122884"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buFontTx/>
              <a:buChar char="•"/>
            </a:pPr>
            <a:r>
              <a:rPr lang="en-US" altLang="en-US">
                <a:latin typeface="Times New Roman" panose="02020603050405020304" pitchFamily="18" charset="0"/>
              </a:rPr>
              <a:t> What are examples of substances associated with drug abuse? </a:t>
            </a:r>
            <a:r>
              <a:rPr lang="en-US" altLang="en-US" i="1">
                <a:latin typeface="Times New Roman" panose="02020603050405020304" pitchFamily="18" charset="0"/>
              </a:rPr>
              <a:t>(Alcohol; amphetamines; cannabis, such as marijuana; cocaine; hallucinogens, such as LSD and PCP; opioids, such as  heroin and morphine; and sedatives, hypnotics, or anxiolytics</a:t>
            </a:r>
            <a:r>
              <a:rPr lang="en-US" altLang="en-US">
                <a:latin typeface="Times New Roman" panose="02020603050405020304" pitchFamily="18" charset="0"/>
              </a:rPr>
              <a:t>.</a:t>
            </a:r>
            <a:r>
              <a:rPr lang="en-US" altLang="en-US" i="1">
                <a:latin typeface="Times New Roman" panose="02020603050405020304" pitchFamily="18" charset="0"/>
              </a:rPr>
              <a:t>)</a:t>
            </a:r>
            <a:r>
              <a:rPr lang="en-US" altLang="en-US">
                <a:latin typeface="Times New Roman" panose="02020603050405020304" pitchFamily="18" charset="0"/>
              </a:rPr>
              <a:t> </a:t>
            </a:r>
          </a:p>
          <a:p>
            <a:pPr eaLnBrk="1" hangingPunct="1"/>
            <a:endParaRPr lang="en-US" altLang="en-US">
              <a:latin typeface="Times New Roman" panose="02020603050405020304" pitchFamily="18" charset="0"/>
            </a:endParaRPr>
          </a:p>
        </p:txBody>
      </p:sp>
    </p:spTree>
    <p:extLst>
      <p:ext uri="{BB962C8B-B14F-4D97-AF65-F5344CB8AC3E}">
        <p14:creationId xmlns:p14="http://schemas.microsoft.com/office/powerpoint/2010/main" val="92483392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900">
                <a:solidFill>
                  <a:schemeClr val="tx1"/>
                </a:solidFill>
                <a:latin typeface="Times New Roman" panose="02020603050405020304" pitchFamily="18" charset="0"/>
                <a:ea typeface="MS PGothic" panose="020B0600070205080204" pitchFamily="34" charset="-128"/>
              </a:defRPr>
            </a:lvl1pPr>
            <a:lvl2pPr marL="742950" indent="-285750">
              <a:defRPr sz="900">
                <a:solidFill>
                  <a:schemeClr val="tx1"/>
                </a:solidFill>
                <a:latin typeface="Times New Roman" panose="02020603050405020304" pitchFamily="18" charset="0"/>
                <a:ea typeface="MS PGothic" panose="020B0600070205080204" pitchFamily="34" charset="-128"/>
              </a:defRPr>
            </a:lvl2pPr>
            <a:lvl3pPr marL="1143000" indent="-228600">
              <a:defRPr sz="900">
                <a:solidFill>
                  <a:schemeClr val="tx1"/>
                </a:solidFill>
                <a:latin typeface="Times New Roman" panose="02020603050405020304" pitchFamily="18" charset="0"/>
                <a:ea typeface="MS PGothic" panose="020B0600070205080204" pitchFamily="34" charset="-128"/>
              </a:defRPr>
            </a:lvl3pPr>
            <a:lvl4pPr marL="1600200" indent="-228600">
              <a:defRPr sz="900">
                <a:solidFill>
                  <a:schemeClr val="tx1"/>
                </a:solidFill>
                <a:latin typeface="Times New Roman" panose="02020603050405020304" pitchFamily="18" charset="0"/>
                <a:ea typeface="MS PGothic" panose="020B0600070205080204" pitchFamily="34" charset="-128"/>
              </a:defRPr>
            </a:lvl4pPr>
            <a:lvl5pPr marL="2057400" indent="-228600">
              <a:defRPr sz="9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9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9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9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900">
                <a:solidFill>
                  <a:schemeClr val="tx1"/>
                </a:solidFill>
                <a:latin typeface="Times New Roman" panose="02020603050405020304" pitchFamily="18" charset="0"/>
                <a:ea typeface="MS PGothic" panose="020B0600070205080204" pitchFamily="34" charset="-128"/>
              </a:defRPr>
            </a:lvl9pPr>
          </a:lstStyle>
          <a:p>
            <a:fld id="{3D70D875-DF08-4D56-AFA2-F74CBAB5AC2D}" type="slidenum">
              <a:rPr lang="en-US" altLang="en-US" sz="1200"/>
              <a:pPr/>
              <a:t>27</a:t>
            </a:fld>
            <a:endParaRPr lang="en-US" altLang="en-US" sz="1200"/>
          </a:p>
        </p:txBody>
      </p:sp>
      <p:sp>
        <p:nvSpPr>
          <p:cNvPr id="123907" name="Rectangle 2"/>
          <p:cNvSpPr>
            <a:spLocks noGrp="1" noRot="1" noChangeAspect="1" noChangeArrowheads="1" noTextEdit="1"/>
          </p:cNvSpPr>
          <p:nvPr>
            <p:ph type="sldImg"/>
          </p:nvPr>
        </p:nvSpPr>
        <p:spPr>
          <a:ln/>
        </p:spPr>
      </p:sp>
      <p:sp>
        <p:nvSpPr>
          <p:cNvPr id="123908"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buFontTx/>
              <a:buChar char="•"/>
            </a:pPr>
            <a:r>
              <a:rPr lang="en-US" altLang="en-US">
                <a:latin typeface="Times New Roman" panose="02020603050405020304" pitchFamily="18" charset="0"/>
              </a:rPr>
              <a:t> In which of these categories do we place barbiturates? </a:t>
            </a:r>
          </a:p>
          <a:p>
            <a:pPr eaLnBrk="1" hangingPunct="1">
              <a:buFontTx/>
              <a:buChar char="•"/>
            </a:pPr>
            <a:r>
              <a:rPr lang="en-US" altLang="en-US">
                <a:latin typeface="Times New Roman" panose="02020603050405020304" pitchFamily="18" charset="0"/>
              </a:rPr>
              <a:t> What are some examples of barbiturates and benzodiazepines? </a:t>
            </a:r>
            <a:r>
              <a:rPr lang="en-US" altLang="en-US" i="1">
                <a:latin typeface="Times New Roman" panose="02020603050405020304" pitchFamily="18" charset="0"/>
              </a:rPr>
              <a:t>(Sleeping pills include barbiturates such as phenobarbital and secobarbital. Other drugs that produce a barbiturate-like effect are benzodiazepines, including temazepam [Restoril], alprazolam [Xanax], and diazepam [Valium].)</a:t>
            </a:r>
          </a:p>
        </p:txBody>
      </p:sp>
    </p:spTree>
    <p:extLst>
      <p:ext uri="{BB962C8B-B14F-4D97-AF65-F5344CB8AC3E}">
        <p14:creationId xmlns:p14="http://schemas.microsoft.com/office/powerpoint/2010/main" val="78247089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900">
                <a:solidFill>
                  <a:schemeClr val="tx1"/>
                </a:solidFill>
                <a:latin typeface="Times New Roman" panose="02020603050405020304" pitchFamily="18" charset="0"/>
                <a:ea typeface="MS PGothic" panose="020B0600070205080204" pitchFamily="34" charset="-128"/>
              </a:defRPr>
            </a:lvl1pPr>
            <a:lvl2pPr marL="742950" indent="-285750">
              <a:defRPr sz="900">
                <a:solidFill>
                  <a:schemeClr val="tx1"/>
                </a:solidFill>
                <a:latin typeface="Times New Roman" panose="02020603050405020304" pitchFamily="18" charset="0"/>
                <a:ea typeface="MS PGothic" panose="020B0600070205080204" pitchFamily="34" charset="-128"/>
              </a:defRPr>
            </a:lvl2pPr>
            <a:lvl3pPr marL="1143000" indent="-228600">
              <a:defRPr sz="900">
                <a:solidFill>
                  <a:schemeClr val="tx1"/>
                </a:solidFill>
                <a:latin typeface="Times New Roman" panose="02020603050405020304" pitchFamily="18" charset="0"/>
                <a:ea typeface="MS PGothic" panose="020B0600070205080204" pitchFamily="34" charset="-128"/>
              </a:defRPr>
            </a:lvl3pPr>
            <a:lvl4pPr marL="1600200" indent="-228600">
              <a:defRPr sz="900">
                <a:solidFill>
                  <a:schemeClr val="tx1"/>
                </a:solidFill>
                <a:latin typeface="Times New Roman" panose="02020603050405020304" pitchFamily="18" charset="0"/>
                <a:ea typeface="MS PGothic" panose="020B0600070205080204" pitchFamily="34" charset="-128"/>
              </a:defRPr>
            </a:lvl4pPr>
            <a:lvl5pPr marL="2057400" indent="-228600">
              <a:defRPr sz="9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9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9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9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900">
                <a:solidFill>
                  <a:schemeClr val="tx1"/>
                </a:solidFill>
                <a:latin typeface="Times New Roman" panose="02020603050405020304" pitchFamily="18" charset="0"/>
                <a:ea typeface="MS PGothic" panose="020B0600070205080204" pitchFamily="34" charset="-128"/>
              </a:defRPr>
            </a:lvl9pPr>
          </a:lstStyle>
          <a:p>
            <a:fld id="{020AD1EB-0AB0-48E2-913E-E5F9129D5D5B}" type="slidenum">
              <a:rPr lang="en-US" altLang="en-US" sz="1200"/>
              <a:pPr/>
              <a:t>28</a:t>
            </a:fld>
            <a:endParaRPr lang="en-US" altLang="en-US" sz="1200"/>
          </a:p>
        </p:txBody>
      </p:sp>
      <p:sp>
        <p:nvSpPr>
          <p:cNvPr id="124931" name="Rectangle 2"/>
          <p:cNvSpPr>
            <a:spLocks noGrp="1" noRot="1" noChangeAspect="1" noChangeArrowheads="1" noTextEdit="1"/>
          </p:cNvSpPr>
          <p:nvPr>
            <p:ph type="sldImg"/>
          </p:nvPr>
        </p:nvSpPr>
        <p:spPr>
          <a:ln/>
        </p:spPr>
      </p:sp>
      <p:sp>
        <p:nvSpPr>
          <p:cNvPr id="124932"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endParaRPr lang="en-GB" altLang="en-US">
              <a:latin typeface="Times New Roman" panose="02020603050405020304" pitchFamily="18" charset="0"/>
            </a:endParaRPr>
          </a:p>
        </p:txBody>
      </p:sp>
    </p:spTree>
    <p:extLst>
      <p:ext uri="{BB962C8B-B14F-4D97-AF65-F5344CB8AC3E}">
        <p14:creationId xmlns:p14="http://schemas.microsoft.com/office/powerpoint/2010/main" val="322538568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900">
                <a:solidFill>
                  <a:schemeClr val="tx1"/>
                </a:solidFill>
                <a:latin typeface="Times New Roman" panose="02020603050405020304" pitchFamily="18" charset="0"/>
                <a:ea typeface="MS PGothic" panose="020B0600070205080204" pitchFamily="34" charset="-128"/>
              </a:defRPr>
            </a:lvl1pPr>
            <a:lvl2pPr marL="742950" indent="-285750">
              <a:defRPr sz="900">
                <a:solidFill>
                  <a:schemeClr val="tx1"/>
                </a:solidFill>
                <a:latin typeface="Times New Roman" panose="02020603050405020304" pitchFamily="18" charset="0"/>
                <a:ea typeface="MS PGothic" panose="020B0600070205080204" pitchFamily="34" charset="-128"/>
              </a:defRPr>
            </a:lvl2pPr>
            <a:lvl3pPr marL="1143000" indent="-228600">
              <a:defRPr sz="900">
                <a:solidFill>
                  <a:schemeClr val="tx1"/>
                </a:solidFill>
                <a:latin typeface="Times New Roman" panose="02020603050405020304" pitchFamily="18" charset="0"/>
                <a:ea typeface="MS PGothic" panose="020B0600070205080204" pitchFamily="34" charset="-128"/>
              </a:defRPr>
            </a:lvl3pPr>
            <a:lvl4pPr marL="1600200" indent="-228600">
              <a:defRPr sz="900">
                <a:solidFill>
                  <a:schemeClr val="tx1"/>
                </a:solidFill>
                <a:latin typeface="Times New Roman" panose="02020603050405020304" pitchFamily="18" charset="0"/>
                <a:ea typeface="MS PGothic" panose="020B0600070205080204" pitchFamily="34" charset="-128"/>
              </a:defRPr>
            </a:lvl4pPr>
            <a:lvl5pPr marL="2057400" indent="-228600">
              <a:defRPr sz="9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9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9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9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900">
                <a:solidFill>
                  <a:schemeClr val="tx1"/>
                </a:solidFill>
                <a:latin typeface="Times New Roman" panose="02020603050405020304" pitchFamily="18" charset="0"/>
                <a:ea typeface="MS PGothic" panose="020B0600070205080204" pitchFamily="34" charset="-128"/>
              </a:defRPr>
            </a:lvl9pPr>
          </a:lstStyle>
          <a:p>
            <a:fld id="{83AD2B1B-9F7A-4B35-BF43-1C67F3383CD7}" type="slidenum">
              <a:rPr lang="en-US" altLang="en-US" sz="1200"/>
              <a:pPr/>
              <a:t>29</a:t>
            </a:fld>
            <a:endParaRPr lang="en-US" altLang="en-US" sz="1200"/>
          </a:p>
        </p:txBody>
      </p:sp>
      <p:sp>
        <p:nvSpPr>
          <p:cNvPr id="125955" name="Rectangle 2"/>
          <p:cNvSpPr>
            <a:spLocks noGrp="1" noRot="1" noChangeAspect="1" noChangeArrowheads="1" noTextEdit="1"/>
          </p:cNvSpPr>
          <p:nvPr>
            <p:ph type="sldImg"/>
          </p:nvPr>
        </p:nvSpPr>
        <p:spPr>
          <a:ln/>
        </p:spPr>
      </p:sp>
      <p:sp>
        <p:nvSpPr>
          <p:cNvPr id="125956"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buFont typeface="Times" panose="02020603050405020304" pitchFamily="18" charset="0"/>
              <a:buChar char="•"/>
            </a:pPr>
            <a:r>
              <a:rPr lang="en-US" altLang="en-US">
                <a:latin typeface="Times New Roman" panose="02020603050405020304" pitchFamily="18" charset="0"/>
              </a:rPr>
              <a:t> What is ECT? Does it continue to be a popular form of therapy? </a:t>
            </a:r>
            <a:r>
              <a:rPr lang="en-US" altLang="en-US" i="1">
                <a:latin typeface="Times New Roman" panose="02020603050405020304" pitchFamily="18" charset="0"/>
              </a:rPr>
              <a:t>(It is a treatment in which an electric current is applied to the brain while the patient is anesthetized, paralyzed, and being ventilated. This produces convulsions. It is used chiefly for serious depression and the depressive phase of bipolar disorder. With the introduction of antidepressant drug therapy, there are few indications for ECT, although it can be lifesaving when a rapid response is necessary.)</a:t>
            </a:r>
          </a:p>
        </p:txBody>
      </p:sp>
    </p:spTree>
    <p:extLst>
      <p:ext uri="{BB962C8B-B14F-4D97-AF65-F5344CB8AC3E}">
        <p14:creationId xmlns:p14="http://schemas.microsoft.com/office/powerpoint/2010/main" val="180952543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900">
                <a:solidFill>
                  <a:schemeClr val="tx1"/>
                </a:solidFill>
                <a:latin typeface="Times New Roman" panose="02020603050405020304" pitchFamily="18" charset="0"/>
                <a:ea typeface="MS PGothic" panose="020B0600070205080204" pitchFamily="34" charset="-128"/>
              </a:defRPr>
            </a:lvl1pPr>
            <a:lvl2pPr marL="742950" indent="-285750">
              <a:defRPr sz="900">
                <a:solidFill>
                  <a:schemeClr val="tx1"/>
                </a:solidFill>
                <a:latin typeface="Times New Roman" panose="02020603050405020304" pitchFamily="18" charset="0"/>
                <a:ea typeface="MS PGothic" panose="020B0600070205080204" pitchFamily="34" charset="-128"/>
              </a:defRPr>
            </a:lvl2pPr>
            <a:lvl3pPr marL="1143000" indent="-228600">
              <a:defRPr sz="900">
                <a:solidFill>
                  <a:schemeClr val="tx1"/>
                </a:solidFill>
                <a:latin typeface="Times New Roman" panose="02020603050405020304" pitchFamily="18" charset="0"/>
                <a:ea typeface="MS PGothic" panose="020B0600070205080204" pitchFamily="34" charset="-128"/>
              </a:defRPr>
            </a:lvl3pPr>
            <a:lvl4pPr marL="1600200" indent="-228600">
              <a:defRPr sz="900">
                <a:solidFill>
                  <a:schemeClr val="tx1"/>
                </a:solidFill>
                <a:latin typeface="Times New Roman" panose="02020603050405020304" pitchFamily="18" charset="0"/>
                <a:ea typeface="MS PGothic" panose="020B0600070205080204" pitchFamily="34" charset="-128"/>
              </a:defRPr>
            </a:lvl4pPr>
            <a:lvl5pPr marL="2057400" indent="-228600">
              <a:defRPr sz="9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9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9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9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900">
                <a:solidFill>
                  <a:schemeClr val="tx1"/>
                </a:solidFill>
                <a:latin typeface="Times New Roman" panose="02020603050405020304" pitchFamily="18" charset="0"/>
                <a:ea typeface="MS PGothic" panose="020B0600070205080204" pitchFamily="34" charset="-128"/>
              </a:defRPr>
            </a:lvl9pPr>
          </a:lstStyle>
          <a:p>
            <a:fld id="{51D78890-D247-40DC-9227-416AF10C0500}" type="slidenum">
              <a:rPr lang="en-US" altLang="en-US" sz="1200"/>
              <a:pPr/>
              <a:t>30</a:t>
            </a:fld>
            <a:endParaRPr lang="en-US" altLang="en-US" sz="1200"/>
          </a:p>
        </p:txBody>
      </p:sp>
      <p:sp>
        <p:nvSpPr>
          <p:cNvPr id="126979" name="Rectangle 2"/>
          <p:cNvSpPr>
            <a:spLocks noGrp="1" noRot="1" noChangeAspect="1" noChangeArrowheads="1" noTextEdit="1"/>
          </p:cNvSpPr>
          <p:nvPr>
            <p:ph type="sldImg"/>
          </p:nvPr>
        </p:nvSpPr>
        <p:spPr>
          <a:ln/>
        </p:spPr>
      </p:sp>
      <p:sp>
        <p:nvSpPr>
          <p:cNvPr id="126980"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buFontTx/>
              <a:buChar char="•"/>
            </a:pPr>
            <a:r>
              <a:rPr lang="en-US" altLang="en-US">
                <a:latin typeface="Times New Roman" panose="02020603050405020304" pitchFamily="18" charset="0"/>
              </a:rPr>
              <a:t> What is play therapy? </a:t>
            </a:r>
            <a:r>
              <a:rPr lang="en-US" altLang="en-US" i="1">
                <a:latin typeface="Times New Roman" panose="02020603050405020304" pitchFamily="18" charset="0"/>
              </a:rPr>
              <a:t>(Through play, a child uses toys to express conflicts and feelings that she or he is unable to communicate in a direct manner.)</a:t>
            </a:r>
          </a:p>
          <a:p>
            <a:pPr eaLnBrk="1" hangingPunct="1">
              <a:buFontTx/>
              <a:buChar char="•"/>
            </a:pPr>
            <a:r>
              <a:rPr lang="en-US" altLang="en-US">
                <a:latin typeface="Times New Roman" panose="02020603050405020304" pitchFamily="18" charset="0"/>
              </a:rPr>
              <a:t> What is supportive psychotherapy? </a:t>
            </a:r>
            <a:r>
              <a:rPr lang="en-US" altLang="en-US" i="1">
                <a:latin typeface="Times New Roman" panose="02020603050405020304" pitchFamily="18" charset="0"/>
              </a:rPr>
              <a:t>(It offers encouragement, support, and hope to patients facing difficult life transitions and events.)</a:t>
            </a:r>
          </a:p>
          <a:p>
            <a:pPr eaLnBrk="1" hangingPunct="1">
              <a:buFontTx/>
              <a:buChar char="•"/>
            </a:pPr>
            <a:r>
              <a:rPr lang="en-US" altLang="en-US">
                <a:latin typeface="Times New Roman" panose="02020603050405020304" pitchFamily="18" charset="0"/>
              </a:rPr>
              <a:t> When is hypnosis used? </a:t>
            </a:r>
            <a:r>
              <a:rPr lang="en-US" altLang="en-US" i="1">
                <a:latin typeface="Times New Roman" panose="02020603050405020304" pitchFamily="18" charset="0"/>
              </a:rPr>
              <a:t>(Hypnosis is a trance, created to increase the speed of psychotherapy or to help recovery of deeply repressed memories.)</a:t>
            </a:r>
          </a:p>
        </p:txBody>
      </p:sp>
    </p:spTree>
    <p:extLst>
      <p:ext uri="{BB962C8B-B14F-4D97-AF65-F5344CB8AC3E}">
        <p14:creationId xmlns:p14="http://schemas.microsoft.com/office/powerpoint/2010/main" val="286489346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900">
                <a:solidFill>
                  <a:schemeClr val="tx1"/>
                </a:solidFill>
                <a:latin typeface="Times New Roman" panose="02020603050405020304" pitchFamily="18" charset="0"/>
                <a:ea typeface="MS PGothic" panose="020B0600070205080204" pitchFamily="34" charset="-128"/>
              </a:defRPr>
            </a:lvl1pPr>
            <a:lvl2pPr marL="742950" indent="-285750">
              <a:defRPr sz="900">
                <a:solidFill>
                  <a:schemeClr val="tx1"/>
                </a:solidFill>
                <a:latin typeface="Times New Roman" panose="02020603050405020304" pitchFamily="18" charset="0"/>
                <a:ea typeface="MS PGothic" panose="020B0600070205080204" pitchFamily="34" charset="-128"/>
              </a:defRPr>
            </a:lvl2pPr>
            <a:lvl3pPr marL="1143000" indent="-228600">
              <a:defRPr sz="900">
                <a:solidFill>
                  <a:schemeClr val="tx1"/>
                </a:solidFill>
                <a:latin typeface="Times New Roman" panose="02020603050405020304" pitchFamily="18" charset="0"/>
                <a:ea typeface="MS PGothic" panose="020B0600070205080204" pitchFamily="34" charset="-128"/>
              </a:defRPr>
            </a:lvl3pPr>
            <a:lvl4pPr marL="1600200" indent="-228600">
              <a:defRPr sz="900">
                <a:solidFill>
                  <a:schemeClr val="tx1"/>
                </a:solidFill>
                <a:latin typeface="Times New Roman" panose="02020603050405020304" pitchFamily="18" charset="0"/>
                <a:ea typeface="MS PGothic" panose="020B0600070205080204" pitchFamily="34" charset="-128"/>
              </a:defRPr>
            </a:lvl4pPr>
            <a:lvl5pPr marL="2057400" indent="-228600">
              <a:defRPr sz="9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9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9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9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900">
                <a:solidFill>
                  <a:schemeClr val="tx1"/>
                </a:solidFill>
                <a:latin typeface="Times New Roman" panose="02020603050405020304" pitchFamily="18" charset="0"/>
                <a:ea typeface="MS PGothic" panose="020B0600070205080204" pitchFamily="34" charset="-128"/>
              </a:defRPr>
            </a:lvl9pPr>
          </a:lstStyle>
          <a:p>
            <a:fld id="{4C1C9280-F98C-40DE-9A46-BEF6268AA379}" type="slidenum">
              <a:rPr lang="en-US" altLang="en-US" sz="1200"/>
              <a:pPr/>
              <a:t>31</a:t>
            </a:fld>
            <a:endParaRPr lang="en-US" altLang="en-US" sz="1200"/>
          </a:p>
        </p:txBody>
      </p:sp>
      <p:sp>
        <p:nvSpPr>
          <p:cNvPr id="128003" name="Rectangle 2"/>
          <p:cNvSpPr>
            <a:spLocks noGrp="1" noRot="1" noChangeAspect="1" noChangeArrowheads="1" noTextEdit="1"/>
          </p:cNvSpPr>
          <p:nvPr>
            <p:ph type="sldImg"/>
          </p:nvPr>
        </p:nvSpPr>
        <p:spPr>
          <a:ln/>
        </p:spPr>
      </p:sp>
      <p:sp>
        <p:nvSpPr>
          <p:cNvPr id="128004"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buFontTx/>
              <a:buChar char="•"/>
            </a:pPr>
            <a:r>
              <a:rPr lang="en-US" altLang="en-US" dirty="0">
                <a:latin typeface="Times New Roman" panose="02020603050405020304" pitchFamily="18" charset="0"/>
              </a:rPr>
              <a:t> Go over mechanisms of action of these classes of drugs and then give examples of generic and brand names in each category. </a:t>
            </a:r>
          </a:p>
          <a:p>
            <a:pPr eaLnBrk="1" hangingPunct="1">
              <a:buFontTx/>
              <a:buChar char="•"/>
            </a:pPr>
            <a:r>
              <a:rPr lang="en-US" altLang="en-US" dirty="0">
                <a:latin typeface="Times New Roman" panose="02020603050405020304" pitchFamily="18" charset="0"/>
              </a:rPr>
              <a:t> For example, what are some generic and brand names of SSRIs? </a:t>
            </a:r>
            <a:r>
              <a:rPr lang="en-US" altLang="en-US" i="1" dirty="0">
                <a:latin typeface="Times New Roman" panose="02020603050405020304" pitchFamily="18" charset="0"/>
              </a:rPr>
              <a:t>(Fluvoxamine [Luvox] and sertraline [Zoloft] )</a:t>
            </a:r>
            <a:r>
              <a:rPr lang="en-US" altLang="en-US" dirty="0">
                <a:latin typeface="Times New Roman" panose="02020603050405020304" pitchFamily="18" charset="0"/>
              </a:rPr>
              <a:t> </a:t>
            </a:r>
          </a:p>
          <a:p>
            <a:pPr eaLnBrk="1" hangingPunct="1">
              <a:buFontTx/>
              <a:buChar char="•"/>
            </a:pPr>
            <a:r>
              <a:rPr lang="en-US" altLang="en-US" dirty="0">
                <a:latin typeface="Times New Roman" panose="02020603050405020304" pitchFamily="18" charset="0"/>
              </a:rPr>
              <a:t> What are some mood stabilizers? </a:t>
            </a:r>
            <a:r>
              <a:rPr lang="en-US" altLang="en-US" i="1" dirty="0">
                <a:latin typeface="Times New Roman" panose="02020603050405020304" pitchFamily="18" charset="0"/>
              </a:rPr>
              <a:t>(Lithium [</a:t>
            </a:r>
            <a:r>
              <a:rPr lang="en-US" altLang="en-US" i="1" dirty="0" err="1">
                <a:latin typeface="Times New Roman" panose="02020603050405020304" pitchFamily="18" charset="0"/>
              </a:rPr>
              <a:t>Eskalith</a:t>
            </a:r>
            <a:r>
              <a:rPr lang="en-US" altLang="en-US" i="1" dirty="0">
                <a:latin typeface="Times New Roman" panose="02020603050405020304" pitchFamily="18" charset="0"/>
              </a:rPr>
              <a:t>, </a:t>
            </a:r>
            <a:r>
              <a:rPr lang="en-US" altLang="en-US" i="1" dirty="0" err="1">
                <a:latin typeface="Times New Roman" panose="02020603050405020304" pitchFamily="18" charset="0"/>
              </a:rPr>
              <a:t>Lithane</a:t>
            </a:r>
            <a:r>
              <a:rPr lang="en-US" altLang="en-US" i="1" dirty="0">
                <a:latin typeface="Times New Roman" panose="02020603050405020304" pitchFamily="18" charset="0"/>
              </a:rPr>
              <a:t>] is an antimanic; carbamazepine [Tegretol] or valproate [</a:t>
            </a:r>
            <a:r>
              <a:rPr lang="en-US" altLang="en-US" i="1" dirty="0" err="1">
                <a:latin typeface="Times New Roman" panose="02020603050405020304" pitchFamily="18" charset="0"/>
              </a:rPr>
              <a:t>Depakane</a:t>
            </a:r>
            <a:r>
              <a:rPr lang="en-US" altLang="en-US" i="1" dirty="0">
                <a:latin typeface="Times New Roman" panose="02020603050405020304" pitchFamily="18" charset="0"/>
              </a:rPr>
              <a:t>, Depakote] are anticonvulsants</a:t>
            </a:r>
            <a:r>
              <a:rPr lang="en-US" altLang="en-US" dirty="0">
                <a:latin typeface="Times New Roman" panose="02020603050405020304" pitchFamily="18" charset="0"/>
              </a:rPr>
              <a:t>.</a:t>
            </a:r>
            <a:r>
              <a:rPr lang="en-US" altLang="en-US" i="1" dirty="0">
                <a:latin typeface="Times New Roman" panose="02020603050405020304" pitchFamily="18" charset="0"/>
              </a:rPr>
              <a:t>)</a:t>
            </a:r>
          </a:p>
          <a:p>
            <a:pPr eaLnBrk="1" hangingPunct="1"/>
            <a:endParaRPr lang="en-US" altLang="en-US" dirty="0">
              <a:latin typeface="Times New Roman" panose="02020603050405020304" pitchFamily="18" charset="0"/>
            </a:endParaRPr>
          </a:p>
        </p:txBody>
      </p:sp>
    </p:spTree>
    <p:extLst>
      <p:ext uri="{BB962C8B-B14F-4D97-AF65-F5344CB8AC3E}">
        <p14:creationId xmlns:p14="http://schemas.microsoft.com/office/powerpoint/2010/main" val="97040920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900">
                <a:solidFill>
                  <a:schemeClr val="tx1"/>
                </a:solidFill>
                <a:latin typeface="Times New Roman" panose="02020603050405020304" pitchFamily="18" charset="0"/>
                <a:ea typeface="MS PGothic" panose="020B0600070205080204" pitchFamily="34" charset="-128"/>
              </a:defRPr>
            </a:lvl1pPr>
            <a:lvl2pPr marL="742950" indent="-285750">
              <a:defRPr sz="900">
                <a:solidFill>
                  <a:schemeClr val="tx1"/>
                </a:solidFill>
                <a:latin typeface="Times New Roman" panose="02020603050405020304" pitchFamily="18" charset="0"/>
                <a:ea typeface="MS PGothic" panose="020B0600070205080204" pitchFamily="34" charset="-128"/>
              </a:defRPr>
            </a:lvl2pPr>
            <a:lvl3pPr marL="1143000" indent="-228600">
              <a:defRPr sz="900">
                <a:solidFill>
                  <a:schemeClr val="tx1"/>
                </a:solidFill>
                <a:latin typeface="Times New Roman" panose="02020603050405020304" pitchFamily="18" charset="0"/>
                <a:ea typeface="MS PGothic" panose="020B0600070205080204" pitchFamily="34" charset="-128"/>
              </a:defRPr>
            </a:lvl3pPr>
            <a:lvl4pPr marL="1600200" indent="-228600">
              <a:defRPr sz="900">
                <a:solidFill>
                  <a:schemeClr val="tx1"/>
                </a:solidFill>
                <a:latin typeface="Times New Roman" panose="02020603050405020304" pitchFamily="18" charset="0"/>
                <a:ea typeface="MS PGothic" panose="020B0600070205080204" pitchFamily="34" charset="-128"/>
              </a:defRPr>
            </a:lvl4pPr>
            <a:lvl5pPr marL="2057400" indent="-228600">
              <a:defRPr sz="9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9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9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9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900">
                <a:solidFill>
                  <a:schemeClr val="tx1"/>
                </a:solidFill>
                <a:latin typeface="Times New Roman" panose="02020603050405020304" pitchFamily="18" charset="0"/>
                <a:ea typeface="MS PGothic" panose="020B0600070205080204" pitchFamily="34" charset="-128"/>
              </a:defRPr>
            </a:lvl9pPr>
          </a:lstStyle>
          <a:p>
            <a:fld id="{828AC19D-6198-488A-9A15-5F3F4BC46717}" type="slidenum">
              <a:rPr lang="en-US" altLang="en-US" sz="1200"/>
              <a:pPr/>
              <a:t>58</a:t>
            </a:fld>
            <a:endParaRPr lang="en-US" altLang="en-US" sz="1200"/>
          </a:p>
        </p:txBody>
      </p:sp>
      <p:sp>
        <p:nvSpPr>
          <p:cNvPr id="139267" name="Rectangle 2"/>
          <p:cNvSpPr>
            <a:spLocks noGrp="1" noRot="1" noChangeAspect="1" noChangeArrowheads="1" noTextEdit="1"/>
          </p:cNvSpPr>
          <p:nvPr>
            <p:ph type="sldImg"/>
          </p:nvPr>
        </p:nvSpPr>
        <p:spPr>
          <a:ln/>
        </p:spPr>
      </p:sp>
      <p:sp>
        <p:nvSpPr>
          <p:cNvPr id="139268"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r>
              <a:rPr lang="en-US" altLang="en-US">
                <a:latin typeface="Times New Roman" panose="02020603050405020304" pitchFamily="18" charset="0"/>
              </a:rPr>
              <a:t>The correct answer is C: xenophobia.</a:t>
            </a:r>
          </a:p>
        </p:txBody>
      </p:sp>
    </p:spTree>
    <p:extLst>
      <p:ext uri="{BB962C8B-B14F-4D97-AF65-F5344CB8AC3E}">
        <p14:creationId xmlns:p14="http://schemas.microsoft.com/office/powerpoint/2010/main" val="347852896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900">
                <a:solidFill>
                  <a:schemeClr val="tx1"/>
                </a:solidFill>
                <a:latin typeface="Times New Roman" panose="02020603050405020304" pitchFamily="18" charset="0"/>
                <a:ea typeface="MS PGothic" panose="020B0600070205080204" pitchFamily="34" charset="-128"/>
              </a:defRPr>
            </a:lvl1pPr>
            <a:lvl2pPr marL="742950" indent="-285750">
              <a:defRPr sz="900">
                <a:solidFill>
                  <a:schemeClr val="tx1"/>
                </a:solidFill>
                <a:latin typeface="Times New Roman" panose="02020603050405020304" pitchFamily="18" charset="0"/>
                <a:ea typeface="MS PGothic" panose="020B0600070205080204" pitchFamily="34" charset="-128"/>
              </a:defRPr>
            </a:lvl2pPr>
            <a:lvl3pPr marL="1143000" indent="-228600">
              <a:defRPr sz="900">
                <a:solidFill>
                  <a:schemeClr val="tx1"/>
                </a:solidFill>
                <a:latin typeface="Times New Roman" panose="02020603050405020304" pitchFamily="18" charset="0"/>
                <a:ea typeface="MS PGothic" panose="020B0600070205080204" pitchFamily="34" charset="-128"/>
              </a:defRPr>
            </a:lvl3pPr>
            <a:lvl4pPr marL="1600200" indent="-228600">
              <a:defRPr sz="900">
                <a:solidFill>
                  <a:schemeClr val="tx1"/>
                </a:solidFill>
                <a:latin typeface="Times New Roman" panose="02020603050405020304" pitchFamily="18" charset="0"/>
                <a:ea typeface="MS PGothic" panose="020B0600070205080204" pitchFamily="34" charset="-128"/>
              </a:defRPr>
            </a:lvl4pPr>
            <a:lvl5pPr marL="2057400" indent="-228600">
              <a:defRPr sz="9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9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9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9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900">
                <a:solidFill>
                  <a:schemeClr val="tx1"/>
                </a:solidFill>
                <a:latin typeface="Times New Roman" panose="02020603050405020304" pitchFamily="18" charset="0"/>
                <a:ea typeface="MS PGothic" panose="020B0600070205080204" pitchFamily="34" charset="-128"/>
              </a:defRPr>
            </a:lvl9pPr>
          </a:lstStyle>
          <a:p>
            <a:fld id="{90B9B329-7E75-4F34-A9E1-0552823D65C5}" type="slidenum">
              <a:rPr lang="en-US" altLang="en-US" sz="1200"/>
              <a:pPr/>
              <a:t>59</a:t>
            </a:fld>
            <a:endParaRPr lang="en-US" altLang="en-US" sz="1200"/>
          </a:p>
        </p:txBody>
      </p:sp>
      <p:sp>
        <p:nvSpPr>
          <p:cNvPr id="140291" name="Rectangle 2"/>
          <p:cNvSpPr>
            <a:spLocks noGrp="1" noRot="1" noChangeAspect="1" noChangeArrowheads="1" noTextEdit="1"/>
          </p:cNvSpPr>
          <p:nvPr>
            <p:ph type="sldImg"/>
          </p:nvPr>
        </p:nvSpPr>
        <p:spPr>
          <a:ln/>
        </p:spPr>
      </p:sp>
      <p:sp>
        <p:nvSpPr>
          <p:cNvPr id="140292"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r>
              <a:rPr lang="en-US" altLang="en-US">
                <a:latin typeface="Times New Roman" panose="02020603050405020304" pitchFamily="18" charset="0"/>
              </a:rPr>
              <a:t>The correct answer is B: psychiatrist.</a:t>
            </a:r>
          </a:p>
        </p:txBody>
      </p:sp>
    </p:spTree>
    <p:extLst>
      <p:ext uri="{BB962C8B-B14F-4D97-AF65-F5344CB8AC3E}">
        <p14:creationId xmlns:p14="http://schemas.microsoft.com/office/powerpoint/2010/main" val="303829881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900">
                <a:solidFill>
                  <a:schemeClr val="tx1"/>
                </a:solidFill>
                <a:latin typeface="Times New Roman" panose="02020603050405020304" pitchFamily="18" charset="0"/>
                <a:ea typeface="MS PGothic" panose="020B0600070205080204" pitchFamily="34" charset="-128"/>
              </a:defRPr>
            </a:lvl1pPr>
            <a:lvl2pPr marL="742950" indent="-285750">
              <a:defRPr sz="900">
                <a:solidFill>
                  <a:schemeClr val="tx1"/>
                </a:solidFill>
                <a:latin typeface="Times New Roman" panose="02020603050405020304" pitchFamily="18" charset="0"/>
                <a:ea typeface="MS PGothic" panose="020B0600070205080204" pitchFamily="34" charset="-128"/>
              </a:defRPr>
            </a:lvl2pPr>
            <a:lvl3pPr marL="1143000" indent="-228600">
              <a:defRPr sz="900">
                <a:solidFill>
                  <a:schemeClr val="tx1"/>
                </a:solidFill>
                <a:latin typeface="Times New Roman" panose="02020603050405020304" pitchFamily="18" charset="0"/>
                <a:ea typeface="MS PGothic" panose="020B0600070205080204" pitchFamily="34" charset="-128"/>
              </a:defRPr>
            </a:lvl3pPr>
            <a:lvl4pPr marL="1600200" indent="-228600">
              <a:defRPr sz="900">
                <a:solidFill>
                  <a:schemeClr val="tx1"/>
                </a:solidFill>
                <a:latin typeface="Times New Roman" panose="02020603050405020304" pitchFamily="18" charset="0"/>
                <a:ea typeface="MS PGothic" panose="020B0600070205080204" pitchFamily="34" charset="-128"/>
              </a:defRPr>
            </a:lvl4pPr>
            <a:lvl5pPr marL="2057400" indent="-228600">
              <a:defRPr sz="9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9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9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9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900">
                <a:solidFill>
                  <a:schemeClr val="tx1"/>
                </a:solidFill>
                <a:latin typeface="Times New Roman" panose="02020603050405020304" pitchFamily="18" charset="0"/>
                <a:ea typeface="MS PGothic" panose="020B0600070205080204" pitchFamily="34" charset="-128"/>
              </a:defRPr>
            </a:lvl9pPr>
          </a:lstStyle>
          <a:p>
            <a:fld id="{A730B3FD-0B0C-42ED-8063-4E7361536A49}" type="slidenum">
              <a:rPr lang="en-US" altLang="en-US" sz="1200"/>
              <a:pPr/>
              <a:t>60</a:t>
            </a:fld>
            <a:endParaRPr lang="en-US" altLang="en-US" sz="1200"/>
          </a:p>
        </p:txBody>
      </p:sp>
      <p:sp>
        <p:nvSpPr>
          <p:cNvPr id="141315" name="Rectangle 2"/>
          <p:cNvSpPr>
            <a:spLocks noGrp="1" noRot="1" noChangeAspect="1" noChangeArrowheads="1" noTextEdit="1"/>
          </p:cNvSpPr>
          <p:nvPr>
            <p:ph type="sldImg"/>
          </p:nvPr>
        </p:nvSpPr>
        <p:spPr>
          <a:ln/>
        </p:spPr>
      </p:sp>
      <p:sp>
        <p:nvSpPr>
          <p:cNvPr id="141316"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r>
              <a:rPr lang="en-US" altLang="en-US">
                <a:latin typeface="Times New Roman" panose="02020603050405020304" pitchFamily="18" charset="0"/>
              </a:rPr>
              <a:t>The correct answer is B: compulsion.</a:t>
            </a:r>
          </a:p>
        </p:txBody>
      </p:sp>
    </p:spTree>
    <p:extLst>
      <p:ext uri="{BB962C8B-B14F-4D97-AF65-F5344CB8AC3E}">
        <p14:creationId xmlns:p14="http://schemas.microsoft.com/office/powerpoint/2010/main" val="206698402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5" name="Text Box 5"/>
          <p:cNvSpPr txBox="1">
            <a:spLocks noChangeArrowheads="1"/>
          </p:cNvSpPr>
          <p:nvPr userDrawn="1"/>
        </p:nvSpPr>
        <p:spPr bwMode="auto">
          <a:xfrm>
            <a:off x="7696200" y="6461125"/>
            <a:ext cx="1143000" cy="2444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pPr algn="r" eaLnBrk="1" hangingPunct="1">
              <a:spcBef>
                <a:spcPct val="50000"/>
              </a:spcBef>
            </a:pPr>
            <a:fld id="{4F46A433-53BE-44F2-B0BE-CD4AA7F6F7B2}" type="slidenum">
              <a:rPr lang="en-US" altLang="en-US" sz="1000">
                <a:latin typeface="Arial" panose="020B0604020202020204" pitchFamily="34" charset="0"/>
                <a:cs typeface="Arial" panose="020B0604020202020204" pitchFamily="34" charset="0"/>
              </a:rPr>
              <a:pPr algn="r" eaLnBrk="1" hangingPunct="1">
                <a:spcBef>
                  <a:spcPct val="50000"/>
                </a:spcBef>
              </a:pPr>
              <a:t>‹#›</a:t>
            </a:fld>
            <a:endParaRPr lang="en-US" altLang="en-US" sz="1000">
              <a:latin typeface="Arial" panose="020B0604020202020204" pitchFamily="34" charset="0"/>
              <a:cs typeface="Arial" panose="020B0604020202020204" pitchFamily="34" charset="0"/>
            </a:endParaRPr>
          </a:p>
        </p:txBody>
      </p:sp>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9" name="Date Placeholder 8"/>
          <p:cNvSpPr>
            <a:spLocks noGrp="1"/>
          </p:cNvSpPr>
          <p:nvPr>
            <p:ph type="dt" sz="half" idx="10"/>
          </p:nvPr>
        </p:nvSpPr>
        <p:spPr/>
        <p:txBody>
          <a:bodyPr/>
          <a:lstStyle/>
          <a:p>
            <a:pPr>
              <a:defRPr/>
            </a:pPr>
            <a:fld id="{401F176B-337D-4B0C-9E0F-CF98E924232A}" type="datetimeFigureOut">
              <a:rPr lang="en-US" smtClean="0"/>
              <a:pPr>
                <a:defRPr/>
              </a:pPr>
              <a:t>2/5/2024</a:t>
            </a:fld>
            <a:endParaRPr lang="en-US"/>
          </a:p>
        </p:txBody>
      </p:sp>
      <p:sp>
        <p:nvSpPr>
          <p:cNvPr id="10" name="Footer Placeholder 9"/>
          <p:cNvSpPr>
            <a:spLocks noGrp="1"/>
          </p:cNvSpPr>
          <p:nvPr>
            <p:ph type="ftr" sz="quarter" idx="11"/>
          </p:nvPr>
        </p:nvSpPr>
        <p:spPr>
          <a:xfrm>
            <a:off x="3124200" y="5859295"/>
            <a:ext cx="2895600" cy="365125"/>
          </a:xfrm>
          <a:prstGeom prst="rect">
            <a:avLst/>
          </a:prstGeom>
        </p:spPr>
        <p:txBody>
          <a:bodyPr/>
          <a:lstStyle/>
          <a:p>
            <a:pPr>
              <a:defRPr/>
            </a:pPr>
            <a:endParaRPr lang="en-US" dirty="0"/>
          </a:p>
        </p:txBody>
      </p:sp>
      <p:sp>
        <p:nvSpPr>
          <p:cNvPr id="11" name="Slide Number Placeholder 10"/>
          <p:cNvSpPr>
            <a:spLocks noGrp="1"/>
          </p:cNvSpPr>
          <p:nvPr>
            <p:ph type="sldNum" sz="quarter" idx="12"/>
          </p:nvPr>
        </p:nvSpPr>
        <p:spPr/>
        <p:txBody>
          <a:bodyPr/>
          <a:lstStyle/>
          <a:p>
            <a:fld id="{28A3EFAA-5F29-4212-A320-E00D10714EB8}" type="slidenum">
              <a:rPr lang="en-US" altLang="en-US" smtClean="0"/>
              <a:pPr/>
              <a:t>‹#›</a:t>
            </a:fld>
            <a:endParaRPr lang="en-US" altLang="en-US"/>
          </a:p>
        </p:txBody>
      </p:sp>
      <p:sp>
        <p:nvSpPr>
          <p:cNvPr id="4" name="Rectangle 8"/>
          <p:cNvSpPr txBox="1">
            <a:spLocks noGrp="1" noChangeArrowheads="1"/>
          </p:cNvSpPr>
          <p:nvPr userDrawn="1"/>
        </p:nvSpPr>
        <p:spPr bwMode="auto">
          <a:xfrm>
            <a:off x="917575" y="6444916"/>
            <a:ext cx="7769225" cy="3810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ea typeface="MS PGothic" pitchFamily="34" charset="-128"/>
              </a:defRPr>
            </a:lvl1pPr>
            <a:lvl2pPr marL="742950" indent="-285750" eaLnBrk="0" hangingPunct="0">
              <a:defRPr sz="2400">
                <a:solidFill>
                  <a:schemeClr val="tx1"/>
                </a:solidFill>
                <a:latin typeface="Times New Roman" pitchFamily="18" charset="0"/>
                <a:ea typeface="MS PGothic" pitchFamily="34" charset="-128"/>
              </a:defRPr>
            </a:lvl2pPr>
            <a:lvl3pPr marL="1143000" indent="-228600" eaLnBrk="0" hangingPunct="0">
              <a:defRPr sz="2400">
                <a:solidFill>
                  <a:schemeClr val="tx1"/>
                </a:solidFill>
                <a:latin typeface="Times New Roman" pitchFamily="18" charset="0"/>
                <a:ea typeface="MS PGothic" pitchFamily="34" charset="-128"/>
              </a:defRPr>
            </a:lvl3pPr>
            <a:lvl4pPr marL="1600200" indent="-228600" eaLnBrk="0" hangingPunct="0">
              <a:defRPr sz="2400">
                <a:solidFill>
                  <a:schemeClr val="tx1"/>
                </a:solidFill>
                <a:latin typeface="Times New Roman" pitchFamily="18" charset="0"/>
                <a:ea typeface="MS PGothic" pitchFamily="34" charset="-128"/>
              </a:defRPr>
            </a:lvl4pPr>
            <a:lvl5pPr marL="2057400" indent="-228600" eaLnBrk="0" hangingPunct="0">
              <a:defRPr sz="2400">
                <a:solidFill>
                  <a:schemeClr val="tx1"/>
                </a:solidFill>
                <a:latin typeface="Times New Roman" pitchFamily="18" charset="0"/>
                <a:ea typeface="MS PGothic" pitchFamily="34" charset="-128"/>
              </a:defRPr>
            </a:lvl5pPr>
            <a:lvl6pPr marL="2514600" indent="-228600"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pPr algn="ctr" eaLnBrk="1" hangingPunct="1">
              <a:defRPr/>
            </a:pPr>
            <a:endParaRPr lang="en-US" dirty="0"/>
          </a:p>
        </p:txBody>
      </p:sp>
    </p:spTree>
    <p:extLst>
      <p:ext uri="{BB962C8B-B14F-4D97-AF65-F5344CB8AC3E}">
        <p14:creationId xmlns:p14="http://schemas.microsoft.com/office/powerpoint/2010/main" val="1569383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s-419"/>
          </a:p>
        </p:txBody>
      </p:sp>
      <p:sp>
        <p:nvSpPr>
          <p:cNvPr id="3" name="Date Placeholder 2"/>
          <p:cNvSpPr>
            <a:spLocks noGrp="1"/>
          </p:cNvSpPr>
          <p:nvPr>
            <p:ph type="dt" sz="half" idx="10"/>
          </p:nvPr>
        </p:nvSpPr>
        <p:spPr/>
        <p:txBody>
          <a:bodyPr/>
          <a:lstStyle/>
          <a:p>
            <a:pPr>
              <a:defRPr/>
            </a:pPr>
            <a:fld id="{401F176B-337D-4B0C-9E0F-CF98E924232A}" type="datetimeFigureOut">
              <a:rPr lang="en-US" smtClean="0"/>
              <a:pPr>
                <a:defRPr/>
              </a:pPr>
              <a:t>2/5/2024</a:t>
            </a:fld>
            <a:endParaRPr lang="en-US"/>
          </a:p>
        </p:txBody>
      </p:sp>
      <p:sp>
        <p:nvSpPr>
          <p:cNvPr id="4" name="Footer Placeholder 3"/>
          <p:cNvSpPr>
            <a:spLocks noGrp="1"/>
          </p:cNvSpPr>
          <p:nvPr>
            <p:ph type="ftr" sz="quarter" idx="11"/>
          </p:nvPr>
        </p:nvSpPr>
        <p:spPr>
          <a:xfrm>
            <a:off x="3124200" y="6356350"/>
            <a:ext cx="2895600" cy="365125"/>
          </a:xfrm>
          <a:prstGeom prst="rect">
            <a:avLst/>
          </a:prstGeom>
        </p:spPr>
        <p:txBody>
          <a:bodyPr/>
          <a:lstStyle/>
          <a:p>
            <a:pPr>
              <a:defRPr/>
            </a:pPr>
            <a:endParaRPr lang="en-US" dirty="0"/>
          </a:p>
        </p:txBody>
      </p:sp>
      <p:sp>
        <p:nvSpPr>
          <p:cNvPr id="5" name="Slide Number Placeholder 4"/>
          <p:cNvSpPr>
            <a:spLocks noGrp="1"/>
          </p:cNvSpPr>
          <p:nvPr>
            <p:ph type="sldNum" sz="quarter" idx="12"/>
          </p:nvPr>
        </p:nvSpPr>
        <p:spPr/>
        <p:txBody>
          <a:bodyPr/>
          <a:lstStyle/>
          <a:p>
            <a:fld id="{28A3EFAA-5F29-4212-A320-E00D10714EB8}" type="slidenum">
              <a:rPr lang="en-US" altLang="en-US" smtClean="0"/>
              <a:pPr/>
              <a:t>‹#›</a:t>
            </a:fld>
            <a:endParaRPr lang="en-US" altLang="en-US"/>
          </a:p>
        </p:txBody>
      </p:sp>
    </p:spTree>
    <p:extLst>
      <p:ext uri="{BB962C8B-B14F-4D97-AF65-F5344CB8AC3E}">
        <p14:creationId xmlns:p14="http://schemas.microsoft.com/office/powerpoint/2010/main" val="3486592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3B2D8646-B954-479C-A337-986E442FC1A9}" type="datetimeFigureOut">
              <a:rPr lang="en-US"/>
              <a:pPr>
                <a:defRPr/>
              </a:pPr>
              <a:t>2/5/2024</a:t>
            </a:fld>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fld id="{67C3B6F8-FB65-40D1-9D78-3B0834AA2902}" type="slidenum">
              <a:rPr lang="en-US" altLang="en-US"/>
              <a:pPr/>
              <a:t>‹#›</a:t>
            </a:fld>
            <a:endParaRPr lang="en-US" altLang="en-US"/>
          </a:p>
        </p:txBody>
      </p:sp>
    </p:spTree>
    <p:extLst>
      <p:ext uri="{BB962C8B-B14F-4D97-AF65-F5344CB8AC3E}">
        <p14:creationId xmlns:p14="http://schemas.microsoft.com/office/powerpoint/2010/main" val="10425524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fld id="{4026FB1C-0B93-4FFC-AFAC-202B5BB6FD8D}" type="datetimeFigureOut">
              <a:rPr lang="en-US"/>
              <a:pPr>
                <a:defRPr/>
              </a:pPr>
              <a:t>2/5/2024</a:t>
            </a:fld>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fld id="{8AD0EB3D-4C75-400C-847F-27CED06B6053}" type="slidenum">
              <a:rPr lang="en-US" altLang="en-US"/>
              <a:pPr/>
              <a:t>‹#›</a:t>
            </a:fld>
            <a:endParaRPr lang="en-US" altLang="en-US"/>
          </a:p>
        </p:txBody>
      </p:sp>
    </p:spTree>
    <p:extLst>
      <p:ext uri="{BB962C8B-B14F-4D97-AF65-F5344CB8AC3E}">
        <p14:creationId xmlns:p14="http://schemas.microsoft.com/office/powerpoint/2010/main" val="29846592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pPr>
              <a:defRPr/>
            </a:pPr>
            <a:fld id="{9C71BE0B-DC10-4A86-884B-421A21A3786F}" type="datetimeFigureOut">
              <a:rPr lang="en-US"/>
              <a:pPr>
                <a:defRPr/>
              </a:pPr>
              <a:t>2/5/2024</a:t>
            </a:fld>
            <a:endParaRPr lang="en-US"/>
          </a:p>
        </p:txBody>
      </p:sp>
      <p:sp>
        <p:nvSpPr>
          <p:cNvPr id="6"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fld id="{EA7988B2-9A38-4469-A73A-3A8A3875C86B}" type="slidenum">
              <a:rPr lang="en-US" altLang="en-US"/>
              <a:pPr/>
              <a:t>‹#›</a:t>
            </a:fld>
            <a:endParaRPr lang="en-US" altLang="en-US"/>
          </a:p>
        </p:txBody>
      </p:sp>
    </p:spTree>
    <p:extLst>
      <p:ext uri="{BB962C8B-B14F-4D97-AF65-F5344CB8AC3E}">
        <p14:creationId xmlns:p14="http://schemas.microsoft.com/office/powerpoint/2010/main" val="14841103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pPr>
              <a:defRPr/>
            </a:pPr>
            <a:fld id="{43F8196F-BB54-4DF1-9DDF-EB61181FD455}" type="datetimeFigureOut">
              <a:rPr lang="en-US"/>
              <a:pPr>
                <a:defRPr/>
              </a:pPr>
              <a:t>2/5/2024</a:t>
            </a:fld>
            <a:endParaRPr lang="en-US"/>
          </a:p>
        </p:txBody>
      </p:sp>
      <p:sp>
        <p:nvSpPr>
          <p:cNvPr id="8"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fld id="{1069FD97-2CE7-4101-9BDA-A6CDF9D7F198}" type="slidenum">
              <a:rPr lang="en-US" altLang="en-US"/>
              <a:pPr/>
              <a:t>‹#›</a:t>
            </a:fld>
            <a:endParaRPr lang="en-US" altLang="en-US"/>
          </a:p>
        </p:txBody>
      </p:sp>
    </p:spTree>
    <p:extLst>
      <p:ext uri="{BB962C8B-B14F-4D97-AF65-F5344CB8AC3E}">
        <p14:creationId xmlns:p14="http://schemas.microsoft.com/office/powerpoint/2010/main" val="14988138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6" name="Date Placeholder 5"/>
          <p:cNvSpPr>
            <a:spLocks noGrp="1"/>
          </p:cNvSpPr>
          <p:nvPr>
            <p:ph type="dt" sz="half" idx="10"/>
          </p:nvPr>
        </p:nvSpPr>
        <p:spPr/>
        <p:txBody>
          <a:bodyPr/>
          <a:lstStyle/>
          <a:p>
            <a:pPr>
              <a:defRPr/>
            </a:pPr>
            <a:fld id="{401F176B-337D-4B0C-9E0F-CF98E924232A}" type="datetimeFigureOut">
              <a:rPr lang="en-US" smtClean="0"/>
              <a:pPr>
                <a:defRPr/>
              </a:pPr>
              <a:t>2/5/2024</a:t>
            </a:fld>
            <a:endParaRPr lang="en-US"/>
          </a:p>
        </p:txBody>
      </p:sp>
      <p:sp>
        <p:nvSpPr>
          <p:cNvPr id="7" name="Footer Placeholder 6"/>
          <p:cNvSpPr>
            <a:spLocks noGrp="1"/>
          </p:cNvSpPr>
          <p:nvPr>
            <p:ph type="ftr" sz="quarter" idx="11"/>
          </p:nvPr>
        </p:nvSpPr>
        <p:spPr>
          <a:xfrm>
            <a:off x="3124200" y="6356350"/>
            <a:ext cx="2895600" cy="365125"/>
          </a:xfrm>
          <a:prstGeom prst="rect">
            <a:avLst/>
          </a:prstGeom>
        </p:spPr>
        <p:txBody>
          <a:bodyPr/>
          <a:lstStyle/>
          <a:p>
            <a:pPr>
              <a:defRPr/>
            </a:pPr>
            <a:endParaRPr lang="en-US" dirty="0"/>
          </a:p>
        </p:txBody>
      </p:sp>
      <p:sp>
        <p:nvSpPr>
          <p:cNvPr id="8" name="Slide Number Placeholder 7"/>
          <p:cNvSpPr>
            <a:spLocks noGrp="1"/>
          </p:cNvSpPr>
          <p:nvPr>
            <p:ph type="sldNum" sz="quarter" idx="12"/>
          </p:nvPr>
        </p:nvSpPr>
        <p:spPr/>
        <p:txBody>
          <a:bodyPr/>
          <a:lstStyle/>
          <a:p>
            <a:fld id="{28A3EFAA-5F29-4212-A320-E00D10714EB8}" type="slidenum">
              <a:rPr lang="en-US" altLang="en-US" smtClean="0"/>
              <a:pPr/>
              <a:t>‹#›</a:t>
            </a:fld>
            <a:endParaRPr lang="en-US" altLang="en-US"/>
          </a:p>
        </p:txBody>
      </p:sp>
    </p:spTree>
    <p:extLst>
      <p:ext uri="{BB962C8B-B14F-4D97-AF65-F5344CB8AC3E}">
        <p14:creationId xmlns:p14="http://schemas.microsoft.com/office/powerpoint/2010/main" val="15011345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A7EF424A-0666-4F8A-AE0B-042263A2F523}" type="datetimeFigureOut">
              <a:rPr lang="en-US"/>
              <a:pPr>
                <a:defRPr/>
              </a:pPr>
              <a:t>2/5/2024</a:t>
            </a:fld>
            <a:endParaRPr lang="en-US"/>
          </a:p>
        </p:txBody>
      </p:sp>
      <p:sp>
        <p:nvSpPr>
          <p:cNvPr id="3" name="Footer Placeholder 4"/>
          <p:cNvSpPr>
            <a:spLocks noGrp="1"/>
          </p:cNvSpPr>
          <p:nvPr>
            <p:ph type="ftr" sz="quarter" idx="11"/>
          </p:nvPr>
        </p:nvSpPr>
        <p:spPr>
          <a:xfrm>
            <a:off x="3124200" y="6356350"/>
            <a:ext cx="2895600" cy="365125"/>
          </a:xfrm>
          <a:prstGeom prst="rect">
            <a:avLst/>
          </a:prstGeom>
        </p:spPr>
        <p:txBody>
          <a:bodyPr/>
          <a:lstStyle>
            <a:lvl1pPr>
              <a:defRPr sz="1000" baseline="0">
                <a:latin typeface="Arial" pitchFamily="34" charset="0"/>
                <a:cs typeface="Arial" pitchFamily="34" charset="0"/>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fld id="{98923256-9629-4751-9FC7-D9A617797BD9}" type="slidenum">
              <a:rPr lang="en-US" altLang="en-US"/>
              <a:pPr/>
              <a:t>‹#›</a:t>
            </a:fld>
            <a:endParaRPr lang="en-US" altLang="en-US"/>
          </a:p>
        </p:txBody>
      </p:sp>
    </p:spTree>
    <p:extLst>
      <p:ext uri="{BB962C8B-B14F-4D97-AF65-F5344CB8AC3E}">
        <p14:creationId xmlns:p14="http://schemas.microsoft.com/office/powerpoint/2010/main" val="3502221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DFBC957C-8A28-4346-A91E-3181E23B9FCE}" type="datetimeFigureOut">
              <a:rPr lang="en-US"/>
              <a:pPr>
                <a:defRPr/>
              </a:pPr>
              <a:t>2/5/2024</a:t>
            </a:fld>
            <a:endParaRPr lang="en-US"/>
          </a:p>
        </p:txBody>
      </p:sp>
      <p:sp>
        <p:nvSpPr>
          <p:cNvPr id="6"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fld id="{9223BBEA-FBE4-4D1C-948E-35E3FD648AC7}" type="slidenum">
              <a:rPr lang="en-US" altLang="en-US"/>
              <a:pPr/>
              <a:t>‹#›</a:t>
            </a:fld>
            <a:endParaRPr lang="en-US" altLang="en-US"/>
          </a:p>
        </p:txBody>
      </p:sp>
    </p:spTree>
    <p:extLst>
      <p:ext uri="{BB962C8B-B14F-4D97-AF65-F5344CB8AC3E}">
        <p14:creationId xmlns:p14="http://schemas.microsoft.com/office/powerpoint/2010/main" val="29191257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ABD414B3-CE71-4CAC-BF20-28E9BC6B1BBE}" type="datetimeFigureOut">
              <a:rPr lang="en-US"/>
              <a:pPr>
                <a:defRPr/>
              </a:pPr>
              <a:t>2/5/2024</a:t>
            </a:fld>
            <a:endParaRPr lang="en-US"/>
          </a:p>
        </p:txBody>
      </p:sp>
      <p:sp>
        <p:nvSpPr>
          <p:cNvPr id="6"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fld id="{BB0C2544-6AE1-4FFD-9204-B2754DEAA11A}" type="slidenum">
              <a:rPr lang="en-US" altLang="en-US"/>
              <a:pPr/>
              <a:t>‹#›</a:t>
            </a:fld>
            <a:endParaRPr lang="en-US" altLang="en-US"/>
          </a:p>
        </p:txBody>
      </p:sp>
    </p:spTree>
    <p:extLst>
      <p:ext uri="{BB962C8B-B14F-4D97-AF65-F5344CB8AC3E}">
        <p14:creationId xmlns:p14="http://schemas.microsoft.com/office/powerpoint/2010/main" val="37806670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2A489D59-B1E6-4DCF-8F4C-326D6ED2C2BE}" type="datetimeFigureOut">
              <a:rPr lang="en-US"/>
              <a:pPr>
                <a:defRPr/>
              </a:pPr>
              <a:t>2/5/2024</a:t>
            </a:fld>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fld id="{7DB8DA79-2483-40AE-83CF-C031752A90C3}" type="slidenum">
              <a:rPr lang="en-US" altLang="en-US"/>
              <a:pPr/>
              <a:t>‹#›</a:t>
            </a:fld>
            <a:endParaRPr lang="en-US" altLang="en-US"/>
          </a:p>
        </p:txBody>
      </p:sp>
    </p:spTree>
    <p:extLst>
      <p:ext uri="{BB962C8B-B14F-4D97-AF65-F5344CB8AC3E}">
        <p14:creationId xmlns:p14="http://schemas.microsoft.com/office/powerpoint/2010/main" val="243053786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F4BF2560-A50C-4A12-98A3-C5D77FC1843E}" type="datetimeFigureOut">
              <a:rPr lang="en-US"/>
              <a:pPr>
                <a:defRPr/>
              </a:pPr>
              <a:t>2/5/2024</a:t>
            </a:fld>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fld id="{BE28CD66-7605-4E45-9E45-CFA0ED8972E6}" type="slidenum">
              <a:rPr lang="en-US" altLang="en-US"/>
              <a:pPr/>
              <a:t>‹#›</a:t>
            </a:fld>
            <a:endParaRPr lang="en-US" altLang="en-US"/>
          </a:p>
        </p:txBody>
      </p:sp>
    </p:spTree>
    <p:extLst>
      <p:ext uri="{BB962C8B-B14F-4D97-AF65-F5344CB8AC3E}">
        <p14:creationId xmlns:p14="http://schemas.microsoft.com/office/powerpoint/2010/main" val="165566903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dgm">
  <p:cSld name="Title and Diagram or Organization Chart">
    <p:spTree>
      <p:nvGrpSpPr>
        <p:cNvPr id="1" name=""/>
        <p:cNvGrpSpPr/>
        <p:nvPr/>
      </p:nvGrpSpPr>
      <p:grpSpPr>
        <a:xfrm>
          <a:off x="0" y="0"/>
          <a:ext cx="0" cy="0"/>
          <a:chOff x="0" y="0"/>
          <a:chExt cx="0" cy="0"/>
        </a:xfrm>
      </p:grpSpPr>
      <p:sp>
        <p:nvSpPr>
          <p:cNvPr id="2" name="Title 1"/>
          <p:cNvSpPr>
            <a:spLocks noGrp="1"/>
          </p:cNvSpPr>
          <p:nvPr>
            <p:ph type="title"/>
          </p:nvPr>
        </p:nvSpPr>
        <p:spPr>
          <a:xfrm>
            <a:off x="685800" y="228600"/>
            <a:ext cx="7772400" cy="1219200"/>
          </a:xfrm>
        </p:spPr>
        <p:txBody>
          <a:bodyPr/>
          <a:lstStyle/>
          <a:p>
            <a:r>
              <a:rPr lang="en-US"/>
              <a:t>Click to edit Master title style</a:t>
            </a:r>
          </a:p>
        </p:txBody>
      </p:sp>
      <p:sp>
        <p:nvSpPr>
          <p:cNvPr id="3" name="SmartArt Placeholder 2"/>
          <p:cNvSpPr>
            <a:spLocks noGrp="1"/>
          </p:cNvSpPr>
          <p:nvPr>
            <p:ph type="dgm" idx="1"/>
          </p:nvPr>
        </p:nvSpPr>
        <p:spPr>
          <a:xfrm>
            <a:off x="685800" y="1641475"/>
            <a:ext cx="7772400" cy="4454525"/>
          </a:xfrm>
        </p:spPr>
        <p:txBody>
          <a:bodyPr rtlCol="0">
            <a:normAutofit/>
          </a:bodyPr>
          <a:lstStyle/>
          <a:p>
            <a:pPr lvl="0"/>
            <a:endParaRPr lang="en-US" noProof="0"/>
          </a:p>
        </p:txBody>
      </p:sp>
    </p:spTree>
    <p:extLst>
      <p:ext uri="{BB962C8B-B14F-4D97-AF65-F5344CB8AC3E}">
        <p14:creationId xmlns:p14="http://schemas.microsoft.com/office/powerpoint/2010/main" val="7709480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8229600" cy="11430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Text Placeholder 2"/>
          <p:cNvSpPr>
            <a:spLocks noGrp="1"/>
          </p:cNvSpPr>
          <p:nvPr>
            <p:ph type="body" idx="1"/>
          </p:nvPr>
        </p:nvSpPr>
        <p:spPr bwMode="auto">
          <a:xfrm>
            <a:off x="457200" y="1600200"/>
            <a:ext cx="8229600" cy="452596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eaLnBrk="1" hangingPunct="1">
              <a:defRPr sz="1200">
                <a:solidFill>
                  <a:schemeClr val="tx1">
                    <a:tint val="75000"/>
                  </a:schemeClr>
                </a:solidFill>
              </a:defRPr>
            </a:lvl1pPr>
          </a:lstStyle>
          <a:p>
            <a:pPr>
              <a:defRPr/>
            </a:pPr>
            <a:fld id="{401F176B-337D-4B0C-9E0F-CF98E924232A}" type="datetimeFigureOut">
              <a:rPr lang="en-US"/>
              <a:pPr>
                <a:defRPr/>
              </a:pPr>
              <a:t>2/5/2024</a:t>
            </a:fld>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200">
                <a:solidFill>
                  <a:srgbClr val="898989"/>
                </a:solidFill>
              </a:defRPr>
            </a:lvl1pPr>
          </a:lstStyle>
          <a:p>
            <a:fld id="{28A3EFAA-5F29-4212-A320-E00D10714EB8}" type="slidenum">
              <a:rPr lang="en-US" altLang="en-US"/>
              <a:pPr/>
              <a:t>‹#›</a:t>
            </a:fld>
            <a:endParaRPr lang="en-US" altLang="en-US"/>
          </a:p>
        </p:txBody>
      </p:sp>
      <p:sp>
        <p:nvSpPr>
          <p:cNvPr id="1032" name="Text Box 5"/>
          <p:cNvSpPr txBox="1">
            <a:spLocks noChangeArrowheads="1"/>
          </p:cNvSpPr>
          <p:nvPr userDrawn="1"/>
        </p:nvSpPr>
        <p:spPr bwMode="auto">
          <a:xfrm>
            <a:off x="7696200" y="6461125"/>
            <a:ext cx="1143000" cy="2444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pPr algn="r" eaLnBrk="1" hangingPunct="1">
              <a:spcBef>
                <a:spcPct val="50000"/>
              </a:spcBef>
            </a:pPr>
            <a:fld id="{0FF5DB33-233E-420C-BB96-6F4A112866E6}" type="slidenum">
              <a:rPr lang="en-US" altLang="en-US" sz="1000">
                <a:latin typeface="Arial" panose="020B0604020202020204" pitchFamily="34" charset="0"/>
                <a:cs typeface="Arial" panose="020B0604020202020204" pitchFamily="34" charset="0"/>
              </a:rPr>
              <a:pPr algn="r" eaLnBrk="1" hangingPunct="1">
                <a:spcBef>
                  <a:spcPct val="50000"/>
                </a:spcBef>
              </a:pPr>
              <a:t>‹#›</a:t>
            </a:fld>
            <a:endParaRPr lang="en-US" altLang="en-US" sz="1000">
              <a:latin typeface="Arial" panose="020B0604020202020204" pitchFamily="34" charset="0"/>
              <a:cs typeface="Arial" panose="020B0604020202020204" pitchFamily="34" charset="0"/>
            </a:endParaRPr>
          </a:p>
        </p:txBody>
      </p:sp>
      <p:pic>
        <p:nvPicPr>
          <p:cNvPr id="2" name="Picture 1">
            <a:extLst>
              <a:ext uri="{FF2B5EF4-FFF2-40B4-BE49-F238E27FC236}">
                <a16:creationId xmlns:a16="http://schemas.microsoft.com/office/drawing/2014/main" id="{D964D00C-7CD3-5750-33FD-DA5B1B01A025}"/>
              </a:ext>
            </a:extLst>
          </p:cNvPr>
          <p:cNvPicPr>
            <a:picLocks noChangeAspect="1"/>
          </p:cNvPicPr>
          <p:nvPr userDrawn="1"/>
        </p:nvPicPr>
        <p:blipFill>
          <a:blip r:embed="rId15"/>
          <a:stretch>
            <a:fillRect/>
          </a:stretch>
        </p:blipFill>
        <p:spPr>
          <a:xfrm>
            <a:off x="3041871" y="6478581"/>
            <a:ext cx="3118010" cy="209561"/>
          </a:xfrm>
          <a:prstGeom prst="rect">
            <a:avLst/>
          </a:prstGeom>
        </p:spPr>
      </p:pic>
    </p:spTree>
  </p:cSld>
  <p:clrMap bg1="lt1" tx1="dk1" bg2="lt2" tx2="dk2" accent1="accent1" accent2="accent2" accent3="accent3" accent4="accent4" accent5="accent5" accent6="accent6" hlink="hlink" folHlink="folHlink"/>
  <p:sldLayoutIdLst>
    <p:sldLayoutId id="2147483948" r:id="rId1"/>
    <p:sldLayoutId id="2147483951" r:id="rId2"/>
    <p:sldLayoutId id="2147483939" r:id="rId3"/>
    <p:sldLayoutId id="2147483940" r:id="rId4"/>
    <p:sldLayoutId id="2147483941" r:id="rId5"/>
    <p:sldLayoutId id="2147483942" r:id="rId6"/>
    <p:sldLayoutId id="2147483943" r:id="rId7"/>
    <p:sldLayoutId id="2147483949" r:id="rId8"/>
    <p:sldLayoutId id="2147483944" r:id="rId9"/>
    <p:sldLayoutId id="2147483945" r:id="rId10"/>
    <p:sldLayoutId id="2147483946" r:id="rId11"/>
    <p:sldLayoutId id="2147483947" r:id="rId12"/>
    <p:sldLayoutId id="2147483952" r:id="rId13"/>
  </p:sldLayoutIdLst>
  <p:hf sldNum="0" hd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The Language of Medicine</a:t>
            </a:r>
            <a:br>
              <a:rPr lang="en-US" dirty="0"/>
            </a:br>
            <a:r>
              <a:rPr lang="en-US" dirty="0"/>
              <a:t>13</a:t>
            </a:r>
            <a:r>
              <a:rPr lang="en-US" baseline="30000" dirty="0"/>
              <a:t>th</a:t>
            </a:r>
            <a:r>
              <a:rPr lang="en-US" dirty="0"/>
              <a:t> edition</a:t>
            </a:r>
          </a:p>
        </p:txBody>
      </p:sp>
      <p:sp>
        <p:nvSpPr>
          <p:cNvPr id="3" name="Subtitle 2"/>
          <p:cNvSpPr>
            <a:spLocks noGrp="1"/>
          </p:cNvSpPr>
          <p:nvPr>
            <p:ph type="subTitle" idx="1"/>
          </p:nvPr>
        </p:nvSpPr>
        <p:spPr/>
        <p:txBody>
          <a:bodyPr/>
          <a:lstStyle/>
          <a:p>
            <a:r>
              <a:rPr lang="en-US" dirty="0" err="1">
                <a:solidFill>
                  <a:schemeClr val="tx1"/>
                </a:solidFill>
              </a:rPr>
              <a:t>Davi</a:t>
            </a:r>
            <a:r>
              <a:rPr lang="en-US" dirty="0">
                <a:solidFill>
                  <a:schemeClr val="tx1"/>
                </a:solidFill>
              </a:rPr>
              <a:t>-Ellen </a:t>
            </a:r>
            <a:r>
              <a:rPr lang="en-US" dirty="0" err="1">
                <a:solidFill>
                  <a:schemeClr val="tx1"/>
                </a:solidFill>
              </a:rPr>
              <a:t>Chabner</a:t>
            </a:r>
            <a:endParaRPr lang="en-US" dirty="0">
              <a:solidFill>
                <a:schemeClr val="tx1"/>
              </a:solidFill>
            </a:endParaRPr>
          </a:p>
        </p:txBody>
      </p:sp>
    </p:spTree>
    <p:extLst>
      <p:ext uri="{BB962C8B-B14F-4D97-AF65-F5344CB8AC3E}">
        <p14:creationId xmlns:p14="http://schemas.microsoft.com/office/powerpoint/2010/main" val="14282889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9" name="Rectangle 1027"/>
          <p:cNvSpPr>
            <a:spLocks noGrp="1" noChangeArrowheads="1"/>
          </p:cNvSpPr>
          <p:nvPr>
            <p:ph type="title"/>
          </p:nvPr>
        </p:nvSpPr>
        <p:spPr>
          <a:xfrm>
            <a:off x="762000" y="381000"/>
            <a:ext cx="7620000" cy="1143000"/>
          </a:xfrm>
        </p:spPr>
        <p:txBody>
          <a:bodyPr rtlCol="0">
            <a:normAutofit fontScale="90000"/>
          </a:bodyPr>
          <a:lstStyle/>
          <a:p>
            <a:pPr eaLnBrk="1" fontAlgn="auto" hangingPunct="1">
              <a:spcAft>
                <a:spcPts val="0"/>
              </a:spcAft>
              <a:defRPr/>
            </a:pPr>
            <a:r>
              <a:rPr lang="en-US"/>
              <a:t>Chapter 22</a:t>
            </a:r>
            <a:br>
              <a:rPr lang="en-US"/>
            </a:br>
            <a:r>
              <a:rPr lang="en-US"/>
              <a:t>Psychiatry</a:t>
            </a:r>
          </a:p>
        </p:txBody>
      </p:sp>
    </p:spTree>
    <p:extLst>
      <p:ext uri="{BB962C8B-B14F-4D97-AF65-F5344CB8AC3E}">
        <p14:creationId xmlns:p14="http://schemas.microsoft.com/office/powerpoint/2010/main" val="36178011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6"/>
          <p:cNvSpPr>
            <a:spLocks noGrp="1" noChangeArrowheads="1"/>
          </p:cNvSpPr>
          <p:nvPr>
            <p:ph type="title"/>
          </p:nvPr>
        </p:nvSpPr>
        <p:spPr>
          <a:xfrm>
            <a:off x="762000" y="381000"/>
            <a:ext cx="6705600" cy="1143000"/>
          </a:xfrm>
        </p:spPr>
        <p:txBody>
          <a:bodyPr/>
          <a:lstStyle/>
          <a:p>
            <a:pPr eaLnBrk="1" hangingPunct="1"/>
            <a:r>
              <a:rPr lang="en-US" altLang="en-US" dirty="0"/>
              <a:t>Chapter Goals (Slide 1 of 3)</a:t>
            </a:r>
          </a:p>
        </p:txBody>
      </p:sp>
      <p:sp>
        <p:nvSpPr>
          <p:cNvPr id="25607" name="Rectangle 7"/>
          <p:cNvSpPr>
            <a:spLocks noGrp="1" noChangeArrowheads="1"/>
          </p:cNvSpPr>
          <p:nvPr>
            <p:ph idx="1"/>
          </p:nvPr>
        </p:nvSpPr>
        <p:spPr>
          <a:xfrm>
            <a:off x="762000" y="1676400"/>
            <a:ext cx="8001000" cy="4114800"/>
          </a:xfrm>
        </p:spPr>
        <p:txBody>
          <a:bodyPr rtlCol="0">
            <a:normAutofit lnSpcReduction="10000"/>
          </a:bodyPr>
          <a:lstStyle/>
          <a:p>
            <a:pPr eaLnBrk="1" fontAlgn="auto" hangingPunct="1">
              <a:spcAft>
                <a:spcPts val="0"/>
              </a:spcAft>
              <a:defRPr/>
            </a:pPr>
            <a:r>
              <a:rPr lang="en-US" dirty="0"/>
              <a:t>Differentiate between a psychiatrist, a psychologist, and other mental health specialists.</a:t>
            </a:r>
          </a:p>
          <a:p>
            <a:pPr eaLnBrk="1" fontAlgn="auto" hangingPunct="1">
              <a:spcAft>
                <a:spcPts val="0"/>
              </a:spcAft>
              <a:defRPr/>
            </a:pPr>
            <a:r>
              <a:rPr lang="en-US" dirty="0"/>
              <a:t>Learn of tests used by clinical psychologists to evaluate a patient’</a:t>
            </a:r>
            <a:r>
              <a:rPr lang="en-US" altLang="ja-JP" dirty="0"/>
              <a:t>s mental health and intelligence.</a:t>
            </a:r>
          </a:p>
          <a:p>
            <a:pPr eaLnBrk="1" fontAlgn="auto" hangingPunct="1">
              <a:spcAft>
                <a:spcPts val="0"/>
              </a:spcAft>
              <a:defRPr/>
            </a:pPr>
            <a:r>
              <a:rPr lang="en-US" dirty="0"/>
              <a:t>Define terms that describe major psychiatric disorders.</a:t>
            </a:r>
          </a:p>
        </p:txBody>
      </p:sp>
    </p:spTree>
    <p:extLst>
      <p:ext uri="{BB962C8B-B14F-4D97-AF65-F5344CB8AC3E}">
        <p14:creationId xmlns:p14="http://schemas.microsoft.com/office/powerpoint/2010/main" val="23290730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4"/>
          <p:cNvSpPr>
            <a:spLocks noGrp="1" noChangeArrowheads="1"/>
          </p:cNvSpPr>
          <p:nvPr>
            <p:ph type="title"/>
          </p:nvPr>
        </p:nvSpPr>
        <p:spPr/>
        <p:txBody>
          <a:bodyPr/>
          <a:lstStyle/>
          <a:p>
            <a:pPr eaLnBrk="1" hangingPunct="1"/>
            <a:r>
              <a:rPr lang="en-US" altLang="en-US" dirty="0"/>
              <a:t>Chapter Goals (Slide 2 of 3)</a:t>
            </a:r>
          </a:p>
        </p:txBody>
      </p:sp>
      <p:sp>
        <p:nvSpPr>
          <p:cNvPr id="7171" name="Rectangle 5"/>
          <p:cNvSpPr>
            <a:spLocks noGrp="1" noChangeArrowheads="1"/>
          </p:cNvSpPr>
          <p:nvPr>
            <p:ph idx="1"/>
          </p:nvPr>
        </p:nvSpPr>
        <p:spPr/>
        <p:txBody>
          <a:bodyPr/>
          <a:lstStyle/>
          <a:p>
            <a:pPr eaLnBrk="1" hangingPunct="1"/>
            <a:r>
              <a:rPr lang="en-US" altLang="en-US"/>
              <a:t>Identify terms that describe psychiatric symptoms.</a:t>
            </a:r>
          </a:p>
          <a:p>
            <a:pPr eaLnBrk="1" hangingPunct="1"/>
            <a:r>
              <a:rPr lang="en-US" altLang="en-US"/>
              <a:t>Compare different types of therapy for psychiatric disorders.</a:t>
            </a:r>
          </a:p>
          <a:p>
            <a:pPr eaLnBrk="1" hangingPunct="1"/>
            <a:r>
              <a:rPr lang="en-US" altLang="en-US"/>
              <a:t>Learn the categories and names of common psychiatric drugs.</a:t>
            </a:r>
          </a:p>
        </p:txBody>
      </p:sp>
    </p:spTree>
    <p:extLst>
      <p:ext uri="{BB962C8B-B14F-4D97-AF65-F5344CB8AC3E}">
        <p14:creationId xmlns:p14="http://schemas.microsoft.com/office/powerpoint/2010/main" val="13296727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4"/>
          <p:cNvSpPr>
            <a:spLocks noGrp="1" noChangeArrowheads="1"/>
          </p:cNvSpPr>
          <p:nvPr>
            <p:ph type="title"/>
          </p:nvPr>
        </p:nvSpPr>
        <p:spPr/>
        <p:txBody>
          <a:bodyPr/>
          <a:lstStyle/>
          <a:p>
            <a:pPr eaLnBrk="1" hangingPunct="1"/>
            <a:r>
              <a:rPr lang="en-US" altLang="en-US" dirty="0"/>
              <a:t>Chapter Goals (Slide 3 of 3)</a:t>
            </a:r>
          </a:p>
        </p:txBody>
      </p:sp>
      <p:sp>
        <p:nvSpPr>
          <p:cNvPr id="8195" name="Rectangle 5"/>
          <p:cNvSpPr>
            <a:spLocks noGrp="1" noChangeArrowheads="1"/>
          </p:cNvSpPr>
          <p:nvPr>
            <p:ph idx="1"/>
          </p:nvPr>
        </p:nvSpPr>
        <p:spPr/>
        <p:txBody>
          <a:bodyPr/>
          <a:lstStyle/>
          <a:p>
            <a:pPr eaLnBrk="1" hangingPunct="1"/>
            <a:r>
              <a:rPr lang="en-US" altLang="en-US"/>
              <a:t>Define combining forms, suffixes, prefixes, and abbreviations related to psychiatry.</a:t>
            </a:r>
          </a:p>
          <a:p>
            <a:pPr eaLnBrk="1" hangingPunct="1"/>
            <a:r>
              <a:rPr lang="en-US" altLang="en-US"/>
              <a:t>Apply your new knowledge to understanding medical terms in their proper contexts, such as medical reports and records.</a:t>
            </a:r>
          </a:p>
        </p:txBody>
      </p:sp>
    </p:spTree>
    <p:extLst>
      <p:ext uri="{BB962C8B-B14F-4D97-AF65-F5344CB8AC3E}">
        <p14:creationId xmlns:p14="http://schemas.microsoft.com/office/powerpoint/2010/main" val="6473791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1026"/>
          <p:cNvSpPr>
            <a:spLocks noGrp="1" noChangeArrowheads="1"/>
          </p:cNvSpPr>
          <p:nvPr>
            <p:ph type="title"/>
          </p:nvPr>
        </p:nvSpPr>
        <p:spPr>
          <a:xfrm>
            <a:off x="762000" y="304800"/>
            <a:ext cx="6705600" cy="1295400"/>
          </a:xfrm>
        </p:spPr>
        <p:txBody>
          <a:bodyPr rtlCol="0" anchor="t">
            <a:normAutofit fontScale="90000"/>
          </a:bodyPr>
          <a:lstStyle/>
          <a:p>
            <a:pPr eaLnBrk="1" fontAlgn="auto" hangingPunct="1">
              <a:spcAft>
                <a:spcPts val="0"/>
              </a:spcAft>
              <a:defRPr/>
            </a:pPr>
            <a:r>
              <a:rPr lang="en-US"/>
              <a:t>Chapter 22</a:t>
            </a:r>
            <a:br>
              <a:rPr lang="en-US"/>
            </a:br>
            <a:r>
              <a:rPr lang="en-US"/>
              <a:t>Lesson 22.1</a:t>
            </a:r>
          </a:p>
        </p:txBody>
      </p:sp>
    </p:spTree>
    <p:extLst>
      <p:ext uri="{BB962C8B-B14F-4D97-AF65-F5344CB8AC3E}">
        <p14:creationId xmlns:p14="http://schemas.microsoft.com/office/powerpoint/2010/main" val="12850925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3" name="Rectangle 5"/>
          <p:cNvSpPr>
            <a:spLocks noGrp="1" noChangeArrowheads="1"/>
          </p:cNvSpPr>
          <p:nvPr>
            <p:ph type="title"/>
          </p:nvPr>
        </p:nvSpPr>
        <p:spPr/>
        <p:txBody>
          <a:bodyPr/>
          <a:lstStyle/>
          <a:p>
            <a:pPr eaLnBrk="1" hangingPunct="1"/>
            <a:r>
              <a:rPr lang="en-US" altLang="en-US"/>
              <a:t>Introduction</a:t>
            </a:r>
          </a:p>
        </p:txBody>
      </p:sp>
      <p:sp>
        <p:nvSpPr>
          <p:cNvPr id="2" name="Content Placeholder 1"/>
          <p:cNvSpPr>
            <a:spLocks noGrp="1"/>
          </p:cNvSpPr>
          <p:nvPr>
            <p:ph idx="1"/>
          </p:nvPr>
        </p:nvSpPr>
        <p:spPr>
          <a:xfrm>
            <a:off x="457200" y="1600201"/>
            <a:ext cx="8229600" cy="3657600"/>
          </a:xfrm>
        </p:spPr>
        <p:txBody>
          <a:bodyPr/>
          <a:lstStyle/>
          <a:p>
            <a:pPr marL="0" indent="0" eaLnBrk="1" hangingPunct="1">
              <a:buNone/>
            </a:pPr>
            <a:r>
              <a:rPr lang="en-US" b="1" dirty="0"/>
              <a:t>Psychiatry</a:t>
            </a:r>
            <a:r>
              <a:rPr lang="en-US" dirty="0"/>
              <a:t> is the branch of medicine that deals with the diagnosis, treatment, and prevention of mental illness.</a:t>
            </a:r>
            <a:endParaRPr lang="en-US" altLang="en-US" dirty="0"/>
          </a:p>
          <a:p>
            <a:pPr eaLnBrk="1" hangingPunct="1"/>
            <a:r>
              <a:rPr lang="en-US" altLang="en-US" dirty="0"/>
              <a:t>Psychiatrist</a:t>
            </a:r>
          </a:p>
          <a:p>
            <a:pPr eaLnBrk="1" hangingPunct="1"/>
            <a:r>
              <a:rPr lang="en-US" altLang="en-US" dirty="0"/>
              <a:t>Psychologist</a:t>
            </a:r>
          </a:p>
          <a:p>
            <a:pPr eaLnBrk="1" hangingPunct="1"/>
            <a:r>
              <a:rPr lang="en-US" altLang="en-US" dirty="0"/>
              <a:t>Clinical psychologist</a:t>
            </a:r>
          </a:p>
          <a:p>
            <a:endParaRPr lang="es-419" dirty="0"/>
          </a:p>
        </p:txBody>
      </p:sp>
    </p:spTree>
    <p:extLst>
      <p:ext uri="{BB962C8B-B14F-4D97-AF65-F5344CB8AC3E}">
        <p14:creationId xmlns:p14="http://schemas.microsoft.com/office/powerpoint/2010/main" val="3453266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4"/>
          <p:cNvSpPr>
            <a:spLocks noGrp="1" noChangeArrowheads="1"/>
          </p:cNvSpPr>
          <p:nvPr>
            <p:ph type="title"/>
          </p:nvPr>
        </p:nvSpPr>
        <p:spPr>
          <a:xfrm>
            <a:off x="762000" y="381000"/>
            <a:ext cx="6705600" cy="1143000"/>
          </a:xfrm>
        </p:spPr>
        <p:txBody>
          <a:bodyPr/>
          <a:lstStyle/>
          <a:p>
            <a:pPr eaLnBrk="1" hangingPunct="1"/>
            <a:r>
              <a:rPr lang="en-US" altLang="en-US"/>
              <a:t>Tools Used by Psychiatrists</a:t>
            </a:r>
          </a:p>
        </p:txBody>
      </p:sp>
      <p:sp>
        <p:nvSpPr>
          <p:cNvPr id="11267" name="Rectangle 5"/>
          <p:cNvSpPr>
            <a:spLocks noGrp="1" noChangeArrowheads="1"/>
          </p:cNvSpPr>
          <p:nvPr>
            <p:ph idx="1"/>
          </p:nvPr>
        </p:nvSpPr>
        <p:spPr>
          <a:xfrm>
            <a:off x="762000" y="1676400"/>
            <a:ext cx="7086600" cy="4114800"/>
          </a:xfrm>
        </p:spPr>
        <p:txBody>
          <a:bodyPr/>
          <a:lstStyle/>
          <a:p>
            <a:pPr eaLnBrk="1" hangingPunct="1"/>
            <a:r>
              <a:rPr lang="en-US" altLang="en-US"/>
              <a:t>Psychotherapy </a:t>
            </a:r>
          </a:p>
          <a:p>
            <a:pPr eaLnBrk="1" hangingPunct="1"/>
            <a:r>
              <a:rPr lang="en-US" altLang="en-US"/>
              <a:t>Psychoanalysis</a:t>
            </a:r>
          </a:p>
          <a:p>
            <a:pPr eaLnBrk="1" hangingPunct="1"/>
            <a:r>
              <a:rPr lang="en-US" altLang="en-US"/>
              <a:t>Drug therapy</a:t>
            </a:r>
          </a:p>
        </p:txBody>
      </p:sp>
    </p:spTree>
    <p:extLst>
      <p:ext uri="{BB962C8B-B14F-4D97-AF65-F5344CB8AC3E}">
        <p14:creationId xmlns:p14="http://schemas.microsoft.com/office/powerpoint/2010/main" val="30234944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4" name="Rectangle 4"/>
          <p:cNvSpPr>
            <a:spLocks noGrp="1" noChangeArrowheads="1"/>
          </p:cNvSpPr>
          <p:nvPr>
            <p:ph type="title"/>
          </p:nvPr>
        </p:nvSpPr>
        <p:spPr>
          <a:xfrm>
            <a:off x="1066800" y="381000"/>
            <a:ext cx="6705600" cy="1143000"/>
          </a:xfrm>
        </p:spPr>
        <p:txBody>
          <a:bodyPr rtlCol="0">
            <a:normAutofit fontScale="90000"/>
          </a:bodyPr>
          <a:lstStyle/>
          <a:p>
            <a:pPr eaLnBrk="1" fontAlgn="auto" hangingPunct="1">
              <a:spcAft>
                <a:spcPts val="0"/>
              </a:spcAft>
              <a:defRPr/>
            </a:pPr>
            <a:r>
              <a:rPr lang="en-US"/>
              <a:t>Tools Used by Clinical Psychologists</a:t>
            </a:r>
          </a:p>
        </p:txBody>
      </p:sp>
      <p:sp>
        <p:nvSpPr>
          <p:cNvPr id="12291" name="Rectangle 5"/>
          <p:cNvSpPr>
            <a:spLocks noGrp="1" noChangeArrowheads="1"/>
          </p:cNvSpPr>
          <p:nvPr>
            <p:ph idx="1"/>
          </p:nvPr>
        </p:nvSpPr>
        <p:spPr>
          <a:xfrm>
            <a:off x="762000" y="1676400"/>
            <a:ext cx="7086600" cy="4114800"/>
          </a:xfrm>
        </p:spPr>
        <p:txBody>
          <a:bodyPr/>
          <a:lstStyle/>
          <a:p>
            <a:pPr eaLnBrk="1" hangingPunct="1"/>
            <a:r>
              <a:rPr lang="en-US" altLang="en-US" sz="3000"/>
              <a:t>Psychotherapy</a:t>
            </a:r>
          </a:p>
          <a:p>
            <a:pPr eaLnBrk="1" hangingPunct="1"/>
            <a:r>
              <a:rPr lang="en-US" altLang="en-US" sz="3000"/>
              <a:t>Psychoanalysis</a:t>
            </a:r>
          </a:p>
          <a:p>
            <a:pPr eaLnBrk="1" hangingPunct="1"/>
            <a:r>
              <a:rPr lang="en-US" altLang="en-US" sz="3000"/>
              <a:t>Intelligence tests</a:t>
            </a:r>
          </a:p>
          <a:p>
            <a:pPr eaLnBrk="1" hangingPunct="1"/>
            <a:r>
              <a:rPr lang="en-US" altLang="en-US" sz="3000"/>
              <a:t>Mental processing tests</a:t>
            </a:r>
          </a:p>
          <a:p>
            <a:pPr eaLnBrk="1" hangingPunct="1"/>
            <a:r>
              <a:rPr lang="en-US" altLang="en-US" sz="3000"/>
              <a:t>Memory tests</a:t>
            </a:r>
          </a:p>
          <a:p>
            <a:pPr eaLnBrk="1" hangingPunct="1"/>
            <a:r>
              <a:rPr lang="en-US" altLang="en-US" sz="3000"/>
              <a:t>Personality tests</a:t>
            </a:r>
          </a:p>
        </p:txBody>
      </p:sp>
    </p:spTree>
    <p:extLst>
      <p:ext uri="{BB962C8B-B14F-4D97-AF65-F5344CB8AC3E}">
        <p14:creationId xmlns:p14="http://schemas.microsoft.com/office/powerpoint/2010/main" val="5966587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4"/>
          <p:cNvSpPr>
            <a:spLocks noGrp="1" noChangeArrowheads="1"/>
          </p:cNvSpPr>
          <p:nvPr>
            <p:ph type="title"/>
          </p:nvPr>
        </p:nvSpPr>
        <p:spPr>
          <a:xfrm>
            <a:off x="685800" y="381000"/>
            <a:ext cx="7772400" cy="1143000"/>
          </a:xfrm>
        </p:spPr>
        <p:txBody>
          <a:bodyPr/>
          <a:lstStyle/>
          <a:p>
            <a:pPr eaLnBrk="1" hangingPunct="1"/>
            <a:r>
              <a:rPr lang="en-US" altLang="en-US" sz="4200" dirty="0"/>
              <a:t>Psychiatric Disorders Background</a:t>
            </a:r>
          </a:p>
        </p:txBody>
      </p:sp>
      <p:sp>
        <p:nvSpPr>
          <p:cNvPr id="14339" name="Rectangle 5"/>
          <p:cNvSpPr>
            <a:spLocks noGrp="1" noChangeArrowheads="1"/>
          </p:cNvSpPr>
          <p:nvPr>
            <p:ph idx="1"/>
          </p:nvPr>
        </p:nvSpPr>
        <p:spPr>
          <a:xfrm>
            <a:off x="1028700" y="1676400"/>
            <a:ext cx="7086600" cy="4114800"/>
          </a:xfrm>
        </p:spPr>
        <p:txBody>
          <a:bodyPr/>
          <a:lstStyle/>
          <a:p>
            <a:pPr eaLnBrk="1" hangingPunct="1"/>
            <a:r>
              <a:rPr lang="en-US" altLang="en-US" dirty="0"/>
              <a:t>Sigmund Freud and personality structure:</a:t>
            </a:r>
          </a:p>
          <a:p>
            <a:pPr lvl="1" eaLnBrk="1" hangingPunct="1">
              <a:buFont typeface="Wingdings" panose="05000000000000000000" pitchFamily="2" charset="2"/>
              <a:buChar char="Ø"/>
            </a:pPr>
            <a:r>
              <a:rPr lang="en-US" altLang="en-US" dirty="0"/>
              <a:t>Id</a:t>
            </a:r>
          </a:p>
          <a:p>
            <a:pPr lvl="1" eaLnBrk="1" hangingPunct="1">
              <a:buFont typeface="Wingdings" panose="05000000000000000000" pitchFamily="2" charset="2"/>
              <a:buChar char="Ø"/>
            </a:pPr>
            <a:r>
              <a:rPr lang="en-US" altLang="en-US" dirty="0"/>
              <a:t>Ego</a:t>
            </a:r>
          </a:p>
          <a:p>
            <a:pPr lvl="1" eaLnBrk="1" hangingPunct="1">
              <a:buFont typeface="Wingdings" panose="05000000000000000000" pitchFamily="2" charset="2"/>
              <a:buChar char="Ø"/>
            </a:pPr>
            <a:r>
              <a:rPr lang="en-US" altLang="en-US" dirty="0"/>
              <a:t>Superego</a:t>
            </a:r>
          </a:p>
          <a:p>
            <a:pPr eaLnBrk="1" hangingPunct="1"/>
            <a:r>
              <a:rPr lang="en-US" altLang="en-US" dirty="0"/>
              <a:t>Defense mechanisms</a:t>
            </a:r>
          </a:p>
        </p:txBody>
      </p:sp>
    </p:spTree>
    <p:extLst>
      <p:ext uri="{BB962C8B-B14F-4D97-AF65-F5344CB8AC3E}">
        <p14:creationId xmlns:p14="http://schemas.microsoft.com/office/powerpoint/2010/main" val="22940641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78"/>
          <p:cNvSpPr>
            <a:spLocks noGrp="1" noChangeArrowheads="1"/>
          </p:cNvSpPr>
          <p:nvPr>
            <p:ph type="title"/>
          </p:nvPr>
        </p:nvSpPr>
        <p:spPr>
          <a:xfrm>
            <a:off x="533400" y="381000"/>
            <a:ext cx="7924800" cy="1143000"/>
          </a:xfrm>
        </p:spPr>
        <p:txBody>
          <a:bodyPr/>
          <a:lstStyle/>
          <a:p>
            <a:pPr eaLnBrk="1" hangingPunct="1"/>
            <a:r>
              <a:rPr lang="en-US" altLang="en-US" sz="4200" dirty="0"/>
              <a:t>Psychiatric Disorders Samples</a:t>
            </a:r>
            <a:br>
              <a:rPr lang="en-US" altLang="en-US" sz="4200" dirty="0"/>
            </a:br>
            <a:r>
              <a:rPr lang="en-US" altLang="en-US" sz="4200" dirty="0"/>
              <a:t> </a:t>
            </a:r>
          </a:p>
        </p:txBody>
      </p:sp>
      <p:sp>
        <p:nvSpPr>
          <p:cNvPr id="15363" name="Rectangle 79"/>
          <p:cNvSpPr>
            <a:spLocks noGrp="1" noChangeArrowheads="1"/>
          </p:cNvSpPr>
          <p:nvPr>
            <p:ph idx="1"/>
          </p:nvPr>
        </p:nvSpPr>
        <p:spPr>
          <a:xfrm>
            <a:off x="685800" y="1600200"/>
            <a:ext cx="7086600" cy="4114800"/>
          </a:xfrm>
        </p:spPr>
        <p:txBody>
          <a:bodyPr/>
          <a:lstStyle/>
          <a:p>
            <a:pPr eaLnBrk="1" hangingPunct="1"/>
            <a:r>
              <a:rPr lang="en-US" altLang="en-US" dirty="0"/>
              <a:t>Anxiety disorders  </a:t>
            </a:r>
          </a:p>
          <a:p>
            <a:pPr eaLnBrk="1" hangingPunct="1"/>
            <a:r>
              <a:rPr lang="en-US" altLang="en-US" dirty="0"/>
              <a:t>Bipolar disorders    </a:t>
            </a:r>
          </a:p>
          <a:p>
            <a:pPr eaLnBrk="1" hangingPunct="1"/>
            <a:r>
              <a:rPr lang="en-US" altLang="en-US" dirty="0"/>
              <a:t>Depressive disorders        </a:t>
            </a:r>
          </a:p>
          <a:p>
            <a:pPr eaLnBrk="1" hangingPunct="1"/>
            <a:r>
              <a:rPr lang="en-US" altLang="en-US" dirty="0"/>
              <a:t>Dissociative disorders     </a:t>
            </a:r>
          </a:p>
          <a:p>
            <a:pPr eaLnBrk="1" hangingPunct="1"/>
            <a:r>
              <a:rPr lang="en-US" altLang="en-US" dirty="0"/>
              <a:t>Eating disorders   </a:t>
            </a:r>
          </a:p>
          <a:p>
            <a:pPr eaLnBrk="1" hangingPunct="1"/>
            <a:r>
              <a:rPr lang="en-US" altLang="en-US" dirty="0"/>
              <a:t>Neurocognitive disorders      </a:t>
            </a:r>
          </a:p>
        </p:txBody>
      </p:sp>
    </p:spTree>
    <p:extLst>
      <p:ext uri="{BB962C8B-B14F-4D97-AF65-F5344CB8AC3E}">
        <p14:creationId xmlns:p14="http://schemas.microsoft.com/office/powerpoint/2010/main" val="39671939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Rectangle 7"/>
          <p:cNvSpPr>
            <a:spLocks noGrp="1" noChangeArrowheads="1"/>
          </p:cNvSpPr>
          <p:nvPr>
            <p:ph type="title"/>
          </p:nvPr>
        </p:nvSpPr>
        <p:spPr>
          <a:xfrm>
            <a:off x="1068388" y="381000"/>
            <a:ext cx="7085012" cy="1143000"/>
          </a:xfrm>
        </p:spPr>
        <p:txBody>
          <a:bodyPr/>
          <a:lstStyle/>
          <a:p>
            <a:pPr eaLnBrk="1" hangingPunct="1"/>
            <a:r>
              <a:rPr lang="en-US" altLang="en-US"/>
              <a:t>Anxiety Disorders</a:t>
            </a:r>
          </a:p>
        </p:txBody>
      </p:sp>
      <p:sp>
        <p:nvSpPr>
          <p:cNvPr id="16388" name="Rectangle 8"/>
          <p:cNvSpPr>
            <a:spLocks noGrp="1" noChangeArrowheads="1"/>
          </p:cNvSpPr>
          <p:nvPr>
            <p:ph idx="1"/>
          </p:nvPr>
        </p:nvSpPr>
        <p:spPr>
          <a:xfrm>
            <a:off x="1083628" y="1402080"/>
            <a:ext cx="7392193" cy="4846320"/>
          </a:xfrm>
        </p:spPr>
        <p:txBody>
          <a:bodyPr/>
          <a:lstStyle/>
          <a:p>
            <a:pPr marL="0" indent="0" eaLnBrk="1" hangingPunct="1">
              <a:buNone/>
              <a:defRPr/>
            </a:pPr>
            <a:r>
              <a:rPr lang="en-US" sz="2800" dirty="0"/>
              <a:t>Characterized by unpleasant tension, distress, </a:t>
            </a:r>
          </a:p>
          <a:p>
            <a:pPr marL="0" indent="0" eaLnBrk="1" hangingPunct="1">
              <a:buNone/>
              <a:defRPr/>
            </a:pPr>
            <a:r>
              <a:rPr lang="en-US" sz="2800" dirty="0"/>
              <a:t>troubled feelings, and avoidance behavior</a:t>
            </a:r>
            <a:endParaRPr lang="en-US" altLang="en-US" sz="2800" b="1" dirty="0"/>
          </a:p>
          <a:p>
            <a:pPr eaLnBrk="1" hangingPunct="1">
              <a:lnSpc>
                <a:spcPct val="80000"/>
              </a:lnSpc>
            </a:pPr>
            <a:r>
              <a:rPr lang="en-US" altLang="en-US" sz="2800" b="1" dirty="0"/>
              <a:t>Phobic disorders:</a:t>
            </a:r>
            <a:r>
              <a:rPr lang="en-US" altLang="en-US" sz="2800" dirty="0"/>
              <a:t> agoraphobia, acrophobia, claustrophobia, zoophobia</a:t>
            </a:r>
          </a:p>
          <a:p>
            <a:pPr eaLnBrk="1" hangingPunct="1">
              <a:lnSpc>
                <a:spcPct val="80000"/>
              </a:lnSpc>
            </a:pPr>
            <a:r>
              <a:rPr lang="en-US" altLang="en-US" sz="2800" b="1" dirty="0"/>
              <a:t>Post-traumatic stress disorder:</a:t>
            </a:r>
            <a:r>
              <a:rPr lang="en-US" altLang="en-US" sz="2800" dirty="0"/>
              <a:t> fear, helplessness, insomnia, nightmares</a:t>
            </a:r>
          </a:p>
          <a:p>
            <a:pPr eaLnBrk="1" hangingPunct="1">
              <a:lnSpc>
                <a:spcPct val="80000"/>
              </a:lnSpc>
            </a:pPr>
            <a:r>
              <a:rPr lang="en-US" altLang="en-US" sz="2800" b="1" dirty="0"/>
              <a:t>Generalized anxiety disorder (GAD):</a:t>
            </a:r>
            <a:r>
              <a:rPr lang="en-US" altLang="en-US" sz="2800" dirty="0"/>
              <a:t>  chronic anxiety and exaggerated worry and tension even when there is little or nothing to provoke such feelings</a:t>
            </a:r>
          </a:p>
        </p:txBody>
      </p:sp>
    </p:spTree>
    <p:extLst>
      <p:ext uri="{BB962C8B-B14F-4D97-AF65-F5344CB8AC3E}">
        <p14:creationId xmlns:p14="http://schemas.microsoft.com/office/powerpoint/2010/main" val="251855333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Rectangle 5"/>
          <p:cNvSpPr>
            <a:spLocks noGrp="1" noChangeArrowheads="1"/>
          </p:cNvSpPr>
          <p:nvPr>
            <p:ph type="title"/>
          </p:nvPr>
        </p:nvSpPr>
        <p:spPr/>
        <p:txBody>
          <a:bodyPr/>
          <a:lstStyle/>
          <a:p>
            <a:pPr eaLnBrk="1" hangingPunct="1"/>
            <a:r>
              <a:rPr lang="en-US" altLang="en-US"/>
              <a:t>Bipolar Disorders</a:t>
            </a:r>
          </a:p>
        </p:txBody>
      </p:sp>
      <p:sp>
        <p:nvSpPr>
          <p:cNvPr id="7" name="Rectangle 6"/>
          <p:cNvSpPr>
            <a:spLocks noGrp="1" noChangeArrowheads="1"/>
          </p:cNvSpPr>
          <p:nvPr>
            <p:ph idx="1"/>
          </p:nvPr>
        </p:nvSpPr>
        <p:spPr>
          <a:xfrm>
            <a:off x="1013460" y="1615440"/>
            <a:ext cx="7696200" cy="4525963"/>
          </a:xfrm>
        </p:spPr>
        <p:txBody>
          <a:bodyPr/>
          <a:lstStyle/>
          <a:p>
            <a:pPr eaLnBrk="1" hangingPunct="1">
              <a:lnSpc>
                <a:spcPct val="80000"/>
              </a:lnSpc>
            </a:pPr>
            <a:r>
              <a:rPr lang="en-US" sz="2800" dirty="0"/>
              <a:t>Prolonged emotion that dominates a person</a:t>
            </a:r>
            <a:r>
              <a:rPr lang="ja-JP" altLang="en-US" sz="2800" dirty="0"/>
              <a:t>’</a:t>
            </a:r>
            <a:r>
              <a:rPr lang="en-US" altLang="ja-JP" sz="2800" dirty="0"/>
              <a:t>s entire mental life</a:t>
            </a:r>
            <a:endParaRPr lang="en-US" altLang="en-US" sz="2800" b="1" dirty="0"/>
          </a:p>
          <a:p>
            <a:pPr eaLnBrk="1" hangingPunct="1">
              <a:lnSpc>
                <a:spcPct val="80000"/>
              </a:lnSpc>
            </a:pPr>
            <a:r>
              <a:rPr lang="en-US" altLang="en-US" sz="2800" b="1" dirty="0"/>
              <a:t>Bipolar disorder:</a:t>
            </a:r>
            <a:r>
              <a:rPr lang="en-US" altLang="en-US" sz="2800" dirty="0"/>
              <a:t> alternating manic and depressive episodes</a:t>
            </a:r>
          </a:p>
          <a:p>
            <a:pPr eaLnBrk="1" hangingPunct="1">
              <a:lnSpc>
                <a:spcPct val="80000"/>
              </a:lnSpc>
            </a:pPr>
            <a:r>
              <a:rPr lang="en-US" altLang="en-US" sz="2800" b="1" dirty="0"/>
              <a:t>Cyclothymic disorder:</a:t>
            </a:r>
            <a:r>
              <a:rPr lang="en-US" altLang="en-US" sz="2800" dirty="0"/>
              <a:t> mild bipolar with at least 2 years of hypomania and numerous depressive episodes</a:t>
            </a:r>
          </a:p>
          <a:p>
            <a:pPr eaLnBrk="1" hangingPunct="1">
              <a:lnSpc>
                <a:spcPct val="80000"/>
              </a:lnSpc>
            </a:pPr>
            <a:r>
              <a:rPr lang="en-US" altLang="en-US" sz="2800" b="1" dirty="0"/>
              <a:t>Depressive disorder:</a:t>
            </a:r>
            <a:r>
              <a:rPr lang="en-US" altLang="en-US" sz="2800" dirty="0"/>
              <a:t> major depression, severe dysphoria</a:t>
            </a:r>
          </a:p>
        </p:txBody>
      </p:sp>
    </p:spTree>
    <p:extLst>
      <p:ext uri="{BB962C8B-B14F-4D97-AF65-F5344CB8AC3E}">
        <p14:creationId xmlns:p14="http://schemas.microsoft.com/office/powerpoint/2010/main" val="218091113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Rectangle 5"/>
          <p:cNvSpPr>
            <a:spLocks noGrp="1" noChangeArrowheads="1"/>
          </p:cNvSpPr>
          <p:nvPr>
            <p:ph type="title"/>
          </p:nvPr>
        </p:nvSpPr>
        <p:spPr>
          <a:xfrm>
            <a:off x="1219200" y="381000"/>
            <a:ext cx="7085013" cy="914400"/>
          </a:xfrm>
        </p:spPr>
        <p:txBody>
          <a:bodyPr/>
          <a:lstStyle/>
          <a:p>
            <a:pPr eaLnBrk="1" hangingPunct="1"/>
            <a:r>
              <a:rPr lang="en-US" altLang="en-US"/>
              <a:t>Depressive Disorders</a:t>
            </a:r>
          </a:p>
        </p:txBody>
      </p:sp>
      <p:sp>
        <p:nvSpPr>
          <p:cNvPr id="18436" name="Rectangle 6"/>
          <p:cNvSpPr>
            <a:spLocks noGrp="1" noChangeArrowheads="1"/>
          </p:cNvSpPr>
          <p:nvPr>
            <p:ph idx="1"/>
          </p:nvPr>
        </p:nvSpPr>
        <p:spPr>
          <a:xfrm>
            <a:off x="989806" y="1828801"/>
            <a:ext cx="7543800" cy="3505200"/>
          </a:xfrm>
        </p:spPr>
        <p:txBody>
          <a:bodyPr/>
          <a:lstStyle/>
          <a:p>
            <a:pPr eaLnBrk="1" hangingPunct="1">
              <a:lnSpc>
                <a:spcPct val="80000"/>
              </a:lnSpc>
            </a:pPr>
            <a:r>
              <a:rPr lang="en-US" sz="2800" dirty="0"/>
              <a:t>Prolonged emotion that dominates a person</a:t>
            </a:r>
            <a:r>
              <a:rPr lang="ja-JP" altLang="en-US" sz="2800" dirty="0"/>
              <a:t>’</a:t>
            </a:r>
            <a:r>
              <a:rPr lang="en-US" altLang="ja-JP" sz="2800" dirty="0"/>
              <a:t>s entire mental life</a:t>
            </a:r>
            <a:endParaRPr lang="en-US" sz="2800" dirty="0">
              <a:solidFill>
                <a:srgbClr val="800080"/>
              </a:solidFill>
            </a:endParaRPr>
          </a:p>
          <a:p>
            <a:pPr marL="0" indent="0" eaLnBrk="1" hangingPunct="1">
              <a:lnSpc>
                <a:spcPct val="80000"/>
              </a:lnSpc>
              <a:buNone/>
            </a:pPr>
            <a:endParaRPr lang="en-US" altLang="en-US" sz="2800" b="1" dirty="0"/>
          </a:p>
          <a:p>
            <a:pPr eaLnBrk="1" hangingPunct="1">
              <a:lnSpc>
                <a:spcPct val="80000"/>
              </a:lnSpc>
            </a:pPr>
            <a:r>
              <a:rPr lang="en-US" altLang="en-US" sz="2800" b="1" dirty="0"/>
              <a:t>Depressive disorder:</a:t>
            </a:r>
            <a:r>
              <a:rPr lang="en-US" altLang="en-US" sz="2800" dirty="0"/>
              <a:t> major depression, severe dysphoria</a:t>
            </a:r>
          </a:p>
          <a:p>
            <a:pPr eaLnBrk="1" hangingPunct="1">
              <a:lnSpc>
                <a:spcPct val="80000"/>
              </a:lnSpc>
            </a:pPr>
            <a:r>
              <a:rPr lang="en-US" altLang="en-US" sz="2800" b="1" dirty="0"/>
              <a:t>Dysthymic disorder</a:t>
            </a:r>
            <a:endParaRPr lang="en-US" altLang="en-US" sz="2800" dirty="0"/>
          </a:p>
          <a:p>
            <a:pPr eaLnBrk="1" hangingPunct="1">
              <a:lnSpc>
                <a:spcPct val="80000"/>
              </a:lnSpc>
            </a:pPr>
            <a:r>
              <a:rPr lang="en-US" altLang="en-US" sz="2800" b="1" dirty="0"/>
              <a:t>Seasonal affective disorder (SAD)</a:t>
            </a:r>
            <a:endParaRPr lang="en-US" altLang="en-US" sz="2800" dirty="0"/>
          </a:p>
        </p:txBody>
      </p:sp>
    </p:spTree>
    <p:extLst>
      <p:ext uri="{BB962C8B-B14F-4D97-AF65-F5344CB8AC3E}">
        <p14:creationId xmlns:p14="http://schemas.microsoft.com/office/powerpoint/2010/main" val="37803721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5"/>
          <p:cNvSpPr>
            <a:spLocks noGrp="1" noChangeArrowheads="1"/>
          </p:cNvSpPr>
          <p:nvPr>
            <p:ph type="title"/>
          </p:nvPr>
        </p:nvSpPr>
        <p:spPr>
          <a:xfrm>
            <a:off x="1219200" y="381000"/>
            <a:ext cx="7085013" cy="1143000"/>
          </a:xfrm>
        </p:spPr>
        <p:txBody>
          <a:bodyPr/>
          <a:lstStyle/>
          <a:p>
            <a:pPr eaLnBrk="1" hangingPunct="1"/>
            <a:r>
              <a:rPr lang="en-US" altLang="en-US"/>
              <a:t>Dissociative Disorders</a:t>
            </a:r>
          </a:p>
        </p:txBody>
      </p:sp>
      <p:sp>
        <p:nvSpPr>
          <p:cNvPr id="19460" name="Rectangle 6"/>
          <p:cNvSpPr>
            <a:spLocks noGrp="1" noChangeArrowheads="1"/>
          </p:cNvSpPr>
          <p:nvPr>
            <p:ph idx="1"/>
          </p:nvPr>
        </p:nvSpPr>
        <p:spPr>
          <a:xfrm>
            <a:off x="716280" y="1828800"/>
            <a:ext cx="7086600" cy="4572000"/>
          </a:xfrm>
        </p:spPr>
        <p:txBody>
          <a:bodyPr/>
          <a:lstStyle/>
          <a:p>
            <a:pPr eaLnBrk="1" hangingPunct="1"/>
            <a:r>
              <a:rPr lang="en-US" sz="2800" dirty="0"/>
              <a:t>Chronic or sudden disturbances of memory, identity, consciousness, or perception of the environment not caused by brain damage or drugs</a:t>
            </a:r>
            <a:endParaRPr lang="en-US" altLang="en-US" sz="2800" b="1" dirty="0"/>
          </a:p>
          <a:p>
            <a:pPr eaLnBrk="1" hangingPunct="1"/>
            <a:r>
              <a:rPr lang="en-US" altLang="en-US" sz="2800" b="1" dirty="0"/>
              <a:t>Dissociative identity disorder:</a:t>
            </a:r>
            <a:r>
              <a:rPr lang="en-US" altLang="en-US" sz="2800" dirty="0"/>
              <a:t> two personalities take over</a:t>
            </a:r>
          </a:p>
          <a:p>
            <a:pPr eaLnBrk="1" hangingPunct="1"/>
            <a:r>
              <a:rPr lang="en-US" altLang="en-US" sz="2800" b="1" dirty="0"/>
              <a:t>Dissociative amnesia:</a:t>
            </a:r>
            <a:r>
              <a:rPr lang="en-US" altLang="en-US" sz="2800" dirty="0"/>
              <a:t> memory loss of personal information</a:t>
            </a:r>
          </a:p>
          <a:p>
            <a:pPr eaLnBrk="1" hangingPunct="1"/>
            <a:r>
              <a:rPr lang="en-US" altLang="en-US" sz="2800" b="1" dirty="0"/>
              <a:t>Dissociative fugue:</a:t>
            </a:r>
            <a:r>
              <a:rPr lang="en-US" altLang="en-US" sz="2800" dirty="0"/>
              <a:t> sudden unexpected travel</a:t>
            </a:r>
          </a:p>
        </p:txBody>
      </p:sp>
    </p:spTree>
    <p:extLst>
      <p:ext uri="{BB962C8B-B14F-4D97-AF65-F5344CB8AC3E}">
        <p14:creationId xmlns:p14="http://schemas.microsoft.com/office/powerpoint/2010/main" val="50746940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4"/>
          <p:cNvSpPr>
            <a:spLocks noGrp="1" noChangeArrowheads="1"/>
          </p:cNvSpPr>
          <p:nvPr>
            <p:ph type="title"/>
          </p:nvPr>
        </p:nvSpPr>
        <p:spPr>
          <a:xfrm>
            <a:off x="1219200" y="381000"/>
            <a:ext cx="6705600" cy="1143000"/>
          </a:xfrm>
        </p:spPr>
        <p:txBody>
          <a:bodyPr/>
          <a:lstStyle/>
          <a:p>
            <a:pPr eaLnBrk="1" hangingPunct="1"/>
            <a:r>
              <a:rPr lang="en-US" altLang="en-US"/>
              <a:t>Eating Disorders</a:t>
            </a:r>
          </a:p>
        </p:txBody>
      </p:sp>
      <p:sp>
        <p:nvSpPr>
          <p:cNvPr id="20483" name="Rectangle 5"/>
          <p:cNvSpPr>
            <a:spLocks noGrp="1" noChangeArrowheads="1"/>
          </p:cNvSpPr>
          <p:nvPr>
            <p:ph idx="1"/>
          </p:nvPr>
        </p:nvSpPr>
        <p:spPr>
          <a:xfrm>
            <a:off x="762000" y="1676400"/>
            <a:ext cx="7086600" cy="4114800"/>
          </a:xfrm>
        </p:spPr>
        <p:txBody>
          <a:bodyPr/>
          <a:lstStyle/>
          <a:p>
            <a:pPr eaLnBrk="1" hangingPunct="1"/>
            <a:r>
              <a:rPr lang="en-US" altLang="en-US" b="1"/>
              <a:t>Anorexia nervosa:</a:t>
            </a:r>
            <a:r>
              <a:rPr lang="en-US" altLang="en-US"/>
              <a:t> refusal to maintain body weight, conscious relentless attempt to diet, excessive overactivity and exercise</a:t>
            </a:r>
          </a:p>
          <a:p>
            <a:pPr eaLnBrk="1" hangingPunct="1"/>
            <a:r>
              <a:rPr lang="en-US" altLang="en-US" b="1"/>
              <a:t>Bulimia:</a:t>
            </a:r>
            <a:r>
              <a:rPr lang="en-US" altLang="en-US"/>
              <a:t> binge and purge eating using vomiting and misuse of laxatives or enemas</a:t>
            </a:r>
          </a:p>
        </p:txBody>
      </p:sp>
    </p:spTree>
    <p:extLst>
      <p:ext uri="{BB962C8B-B14F-4D97-AF65-F5344CB8AC3E}">
        <p14:creationId xmlns:p14="http://schemas.microsoft.com/office/powerpoint/2010/main" val="375960443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7" name="Rectangle 5"/>
          <p:cNvSpPr>
            <a:spLocks noGrp="1" noChangeArrowheads="1"/>
          </p:cNvSpPr>
          <p:nvPr>
            <p:ph type="title"/>
          </p:nvPr>
        </p:nvSpPr>
        <p:spPr/>
        <p:txBody>
          <a:bodyPr/>
          <a:lstStyle/>
          <a:p>
            <a:pPr eaLnBrk="1" hangingPunct="1"/>
            <a:r>
              <a:rPr lang="en-US" altLang="en-US"/>
              <a:t>Neurocognitive Disorders</a:t>
            </a:r>
          </a:p>
        </p:txBody>
      </p:sp>
      <p:sp>
        <p:nvSpPr>
          <p:cNvPr id="2" name="Content Placeholder 1"/>
          <p:cNvSpPr>
            <a:spLocks noGrp="1"/>
          </p:cNvSpPr>
          <p:nvPr>
            <p:ph idx="1"/>
          </p:nvPr>
        </p:nvSpPr>
        <p:spPr/>
        <p:txBody>
          <a:bodyPr/>
          <a:lstStyle/>
          <a:p>
            <a:pPr marL="0" indent="0" eaLnBrk="1" hangingPunct="1">
              <a:buNone/>
            </a:pPr>
            <a:r>
              <a:rPr lang="en-US" altLang="en-US" b="1" dirty="0"/>
              <a:t>Disorders of abnormal cognition (thinking, perception, reasoning, judgement)</a:t>
            </a:r>
          </a:p>
          <a:p>
            <a:pPr eaLnBrk="1" hangingPunct="1"/>
            <a:r>
              <a:rPr lang="en-US" altLang="en-US" b="1" dirty="0"/>
              <a:t>Delirium:</a:t>
            </a:r>
            <a:r>
              <a:rPr lang="en-US" altLang="en-US" dirty="0"/>
              <a:t> mental confusion, incoherent speech, sensory misperception, disorientation, memory impairment</a:t>
            </a:r>
          </a:p>
          <a:p>
            <a:pPr eaLnBrk="1" hangingPunct="1"/>
            <a:r>
              <a:rPr lang="en-US" altLang="en-US" b="1" dirty="0"/>
              <a:t>Dementia:</a:t>
            </a:r>
            <a:r>
              <a:rPr lang="en-US" altLang="en-US" dirty="0"/>
              <a:t> gradual loss of intellectual abilities involving impairment of judgment, memory, abstract thinking, and personality</a:t>
            </a:r>
          </a:p>
          <a:p>
            <a:endParaRPr lang="es-419" dirty="0"/>
          </a:p>
        </p:txBody>
      </p:sp>
    </p:spTree>
    <p:extLst>
      <p:ext uri="{BB962C8B-B14F-4D97-AF65-F5344CB8AC3E}">
        <p14:creationId xmlns:p14="http://schemas.microsoft.com/office/powerpoint/2010/main" val="206969885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1026"/>
          <p:cNvSpPr>
            <a:spLocks noGrp="1" noChangeArrowheads="1"/>
          </p:cNvSpPr>
          <p:nvPr>
            <p:ph type="title"/>
          </p:nvPr>
        </p:nvSpPr>
        <p:spPr>
          <a:xfrm>
            <a:off x="762000" y="304800"/>
            <a:ext cx="7772400" cy="1447800"/>
          </a:xfrm>
        </p:spPr>
        <p:txBody>
          <a:bodyPr/>
          <a:lstStyle/>
          <a:p>
            <a:pPr eaLnBrk="1" hangingPunct="1"/>
            <a:r>
              <a:rPr lang="en-US" altLang="en-US"/>
              <a:t>Neurodevelopmental Disorders</a:t>
            </a:r>
          </a:p>
        </p:txBody>
      </p:sp>
      <p:sp>
        <p:nvSpPr>
          <p:cNvPr id="22531" name="Rectangle 1027"/>
          <p:cNvSpPr>
            <a:spLocks noGrp="1" noChangeArrowheads="1"/>
          </p:cNvSpPr>
          <p:nvPr>
            <p:ph idx="1"/>
          </p:nvPr>
        </p:nvSpPr>
        <p:spPr>
          <a:xfrm>
            <a:off x="762000" y="1676400"/>
            <a:ext cx="7772400" cy="4454525"/>
          </a:xfrm>
        </p:spPr>
        <p:txBody>
          <a:bodyPr/>
          <a:lstStyle/>
          <a:p>
            <a:pPr eaLnBrk="1" hangingPunct="1"/>
            <a:r>
              <a:rPr lang="en-US" altLang="en-US"/>
              <a:t>Intellectual Disability      </a:t>
            </a:r>
          </a:p>
          <a:p>
            <a:pPr eaLnBrk="1" hangingPunct="1"/>
            <a:r>
              <a:rPr lang="en-US" altLang="en-US"/>
              <a:t>Communication Disorders      </a:t>
            </a:r>
          </a:p>
          <a:p>
            <a:pPr eaLnBrk="1" hangingPunct="1"/>
            <a:r>
              <a:rPr lang="en-US" altLang="en-US"/>
              <a:t>Autistic Spectrum Disorders     </a:t>
            </a:r>
          </a:p>
          <a:p>
            <a:pPr eaLnBrk="1" hangingPunct="1"/>
            <a:r>
              <a:rPr lang="en-US" altLang="en-US"/>
              <a:t>Attention-Deficit/Hyperactivity Disorder  </a:t>
            </a:r>
          </a:p>
          <a:p>
            <a:pPr eaLnBrk="1" hangingPunct="1"/>
            <a:r>
              <a:rPr lang="en-US" altLang="en-US"/>
              <a:t>Specific Learning Disorders  </a:t>
            </a:r>
          </a:p>
          <a:p>
            <a:pPr eaLnBrk="1" hangingPunct="1"/>
            <a:r>
              <a:rPr lang="en-US" altLang="en-US"/>
              <a:t>Motor Disorders</a:t>
            </a:r>
          </a:p>
        </p:txBody>
      </p:sp>
    </p:spTree>
    <p:extLst>
      <p:ext uri="{BB962C8B-B14F-4D97-AF65-F5344CB8AC3E}">
        <p14:creationId xmlns:p14="http://schemas.microsoft.com/office/powerpoint/2010/main" val="368141615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5" name="Rectangle 10"/>
          <p:cNvSpPr>
            <a:spLocks noGrp="1" noChangeArrowheads="1"/>
          </p:cNvSpPr>
          <p:nvPr>
            <p:ph type="title"/>
          </p:nvPr>
        </p:nvSpPr>
        <p:spPr/>
        <p:txBody>
          <a:bodyPr/>
          <a:lstStyle/>
          <a:p>
            <a:pPr eaLnBrk="1" hangingPunct="1"/>
            <a:r>
              <a:rPr lang="en-US" altLang="en-US" dirty="0"/>
              <a:t>Personality Disorders (Slide 1 of 4)</a:t>
            </a:r>
          </a:p>
        </p:txBody>
      </p:sp>
      <p:sp>
        <p:nvSpPr>
          <p:cNvPr id="5" name="Text Box 4"/>
          <p:cNvSpPr txBox="1">
            <a:spLocks noGrp="1" noChangeArrowheads="1"/>
          </p:cNvSpPr>
          <p:nvPr>
            <p:ph idx="1"/>
          </p:nvPr>
        </p:nvSpPr>
        <p:spPr bwMode="auto">
          <a:prstGeom prst="rect">
            <a:avLst/>
          </a:prstGeom>
          <a:noFill/>
          <a:ln w="9525">
            <a:noFill/>
            <a:miter lim="800000"/>
            <a:headEnd/>
            <a:tailEnd/>
          </a:ln>
        </p:spPr>
        <p:txBody>
          <a:bodyPr/>
          <a:lstStyle/>
          <a:p>
            <a:pPr eaLnBrk="1" hangingPunct="1">
              <a:defRPr/>
            </a:pPr>
            <a:r>
              <a:rPr lang="en-US" sz="3200" dirty="0">
                <a:latin typeface="+mn-lt"/>
              </a:rPr>
              <a:t>Enduring pattern of thinking and behavior contrary to what is culturally acceptable.  Pervasive and inflexible it has an onset in early adulthood and leads to distress or conflict with others.  </a:t>
            </a:r>
          </a:p>
          <a:p>
            <a:pPr eaLnBrk="1" hangingPunct="1">
              <a:defRPr/>
            </a:pPr>
            <a:endParaRPr lang="en-US" sz="3200" dirty="0">
              <a:latin typeface="+mn-lt"/>
            </a:endParaRPr>
          </a:p>
          <a:p>
            <a:pPr eaLnBrk="1" hangingPunct="1">
              <a:defRPr/>
            </a:pPr>
            <a:r>
              <a:rPr lang="en-US" sz="3200" dirty="0">
                <a:latin typeface="+mn-lt"/>
              </a:rPr>
              <a:t>Personality disorders are divided into 3 cluster categories.</a:t>
            </a:r>
          </a:p>
        </p:txBody>
      </p:sp>
    </p:spTree>
    <p:extLst>
      <p:ext uri="{BB962C8B-B14F-4D97-AF65-F5344CB8AC3E}">
        <p14:creationId xmlns:p14="http://schemas.microsoft.com/office/powerpoint/2010/main" val="149699490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Rectangle 10"/>
          <p:cNvSpPr>
            <a:spLocks noGrp="1" noChangeArrowheads="1"/>
          </p:cNvSpPr>
          <p:nvPr>
            <p:ph type="title"/>
          </p:nvPr>
        </p:nvSpPr>
        <p:spPr/>
        <p:txBody>
          <a:bodyPr/>
          <a:lstStyle/>
          <a:p>
            <a:pPr eaLnBrk="1" hangingPunct="1"/>
            <a:r>
              <a:rPr lang="en-US" altLang="en-US" dirty="0"/>
              <a:t>Personality Disorders (Slide 2 of 4)</a:t>
            </a:r>
          </a:p>
        </p:txBody>
      </p:sp>
      <p:sp>
        <p:nvSpPr>
          <p:cNvPr id="2" name="Content Placeholder 1"/>
          <p:cNvSpPr>
            <a:spLocks noGrp="1"/>
          </p:cNvSpPr>
          <p:nvPr>
            <p:ph idx="1"/>
          </p:nvPr>
        </p:nvSpPr>
        <p:spPr>
          <a:xfrm>
            <a:off x="495300" y="1752600"/>
            <a:ext cx="8229600" cy="4525963"/>
          </a:xfrm>
        </p:spPr>
        <p:txBody>
          <a:bodyPr/>
          <a:lstStyle/>
          <a:p>
            <a:pPr marL="0" indent="0" algn="ctr" eaLnBrk="1" hangingPunct="1">
              <a:buNone/>
            </a:pPr>
            <a:r>
              <a:rPr lang="en-US" altLang="en-US" sz="3600" b="1" dirty="0"/>
              <a:t>CLUSTER A</a:t>
            </a:r>
          </a:p>
          <a:p>
            <a:pPr eaLnBrk="1" hangingPunct="1"/>
            <a:endParaRPr lang="en-US" altLang="en-US" dirty="0"/>
          </a:p>
          <a:p>
            <a:pPr eaLnBrk="1" hangingPunct="1"/>
            <a:r>
              <a:rPr lang="en-US" altLang="en-US" dirty="0"/>
              <a:t>Paranoid</a:t>
            </a:r>
          </a:p>
          <a:p>
            <a:pPr eaLnBrk="1" hangingPunct="1"/>
            <a:r>
              <a:rPr lang="en-US" altLang="en-US" dirty="0"/>
              <a:t>Schizoid</a:t>
            </a:r>
          </a:p>
          <a:p>
            <a:pPr eaLnBrk="1" hangingPunct="1"/>
            <a:r>
              <a:rPr lang="en-US" altLang="en-US" dirty="0"/>
              <a:t>Schizotypal</a:t>
            </a:r>
          </a:p>
          <a:p>
            <a:endParaRPr lang="es-419" dirty="0"/>
          </a:p>
        </p:txBody>
      </p:sp>
    </p:spTree>
    <p:extLst>
      <p:ext uri="{BB962C8B-B14F-4D97-AF65-F5344CB8AC3E}">
        <p14:creationId xmlns:p14="http://schemas.microsoft.com/office/powerpoint/2010/main" val="320921928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Rectangle 10"/>
          <p:cNvSpPr>
            <a:spLocks noGrp="1" noChangeArrowheads="1"/>
          </p:cNvSpPr>
          <p:nvPr>
            <p:ph type="title"/>
          </p:nvPr>
        </p:nvSpPr>
        <p:spPr/>
        <p:txBody>
          <a:bodyPr/>
          <a:lstStyle/>
          <a:p>
            <a:pPr eaLnBrk="1" hangingPunct="1"/>
            <a:r>
              <a:rPr lang="en-US" altLang="en-US" dirty="0"/>
              <a:t>Personality Disorders (Slide 3 of 4)</a:t>
            </a:r>
          </a:p>
        </p:txBody>
      </p:sp>
      <p:sp>
        <p:nvSpPr>
          <p:cNvPr id="2" name="Content Placeholder 1"/>
          <p:cNvSpPr>
            <a:spLocks noGrp="1"/>
          </p:cNvSpPr>
          <p:nvPr>
            <p:ph idx="1"/>
          </p:nvPr>
        </p:nvSpPr>
        <p:spPr>
          <a:xfrm>
            <a:off x="495300" y="1752600"/>
            <a:ext cx="8229600" cy="4525963"/>
          </a:xfrm>
        </p:spPr>
        <p:txBody>
          <a:bodyPr/>
          <a:lstStyle/>
          <a:p>
            <a:pPr marL="0" indent="0" algn="ctr" eaLnBrk="1" hangingPunct="1">
              <a:buNone/>
            </a:pPr>
            <a:r>
              <a:rPr lang="en-US" altLang="en-US" sz="3600" b="1" dirty="0"/>
              <a:t>CLUSTER B</a:t>
            </a:r>
          </a:p>
          <a:p>
            <a:pPr eaLnBrk="1" hangingPunct="1"/>
            <a:endParaRPr lang="en-US" altLang="en-US" dirty="0"/>
          </a:p>
          <a:p>
            <a:pPr eaLnBrk="1" hangingPunct="1">
              <a:defRPr/>
            </a:pPr>
            <a:r>
              <a:rPr lang="en-US" altLang="en-US" dirty="0"/>
              <a:t>Antisocial</a:t>
            </a:r>
          </a:p>
          <a:p>
            <a:pPr eaLnBrk="1" hangingPunct="1">
              <a:defRPr/>
            </a:pPr>
            <a:r>
              <a:rPr lang="en-US" altLang="en-US" dirty="0"/>
              <a:t>Borderline</a:t>
            </a:r>
          </a:p>
          <a:p>
            <a:pPr eaLnBrk="1" hangingPunct="1"/>
            <a:r>
              <a:rPr lang="en-US" altLang="en-US" dirty="0"/>
              <a:t>Histrionic</a:t>
            </a:r>
          </a:p>
          <a:p>
            <a:pPr eaLnBrk="1" hangingPunct="1"/>
            <a:r>
              <a:rPr lang="en-US" altLang="en-US" dirty="0"/>
              <a:t>Narcissistic</a:t>
            </a:r>
          </a:p>
          <a:p>
            <a:pPr eaLnBrk="1" hangingPunct="1">
              <a:defRPr/>
            </a:pPr>
            <a:endParaRPr lang="en-US" altLang="en-US" dirty="0"/>
          </a:p>
          <a:p>
            <a:endParaRPr lang="es-419" dirty="0"/>
          </a:p>
        </p:txBody>
      </p:sp>
    </p:spTree>
    <p:extLst>
      <p:ext uri="{BB962C8B-B14F-4D97-AF65-F5344CB8AC3E}">
        <p14:creationId xmlns:p14="http://schemas.microsoft.com/office/powerpoint/2010/main" val="38056023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7" name="Rectangle 10"/>
          <p:cNvSpPr>
            <a:spLocks noGrp="1" noChangeArrowheads="1"/>
          </p:cNvSpPr>
          <p:nvPr>
            <p:ph type="title"/>
          </p:nvPr>
        </p:nvSpPr>
        <p:spPr/>
        <p:txBody>
          <a:bodyPr/>
          <a:lstStyle/>
          <a:p>
            <a:pPr eaLnBrk="1" hangingPunct="1"/>
            <a:r>
              <a:rPr lang="en-US" altLang="en-US" dirty="0"/>
              <a:t>Personality Disorders (Slide 4 of 4)</a:t>
            </a:r>
          </a:p>
        </p:txBody>
      </p:sp>
      <p:sp>
        <p:nvSpPr>
          <p:cNvPr id="26628" name="Rectangle 7"/>
          <p:cNvSpPr>
            <a:spLocks noGrp="1" noChangeArrowheads="1"/>
          </p:cNvSpPr>
          <p:nvPr>
            <p:ph idx="1"/>
          </p:nvPr>
        </p:nvSpPr>
        <p:spPr>
          <a:xfrm>
            <a:off x="457200" y="1600200"/>
            <a:ext cx="4267200" cy="4525963"/>
          </a:xfrm>
        </p:spPr>
        <p:txBody>
          <a:bodyPr/>
          <a:lstStyle/>
          <a:p>
            <a:pPr marL="0" indent="0" eaLnBrk="1" hangingPunct="1">
              <a:buNone/>
            </a:pPr>
            <a:r>
              <a:rPr lang="en-US" altLang="en-US" dirty="0"/>
              <a:t>CLUSTER C</a:t>
            </a:r>
          </a:p>
          <a:p>
            <a:pPr eaLnBrk="1" hangingPunct="1"/>
            <a:r>
              <a:rPr lang="en-US" altLang="en-US" dirty="0"/>
              <a:t>Avoidant</a:t>
            </a:r>
          </a:p>
          <a:p>
            <a:pPr eaLnBrk="1" hangingPunct="1"/>
            <a:r>
              <a:rPr lang="en-US" altLang="en-US" dirty="0"/>
              <a:t>Dependent</a:t>
            </a:r>
          </a:p>
          <a:p>
            <a:pPr eaLnBrk="1" hangingPunct="1"/>
            <a:r>
              <a:rPr lang="en-US" altLang="en-US" dirty="0"/>
              <a:t>Obsessive-Compulsive</a:t>
            </a:r>
          </a:p>
        </p:txBody>
      </p:sp>
    </p:spTree>
    <p:extLst>
      <p:ext uri="{BB962C8B-B14F-4D97-AF65-F5344CB8AC3E}">
        <p14:creationId xmlns:p14="http://schemas.microsoft.com/office/powerpoint/2010/main" val="10190112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1026"/>
          <p:cNvSpPr>
            <a:spLocks noGrp="1" noChangeArrowheads="1"/>
          </p:cNvSpPr>
          <p:nvPr>
            <p:ph type="title"/>
          </p:nvPr>
        </p:nvSpPr>
        <p:spPr>
          <a:xfrm>
            <a:off x="762000" y="381000"/>
            <a:ext cx="6705600" cy="1143000"/>
          </a:xfrm>
        </p:spPr>
        <p:txBody>
          <a:bodyPr rtlCol="0">
            <a:normAutofit fontScale="90000"/>
          </a:bodyPr>
          <a:lstStyle/>
          <a:p>
            <a:pPr eaLnBrk="1" fontAlgn="auto" hangingPunct="1">
              <a:spcAft>
                <a:spcPts val="0"/>
              </a:spcAft>
              <a:defRPr/>
            </a:pPr>
            <a:r>
              <a:rPr lang="en-US"/>
              <a:t>Chapter 22</a:t>
            </a:r>
            <a:br>
              <a:rPr lang="en-US"/>
            </a:br>
            <a:r>
              <a:rPr lang="en-US"/>
              <a:t>Lesson 22.2</a:t>
            </a:r>
          </a:p>
        </p:txBody>
      </p:sp>
    </p:spTree>
    <p:extLst>
      <p:ext uri="{BB962C8B-B14F-4D97-AF65-F5344CB8AC3E}">
        <p14:creationId xmlns:p14="http://schemas.microsoft.com/office/powerpoint/2010/main" val="123541648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Schizophrenia Spectrum Disorder</a:t>
            </a:r>
            <a:endParaRPr lang="es-419" dirty="0"/>
          </a:p>
        </p:txBody>
      </p:sp>
      <p:sp>
        <p:nvSpPr>
          <p:cNvPr id="3" name="Content Placeholder 2"/>
          <p:cNvSpPr>
            <a:spLocks noGrp="1"/>
          </p:cNvSpPr>
          <p:nvPr>
            <p:ph idx="1"/>
          </p:nvPr>
        </p:nvSpPr>
        <p:spPr>
          <a:xfrm>
            <a:off x="701040" y="1828800"/>
            <a:ext cx="8229600" cy="4267200"/>
          </a:xfrm>
        </p:spPr>
        <p:txBody>
          <a:bodyPr/>
          <a:lstStyle/>
          <a:p>
            <a:pPr eaLnBrk="1" fontAlgn="auto" hangingPunct="1">
              <a:spcAft>
                <a:spcPts val="0"/>
              </a:spcAft>
              <a:defRPr/>
            </a:pPr>
            <a:r>
              <a:rPr lang="en-US" sz="2400" dirty="0"/>
              <a:t>Chronic disorder characterized by disturbed thinking &amp; disorganized speech</a:t>
            </a:r>
          </a:p>
          <a:p>
            <a:pPr eaLnBrk="1" fontAlgn="auto" hangingPunct="1">
              <a:spcAft>
                <a:spcPts val="0"/>
              </a:spcAft>
              <a:defRPr/>
            </a:pPr>
            <a:r>
              <a:rPr lang="en-US" sz="2400" dirty="0"/>
              <a:t>Delusions</a:t>
            </a:r>
          </a:p>
          <a:p>
            <a:pPr eaLnBrk="1" fontAlgn="auto" hangingPunct="1">
              <a:spcAft>
                <a:spcPts val="0"/>
              </a:spcAft>
              <a:defRPr/>
            </a:pPr>
            <a:r>
              <a:rPr lang="en-US" sz="2400" dirty="0"/>
              <a:t>Hallucinations</a:t>
            </a:r>
          </a:p>
          <a:p>
            <a:pPr eaLnBrk="1" fontAlgn="auto" hangingPunct="1">
              <a:spcAft>
                <a:spcPts val="0"/>
              </a:spcAft>
              <a:defRPr/>
            </a:pPr>
            <a:r>
              <a:rPr lang="en-US" sz="2400" dirty="0"/>
              <a:t>Disorganized thinking</a:t>
            </a:r>
          </a:p>
          <a:p>
            <a:pPr eaLnBrk="1" fontAlgn="auto" hangingPunct="1">
              <a:spcAft>
                <a:spcPts val="0"/>
              </a:spcAft>
              <a:defRPr/>
            </a:pPr>
            <a:r>
              <a:rPr lang="en-US" sz="2400" dirty="0"/>
              <a:t>Abnormal motor behavior</a:t>
            </a:r>
          </a:p>
          <a:p>
            <a:pPr eaLnBrk="1" fontAlgn="auto" hangingPunct="1">
              <a:spcAft>
                <a:spcPts val="0"/>
              </a:spcAft>
              <a:defRPr/>
            </a:pPr>
            <a:r>
              <a:rPr lang="en-US" sz="2400" dirty="0"/>
              <a:t>Negative symptoms</a:t>
            </a:r>
          </a:p>
          <a:p>
            <a:pPr lvl="1" eaLnBrk="1" fontAlgn="auto" hangingPunct="1">
              <a:spcAft>
                <a:spcPts val="0"/>
              </a:spcAft>
              <a:buFont typeface="Wingdings" pitchFamily="2" charset="2"/>
              <a:buChar char="Ø"/>
              <a:defRPr/>
            </a:pPr>
            <a:r>
              <a:rPr lang="en-US" sz="1800" dirty="0"/>
              <a:t>Flat affect</a:t>
            </a:r>
          </a:p>
          <a:p>
            <a:pPr lvl="1" eaLnBrk="1" fontAlgn="auto" hangingPunct="1">
              <a:spcAft>
                <a:spcPts val="0"/>
              </a:spcAft>
              <a:buFont typeface="Wingdings" pitchFamily="2" charset="2"/>
              <a:buChar char="Ø"/>
              <a:defRPr/>
            </a:pPr>
            <a:r>
              <a:rPr lang="en-US" sz="1800" dirty="0"/>
              <a:t>Unwillingness to initiate purposeful activities</a:t>
            </a:r>
          </a:p>
          <a:p>
            <a:endParaRPr lang="es-419" dirty="0"/>
          </a:p>
        </p:txBody>
      </p:sp>
    </p:spTree>
    <p:extLst>
      <p:ext uri="{BB962C8B-B14F-4D97-AF65-F5344CB8AC3E}">
        <p14:creationId xmlns:p14="http://schemas.microsoft.com/office/powerpoint/2010/main" val="358159375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3" name="Rectangle 5"/>
          <p:cNvSpPr>
            <a:spLocks noGrp="1" noChangeArrowheads="1"/>
          </p:cNvSpPr>
          <p:nvPr>
            <p:ph type="title"/>
          </p:nvPr>
        </p:nvSpPr>
        <p:spPr/>
        <p:txBody>
          <a:bodyPr/>
          <a:lstStyle/>
          <a:p>
            <a:pPr eaLnBrk="1" hangingPunct="1"/>
            <a:r>
              <a:rPr lang="en-US" altLang="en-US"/>
              <a:t>Somatic Symptom Disorders</a:t>
            </a:r>
          </a:p>
        </p:txBody>
      </p:sp>
      <p:sp>
        <p:nvSpPr>
          <p:cNvPr id="4" name="Content Placeholder 3"/>
          <p:cNvSpPr>
            <a:spLocks noGrp="1"/>
          </p:cNvSpPr>
          <p:nvPr>
            <p:ph idx="1"/>
          </p:nvPr>
        </p:nvSpPr>
        <p:spPr>
          <a:xfrm>
            <a:off x="678180" y="1828800"/>
            <a:ext cx="8229600" cy="4525963"/>
          </a:xfrm>
        </p:spPr>
        <p:txBody>
          <a:bodyPr/>
          <a:lstStyle/>
          <a:p>
            <a:pPr eaLnBrk="1" hangingPunct="1"/>
            <a:r>
              <a:rPr lang="en-US" altLang="en-US" b="1" dirty="0"/>
              <a:t>Conversion disorder:</a:t>
            </a:r>
            <a:r>
              <a:rPr lang="en-US" altLang="en-US" dirty="0"/>
              <a:t> Repressed conflicts expressed as physical symptoms</a:t>
            </a:r>
          </a:p>
          <a:p>
            <a:pPr eaLnBrk="1" hangingPunct="1"/>
            <a:r>
              <a:rPr lang="en-US" altLang="en-US" b="1" dirty="0"/>
              <a:t>Illness Anxiety Disorder:</a:t>
            </a:r>
            <a:r>
              <a:rPr lang="en-US" altLang="en-US" dirty="0"/>
              <a:t> Preoccupation with having or acquiring a serious illness.</a:t>
            </a:r>
          </a:p>
          <a:p>
            <a:pPr eaLnBrk="1" hangingPunct="1"/>
            <a:r>
              <a:rPr lang="en-US" dirty="0"/>
              <a:t>One or more somatic symptoms that are distressing or result in significant disruption of daily life.</a:t>
            </a:r>
            <a:endParaRPr lang="en-US" dirty="0">
              <a:solidFill>
                <a:srgbClr val="800080"/>
              </a:solidFill>
            </a:endParaRPr>
          </a:p>
          <a:p>
            <a:pPr eaLnBrk="1" hangingPunct="1"/>
            <a:endParaRPr lang="en-US" altLang="en-US" dirty="0"/>
          </a:p>
          <a:p>
            <a:endParaRPr lang="es-419" dirty="0"/>
          </a:p>
        </p:txBody>
      </p:sp>
    </p:spTree>
    <p:extLst>
      <p:ext uri="{BB962C8B-B14F-4D97-AF65-F5344CB8AC3E}">
        <p14:creationId xmlns:p14="http://schemas.microsoft.com/office/powerpoint/2010/main" val="348128650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4"/>
          <p:cNvSpPr>
            <a:spLocks noGrp="1" noChangeArrowheads="1"/>
          </p:cNvSpPr>
          <p:nvPr>
            <p:ph type="title"/>
          </p:nvPr>
        </p:nvSpPr>
        <p:spPr/>
        <p:txBody>
          <a:bodyPr/>
          <a:lstStyle/>
          <a:p>
            <a:pPr eaLnBrk="1" hangingPunct="1"/>
            <a:r>
              <a:rPr lang="en-US" altLang="en-US"/>
              <a:t>Substance-Related &amp; Addictive Disorders</a:t>
            </a:r>
          </a:p>
        </p:txBody>
      </p:sp>
      <p:sp>
        <p:nvSpPr>
          <p:cNvPr id="2" name="Content Placeholder 1"/>
          <p:cNvSpPr>
            <a:spLocks noGrp="1"/>
          </p:cNvSpPr>
          <p:nvPr>
            <p:ph idx="1"/>
          </p:nvPr>
        </p:nvSpPr>
        <p:spPr/>
        <p:txBody>
          <a:bodyPr/>
          <a:lstStyle/>
          <a:p>
            <a:pPr eaLnBrk="1" hangingPunct="1"/>
            <a:r>
              <a:rPr lang="en-US" altLang="en-US" b="1" dirty="0"/>
              <a:t>Psychological dependence:</a:t>
            </a:r>
            <a:r>
              <a:rPr lang="en-US" altLang="en-US" dirty="0"/>
              <a:t> Compulsion to take a drug despite adverse consequences</a:t>
            </a:r>
          </a:p>
          <a:p>
            <a:pPr eaLnBrk="1" hangingPunct="1"/>
            <a:r>
              <a:rPr lang="en-US" altLang="en-US" b="1" dirty="0"/>
              <a:t>Physiologic dependence:</a:t>
            </a:r>
            <a:r>
              <a:rPr lang="en-US" altLang="en-US" dirty="0"/>
              <a:t> Withdrawal when the drug is abruptly discontinued</a:t>
            </a:r>
          </a:p>
          <a:p>
            <a:pPr eaLnBrk="1" hangingPunct="1"/>
            <a:r>
              <a:rPr lang="en-US" altLang="en-US" b="1" dirty="0"/>
              <a:t>Tolerance:</a:t>
            </a:r>
            <a:r>
              <a:rPr lang="en-US" altLang="en-US" dirty="0"/>
              <a:t> Declining effect of a drug so the dose must increase</a:t>
            </a:r>
          </a:p>
          <a:p>
            <a:endParaRPr lang="es-419" dirty="0"/>
          </a:p>
        </p:txBody>
      </p:sp>
    </p:spTree>
    <p:extLst>
      <p:ext uri="{BB962C8B-B14F-4D97-AF65-F5344CB8AC3E}">
        <p14:creationId xmlns:p14="http://schemas.microsoft.com/office/powerpoint/2010/main" val="356710090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3" name="Rectangle 5"/>
          <p:cNvSpPr>
            <a:spLocks noGrp="1" noChangeArrowheads="1"/>
          </p:cNvSpPr>
          <p:nvPr>
            <p:ph type="title"/>
          </p:nvPr>
        </p:nvSpPr>
        <p:spPr>
          <a:xfrm>
            <a:off x="762000" y="381000"/>
            <a:ext cx="6705600" cy="1143000"/>
          </a:xfrm>
        </p:spPr>
        <p:txBody>
          <a:bodyPr rtlCol="0">
            <a:normAutofit fontScale="90000"/>
          </a:bodyPr>
          <a:lstStyle/>
          <a:p>
            <a:pPr eaLnBrk="1" fontAlgn="auto" hangingPunct="1">
              <a:spcAft>
                <a:spcPts val="0"/>
              </a:spcAft>
              <a:defRPr/>
            </a:pPr>
            <a:r>
              <a:rPr lang="en-US"/>
              <a:t>Substances Associated with Abuse</a:t>
            </a:r>
          </a:p>
        </p:txBody>
      </p:sp>
      <p:sp>
        <p:nvSpPr>
          <p:cNvPr id="32771" name="Rectangle 6"/>
          <p:cNvSpPr>
            <a:spLocks noGrp="1" noChangeArrowheads="1"/>
          </p:cNvSpPr>
          <p:nvPr>
            <p:ph idx="1"/>
          </p:nvPr>
        </p:nvSpPr>
        <p:spPr>
          <a:xfrm>
            <a:off x="762000" y="1676400"/>
            <a:ext cx="7086600" cy="4114800"/>
          </a:xfrm>
        </p:spPr>
        <p:txBody>
          <a:bodyPr/>
          <a:lstStyle/>
          <a:p>
            <a:pPr eaLnBrk="1" hangingPunct="1"/>
            <a:r>
              <a:rPr lang="en-US" altLang="en-US"/>
              <a:t>Alcohol</a:t>
            </a:r>
          </a:p>
          <a:p>
            <a:pPr eaLnBrk="1" hangingPunct="1"/>
            <a:r>
              <a:rPr lang="en-US" altLang="en-US"/>
              <a:t>Amphetamines</a:t>
            </a:r>
          </a:p>
          <a:p>
            <a:pPr eaLnBrk="1" hangingPunct="1"/>
            <a:r>
              <a:rPr lang="en-US" altLang="en-US"/>
              <a:t>Cannabis (marijuana)</a:t>
            </a:r>
          </a:p>
          <a:p>
            <a:pPr eaLnBrk="1" hangingPunct="1"/>
            <a:r>
              <a:rPr lang="en-US" altLang="en-US"/>
              <a:t>Cocaine</a:t>
            </a:r>
          </a:p>
          <a:p>
            <a:pPr eaLnBrk="1" hangingPunct="1"/>
            <a:r>
              <a:rPr lang="en-US" altLang="en-US"/>
              <a:t>Hallucinogens</a:t>
            </a:r>
          </a:p>
          <a:p>
            <a:pPr eaLnBrk="1" hangingPunct="1"/>
            <a:r>
              <a:rPr lang="en-US" altLang="en-US"/>
              <a:t>Opioids</a:t>
            </a:r>
          </a:p>
          <a:p>
            <a:pPr eaLnBrk="1" hangingPunct="1"/>
            <a:r>
              <a:rPr lang="en-US" altLang="en-US"/>
              <a:t>Sedatives, hypnotics, anxiolytics</a:t>
            </a:r>
          </a:p>
        </p:txBody>
      </p:sp>
    </p:spTree>
    <p:extLst>
      <p:ext uri="{BB962C8B-B14F-4D97-AF65-F5344CB8AC3E}">
        <p14:creationId xmlns:p14="http://schemas.microsoft.com/office/powerpoint/2010/main" val="399912223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1026"/>
          <p:cNvSpPr>
            <a:spLocks noGrp="1" noChangeArrowheads="1"/>
          </p:cNvSpPr>
          <p:nvPr>
            <p:ph type="title"/>
          </p:nvPr>
        </p:nvSpPr>
        <p:spPr>
          <a:xfrm>
            <a:off x="762000" y="381000"/>
            <a:ext cx="6705600" cy="1143000"/>
          </a:xfrm>
        </p:spPr>
        <p:txBody>
          <a:bodyPr rtlCol="0">
            <a:normAutofit fontScale="90000"/>
          </a:bodyPr>
          <a:lstStyle/>
          <a:p>
            <a:pPr eaLnBrk="1" fontAlgn="auto" hangingPunct="1">
              <a:spcAft>
                <a:spcPts val="0"/>
              </a:spcAft>
              <a:defRPr/>
            </a:pPr>
            <a:r>
              <a:rPr lang="en-US"/>
              <a:t>Chapter 22</a:t>
            </a:r>
            <a:br>
              <a:rPr lang="en-US"/>
            </a:br>
            <a:r>
              <a:rPr lang="en-US"/>
              <a:t>Lesson 22.3</a:t>
            </a:r>
          </a:p>
        </p:txBody>
      </p:sp>
    </p:spTree>
    <p:extLst>
      <p:ext uri="{BB962C8B-B14F-4D97-AF65-F5344CB8AC3E}">
        <p14:creationId xmlns:p14="http://schemas.microsoft.com/office/powerpoint/2010/main" val="81311331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6"/>
          <p:cNvSpPr>
            <a:spLocks noGrp="1" noChangeArrowheads="1"/>
          </p:cNvSpPr>
          <p:nvPr>
            <p:ph type="title"/>
          </p:nvPr>
        </p:nvSpPr>
        <p:spPr>
          <a:xfrm>
            <a:off x="762000" y="381000"/>
            <a:ext cx="6705600" cy="1143000"/>
          </a:xfrm>
        </p:spPr>
        <p:txBody>
          <a:bodyPr/>
          <a:lstStyle/>
          <a:p>
            <a:pPr eaLnBrk="1" hangingPunct="1"/>
            <a:r>
              <a:rPr lang="en-US" altLang="en-US"/>
              <a:t>Therapeutic Modalities</a:t>
            </a:r>
          </a:p>
        </p:txBody>
      </p:sp>
      <p:sp>
        <p:nvSpPr>
          <p:cNvPr id="70663" name="Rectangle 7"/>
          <p:cNvSpPr>
            <a:spLocks noGrp="1" noChangeArrowheads="1"/>
          </p:cNvSpPr>
          <p:nvPr>
            <p:ph idx="1"/>
          </p:nvPr>
        </p:nvSpPr>
        <p:spPr>
          <a:xfrm>
            <a:off x="762000" y="1676400"/>
            <a:ext cx="7086600" cy="1524000"/>
          </a:xfrm>
        </p:spPr>
        <p:txBody>
          <a:bodyPr rtlCol="0">
            <a:normAutofit lnSpcReduction="10000"/>
          </a:bodyPr>
          <a:lstStyle/>
          <a:p>
            <a:pPr eaLnBrk="1" fontAlgn="auto" hangingPunct="1">
              <a:lnSpc>
                <a:spcPct val="90000"/>
              </a:lnSpc>
              <a:spcAft>
                <a:spcPts val="0"/>
              </a:spcAft>
              <a:defRPr/>
            </a:pPr>
            <a:r>
              <a:rPr lang="en-US" dirty="0"/>
              <a:t>Psychotherapy</a:t>
            </a:r>
          </a:p>
          <a:p>
            <a:pPr eaLnBrk="1" fontAlgn="auto" hangingPunct="1">
              <a:lnSpc>
                <a:spcPct val="90000"/>
              </a:lnSpc>
              <a:spcAft>
                <a:spcPts val="0"/>
              </a:spcAft>
              <a:defRPr/>
            </a:pPr>
            <a:r>
              <a:rPr lang="en-US" dirty="0"/>
              <a:t>Electroconvulsive therapy (ECT)</a:t>
            </a:r>
          </a:p>
          <a:p>
            <a:pPr eaLnBrk="1" fontAlgn="auto" hangingPunct="1">
              <a:lnSpc>
                <a:spcPct val="90000"/>
              </a:lnSpc>
              <a:spcAft>
                <a:spcPts val="0"/>
              </a:spcAft>
              <a:defRPr/>
            </a:pPr>
            <a:r>
              <a:rPr lang="en-US" dirty="0"/>
              <a:t>Drug therapy</a:t>
            </a:r>
          </a:p>
        </p:txBody>
      </p:sp>
    </p:spTree>
    <p:extLst>
      <p:ext uri="{BB962C8B-B14F-4D97-AF65-F5344CB8AC3E}">
        <p14:creationId xmlns:p14="http://schemas.microsoft.com/office/powerpoint/2010/main" val="135491575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8"/>
          <p:cNvSpPr>
            <a:spLocks noGrp="1" noChangeArrowheads="1"/>
          </p:cNvSpPr>
          <p:nvPr>
            <p:ph type="title"/>
          </p:nvPr>
        </p:nvSpPr>
        <p:spPr>
          <a:xfrm>
            <a:off x="762000" y="304800"/>
            <a:ext cx="7772400" cy="1219200"/>
          </a:xfrm>
        </p:spPr>
        <p:txBody>
          <a:bodyPr/>
          <a:lstStyle/>
          <a:p>
            <a:pPr eaLnBrk="1" hangingPunct="1"/>
            <a:r>
              <a:rPr lang="en-US" altLang="en-US"/>
              <a:t>Psychotherapy</a:t>
            </a:r>
          </a:p>
        </p:txBody>
      </p:sp>
      <p:sp>
        <p:nvSpPr>
          <p:cNvPr id="35843" name="Rectangle 9"/>
          <p:cNvSpPr>
            <a:spLocks noGrp="1" noChangeArrowheads="1"/>
          </p:cNvSpPr>
          <p:nvPr>
            <p:ph sz="half" idx="1"/>
          </p:nvPr>
        </p:nvSpPr>
        <p:spPr>
          <a:xfrm>
            <a:off x="762000" y="1676400"/>
            <a:ext cx="6324600" cy="1905000"/>
          </a:xfrm>
        </p:spPr>
        <p:txBody>
          <a:bodyPr/>
          <a:lstStyle/>
          <a:p>
            <a:pPr eaLnBrk="1" hangingPunct="1">
              <a:lnSpc>
                <a:spcPct val="90000"/>
              </a:lnSpc>
            </a:pPr>
            <a:r>
              <a:rPr lang="en-US" altLang="en-US"/>
              <a:t>Cognitive behavior therapy (CBT)</a:t>
            </a:r>
          </a:p>
          <a:p>
            <a:pPr eaLnBrk="1" hangingPunct="1">
              <a:lnSpc>
                <a:spcPct val="90000"/>
              </a:lnSpc>
            </a:pPr>
            <a:r>
              <a:rPr lang="en-US" altLang="en-US"/>
              <a:t>Family therapy</a:t>
            </a:r>
          </a:p>
          <a:p>
            <a:pPr eaLnBrk="1" hangingPunct="1">
              <a:lnSpc>
                <a:spcPct val="90000"/>
              </a:lnSpc>
            </a:pPr>
            <a:r>
              <a:rPr lang="en-US" altLang="en-US"/>
              <a:t>Group therapy</a:t>
            </a:r>
          </a:p>
          <a:p>
            <a:pPr eaLnBrk="1" hangingPunct="1">
              <a:lnSpc>
                <a:spcPct val="90000"/>
              </a:lnSpc>
            </a:pPr>
            <a:r>
              <a:rPr lang="en-US" altLang="en-US"/>
              <a:t>Hypnosis</a:t>
            </a:r>
          </a:p>
        </p:txBody>
      </p:sp>
      <p:sp>
        <p:nvSpPr>
          <p:cNvPr id="35844" name="Rectangle 10"/>
          <p:cNvSpPr>
            <a:spLocks noGrp="1" noChangeArrowheads="1"/>
          </p:cNvSpPr>
          <p:nvPr>
            <p:ph sz="half" idx="2"/>
          </p:nvPr>
        </p:nvSpPr>
        <p:spPr>
          <a:xfrm>
            <a:off x="762000" y="3581400"/>
            <a:ext cx="5943600" cy="2362200"/>
          </a:xfrm>
        </p:spPr>
        <p:txBody>
          <a:bodyPr/>
          <a:lstStyle/>
          <a:p>
            <a:pPr eaLnBrk="1" hangingPunct="1">
              <a:lnSpc>
                <a:spcPct val="90000"/>
              </a:lnSpc>
            </a:pPr>
            <a:r>
              <a:rPr lang="en-US" altLang="en-US" dirty="0"/>
              <a:t>Insight-oriented psychotherapy</a:t>
            </a:r>
          </a:p>
          <a:p>
            <a:pPr eaLnBrk="1" hangingPunct="1">
              <a:lnSpc>
                <a:spcPct val="90000"/>
              </a:lnSpc>
            </a:pPr>
            <a:r>
              <a:rPr lang="en-US" altLang="en-US" dirty="0"/>
              <a:t>Play therapy</a:t>
            </a:r>
          </a:p>
          <a:p>
            <a:pPr eaLnBrk="1" hangingPunct="1">
              <a:lnSpc>
                <a:spcPct val="90000"/>
              </a:lnSpc>
            </a:pPr>
            <a:r>
              <a:rPr lang="en-US" altLang="en-US" dirty="0"/>
              <a:t>Psychoanalysis</a:t>
            </a:r>
          </a:p>
          <a:p>
            <a:pPr eaLnBrk="1" hangingPunct="1">
              <a:lnSpc>
                <a:spcPct val="90000"/>
              </a:lnSpc>
            </a:pPr>
            <a:r>
              <a:rPr lang="en-US" altLang="en-US" dirty="0"/>
              <a:t>Supportive psychotherapy</a:t>
            </a:r>
          </a:p>
        </p:txBody>
      </p:sp>
    </p:spTree>
    <p:extLst>
      <p:ext uri="{BB962C8B-B14F-4D97-AF65-F5344CB8AC3E}">
        <p14:creationId xmlns:p14="http://schemas.microsoft.com/office/powerpoint/2010/main" val="419678474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3739" name="Down Arrow 7">
            <a:extLst>
              <a:ext uri="{FF2B5EF4-FFF2-40B4-BE49-F238E27FC236}">
                <a16:creationId xmlns:a16="http://schemas.microsoft.com/office/drawing/2014/main" id="{D4771268-CB57-404A-9271-370EB28F60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83356" y="1928731"/>
            <a:ext cx="3333749" cy="2624327"/>
          </a:xfrm>
          <a:prstGeom prst="downArrow">
            <a:avLst>
              <a:gd name="adj1" fmla="val 100000"/>
              <a:gd name="adj2" fmla="val 15788"/>
            </a:avLst>
          </a:prstGeom>
          <a:solidFill>
            <a:srgbClr val="404040"/>
          </a:solidFill>
          <a:ln w="539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730" name="Rectangle 2"/>
          <p:cNvSpPr>
            <a:spLocks noGrp="1" noChangeArrowheads="1"/>
          </p:cNvSpPr>
          <p:nvPr>
            <p:ph type="title"/>
          </p:nvPr>
        </p:nvSpPr>
        <p:spPr>
          <a:xfrm>
            <a:off x="771525" y="1967266"/>
            <a:ext cx="1971675" cy="2547257"/>
          </a:xfrm>
          <a:noFill/>
        </p:spPr>
        <p:txBody>
          <a:bodyPr vert="horz" lIns="91440" tIns="45720" rIns="91440" bIns="45720" rtlCol="0" anchor="ctr">
            <a:normAutofit/>
          </a:bodyPr>
          <a:lstStyle/>
          <a:p>
            <a:pPr eaLnBrk="1" fontAlgn="auto" hangingPunct="1">
              <a:lnSpc>
                <a:spcPct val="90000"/>
              </a:lnSpc>
              <a:spcAft>
                <a:spcPts val="0"/>
              </a:spcAft>
              <a:defRPr/>
            </a:pPr>
            <a:r>
              <a:rPr lang="en-US" sz="3100" kern="1200">
                <a:solidFill>
                  <a:srgbClr val="FFFFFF"/>
                </a:solidFill>
                <a:latin typeface="+mj-lt"/>
                <a:ea typeface="+mj-ea"/>
                <a:cs typeface="+mj-cs"/>
              </a:rPr>
              <a:t>Drug Therapies and Specific Drugs</a:t>
            </a:r>
          </a:p>
        </p:txBody>
      </p:sp>
      <p:pic>
        <p:nvPicPr>
          <p:cNvPr id="6" name="Content Placeholder 5" descr="Chart showing drug therapies used in treatment for specific psychiatric conditions">
            <a:extLst>
              <a:ext uri="{FF2B5EF4-FFF2-40B4-BE49-F238E27FC236}">
                <a16:creationId xmlns:a16="http://schemas.microsoft.com/office/drawing/2014/main" id="{10239426-A31C-DAA1-EABF-D8CDFAB0E497}"/>
              </a:ext>
            </a:extLst>
          </p:cNvPr>
          <p:cNvPicPr>
            <a:picLocks noGrp="1" noChangeAspect="1"/>
          </p:cNvPicPr>
          <p:nvPr>
            <p:ph idx="1"/>
          </p:nvPr>
        </p:nvPicPr>
        <p:blipFill>
          <a:blip r:embed="rId3"/>
          <a:stretch>
            <a:fillRect/>
          </a:stretch>
        </p:blipFill>
        <p:spPr>
          <a:xfrm>
            <a:off x="3395855" y="663384"/>
            <a:ext cx="5272658" cy="5339401"/>
          </a:xfrm>
          <a:prstGeom prst="rect">
            <a:avLst/>
          </a:prstGeom>
        </p:spPr>
      </p:pic>
    </p:spTree>
    <p:extLst>
      <p:ext uri="{BB962C8B-B14F-4D97-AF65-F5344CB8AC3E}">
        <p14:creationId xmlns:p14="http://schemas.microsoft.com/office/powerpoint/2010/main" val="270974420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600" dirty="0"/>
              <a:t>Vocabulary – General Terms, Symptoms, and Disorders (Slide 1 of 12)</a:t>
            </a:r>
            <a:endParaRPr lang="en-US" sz="3600" dirty="0"/>
          </a:p>
        </p:txBody>
      </p:sp>
      <p:graphicFrame>
        <p:nvGraphicFramePr>
          <p:cNvPr id="5" name="Content Placeholder 4" descr="Group 1 of 12.  List of vocabulary terms  with corresponding meanings or definitions."/>
          <p:cNvGraphicFramePr>
            <a:graphicFrameLocks noGrp="1"/>
          </p:cNvGraphicFramePr>
          <p:nvPr>
            <p:ph idx="1"/>
            <p:extLst>
              <p:ext uri="{D42A27DB-BD31-4B8C-83A1-F6EECF244321}">
                <p14:modId xmlns:p14="http://schemas.microsoft.com/office/powerpoint/2010/main" val="1263336238"/>
              </p:ext>
            </p:extLst>
          </p:nvPr>
        </p:nvGraphicFramePr>
        <p:xfrm>
          <a:off x="457200" y="1600200"/>
          <a:ext cx="8229600" cy="3017520"/>
        </p:xfrm>
        <a:graphic>
          <a:graphicData uri="http://schemas.openxmlformats.org/drawingml/2006/table">
            <a:tbl>
              <a:tblPr firstRow="1" bandRow="1">
                <a:tableStyleId>{5C22544A-7EE6-4342-B048-85BDC9FD1C3A}</a:tableStyleId>
              </a:tblPr>
              <a:tblGrid>
                <a:gridCol w="2743200">
                  <a:extLst>
                    <a:ext uri="{9D8B030D-6E8A-4147-A177-3AD203B41FA5}">
                      <a16:colId xmlns:a16="http://schemas.microsoft.com/office/drawing/2014/main" val="20000"/>
                    </a:ext>
                  </a:extLst>
                </a:gridCol>
                <a:gridCol w="5486400">
                  <a:extLst>
                    <a:ext uri="{9D8B030D-6E8A-4147-A177-3AD203B41FA5}">
                      <a16:colId xmlns:a16="http://schemas.microsoft.com/office/drawing/2014/main" val="20001"/>
                    </a:ext>
                  </a:extLst>
                </a:gridCol>
              </a:tblGrid>
              <a:tr h="370840">
                <a:tc>
                  <a:txBody>
                    <a:bodyPr/>
                    <a:lstStyle/>
                    <a:p>
                      <a:r>
                        <a:rPr lang="en-US" sz="2400" dirty="0"/>
                        <a:t>Term</a:t>
                      </a:r>
                    </a:p>
                  </a:txBody>
                  <a:tcPr/>
                </a:tc>
                <a:tc>
                  <a:txBody>
                    <a:bodyPr/>
                    <a:lstStyle/>
                    <a:p>
                      <a:r>
                        <a:rPr lang="en-US" sz="2400" dirty="0"/>
                        <a:t>Meaning/Definition</a:t>
                      </a:r>
                    </a:p>
                  </a:txBody>
                  <a:tcPr/>
                </a:tc>
                <a:extLst>
                  <a:ext uri="{0D108BD9-81ED-4DB2-BD59-A6C34878D82A}">
                    <a16:rowId xmlns:a16="http://schemas.microsoft.com/office/drawing/2014/main" val="10000"/>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affect</a:t>
                      </a:r>
                    </a:p>
                  </a:txBody>
                  <a:tcPr/>
                </a:tc>
                <a:tc>
                  <a:txBody>
                    <a:bodyPr/>
                    <a:lstStyle/>
                    <a:p>
                      <a:pPr marL="0" marR="0" indent="0" algn="l" defTabSz="914400" rtl="0" eaLnBrk="1" fontAlgn="auto" latinLnBrk="0" hangingPunct="1">
                        <a:lnSpc>
                          <a:spcPct val="100000"/>
                        </a:lnSpc>
                        <a:spcBef>
                          <a:spcPts val="0"/>
                        </a:spcBef>
                        <a:spcAft>
                          <a:spcPts val="0"/>
                        </a:spcAft>
                        <a:buClrTx/>
                        <a:buSzTx/>
                        <a:buFont typeface="Wingdings 2" panose="05020102010507070707" pitchFamily="18" charset="2"/>
                        <a:buNone/>
                        <a:tabLst/>
                        <a:defRPr/>
                      </a:pPr>
                      <a:r>
                        <a:rPr lang="en-US" altLang="en-US" sz="2400" dirty="0"/>
                        <a:t>External expression of emotion</a:t>
                      </a:r>
                    </a:p>
                  </a:txBody>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amnesia</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Loss of memory</a:t>
                      </a:r>
                    </a:p>
                  </a:txBody>
                  <a:tcPr/>
                </a:tc>
                <a:extLst>
                  <a:ext uri="{0D108BD9-81ED-4DB2-BD59-A6C34878D82A}">
                    <a16:rowId xmlns:a16="http://schemas.microsoft.com/office/drawing/2014/main" val="10002"/>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anorexia nervosa</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Eating disorder with excessive dieting and refusal to maintain normal body weight</a:t>
                      </a:r>
                    </a:p>
                  </a:txBody>
                  <a:tcPr/>
                </a:tc>
                <a:extLst>
                  <a:ext uri="{0D108BD9-81ED-4DB2-BD59-A6C34878D82A}">
                    <a16:rowId xmlns:a16="http://schemas.microsoft.com/office/drawing/2014/main" val="10003"/>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anxiety disorders</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Characterized by unpleasant tension, distress, and avoidance behavior</a:t>
                      </a:r>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357823474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600" dirty="0"/>
              <a:t>Vocabulary – General Terms, Symptoms, and Disorders (Slide 2 of 12)</a:t>
            </a:r>
            <a:endParaRPr lang="en-US" sz="3600" dirty="0"/>
          </a:p>
        </p:txBody>
      </p:sp>
      <p:graphicFrame>
        <p:nvGraphicFramePr>
          <p:cNvPr id="5" name="Content Placeholder 4" descr="Group 2 of 12.  List of vocabulary terms  with corresponding meanings or definitions."/>
          <p:cNvGraphicFramePr>
            <a:graphicFrameLocks noGrp="1"/>
          </p:cNvGraphicFramePr>
          <p:nvPr>
            <p:ph idx="1"/>
            <p:extLst>
              <p:ext uri="{D42A27DB-BD31-4B8C-83A1-F6EECF244321}">
                <p14:modId xmlns:p14="http://schemas.microsoft.com/office/powerpoint/2010/main" val="2880313641"/>
              </p:ext>
            </p:extLst>
          </p:nvPr>
        </p:nvGraphicFramePr>
        <p:xfrm>
          <a:off x="457200" y="1600200"/>
          <a:ext cx="8229600" cy="4480560"/>
        </p:xfrm>
        <a:graphic>
          <a:graphicData uri="http://schemas.openxmlformats.org/drawingml/2006/table">
            <a:tbl>
              <a:tblPr firstRow="1" bandRow="1">
                <a:tableStyleId>{5C22544A-7EE6-4342-B048-85BDC9FD1C3A}</a:tableStyleId>
              </a:tblPr>
              <a:tblGrid>
                <a:gridCol w="2743200">
                  <a:extLst>
                    <a:ext uri="{9D8B030D-6E8A-4147-A177-3AD203B41FA5}">
                      <a16:colId xmlns:a16="http://schemas.microsoft.com/office/drawing/2014/main" val="20000"/>
                    </a:ext>
                  </a:extLst>
                </a:gridCol>
                <a:gridCol w="5486400">
                  <a:extLst>
                    <a:ext uri="{9D8B030D-6E8A-4147-A177-3AD203B41FA5}">
                      <a16:colId xmlns:a16="http://schemas.microsoft.com/office/drawing/2014/main" val="20001"/>
                    </a:ext>
                  </a:extLst>
                </a:gridCol>
              </a:tblGrid>
              <a:tr h="370840">
                <a:tc>
                  <a:txBody>
                    <a:bodyPr/>
                    <a:lstStyle/>
                    <a:p>
                      <a:r>
                        <a:rPr lang="en-US" sz="2400" dirty="0"/>
                        <a:t>Term</a:t>
                      </a:r>
                    </a:p>
                  </a:txBody>
                  <a:tcPr/>
                </a:tc>
                <a:tc>
                  <a:txBody>
                    <a:bodyPr/>
                    <a:lstStyle/>
                    <a:p>
                      <a:r>
                        <a:rPr lang="en-US" sz="2400" dirty="0"/>
                        <a:t>Meaning/Definition</a:t>
                      </a:r>
                    </a:p>
                  </a:txBody>
                  <a:tcPr/>
                </a:tc>
                <a:extLst>
                  <a:ext uri="{0D108BD9-81ED-4DB2-BD59-A6C34878D82A}">
                    <a16:rowId xmlns:a16="http://schemas.microsoft.com/office/drawing/2014/main" val="10000"/>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apathy</a:t>
                      </a:r>
                    </a:p>
                  </a:txBody>
                  <a:tcPr/>
                </a:tc>
                <a:tc>
                  <a:txBody>
                    <a:bodyPr/>
                    <a:lstStyle/>
                    <a:p>
                      <a:pPr marL="0" marR="0" indent="0" algn="l" defTabSz="914400" rtl="0" eaLnBrk="1" fontAlgn="auto" latinLnBrk="0" hangingPunct="1">
                        <a:lnSpc>
                          <a:spcPct val="100000"/>
                        </a:lnSpc>
                        <a:spcBef>
                          <a:spcPts val="0"/>
                        </a:spcBef>
                        <a:spcAft>
                          <a:spcPts val="0"/>
                        </a:spcAft>
                        <a:buClrTx/>
                        <a:buSzTx/>
                        <a:buFont typeface="Wingdings 2" panose="05020102010507070707" pitchFamily="18" charset="2"/>
                        <a:buNone/>
                        <a:tabLst/>
                        <a:defRPr/>
                      </a:pPr>
                      <a:r>
                        <a:rPr lang="en-US" sz="2400" dirty="0">
                          <a:ea typeface="ＭＳ Ｐゴシック" charset="0"/>
                        </a:rPr>
                        <a:t>Absence of emotions; lack of interest or emotional involvement</a:t>
                      </a:r>
                    </a:p>
                  </a:txBody>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autism</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400" dirty="0">
                          <a:ea typeface="ＭＳ Ｐゴシック" charset="0"/>
                        </a:rPr>
                        <a:t>Neurodevelopmental disorder characterized by inhibited social interaction and communication and by restricted, repetitive behavior</a:t>
                      </a:r>
                    </a:p>
                  </a:txBody>
                  <a:tcPr/>
                </a:tc>
                <a:extLst>
                  <a:ext uri="{0D108BD9-81ED-4DB2-BD59-A6C34878D82A}">
                    <a16:rowId xmlns:a16="http://schemas.microsoft.com/office/drawing/2014/main" val="10002"/>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bipolar disorder</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400" dirty="0">
                          <a:ea typeface="ＭＳ Ｐゴシック" charset="0"/>
                        </a:rPr>
                        <a:t>These disorders are marked by alternating periods of mania and depression</a:t>
                      </a:r>
                    </a:p>
                  </a:txBody>
                  <a:tcPr/>
                </a:tc>
                <a:extLst>
                  <a:ext uri="{0D108BD9-81ED-4DB2-BD59-A6C34878D82A}">
                    <a16:rowId xmlns:a16="http://schemas.microsoft.com/office/drawing/2014/main" val="10003"/>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400" dirty="0"/>
                        <a:t>bulimia nervosa</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400" dirty="0">
                          <a:ea typeface="ＭＳ Ｐゴシック" charset="0"/>
                        </a:rPr>
                        <a:t>Eating disorder with binge eating followed by vomiting, purging, and depression</a:t>
                      </a:r>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20562780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600" dirty="0"/>
              <a:t>Vocabulary – General Terms, Symptoms, and Disorders (Slide 3 of 12)</a:t>
            </a:r>
            <a:endParaRPr lang="en-US" sz="3600" dirty="0"/>
          </a:p>
        </p:txBody>
      </p:sp>
      <p:graphicFrame>
        <p:nvGraphicFramePr>
          <p:cNvPr id="5" name="Content Placeholder 4" descr="Group 3 of 12.  List of vocabulary terms  with corresponding meanings or definitions."/>
          <p:cNvGraphicFramePr>
            <a:graphicFrameLocks noGrp="1"/>
          </p:cNvGraphicFramePr>
          <p:nvPr>
            <p:ph idx="1"/>
            <p:extLst>
              <p:ext uri="{D42A27DB-BD31-4B8C-83A1-F6EECF244321}">
                <p14:modId xmlns:p14="http://schemas.microsoft.com/office/powerpoint/2010/main" val="2935705839"/>
              </p:ext>
            </p:extLst>
          </p:nvPr>
        </p:nvGraphicFramePr>
        <p:xfrm>
          <a:off x="457200" y="1600200"/>
          <a:ext cx="8229600" cy="4114800"/>
        </p:xfrm>
        <a:graphic>
          <a:graphicData uri="http://schemas.openxmlformats.org/drawingml/2006/table">
            <a:tbl>
              <a:tblPr firstRow="1" bandRow="1">
                <a:tableStyleId>{5C22544A-7EE6-4342-B048-85BDC9FD1C3A}</a:tableStyleId>
              </a:tblPr>
              <a:tblGrid>
                <a:gridCol w="2743200">
                  <a:extLst>
                    <a:ext uri="{9D8B030D-6E8A-4147-A177-3AD203B41FA5}">
                      <a16:colId xmlns:a16="http://schemas.microsoft.com/office/drawing/2014/main" val="20000"/>
                    </a:ext>
                  </a:extLst>
                </a:gridCol>
                <a:gridCol w="5486400">
                  <a:extLst>
                    <a:ext uri="{9D8B030D-6E8A-4147-A177-3AD203B41FA5}">
                      <a16:colId xmlns:a16="http://schemas.microsoft.com/office/drawing/2014/main" val="20001"/>
                    </a:ext>
                  </a:extLst>
                </a:gridCol>
              </a:tblGrid>
              <a:tr h="370840">
                <a:tc>
                  <a:txBody>
                    <a:bodyPr/>
                    <a:lstStyle/>
                    <a:p>
                      <a:r>
                        <a:rPr lang="en-US" sz="2400" dirty="0"/>
                        <a:t>Term</a:t>
                      </a:r>
                    </a:p>
                  </a:txBody>
                  <a:tcPr/>
                </a:tc>
                <a:tc>
                  <a:txBody>
                    <a:bodyPr/>
                    <a:lstStyle/>
                    <a:p>
                      <a:r>
                        <a:rPr lang="en-US" sz="2400" dirty="0"/>
                        <a:t>Meaning/Definition</a:t>
                      </a:r>
                    </a:p>
                  </a:txBody>
                  <a:tcPr/>
                </a:tc>
                <a:extLst>
                  <a:ext uri="{0D108BD9-81ED-4DB2-BD59-A6C34878D82A}">
                    <a16:rowId xmlns:a16="http://schemas.microsoft.com/office/drawing/2014/main" val="10000"/>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cannabis</a:t>
                      </a:r>
                    </a:p>
                  </a:txBody>
                  <a:tcPr/>
                </a:tc>
                <a:tc>
                  <a:txBody>
                    <a:bodyPr/>
                    <a:lstStyle/>
                    <a:p>
                      <a:pPr marL="0" marR="0" indent="0" algn="l" defTabSz="914400" rtl="0" eaLnBrk="1" fontAlgn="auto" latinLnBrk="0" hangingPunct="1">
                        <a:lnSpc>
                          <a:spcPct val="100000"/>
                        </a:lnSpc>
                        <a:spcBef>
                          <a:spcPts val="0"/>
                        </a:spcBef>
                        <a:spcAft>
                          <a:spcPts val="0"/>
                        </a:spcAft>
                        <a:buClrTx/>
                        <a:buSzTx/>
                        <a:buFont typeface="Wingdings 2" panose="05020102010507070707" pitchFamily="18" charset="2"/>
                        <a:buNone/>
                        <a:tabLst/>
                        <a:defRPr/>
                      </a:pPr>
                      <a:r>
                        <a:rPr lang="en-US" altLang="en-US" sz="2400" dirty="0"/>
                        <a:t>Substance from which marijuana is made</a:t>
                      </a:r>
                    </a:p>
                  </a:txBody>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compulsion</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Uncontrollable urge to perform an act repeatedly</a:t>
                      </a:r>
                    </a:p>
                  </a:txBody>
                  <a:tcPr/>
                </a:tc>
                <a:extLst>
                  <a:ext uri="{0D108BD9-81ED-4DB2-BD59-A6C34878D82A}">
                    <a16:rowId xmlns:a16="http://schemas.microsoft.com/office/drawing/2014/main" val="10002"/>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conversion disorder</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Condition marked by neurological symptoms with no organic basis, appearing as a result of anxiety and unconscious inner conflict</a:t>
                      </a:r>
                    </a:p>
                  </a:txBody>
                  <a:tcPr/>
                </a:tc>
                <a:extLst>
                  <a:ext uri="{0D108BD9-81ED-4DB2-BD59-A6C34878D82A}">
                    <a16:rowId xmlns:a16="http://schemas.microsoft.com/office/drawing/2014/main" val="10003"/>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defense</a:t>
                      </a:r>
                      <a:r>
                        <a:rPr lang="en-US" altLang="en-US" sz="2400" baseline="0" dirty="0"/>
                        <a:t> mechanism</a:t>
                      </a:r>
                      <a:endParaRPr lang="en-US" alt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Unconscious technique a person uses to resolve or conceal conflicts and anxiety</a:t>
                      </a:r>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317959785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600" dirty="0"/>
              <a:t>Vocabulary – General Terms, Symptoms, and Disorders (Slide 4 of 12)</a:t>
            </a:r>
            <a:endParaRPr lang="en-US" sz="3600" dirty="0"/>
          </a:p>
        </p:txBody>
      </p:sp>
      <p:graphicFrame>
        <p:nvGraphicFramePr>
          <p:cNvPr id="5" name="Content Placeholder 4" descr="Group 4 of 12.  List of vocabulary terms  with corresponding meanings or definitions."/>
          <p:cNvGraphicFramePr>
            <a:graphicFrameLocks noGrp="1"/>
          </p:cNvGraphicFramePr>
          <p:nvPr>
            <p:ph idx="1"/>
            <p:extLst>
              <p:ext uri="{D42A27DB-BD31-4B8C-83A1-F6EECF244321}">
                <p14:modId xmlns:p14="http://schemas.microsoft.com/office/powerpoint/2010/main" val="4023685849"/>
              </p:ext>
            </p:extLst>
          </p:nvPr>
        </p:nvGraphicFramePr>
        <p:xfrm>
          <a:off x="457200" y="1600200"/>
          <a:ext cx="8229600" cy="4785360"/>
        </p:xfrm>
        <a:graphic>
          <a:graphicData uri="http://schemas.openxmlformats.org/drawingml/2006/table">
            <a:tbl>
              <a:tblPr firstRow="1" bandRow="1">
                <a:tableStyleId>{5C22544A-7EE6-4342-B048-85BDC9FD1C3A}</a:tableStyleId>
              </a:tblPr>
              <a:tblGrid>
                <a:gridCol w="2743200">
                  <a:extLst>
                    <a:ext uri="{9D8B030D-6E8A-4147-A177-3AD203B41FA5}">
                      <a16:colId xmlns:a16="http://schemas.microsoft.com/office/drawing/2014/main" val="20000"/>
                    </a:ext>
                  </a:extLst>
                </a:gridCol>
                <a:gridCol w="5486400">
                  <a:extLst>
                    <a:ext uri="{9D8B030D-6E8A-4147-A177-3AD203B41FA5}">
                      <a16:colId xmlns:a16="http://schemas.microsoft.com/office/drawing/2014/main" val="20001"/>
                    </a:ext>
                  </a:extLst>
                </a:gridCol>
              </a:tblGrid>
              <a:tr h="370840">
                <a:tc>
                  <a:txBody>
                    <a:bodyPr/>
                    <a:lstStyle/>
                    <a:p>
                      <a:r>
                        <a:rPr lang="en-US" sz="2400" dirty="0"/>
                        <a:t>Term</a:t>
                      </a:r>
                    </a:p>
                  </a:txBody>
                  <a:tcPr/>
                </a:tc>
                <a:tc>
                  <a:txBody>
                    <a:bodyPr/>
                    <a:lstStyle/>
                    <a:p>
                      <a:r>
                        <a:rPr lang="en-US" sz="2400" dirty="0"/>
                        <a:t>Meaning/Definition</a:t>
                      </a:r>
                    </a:p>
                  </a:txBody>
                  <a:tcPr/>
                </a:tc>
                <a:extLst>
                  <a:ext uri="{0D108BD9-81ED-4DB2-BD59-A6C34878D82A}">
                    <a16:rowId xmlns:a16="http://schemas.microsoft.com/office/drawing/2014/main" val="10000"/>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delirium</a:t>
                      </a:r>
                    </a:p>
                  </a:txBody>
                  <a:tcPr/>
                </a:tc>
                <a:tc>
                  <a:txBody>
                    <a:bodyPr/>
                    <a:lstStyle/>
                    <a:p>
                      <a:pPr marL="0" marR="0" indent="0" algn="l" defTabSz="914400" rtl="0" eaLnBrk="1" fontAlgn="auto" latinLnBrk="0" hangingPunct="1">
                        <a:lnSpc>
                          <a:spcPct val="100000"/>
                        </a:lnSpc>
                        <a:spcBef>
                          <a:spcPts val="0"/>
                        </a:spcBef>
                        <a:spcAft>
                          <a:spcPts val="0"/>
                        </a:spcAft>
                        <a:buClrTx/>
                        <a:buSzTx/>
                        <a:buFont typeface="Wingdings 2" panose="05020102010507070707" pitchFamily="18" charset="2"/>
                        <a:buNone/>
                        <a:tabLst/>
                        <a:defRPr/>
                      </a:pPr>
                      <a:r>
                        <a:rPr lang="en-US" altLang="en-US" sz="2000" dirty="0"/>
                        <a:t>Acute episodes of confused thinking, disorientation, changes in alertness, difficulty paying attention, and fearfulness; usually reversible</a:t>
                      </a:r>
                    </a:p>
                  </a:txBody>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delusion</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000" dirty="0"/>
                        <a:t>Fixed, false belief that cannot be changed by logical reasoning or evidence</a:t>
                      </a:r>
                    </a:p>
                  </a:txBody>
                  <a:tcPr/>
                </a:tc>
                <a:extLst>
                  <a:ext uri="{0D108BD9-81ED-4DB2-BD59-A6C34878D82A}">
                    <a16:rowId xmlns:a16="http://schemas.microsoft.com/office/drawing/2014/main" val="10002"/>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dementia</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000" dirty="0"/>
                        <a:t>Progressive loss of intellectual abilities with impairment of memory, judgment, and reasoning as well as changes in personality</a:t>
                      </a:r>
                    </a:p>
                  </a:txBody>
                  <a:tcPr/>
                </a:tc>
                <a:extLst>
                  <a:ext uri="{0D108BD9-81ED-4DB2-BD59-A6C34878D82A}">
                    <a16:rowId xmlns:a16="http://schemas.microsoft.com/office/drawing/2014/main" val="10003"/>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depression</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000" dirty="0"/>
                        <a:t>Major psychiatric disorder with chronic sadness, loss of energy, hopelessness, worry, and discouragement, and, commonly, suicidal impulses and thoughts</a:t>
                      </a:r>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17594322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600" dirty="0"/>
              <a:t>Vocabulary – General Terms, Symptoms, and Disorders (Slide 5 of 12)</a:t>
            </a:r>
            <a:endParaRPr lang="en-US" sz="3600" dirty="0"/>
          </a:p>
        </p:txBody>
      </p:sp>
      <p:graphicFrame>
        <p:nvGraphicFramePr>
          <p:cNvPr id="5" name="Content Placeholder 4" descr="Group 5 of 12.  List of vocabulary terms  with corresponding meanings or definitions."/>
          <p:cNvGraphicFramePr>
            <a:graphicFrameLocks noGrp="1"/>
          </p:cNvGraphicFramePr>
          <p:nvPr>
            <p:ph idx="1"/>
            <p:extLst>
              <p:ext uri="{D42A27DB-BD31-4B8C-83A1-F6EECF244321}">
                <p14:modId xmlns:p14="http://schemas.microsoft.com/office/powerpoint/2010/main" val="3653164514"/>
              </p:ext>
            </p:extLst>
          </p:nvPr>
        </p:nvGraphicFramePr>
        <p:xfrm>
          <a:off x="460094" y="1965960"/>
          <a:ext cx="8229600" cy="2926080"/>
        </p:xfrm>
        <a:graphic>
          <a:graphicData uri="http://schemas.openxmlformats.org/drawingml/2006/table">
            <a:tbl>
              <a:tblPr firstRow="1" bandRow="1">
                <a:tableStyleId>{5C22544A-7EE6-4342-B048-85BDC9FD1C3A}</a:tableStyleId>
              </a:tblPr>
              <a:tblGrid>
                <a:gridCol w="2743200">
                  <a:extLst>
                    <a:ext uri="{9D8B030D-6E8A-4147-A177-3AD203B41FA5}">
                      <a16:colId xmlns:a16="http://schemas.microsoft.com/office/drawing/2014/main" val="20000"/>
                    </a:ext>
                  </a:extLst>
                </a:gridCol>
                <a:gridCol w="5486400">
                  <a:extLst>
                    <a:ext uri="{9D8B030D-6E8A-4147-A177-3AD203B41FA5}">
                      <a16:colId xmlns:a16="http://schemas.microsoft.com/office/drawing/2014/main" val="20001"/>
                    </a:ext>
                  </a:extLst>
                </a:gridCol>
              </a:tblGrid>
              <a:tr h="370840">
                <a:tc>
                  <a:txBody>
                    <a:bodyPr/>
                    <a:lstStyle/>
                    <a:p>
                      <a:r>
                        <a:rPr lang="en-US" sz="2400" dirty="0"/>
                        <a:t>Term</a:t>
                      </a:r>
                    </a:p>
                  </a:txBody>
                  <a:tcPr/>
                </a:tc>
                <a:tc>
                  <a:txBody>
                    <a:bodyPr/>
                    <a:lstStyle/>
                    <a:p>
                      <a:r>
                        <a:rPr lang="en-US" sz="2400" dirty="0"/>
                        <a:t>Meaning/Definition</a:t>
                      </a:r>
                    </a:p>
                  </a:txBody>
                  <a:tcPr/>
                </a:tc>
                <a:extLst>
                  <a:ext uri="{0D108BD9-81ED-4DB2-BD59-A6C34878D82A}">
                    <a16:rowId xmlns:a16="http://schemas.microsoft.com/office/drawing/2014/main" val="10000"/>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dissociative disorder</a:t>
                      </a:r>
                    </a:p>
                  </a:txBody>
                  <a:tcPr/>
                </a:tc>
                <a:tc>
                  <a:txBody>
                    <a:bodyPr/>
                    <a:lstStyle/>
                    <a:p>
                      <a:pPr marL="0" marR="0" indent="0" algn="l" defTabSz="914400" rtl="0" eaLnBrk="1" fontAlgn="auto" latinLnBrk="0" hangingPunct="1">
                        <a:lnSpc>
                          <a:spcPct val="100000"/>
                        </a:lnSpc>
                        <a:spcBef>
                          <a:spcPts val="0"/>
                        </a:spcBef>
                        <a:spcAft>
                          <a:spcPts val="0"/>
                        </a:spcAft>
                        <a:buClrTx/>
                        <a:buSzTx/>
                        <a:buFont typeface="Wingdings 2" panose="05020102010507070707" pitchFamily="18" charset="2"/>
                        <a:buNone/>
                        <a:tabLst/>
                        <a:defRPr/>
                      </a:pPr>
                      <a:r>
                        <a:rPr lang="en-US" altLang="en-US" sz="2400" dirty="0"/>
                        <a:t>Conditions involving breakdown in memory, identity, or  perceptions</a:t>
                      </a:r>
                    </a:p>
                  </a:txBody>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ego</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Central coordinating branch of the personality or mind</a:t>
                      </a:r>
                    </a:p>
                  </a:txBody>
                  <a:tcPr/>
                </a:tc>
                <a:extLst>
                  <a:ext uri="{0D108BD9-81ED-4DB2-BD59-A6C34878D82A}">
                    <a16:rowId xmlns:a16="http://schemas.microsoft.com/office/drawing/2014/main" val="10002"/>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fugue</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Unconscious flight from customary surroundings</a:t>
                      </a:r>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70277068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600" dirty="0"/>
              <a:t>Vocabulary – General Terms, Symptoms, and Disorders (Slide 6 of 12)</a:t>
            </a:r>
            <a:endParaRPr lang="en-US" sz="3600" dirty="0"/>
          </a:p>
        </p:txBody>
      </p:sp>
      <p:graphicFrame>
        <p:nvGraphicFramePr>
          <p:cNvPr id="5" name="Content Placeholder 4" descr="Group 6 of 12.  List of vocabulary terms  with corresponding meanings or definitions."/>
          <p:cNvGraphicFramePr>
            <a:graphicFrameLocks noGrp="1"/>
          </p:cNvGraphicFramePr>
          <p:nvPr>
            <p:ph idx="1"/>
            <p:extLst>
              <p:ext uri="{D42A27DB-BD31-4B8C-83A1-F6EECF244321}">
                <p14:modId xmlns:p14="http://schemas.microsoft.com/office/powerpoint/2010/main" val="1992108052"/>
              </p:ext>
            </p:extLst>
          </p:nvPr>
        </p:nvGraphicFramePr>
        <p:xfrm>
          <a:off x="457200" y="1600200"/>
          <a:ext cx="8229600" cy="3749040"/>
        </p:xfrm>
        <a:graphic>
          <a:graphicData uri="http://schemas.openxmlformats.org/drawingml/2006/table">
            <a:tbl>
              <a:tblPr firstRow="1" bandRow="1">
                <a:tableStyleId>{5C22544A-7EE6-4342-B048-85BDC9FD1C3A}</a:tableStyleId>
              </a:tblPr>
              <a:tblGrid>
                <a:gridCol w="2743200">
                  <a:extLst>
                    <a:ext uri="{9D8B030D-6E8A-4147-A177-3AD203B41FA5}">
                      <a16:colId xmlns:a16="http://schemas.microsoft.com/office/drawing/2014/main" val="20000"/>
                    </a:ext>
                  </a:extLst>
                </a:gridCol>
                <a:gridCol w="5486400">
                  <a:extLst>
                    <a:ext uri="{9D8B030D-6E8A-4147-A177-3AD203B41FA5}">
                      <a16:colId xmlns:a16="http://schemas.microsoft.com/office/drawing/2014/main" val="20001"/>
                    </a:ext>
                  </a:extLst>
                </a:gridCol>
              </a:tblGrid>
              <a:tr h="370840">
                <a:tc>
                  <a:txBody>
                    <a:bodyPr/>
                    <a:lstStyle/>
                    <a:p>
                      <a:r>
                        <a:rPr lang="en-US" sz="2400" dirty="0"/>
                        <a:t>Term</a:t>
                      </a:r>
                    </a:p>
                  </a:txBody>
                  <a:tcPr/>
                </a:tc>
                <a:tc>
                  <a:txBody>
                    <a:bodyPr/>
                    <a:lstStyle/>
                    <a:p>
                      <a:r>
                        <a:rPr lang="en-US" sz="2400" dirty="0"/>
                        <a:t>Meaning/Definition</a:t>
                      </a:r>
                    </a:p>
                  </a:txBody>
                  <a:tcPr/>
                </a:tc>
                <a:extLst>
                  <a:ext uri="{0D108BD9-81ED-4DB2-BD59-A6C34878D82A}">
                    <a16:rowId xmlns:a16="http://schemas.microsoft.com/office/drawing/2014/main" val="10000"/>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hallucination</a:t>
                      </a:r>
                    </a:p>
                  </a:txBody>
                  <a:tcPr/>
                </a:tc>
                <a:tc>
                  <a:txBody>
                    <a:bodyPr/>
                    <a:lstStyle/>
                    <a:p>
                      <a:pPr marL="0" indent="0" eaLnBrk="1" hangingPunct="1">
                        <a:lnSpc>
                          <a:spcPct val="90000"/>
                        </a:lnSpc>
                        <a:buFont typeface="Wingdings 2" panose="05020102010507070707" pitchFamily="18" charset="2"/>
                        <a:buNone/>
                      </a:pPr>
                      <a:r>
                        <a:rPr lang="en-US" altLang="en-US" sz="2400" dirty="0"/>
                        <a:t>False sensory perception</a:t>
                      </a:r>
                    </a:p>
                  </a:txBody>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id</a:t>
                      </a:r>
                    </a:p>
                    <a:p>
                      <a:pPr marL="0" marR="0" indent="0" algn="l" defTabSz="914400" rtl="0" eaLnBrk="1" fontAlgn="auto" latinLnBrk="0" hangingPunct="1">
                        <a:lnSpc>
                          <a:spcPct val="100000"/>
                        </a:lnSpc>
                        <a:spcBef>
                          <a:spcPts val="0"/>
                        </a:spcBef>
                        <a:spcAft>
                          <a:spcPts val="0"/>
                        </a:spcAft>
                        <a:buClrTx/>
                        <a:buSzTx/>
                        <a:buFontTx/>
                        <a:buNone/>
                        <a:tabLst/>
                        <a:defRPr/>
                      </a:pPr>
                      <a:endParaRPr lang="en-US" alt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Major unconscious part of the personality; energy from instinctual drives and desires</a:t>
                      </a:r>
                    </a:p>
                  </a:txBody>
                  <a:tcPr/>
                </a:tc>
                <a:extLst>
                  <a:ext uri="{0D108BD9-81ED-4DB2-BD59-A6C34878D82A}">
                    <a16:rowId xmlns:a16="http://schemas.microsoft.com/office/drawing/2014/main" val="10002"/>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labile</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Unstable; undergoing rapid emotional change</a:t>
                      </a:r>
                    </a:p>
                  </a:txBody>
                  <a:tcPr/>
                </a:tc>
                <a:extLst>
                  <a:ext uri="{0D108BD9-81ED-4DB2-BD59-A6C34878D82A}">
                    <a16:rowId xmlns:a16="http://schemas.microsoft.com/office/drawing/2014/main" val="10003"/>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mania</a:t>
                      </a:r>
                    </a:p>
                    <a:p>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Elevated expansive state (euphoria) with hyperactivity, talkativeness and racing thoughts</a:t>
                      </a:r>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11258092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600" dirty="0"/>
              <a:t>Vocabulary – General Terms, Symptoms, and Disorders (Slide 7 of 12)</a:t>
            </a:r>
            <a:endParaRPr lang="en-US" sz="3600" dirty="0"/>
          </a:p>
        </p:txBody>
      </p:sp>
      <p:graphicFrame>
        <p:nvGraphicFramePr>
          <p:cNvPr id="5" name="Content Placeholder 4" descr="Group 7 of 12.  List of vocabulary terms  with corresponding meanings or definitions."/>
          <p:cNvGraphicFramePr>
            <a:graphicFrameLocks noGrp="1"/>
          </p:cNvGraphicFramePr>
          <p:nvPr>
            <p:ph idx="1"/>
            <p:extLst>
              <p:ext uri="{D42A27DB-BD31-4B8C-83A1-F6EECF244321}">
                <p14:modId xmlns:p14="http://schemas.microsoft.com/office/powerpoint/2010/main" val="3175764523"/>
              </p:ext>
            </p:extLst>
          </p:nvPr>
        </p:nvGraphicFramePr>
        <p:xfrm>
          <a:off x="457200" y="1600200"/>
          <a:ext cx="8229600" cy="4206240"/>
        </p:xfrm>
        <a:graphic>
          <a:graphicData uri="http://schemas.openxmlformats.org/drawingml/2006/table">
            <a:tbl>
              <a:tblPr firstRow="1" bandRow="1">
                <a:tableStyleId>{5C22544A-7EE6-4342-B048-85BDC9FD1C3A}</a:tableStyleId>
              </a:tblPr>
              <a:tblGrid>
                <a:gridCol w="2895600">
                  <a:extLst>
                    <a:ext uri="{9D8B030D-6E8A-4147-A177-3AD203B41FA5}">
                      <a16:colId xmlns:a16="http://schemas.microsoft.com/office/drawing/2014/main" val="20000"/>
                    </a:ext>
                  </a:extLst>
                </a:gridCol>
                <a:gridCol w="5334000">
                  <a:extLst>
                    <a:ext uri="{9D8B030D-6E8A-4147-A177-3AD203B41FA5}">
                      <a16:colId xmlns:a16="http://schemas.microsoft.com/office/drawing/2014/main" val="20001"/>
                    </a:ext>
                  </a:extLst>
                </a:gridCol>
              </a:tblGrid>
              <a:tr h="370840">
                <a:tc>
                  <a:txBody>
                    <a:bodyPr/>
                    <a:lstStyle/>
                    <a:p>
                      <a:r>
                        <a:rPr lang="en-US" sz="2400" dirty="0"/>
                        <a:t>Term</a:t>
                      </a:r>
                    </a:p>
                  </a:txBody>
                  <a:tcPr/>
                </a:tc>
                <a:tc>
                  <a:txBody>
                    <a:bodyPr/>
                    <a:lstStyle/>
                    <a:p>
                      <a:r>
                        <a:rPr lang="en-US" sz="2400" dirty="0"/>
                        <a:t>Meaning/Definition</a:t>
                      </a:r>
                    </a:p>
                  </a:txBody>
                  <a:tcPr/>
                </a:tc>
                <a:extLst>
                  <a:ext uri="{0D108BD9-81ED-4DB2-BD59-A6C34878D82A}">
                    <a16:rowId xmlns:a16="http://schemas.microsoft.com/office/drawing/2014/main" val="10000"/>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err="1"/>
                        <a:t>mutism</a:t>
                      </a:r>
                      <a:endParaRPr lang="en-US" alt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 typeface="Wingdings 2" panose="05020102010507070707" pitchFamily="18" charset="2"/>
                        <a:buNone/>
                        <a:tabLst/>
                        <a:defRPr/>
                      </a:pPr>
                      <a:r>
                        <a:rPr lang="en-US" altLang="en-US" sz="2400" dirty="0"/>
                        <a:t>No, or very little ability to speak</a:t>
                      </a:r>
                    </a:p>
                  </a:txBody>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neurodevelopmental disorders</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Group of childhood disorders characterized by delays in socialization and communication skills.</a:t>
                      </a:r>
                    </a:p>
                  </a:txBody>
                  <a:tcPr/>
                </a:tc>
                <a:extLst>
                  <a:ext uri="{0D108BD9-81ED-4DB2-BD59-A6C34878D82A}">
                    <a16:rowId xmlns:a16="http://schemas.microsoft.com/office/drawing/2014/main" val="10002"/>
                  </a:ext>
                </a:extLst>
              </a:tr>
              <a:tr h="370840">
                <a:tc>
                  <a:txBody>
                    <a:bodyPr/>
                    <a:lstStyle/>
                    <a:p>
                      <a:pPr marL="0" marR="0" indent="0" algn="l" defTabSz="914400" rtl="0" eaLnBrk="1" fontAlgn="auto" latinLnBrk="0" hangingPunct="1">
                        <a:lnSpc>
                          <a:spcPct val="90000"/>
                        </a:lnSpc>
                        <a:spcBef>
                          <a:spcPts val="0"/>
                        </a:spcBef>
                        <a:spcAft>
                          <a:spcPts val="0"/>
                        </a:spcAft>
                        <a:buClrTx/>
                        <a:buSzTx/>
                        <a:buFontTx/>
                        <a:buNone/>
                        <a:tabLst/>
                        <a:defRPr/>
                      </a:pPr>
                      <a:r>
                        <a:rPr lang="en-US" altLang="en-US" sz="2400" dirty="0"/>
                        <a:t>obsession</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Involuntary persistent idea, urge or emotion</a:t>
                      </a:r>
                    </a:p>
                  </a:txBody>
                  <a:tcPr/>
                </a:tc>
                <a:extLst>
                  <a:ext uri="{0D108BD9-81ED-4DB2-BD59-A6C34878D82A}">
                    <a16:rowId xmlns:a16="http://schemas.microsoft.com/office/drawing/2014/main" val="10003"/>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obsessive-compulsive disorder</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Disorder in which recurrent thoughts and repetitive acts dominate behavior</a:t>
                      </a:r>
                    </a:p>
                  </a:txBody>
                  <a:tcPr/>
                </a:tc>
                <a:extLst>
                  <a:ext uri="{0D108BD9-81ED-4DB2-BD59-A6C34878D82A}">
                    <a16:rowId xmlns:a16="http://schemas.microsoft.com/office/drawing/2014/main" val="10004"/>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paranoia</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Overly suspicious system of thinking</a:t>
                      </a:r>
                    </a:p>
                  </a:txBody>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181915469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600" dirty="0"/>
              <a:t>Vocabulary – General Terms, Symptoms, and Disorders (Slide 8 of 12)</a:t>
            </a:r>
            <a:endParaRPr lang="en-US" sz="3600" dirty="0"/>
          </a:p>
        </p:txBody>
      </p:sp>
      <p:graphicFrame>
        <p:nvGraphicFramePr>
          <p:cNvPr id="5" name="Content Placeholder 4" descr="Group 8 of 12.  List of vocabulary terms  with corresponding meanings or definitions."/>
          <p:cNvGraphicFramePr>
            <a:graphicFrameLocks noGrp="1"/>
          </p:cNvGraphicFramePr>
          <p:nvPr>
            <p:ph idx="1"/>
            <p:extLst>
              <p:ext uri="{D42A27DB-BD31-4B8C-83A1-F6EECF244321}">
                <p14:modId xmlns:p14="http://schemas.microsoft.com/office/powerpoint/2010/main" val="2146906742"/>
              </p:ext>
            </p:extLst>
          </p:nvPr>
        </p:nvGraphicFramePr>
        <p:xfrm>
          <a:off x="457200" y="1600200"/>
          <a:ext cx="8229600" cy="2468880"/>
        </p:xfrm>
        <a:graphic>
          <a:graphicData uri="http://schemas.openxmlformats.org/drawingml/2006/table">
            <a:tbl>
              <a:tblPr firstRow="1" bandRow="1">
                <a:tableStyleId>{5C22544A-7EE6-4342-B048-85BDC9FD1C3A}</a:tableStyleId>
              </a:tblPr>
              <a:tblGrid>
                <a:gridCol w="2743200">
                  <a:extLst>
                    <a:ext uri="{9D8B030D-6E8A-4147-A177-3AD203B41FA5}">
                      <a16:colId xmlns:a16="http://schemas.microsoft.com/office/drawing/2014/main" val="20000"/>
                    </a:ext>
                  </a:extLst>
                </a:gridCol>
                <a:gridCol w="5486400">
                  <a:extLst>
                    <a:ext uri="{9D8B030D-6E8A-4147-A177-3AD203B41FA5}">
                      <a16:colId xmlns:a16="http://schemas.microsoft.com/office/drawing/2014/main" val="20001"/>
                    </a:ext>
                  </a:extLst>
                </a:gridCol>
              </a:tblGrid>
              <a:tr h="370840">
                <a:tc>
                  <a:txBody>
                    <a:bodyPr/>
                    <a:lstStyle/>
                    <a:p>
                      <a:r>
                        <a:rPr lang="en-US" sz="2400" dirty="0"/>
                        <a:t>Term</a:t>
                      </a:r>
                    </a:p>
                  </a:txBody>
                  <a:tcPr/>
                </a:tc>
                <a:tc>
                  <a:txBody>
                    <a:bodyPr/>
                    <a:lstStyle/>
                    <a:p>
                      <a:r>
                        <a:rPr lang="en-US" sz="2400" dirty="0"/>
                        <a:t>Meaning/Definition</a:t>
                      </a:r>
                    </a:p>
                  </a:txBody>
                  <a:tcPr/>
                </a:tc>
                <a:extLst>
                  <a:ext uri="{0D108BD9-81ED-4DB2-BD59-A6C34878D82A}">
                    <a16:rowId xmlns:a16="http://schemas.microsoft.com/office/drawing/2014/main" val="10000"/>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paraphilia</a:t>
                      </a:r>
                    </a:p>
                    <a:p>
                      <a:pPr marL="0" marR="0" indent="0" algn="l" defTabSz="914400" rtl="0" eaLnBrk="1" fontAlgn="auto" latinLnBrk="0" hangingPunct="1">
                        <a:lnSpc>
                          <a:spcPct val="100000"/>
                        </a:lnSpc>
                        <a:spcBef>
                          <a:spcPts val="0"/>
                        </a:spcBef>
                        <a:spcAft>
                          <a:spcPts val="0"/>
                        </a:spcAft>
                        <a:buClrTx/>
                        <a:buSzTx/>
                        <a:buFontTx/>
                        <a:buNone/>
                        <a:tabLst/>
                        <a:defRPr/>
                      </a:pPr>
                      <a:endParaRPr lang="en-US" alt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 typeface="Wingdings 2" panose="05020102010507070707" pitchFamily="18" charset="2"/>
                        <a:buNone/>
                        <a:tabLst/>
                        <a:defRPr/>
                      </a:pPr>
                      <a:r>
                        <a:rPr lang="en-US" altLang="en-US" sz="2400" dirty="0"/>
                        <a:t>Recurrent intense sexual urge, fantasy, or behavior that involves objects, activities, or situations</a:t>
                      </a:r>
                    </a:p>
                  </a:txBody>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personality disorders</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Lifelong personality patterns marked by impairment of social functioning</a:t>
                      </a:r>
                    </a:p>
                  </a:txBody>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141094985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600" dirty="0"/>
              <a:t>Vocabulary – General Terms, Symptoms, and Disorders (Slide 9 of 12)</a:t>
            </a:r>
            <a:endParaRPr lang="en-US" sz="3600" dirty="0"/>
          </a:p>
        </p:txBody>
      </p:sp>
      <p:graphicFrame>
        <p:nvGraphicFramePr>
          <p:cNvPr id="5" name="Content Placeholder 4" descr="Group 9 of 12.  List of vocabulary terms  with corresponding meanings or definitions."/>
          <p:cNvGraphicFramePr>
            <a:graphicFrameLocks noGrp="1"/>
          </p:cNvGraphicFramePr>
          <p:nvPr>
            <p:ph idx="1"/>
            <p:extLst>
              <p:ext uri="{D42A27DB-BD31-4B8C-83A1-F6EECF244321}">
                <p14:modId xmlns:p14="http://schemas.microsoft.com/office/powerpoint/2010/main" val="157290343"/>
              </p:ext>
            </p:extLst>
          </p:nvPr>
        </p:nvGraphicFramePr>
        <p:xfrm>
          <a:off x="457200" y="1600200"/>
          <a:ext cx="8229600" cy="4480560"/>
        </p:xfrm>
        <a:graphic>
          <a:graphicData uri="http://schemas.openxmlformats.org/drawingml/2006/table">
            <a:tbl>
              <a:tblPr firstRow="1" bandRow="1">
                <a:tableStyleId>{5C22544A-7EE6-4342-B048-85BDC9FD1C3A}</a:tableStyleId>
              </a:tblPr>
              <a:tblGrid>
                <a:gridCol w="2743200">
                  <a:extLst>
                    <a:ext uri="{9D8B030D-6E8A-4147-A177-3AD203B41FA5}">
                      <a16:colId xmlns:a16="http://schemas.microsoft.com/office/drawing/2014/main" val="20000"/>
                    </a:ext>
                  </a:extLst>
                </a:gridCol>
                <a:gridCol w="5486400">
                  <a:extLst>
                    <a:ext uri="{9D8B030D-6E8A-4147-A177-3AD203B41FA5}">
                      <a16:colId xmlns:a16="http://schemas.microsoft.com/office/drawing/2014/main" val="20001"/>
                    </a:ext>
                  </a:extLst>
                </a:gridCol>
              </a:tblGrid>
              <a:tr h="370840">
                <a:tc>
                  <a:txBody>
                    <a:bodyPr/>
                    <a:lstStyle/>
                    <a:p>
                      <a:r>
                        <a:rPr lang="en-US" sz="2400" dirty="0"/>
                        <a:t>Term</a:t>
                      </a:r>
                    </a:p>
                  </a:txBody>
                  <a:tcPr/>
                </a:tc>
                <a:tc>
                  <a:txBody>
                    <a:bodyPr/>
                    <a:lstStyle/>
                    <a:p>
                      <a:r>
                        <a:rPr lang="en-US" sz="2400" dirty="0"/>
                        <a:t>Meaning/Definition</a:t>
                      </a:r>
                    </a:p>
                  </a:txBody>
                  <a:tcPr/>
                </a:tc>
                <a:extLst>
                  <a:ext uri="{0D108BD9-81ED-4DB2-BD59-A6C34878D82A}">
                    <a16:rowId xmlns:a16="http://schemas.microsoft.com/office/drawing/2014/main" val="10000"/>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phobia</a:t>
                      </a:r>
                    </a:p>
                  </a:txBody>
                  <a:tcPr/>
                </a:tc>
                <a:tc>
                  <a:txBody>
                    <a:bodyPr/>
                    <a:lstStyle/>
                    <a:p>
                      <a:pPr marL="0" marR="0" indent="0" algn="l" defTabSz="914400" rtl="0" eaLnBrk="1" fontAlgn="auto" latinLnBrk="0" hangingPunct="1">
                        <a:lnSpc>
                          <a:spcPct val="100000"/>
                        </a:lnSpc>
                        <a:spcBef>
                          <a:spcPts val="0"/>
                        </a:spcBef>
                        <a:spcAft>
                          <a:spcPts val="0"/>
                        </a:spcAft>
                        <a:buClrTx/>
                        <a:buSzTx/>
                        <a:buFont typeface="Wingdings 2" panose="05020102010507070707" pitchFamily="18" charset="2"/>
                        <a:buNone/>
                        <a:tabLst/>
                        <a:defRPr/>
                      </a:pPr>
                      <a:r>
                        <a:rPr lang="en-US" altLang="en-US" sz="2400" dirty="0"/>
                        <a:t>Irrational or disabling fear of an object or situation</a:t>
                      </a:r>
                    </a:p>
                  </a:txBody>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post-traumatic stress disorder</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Anxiety-related symptoms appear after personal experience of a traumatic event</a:t>
                      </a:r>
                    </a:p>
                  </a:txBody>
                  <a:tcPr/>
                </a:tc>
                <a:extLst>
                  <a:ext uri="{0D108BD9-81ED-4DB2-BD59-A6C34878D82A}">
                    <a16:rowId xmlns:a16="http://schemas.microsoft.com/office/drawing/2014/main" val="10002"/>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projective (personality) test</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Diagnostic personality test using stimuli to evoke responses that reflect aspects of an individual’s personality</a:t>
                      </a:r>
                    </a:p>
                  </a:txBody>
                  <a:tcPr/>
                </a:tc>
                <a:extLst>
                  <a:ext uri="{0D108BD9-81ED-4DB2-BD59-A6C34878D82A}">
                    <a16:rowId xmlns:a16="http://schemas.microsoft.com/office/drawing/2014/main" val="10003"/>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psychiatrist</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Physician (MD) with medical training in the diagnosis, prevention, and treatment of mental disorders</a:t>
                      </a:r>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57574144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600" dirty="0"/>
              <a:t>Vocabulary – General Terms, Symptoms, and Disorders (Slide 10 of 12)</a:t>
            </a:r>
            <a:endParaRPr lang="en-US" sz="3600" dirty="0"/>
          </a:p>
        </p:txBody>
      </p:sp>
      <p:graphicFrame>
        <p:nvGraphicFramePr>
          <p:cNvPr id="5" name="Content Placeholder 4" descr="Group 10 of 12.  List of vocabulary terms  with corresponding meanings or definitions."/>
          <p:cNvGraphicFramePr>
            <a:graphicFrameLocks noGrp="1"/>
          </p:cNvGraphicFramePr>
          <p:nvPr>
            <p:ph idx="1"/>
            <p:extLst>
              <p:ext uri="{D42A27DB-BD31-4B8C-83A1-F6EECF244321}">
                <p14:modId xmlns:p14="http://schemas.microsoft.com/office/powerpoint/2010/main" val="1917918235"/>
              </p:ext>
            </p:extLst>
          </p:nvPr>
        </p:nvGraphicFramePr>
        <p:xfrm>
          <a:off x="457200" y="1600200"/>
          <a:ext cx="8229600" cy="4846320"/>
        </p:xfrm>
        <a:graphic>
          <a:graphicData uri="http://schemas.openxmlformats.org/drawingml/2006/table">
            <a:tbl>
              <a:tblPr firstRow="1" bandRow="1">
                <a:tableStyleId>{5C22544A-7EE6-4342-B048-85BDC9FD1C3A}</a:tableStyleId>
              </a:tblPr>
              <a:tblGrid>
                <a:gridCol w="2743200">
                  <a:extLst>
                    <a:ext uri="{9D8B030D-6E8A-4147-A177-3AD203B41FA5}">
                      <a16:colId xmlns:a16="http://schemas.microsoft.com/office/drawing/2014/main" val="20000"/>
                    </a:ext>
                  </a:extLst>
                </a:gridCol>
                <a:gridCol w="5486400">
                  <a:extLst>
                    <a:ext uri="{9D8B030D-6E8A-4147-A177-3AD203B41FA5}">
                      <a16:colId xmlns:a16="http://schemas.microsoft.com/office/drawing/2014/main" val="20001"/>
                    </a:ext>
                  </a:extLst>
                </a:gridCol>
              </a:tblGrid>
              <a:tr h="370840">
                <a:tc>
                  <a:txBody>
                    <a:bodyPr/>
                    <a:lstStyle/>
                    <a:p>
                      <a:r>
                        <a:rPr lang="en-US" sz="2400" dirty="0"/>
                        <a:t>Term</a:t>
                      </a:r>
                    </a:p>
                  </a:txBody>
                  <a:tcPr/>
                </a:tc>
                <a:tc>
                  <a:txBody>
                    <a:bodyPr/>
                    <a:lstStyle/>
                    <a:p>
                      <a:r>
                        <a:rPr lang="en-US" sz="2400" dirty="0"/>
                        <a:t>Meaning/Definition</a:t>
                      </a:r>
                    </a:p>
                  </a:txBody>
                  <a:tcPr/>
                </a:tc>
                <a:extLst>
                  <a:ext uri="{0D108BD9-81ED-4DB2-BD59-A6C34878D82A}">
                    <a16:rowId xmlns:a16="http://schemas.microsoft.com/office/drawing/2014/main" val="10000"/>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psychologist</a:t>
                      </a:r>
                    </a:p>
                  </a:txBody>
                  <a:tcPr/>
                </a:tc>
                <a:tc>
                  <a:txBody>
                    <a:bodyPr/>
                    <a:lstStyle/>
                    <a:p>
                      <a:pPr marL="0" marR="0" indent="0" algn="l" defTabSz="914400" rtl="0" eaLnBrk="1" fontAlgn="auto" latinLnBrk="0" hangingPunct="1">
                        <a:lnSpc>
                          <a:spcPct val="100000"/>
                        </a:lnSpc>
                        <a:spcBef>
                          <a:spcPts val="0"/>
                        </a:spcBef>
                        <a:spcAft>
                          <a:spcPts val="0"/>
                        </a:spcAft>
                        <a:buClrTx/>
                        <a:buSzTx/>
                        <a:buFont typeface="Wingdings 2" panose="05020102010507070707" pitchFamily="18" charset="2"/>
                        <a:buNone/>
                        <a:tabLst/>
                        <a:defRPr/>
                      </a:pPr>
                      <a:r>
                        <a:rPr lang="en-US" altLang="en-US" sz="2400" dirty="0"/>
                        <a:t>Nonmedical professional specializing in mental processes and how the brain functions in health and disease</a:t>
                      </a:r>
                    </a:p>
                  </a:txBody>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psychosis</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Disorder marked by loss of contact with reality</a:t>
                      </a:r>
                    </a:p>
                  </a:txBody>
                  <a:tcPr/>
                </a:tc>
                <a:extLst>
                  <a:ext uri="{0D108BD9-81ED-4DB2-BD59-A6C34878D82A}">
                    <a16:rowId xmlns:a16="http://schemas.microsoft.com/office/drawing/2014/main" val="10002"/>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reality testing</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Psychological process that distinguishes fact from fantasy</a:t>
                      </a:r>
                    </a:p>
                  </a:txBody>
                  <a:tcPr/>
                </a:tc>
                <a:extLst>
                  <a:ext uri="{0D108BD9-81ED-4DB2-BD59-A6C34878D82A}">
                    <a16:rowId xmlns:a16="http://schemas.microsoft.com/office/drawing/2014/main" val="10003"/>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repression</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Defense mechanism by which unacceptable thoughts, feelings, and impulses are automatically pushed into the unconscious</a:t>
                      </a:r>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51847021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600" dirty="0"/>
              <a:t>Vocabulary – General Terms, Symptoms, and Disorders (Slide 11 of 12)</a:t>
            </a:r>
            <a:endParaRPr lang="en-US" sz="3600" dirty="0"/>
          </a:p>
        </p:txBody>
      </p:sp>
      <p:graphicFrame>
        <p:nvGraphicFramePr>
          <p:cNvPr id="5" name="Content Placeholder 4" descr="Group 11 of 12.  List of vocabulary terms  with corresponding meanings or definitions."/>
          <p:cNvGraphicFramePr>
            <a:graphicFrameLocks noGrp="1"/>
          </p:cNvGraphicFramePr>
          <p:nvPr>
            <p:ph idx="1"/>
            <p:extLst>
              <p:ext uri="{D42A27DB-BD31-4B8C-83A1-F6EECF244321}">
                <p14:modId xmlns:p14="http://schemas.microsoft.com/office/powerpoint/2010/main" val="912064627"/>
              </p:ext>
            </p:extLst>
          </p:nvPr>
        </p:nvGraphicFramePr>
        <p:xfrm>
          <a:off x="457200" y="1600200"/>
          <a:ext cx="8229600" cy="4023360"/>
        </p:xfrm>
        <a:graphic>
          <a:graphicData uri="http://schemas.openxmlformats.org/drawingml/2006/table">
            <a:tbl>
              <a:tblPr firstRow="1" bandRow="1">
                <a:tableStyleId>{5C22544A-7EE6-4342-B048-85BDC9FD1C3A}</a:tableStyleId>
              </a:tblPr>
              <a:tblGrid>
                <a:gridCol w="2743200">
                  <a:extLst>
                    <a:ext uri="{9D8B030D-6E8A-4147-A177-3AD203B41FA5}">
                      <a16:colId xmlns:a16="http://schemas.microsoft.com/office/drawing/2014/main" val="20000"/>
                    </a:ext>
                  </a:extLst>
                </a:gridCol>
                <a:gridCol w="5486400">
                  <a:extLst>
                    <a:ext uri="{9D8B030D-6E8A-4147-A177-3AD203B41FA5}">
                      <a16:colId xmlns:a16="http://schemas.microsoft.com/office/drawing/2014/main" val="20001"/>
                    </a:ext>
                  </a:extLst>
                </a:gridCol>
              </a:tblGrid>
              <a:tr h="370840">
                <a:tc>
                  <a:txBody>
                    <a:bodyPr/>
                    <a:lstStyle/>
                    <a:p>
                      <a:r>
                        <a:rPr lang="en-US" sz="2400" dirty="0"/>
                        <a:t>Term</a:t>
                      </a:r>
                    </a:p>
                  </a:txBody>
                  <a:tcPr/>
                </a:tc>
                <a:tc>
                  <a:txBody>
                    <a:bodyPr/>
                    <a:lstStyle/>
                    <a:p>
                      <a:r>
                        <a:rPr lang="en-US" sz="2400" dirty="0"/>
                        <a:t>Meaning/Definition</a:t>
                      </a:r>
                    </a:p>
                  </a:txBody>
                  <a:tcPr/>
                </a:tc>
                <a:extLst>
                  <a:ext uri="{0D108BD9-81ED-4DB2-BD59-A6C34878D82A}">
                    <a16:rowId xmlns:a16="http://schemas.microsoft.com/office/drawing/2014/main" val="10000"/>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schizophrenia</a:t>
                      </a:r>
                    </a:p>
                  </a:txBody>
                  <a:tcPr/>
                </a:tc>
                <a:tc>
                  <a:txBody>
                    <a:bodyPr/>
                    <a:lstStyle/>
                    <a:p>
                      <a:pPr marL="0" marR="0" indent="0" algn="l" defTabSz="914400" rtl="0" eaLnBrk="1" fontAlgn="auto" latinLnBrk="0" hangingPunct="1">
                        <a:lnSpc>
                          <a:spcPct val="100000"/>
                        </a:lnSpc>
                        <a:spcBef>
                          <a:spcPts val="0"/>
                        </a:spcBef>
                        <a:spcAft>
                          <a:spcPts val="0"/>
                        </a:spcAft>
                        <a:buClrTx/>
                        <a:buSzTx/>
                        <a:buFont typeface="Wingdings 2" panose="05020102010507070707" pitchFamily="18" charset="2"/>
                        <a:buNone/>
                        <a:tabLst/>
                        <a:defRPr/>
                      </a:pPr>
                      <a:r>
                        <a:rPr lang="en-US" altLang="en-US" sz="2400" dirty="0"/>
                        <a:t>Chronic psychotic disorder that may include hallucinations, disorganized speech and behavior, flat affect, and lack of initiative</a:t>
                      </a:r>
                    </a:p>
                  </a:txBody>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sexual disorders</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Paraphilic disorders and sexual disorders</a:t>
                      </a:r>
                    </a:p>
                  </a:txBody>
                  <a:tcPr/>
                </a:tc>
                <a:extLst>
                  <a:ext uri="{0D108BD9-81ED-4DB2-BD59-A6C34878D82A}">
                    <a16:rowId xmlns:a16="http://schemas.microsoft.com/office/drawing/2014/main" val="10002"/>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somatic symptom disorder</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Presence of physical symptoms that cannot be explained by an actual physical disorder or other well-described mental disorder</a:t>
                      </a:r>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428851934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600" dirty="0"/>
              <a:t>Vocabulary – General Terms, Symptoms, and Disorders (Slide 12 of 12)</a:t>
            </a:r>
            <a:endParaRPr lang="en-US" sz="3600" dirty="0"/>
          </a:p>
        </p:txBody>
      </p:sp>
      <p:graphicFrame>
        <p:nvGraphicFramePr>
          <p:cNvPr id="5" name="Content Placeholder 4" descr="Group 12 of 12.  List of vocabulary terms  with corresponding meanings or definitions."/>
          <p:cNvGraphicFramePr>
            <a:graphicFrameLocks noGrp="1"/>
          </p:cNvGraphicFramePr>
          <p:nvPr>
            <p:ph idx="1"/>
            <p:extLst>
              <p:ext uri="{D42A27DB-BD31-4B8C-83A1-F6EECF244321}">
                <p14:modId xmlns:p14="http://schemas.microsoft.com/office/powerpoint/2010/main" val="3159154968"/>
              </p:ext>
            </p:extLst>
          </p:nvPr>
        </p:nvGraphicFramePr>
        <p:xfrm>
          <a:off x="457200" y="1600200"/>
          <a:ext cx="8229600" cy="2468880"/>
        </p:xfrm>
        <a:graphic>
          <a:graphicData uri="http://schemas.openxmlformats.org/drawingml/2006/table">
            <a:tbl>
              <a:tblPr firstRow="1" bandRow="1">
                <a:tableStyleId>{5C22544A-7EE6-4342-B048-85BDC9FD1C3A}</a:tableStyleId>
              </a:tblPr>
              <a:tblGrid>
                <a:gridCol w="2743200">
                  <a:extLst>
                    <a:ext uri="{9D8B030D-6E8A-4147-A177-3AD203B41FA5}">
                      <a16:colId xmlns:a16="http://schemas.microsoft.com/office/drawing/2014/main" val="20000"/>
                    </a:ext>
                  </a:extLst>
                </a:gridCol>
                <a:gridCol w="5486400">
                  <a:extLst>
                    <a:ext uri="{9D8B030D-6E8A-4147-A177-3AD203B41FA5}">
                      <a16:colId xmlns:a16="http://schemas.microsoft.com/office/drawing/2014/main" val="20001"/>
                    </a:ext>
                  </a:extLst>
                </a:gridCol>
              </a:tblGrid>
              <a:tr h="370840">
                <a:tc>
                  <a:txBody>
                    <a:bodyPr/>
                    <a:lstStyle/>
                    <a:p>
                      <a:r>
                        <a:rPr lang="en-US" sz="2400" dirty="0"/>
                        <a:t>Term</a:t>
                      </a:r>
                    </a:p>
                  </a:txBody>
                  <a:tcPr/>
                </a:tc>
                <a:tc>
                  <a:txBody>
                    <a:bodyPr/>
                    <a:lstStyle/>
                    <a:p>
                      <a:r>
                        <a:rPr lang="en-US" sz="2400" dirty="0"/>
                        <a:t>Meaning/Definition</a:t>
                      </a:r>
                    </a:p>
                  </a:txBody>
                  <a:tcPr/>
                </a:tc>
                <a:extLst>
                  <a:ext uri="{0D108BD9-81ED-4DB2-BD59-A6C34878D82A}">
                    <a16:rowId xmlns:a16="http://schemas.microsoft.com/office/drawing/2014/main" val="10000"/>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substance-related disorder</a:t>
                      </a:r>
                    </a:p>
                  </a:txBody>
                  <a:tcPr/>
                </a:tc>
                <a:tc>
                  <a:txBody>
                    <a:bodyPr/>
                    <a:lstStyle/>
                    <a:p>
                      <a:pPr marL="0" marR="0" indent="0" algn="l" defTabSz="914400" rtl="0" eaLnBrk="1" fontAlgn="auto" latinLnBrk="0" hangingPunct="1">
                        <a:lnSpc>
                          <a:spcPct val="100000"/>
                        </a:lnSpc>
                        <a:spcBef>
                          <a:spcPts val="0"/>
                        </a:spcBef>
                        <a:spcAft>
                          <a:spcPts val="0"/>
                        </a:spcAft>
                        <a:buClrTx/>
                        <a:buSzTx/>
                        <a:buFont typeface="Wingdings 2" panose="05020102010507070707" pitchFamily="18" charset="2"/>
                        <a:buNone/>
                        <a:tabLst/>
                        <a:defRPr/>
                      </a:pPr>
                      <a:r>
                        <a:rPr lang="en-US" altLang="en-US" sz="2400" dirty="0"/>
                        <a:t>Regular overuse of or dependence on psychoactive substances that affect the central nervous system</a:t>
                      </a:r>
                    </a:p>
                  </a:txBody>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superego</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Internalized conscience and moral part of the personality</a:t>
                      </a:r>
                    </a:p>
                  </a:txBody>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274732755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4000" dirty="0"/>
              <a:t>Vocabulary – Therapy (Slide 1 of 6)</a:t>
            </a:r>
            <a:endParaRPr lang="en-US" sz="4000" dirty="0"/>
          </a:p>
        </p:txBody>
      </p:sp>
      <p:graphicFrame>
        <p:nvGraphicFramePr>
          <p:cNvPr id="5" name="Content Placeholder 4" descr="Group 1 of 6.  List of vocabulary-therapy terms  with corresponding meanings or definitions."/>
          <p:cNvGraphicFramePr>
            <a:graphicFrameLocks noGrp="1"/>
          </p:cNvGraphicFramePr>
          <p:nvPr>
            <p:ph idx="1"/>
            <p:extLst>
              <p:ext uri="{D42A27DB-BD31-4B8C-83A1-F6EECF244321}">
                <p14:modId xmlns:p14="http://schemas.microsoft.com/office/powerpoint/2010/main" val="2302048706"/>
              </p:ext>
            </p:extLst>
          </p:nvPr>
        </p:nvGraphicFramePr>
        <p:xfrm>
          <a:off x="457200" y="1600200"/>
          <a:ext cx="8229600" cy="4114800"/>
        </p:xfrm>
        <a:graphic>
          <a:graphicData uri="http://schemas.openxmlformats.org/drawingml/2006/table">
            <a:tbl>
              <a:tblPr firstRow="1" bandRow="1">
                <a:tableStyleId>{5C22544A-7EE6-4342-B048-85BDC9FD1C3A}</a:tableStyleId>
              </a:tblPr>
              <a:tblGrid>
                <a:gridCol w="2743200">
                  <a:extLst>
                    <a:ext uri="{9D8B030D-6E8A-4147-A177-3AD203B41FA5}">
                      <a16:colId xmlns:a16="http://schemas.microsoft.com/office/drawing/2014/main" val="20000"/>
                    </a:ext>
                  </a:extLst>
                </a:gridCol>
                <a:gridCol w="5486400">
                  <a:extLst>
                    <a:ext uri="{9D8B030D-6E8A-4147-A177-3AD203B41FA5}">
                      <a16:colId xmlns:a16="http://schemas.microsoft.com/office/drawing/2014/main" val="20001"/>
                    </a:ext>
                  </a:extLst>
                </a:gridCol>
              </a:tblGrid>
              <a:tr h="370840">
                <a:tc>
                  <a:txBody>
                    <a:bodyPr/>
                    <a:lstStyle/>
                    <a:p>
                      <a:r>
                        <a:rPr lang="en-US" sz="2400" dirty="0"/>
                        <a:t>Term</a:t>
                      </a:r>
                    </a:p>
                  </a:txBody>
                  <a:tcPr/>
                </a:tc>
                <a:tc>
                  <a:txBody>
                    <a:bodyPr/>
                    <a:lstStyle/>
                    <a:p>
                      <a:r>
                        <a:rPr lang="en-US" sz="2400" dirty="0"/>
                        <a:t>Meaning/Definition</a:t>
                      </a:r>
                    </a:p>
                  </a:txBody>
                  <a:tcPr/>
                </a:tc>
                <a:extLst>
                  <a:ext uri="{0D108BD9-81ED-4DB2-BD59-A6C34878D82A}">
                    <a16:rowId xmlns:a16="http://schemas.microsoft.com/office/drawing/2014/main" val="10000"/>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amphetamines</a:t>
                      </a:r>
                    </a:p>
                  </a:txBody>
                  <a:tcPr/>
                </a:tc>
                <a:tc>
                  <a:txBody>
                    <a:bodyPr/>
                    <a:lstStyle/>
                    <a:p>
                      <a:pPr marL="0" marR="0" indent="0" algn="l" defTabSz="914400" rtl="0" eaLnBrk="1" fontAlgn="auto" latinLnBrk="0" hangingPunct="1">
                        <a:lnSpc>
                          <a:spcPct val="100000"/>
                        </a:lnSpc>
                        <a:spcBef>
                          <a:spcPts val="0"/>
                        </a:spcBef>
                        <a:spcAft>
                          <a:spcPts val="0"/>
                        </a:spcAft>
                        <a:buClrTx/>
                        <a:buSzTx/>
                        <a:buFont typeface="Wingdings 2" panose="05020102010507070707" pitchFamily="18" charset="2"/>
                        <a:buNone/>
                        <a:tabLst/>
                        <a:defRPr/>
                      </a:pPr>
                      <a:r>
                        <a:rPr lang="en-US" altLang="en-US" sz="2400" dirty="0"/>
                        <a:t>CNS stimulants that may be used to treat attention deficit-hyperactivity disorder and depression</a:t>
                      </a:r>
                    </a:p>
                  </a:txBody>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atypical antipsychotics</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Drugs that treat psychotic symptoms and behavior</a:t>
                      </a:r>
                    </a:p>
                  </a:txBody>
                  <a:tcPr/>
                </a:tc>
                <a:extLst>
                  <a:ext uri="{0D108BD9-81ED-4DB2-BD59-A6C34878D82A}">
                    <a16:rowId xmlns:a16="http://schemas.microsoft.com/office/drawing/2014/main" val="10002"/>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benzodiazepines</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Drugs that lessen anxiety, tension, agitation, and panic attacks</a:t>
                      </a:r>
                    </a:p>
                  </a:txBody>
                  <a:tcPr/>
                </a:tc>
                <a:extLst>
                  <a:ext uri="{0D108BD9-81ED-4DB2-BD59-A6C34878D82A}">
                    <a16:rowId xmlns:a16="http://schemas.microsoft.com/office/drawing/2014/main" val="10003"/>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cognitive behavioral therapy</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Focuses on the connection between behavior and thoughts</a:t>
                      </a:r>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388530343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4000" dirty="0"/>
              <a:t>Vocabulary – Therapy (Slide 2 of 6)</a:t>
            </a:r>
            <a:endParaRPr lang="en-US" sz="4000" dirty="0"/>
          </a:p>
        </p:txBody>
      </p:sp>
      <p:graphicFrame>
        <p:nvGraphicFramePr>
          <p:cNvPr id="5" name="Content Placeholder 4" descr="Group 2 of 6.  List of vocabulary-therapy terms  with corresponding meanings or definitions."/>
          <p:cNvGraphicFramePr>
            <a:graphicFrameLocks noGrp="1"/>
          </p:cNvGraphicFramePr>
          <p:nvPr>
            <p:ph idx="1"/>
            <p:extLst>
              <p:ext uri="{D42A27DB-BD31-4B8C-83A1-F6EECF244321}">
                <p14:modId xmlns:p14="http://schemas.microsoft.com/office/powerpoint/2010/main" val="3855280276"/>
              </p:ext>
            </p:extLst>
          </p:nvPr>
        </p:nvGraphicFramePr>
        <p:xfrm>
          <a:off x="457200" y="1600200"/>
          <a:ext cx="8229600" cy="4846320"/>
        </p:xfrm>
        <a:graphic>
          <a:graphicData uri="http://schemas.openxmlformats.org/drawingml/2006/table">
            <a:tbl>
              <a:tblPr firstRow="1" bandRow="1">
                <a:tableStyleId>{5C22544A-7EE6-4342-B048-85BDC9FD1C3A}</a:tableStyleId>
              </a:tblPr>
              <a:tblGrid>
                <a:gridCol w="2743200">
                  <a:extLst>
                    <a:ext uri="{9D8B030D-6E8A-4147-A177-3AD203B41FA5}">
                      <a16:colId xmlns:a16="http://schemas.microsoft.com/office/drawing/2014/main" val="20000"/>
                    </a:ext>
                  </a:extLst>
                </a:gridCol>
                <a:gridCol w="5486400">
                  <a:extLst>
                    <a:ext uri="{9D8B030D-6E8A-4147-A177-3AD203B41FA5}">
                      <a16:colId xmlns:a16="http://schemas.microsoft.com/office/drawing/2014/main" val="20001"/>
                    </a:ext>
                  </a:extLst>
                </a:gridCol>
              </a:tblGrid>
              <a:tr h="370840">
                <a:tc>
                  <a:txBody>
                    <a:bodyPr/>
                    <a:lstStyle/>
                    <a:p>
                      <a:r>
                        <a:rPr lang="en-US" sz="2400" dirty="0"/>
                        <a:t>Term</a:t>
                      </a:r>
                    </a:p>
                  </a:txBody>
                  <a:tcPr/>
                </a:tc>
                <a:tc>
                  <a:txBody>
                    <a:bodyPr/>
                    <a:lstStyle/>
                    <a:p>
                      <a:r>
                        <a:rPr lang="en-US" sz="2400" dirty="0"/>
                        <a:t>Meaning/Definition</a:t>
                      </a:r>
                    </a:p>
                  </a:txBody>
                  <a:tcPr/>
                </a:tc>
                <a:extLst>
                  <a:ext uri="{0D108BD9-81ED-4DB2-BD59-A6C34878D82A}">
                    <a16:rowId xmlns:a16="http://schemas.microsoft.com/office/drawing/2014/main" val="10000"/>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electroconvulsive therapy</a:t>
                      </a:r>
                    </a:p>
                  </a:txBody>
                  <a:tcPr/>
                </a:tc>
                <a:tc>
                  <a:txBody>
                    <a:bodyPr/>
                    <a:lstStyle/>
                    <a:p>
                      <a:pPr marL="0" marR="0" indent="0" algn="l" defTabSz="914400" rtl="0" eaLnBrk="1" fontAlgn="auto" latinLnBrk="0" hangingPunct="1">
                        <a:lnSpc>
                          <a:spcPct val="100000"/>
                        </a:lnSpc>
                        <a:spcBef>
                          <a:spcPts val="0"/>
                        </a:spcBef>
                        <a:spcAft>
                          <a:spcPts val="0"/>
                        </a:spcAft>
                        <a:buClrTx/>
                        <a:buSzTx/>
                        <a:buFont typeface="Wingdings 2" panose="05020102010507070707" pitchFamily="18" charset="2"/>
                        <a:buNone/>
                        <a:tabLst/>
                        <a:defRPr/>
                      </a:pPr>
                      <a:r>
                        <a:rPr lang="en-US" altLang="en-US" sz="2400" dirty="0"/>
                        <a:t>Electric current is used to produce convulsions and loss of consciousness; effective in the treatment of major depression</a:t>
                      </a:r>
                    </a:p>
                  </a:txBody>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family therapy</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Treatment of an entire family to resolve and shed light on conflicts</a:t>
                      </a:r>
                    </a:p>
                  </a:txBody>
                  <a:tcPr/>
                </a:tc>
                <a:extLst>
                  <a:ext uri="{0D108BD9-81ED-4DB2-BD59-A6C34878D82A}">
                    <a16:rowId xmlns:a16="http://schemas.microsoft.com/office/drawing/2014/main" val="10002"/>
                  </a:ext>
                </a:extLst>
              </a:tr>
              <a:tr h="370840">
                <a:tc>
                  <a:txBody>
                    <a:bodyPr/>
                    <a:lstStyle/>
                    <a:p>
                      <a:pPr eaLnBrk="1" hangingPunct="1"/>
                      <a:r>
                        <a:rPr lang="en-US" altLang="en-US" sz="2400" dirty="0"/>
                        <a:t>first generation antipsychotic drugs</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Early neuroleptic medications that reduce psychotic symptoms.</a:t>
                      </a:r>
                    </a:p>
                  </a:txBody>
                  <a:tcPr/>
                </a:tc>
                <a:extLst>
                  <a:ext uri="{0D108BD9-81ED-4DB2-BD59-A6C34878D82A}">
                    <a16:rowId xmlns:a16="http://schemas.microsoft.com/office/drawing/2014/main" val="10003"/>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free association</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Psychoanalytic technique in which the patient verbalizes, without censorship, the passing contents of his or her mind</a:t>
                      </a:r>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4344193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4000" dirty="0"/>
              <a:t>Vocabulary – Therapy (Slide 3 of 6)</a:t>
            </a:r>
            <a:endParaRPr lang="en-US" sz="4000" dirty="0"/>
          </a:p>
        </p:txBody>
      </p:sp>
      <p:graphicFrame>
        <p:nvGraphicFramePr>
          <p:cNvPr id="5" name="Content Placeholder 4" descr="Group 3 of 6.  List of vocabulary-therapy terms  with corresponding meanings or definitions."/>
          <p:cNvGraphicFramePr>
            <a:graphicFrameLocks noGrp="1"/>
          </p:cNvGraphicFramePr>
          <p:nvPr>
            <p:ph idx="1"/>
            <p:extLst>
              <p:ext uri="{D42A27DB-BD31-4B8C-83A1-F6EECF244321}">
                <p14:modId xmlns:p14="http://schemas.microsoft.com/office/powerpoint/2010/main" val="3332389675"/>
              </p:ext>
            </p:extLst>
          </p:nvPr>
        </p:nvGraphicFramePr>
        <p:xfrm>
          <a:off x="457200" y="1600200"/>
          <a:ext cx="8229600" cy="4023360"/>
        </p:xfrm>
        <a:graphic>
          <a:graphicData uri="http://schemas.openxmlformats.org/drawingml/2006/table">
            <a:tbl>
              <a:tblPr firstRow="1" bandRow="1">
                <a:tableStyleId>{5C22544A-7EE6-4342-B048-85BDC9FD1C3A}</a:tableStyleId>
              </a:tblPr>
              <a:tblGrid>
                <a:gridCol w="2743200">
                  <a:extLst>
                    <a:ext uri="{9D8B030D-6E8A-4147-A177-3AD203B41FA5}">
                      <a16:colId xmlns:a16="http://schemas.microsoft.com/office/drawing/2014/main" val="20000"/>
                    </a:ext>
                  </a:extLst>
                </a:gridCol>
                <a:gridCol w="5486400">
                  <a:extLst>
                    <a:ext uri="{9D8B030D-6E8A-4147-A177-3AD203B41FA5}">
                      <a16:colId xmlns:a16="http://schemas.microsoft.com/office/drawing/2014/main" val="20001"/>
                    </a:ext>
                  </a:extLst>
                </a:gridCol>
              </a:tblGrid>
              <a:tr h="370840">
                <a:tc>
                  <a:txBody>
                    <a:bodyPr/>
                    <a:lstStyle/>
                    <a:p>
                      <a:r>
                        <a:rPr lang="en-US" sz="2400" dirty="0"/>
                        <a:t>Term</a:t>
                      </a:r>
                    </a:p>
                  </a:txBody>
                  <a:tcPr/>
                </a:tc>
                <a:tc>
                  <a:txBody>
                    <a:bodyPr/>
                    <a:lstStyle/>
                    <a:p>
                      <a:r>
                        <a:rPr lang="en-US" sz="2400" dirty="0"/>
                        <a:t>Meaning/Definition</a:t>
                      </a:r>
                    </a:p>
                  </a:txBody>
                  <a:tcPr/>
                </a:tc>
                <a:extLst>
                  <a:ext uri="{0D108BD9-81ED-4DB2-BD59-A6C34878D82A}">
                    <a16:rowId xmlns:a16="http://schemas.microsoft.com/office/drawing/2014/main" val="10000"/>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400" dirty="0">
                          <a:ea typeface="ＭＳ Ｐゴシック" charset="0"/>
                        </a:rPr>
                        <a:t>group therapy</a:t>
                      </a:r>
                    </a:p>
                  </a:txBody>
                  <a:tcPr/>
                </a:tc>
                <a:tc>
                  <a:txBody>
                    <a:bodyPr/>
                    <a:lstStyle/>
                    <a:p>
                      <a:pPr marL="0" marR="0" indent="0" algn="l" defTabSz="914400" rtl="0" eaLnBrk="1" fontAlgn="auto" latinLnBrk="0" hangingPunct="1">
                        <a:lnSpc>
                          <a:spcPct val="100000"/>
                        </a:lnSpc>
                        <a:spcBef>
                          <a:spcPts val="0"/>
                        </a:spcBef>
                        <a:spcAft>
                          <a:spcPts val="0"/>
                        </a:spcAft>
                        <a:buClrTx/>
                        <a:buSzTx/>
                        <a:buFont typeface="Wingdings 2" panose="05020102010507070707" pitchFamily="18" charset="2"/>
                        <a:buNone/>
                        <a:tabLst/>
                        <a:defRPr/>
                      </a:pPr>
                      <a:r>
                        <a:rPr lang="en-US" altLang="en-US" sz="2400" dirty="0"/>
                        <a:t>Group of patients with similar problems gains insight into their personalities through discussion and interaction with each other</a:t>
                      </a:r>
                    </a:p>
                  </a:txBody>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400" dirty="0">
                          <a:ea typeface="ＭＳ Ｐゴシック" charset="0"/>
                        </a:rPr>
                        <a:t>hypnosis</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Induced trance (state of altered consciousness)</a:t>
                      </a:r>
                    </a:p>
                  </a:txBody>
                  <a:tcPr/>
                </a:tc>
                <a:extLst>
                  <a:ext uri="{0D108BD9-81ED-4DB2-BD59-A6C34878D82A}">
                    <a16:rowId xmlns:a16="http://schemas.microsoft.com/office/drawing/2014/main" val="10002"/>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400" dirty="0">
                          <a:ea typeface="ＭＳ Ｐゴシック" charset="0"/>
                        </a:rPr>
                        <a:t>insight-oriented therapy</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Face-to-face discussion of life problems and associated feelings; psychodynamic therapy</a:t>
                      </a:r>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26578335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4000" dirty="0"/>
              <a:t>Vocabulary – Therapy (Slide 4 of 6)</a:t>
            </a:r>
            <a:endParaRPr lang="en-US" sz="4000" dirty="0"/>
          </a:p>
        </p:txBody>
      </p:sp>
      <p:graphicFrame>
        <p:nvGraphicFramePr>
          <p:cNvPr id="5" name="Content Placeholder 4" descr="Group 4 of 6.  List of vocabulary-therapy terms  with corresponding meanings or definitions."/>
          <p:cNvGraphicFramePr>
            <a:graphicFrameLocks noGrp="1"/>
          </p:cNvGraphicFramePr>
          <p:nvPr>
            <p:ph idx="1"/>
            <p:extLst>
              <p:ext uri="{D42A27DB-BD31-4B8C-83A1-F6EECF244321}">
                <p14:modId xmlns:p14="http://schemas.microsoft.com/office/powerpoint/2010/main" val="908221415"/>
              </p:ext>
            </p:extLst>
          </p:nvPr>
        </p:nvGraphicFramePr>
        <p:xfrm>
          <a:off x="457200" y="1600200"/>
          <a:ext cx="8229600" cy="3749040"/>
        </p:xfrm>
        <a:graphic>
          <a:graphicData uri="http://schemas.openxmlformats.org/drawingml/2006/table">
            <a:tbl>
              <a:tblPr firstRow="1" bandRow="1">
                <a:tableStyleId>{5C22544A-7EE6-4342-B048-85BDC9FD1C3A}</a:tableStyleId>
              </a:tblPr>
              <a:tblGrid>
                <a:gridCol w="2743200">
                  <a:extLst>
                    <a:ext uri="{9D8B030D-6E8A-4147-A177-3AD203B41FA5}">
                      <a16:colId xmlns:a16="http://schemas.microsoft.com/office/drawing/2014/main" val="20000"/>
                    </a:ext>
                  </a:extLst>
                </a:gridCol>
                <a:gridCol w="5486400">
                  <a:extLst>
                    <a:ext uri="{9D8B030D-6E8A-4147-A177-3AD203B41FA5}">
                      <a16:colId xmlns:a16="http://schemas.microsoft.com/office/drawing/2014/main" val="20001"/>
                    </a:ext>
                  </a:extLst>
                </a:gridCol>
              </a:tblGrid>
              <a:tr h="370840">
                <a:tc>
                  <a:txBody>
                    <a:bodyPr/>
                    <a:lstStyle/>
                    <a:p>
                      <a:r>
                        <a:rPr lang="en-US" sz="2400" dirty="0"/>
                        <a:t>Term</a:t>
                      </a:r>
                    </a:p>
                  </a:txBody>
                  <a:tcPr/>
                </a:tc>
                <a:tc>
                  <a:txBody>
                    <a:bodyPr/>
                    <a:lstStyle/>
                    <a:p>
                      <a:r>
                        <a:rPr lang="en-US" sz="2400" dirty="0"/>
                        <a:t>Meaning/Definition</a:t>
                      </a:r>
                    </a:p>
                  </a:txBody>
                  <a:tcPr/>
                </a:tc>
                <a:extLst>
                  <a:ext uri="{0D108BD9-81ED-4DB2-BD59-A6C34878D82A}">
                    <a16:rowId xmlns:a16="http://schemas.microsoft.com/office/drawing/2014/main" val="10000"/>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lithium</a:t>
                      </a:r>
                    </a:p>
                  </a:txBody>
                  <a:tcPr/>
                </a:tc>
                <a:tc>
                  <a:txBody>
                    <a:bodyPr/>
                    <a:lstStyle/>
                    <a:p>
                      <a:pPr marL="0" indent="0" eaLnBrk="1" hangingPunct="1">
                        <a:buFont typeface="Wingdings 2" panose="05020102010507070707" pitchFamily="18" charset="2"/>
                        <a:buNone/>
                      </a:pPr>
                      <a:r>
                        <a:rPr lang="en-US" altLang="en-US" sz="2400" dirty="0"/>
                        <a:t>Medication used to treat bipolar </a:t>
                      </a:r>
                    </a:p>
                  </a:txBody>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neuroleptic drug</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Any drug that favorably modifies psychotic symptoms</a:t>
                      </a:r>
                    </a:p>
                  </a:txBody>
                  <a:tcPr/>
                </a:tc>
                <a:extLst>
                  <a:ext uri="{0D108BD9-81ED-4DB2-BD59-A6C34878D82A}">
                    <a16:rowId xmlns:a16="http://schemas.microsoft.com/office/drawing/2014/main" val="10002"/>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err="1"/>
                        <a:t>phenothiazines</a:t>
                      </a:r>
                      <a:endParaRPr lang="en-US" alt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Antipsychotic (neuroleptic) drugs</a:t>
                      </a:r>
                    </a:p>
                  </a:txBody>
                  <a:tcPr/>
                </a:tc>
                <a:extLst>
                  <a:ext uri="{0D108BD9-81ED-4DB2-BD59-A6C34878D82A}">
                    <a16:rowId xmlns:a16="http://schemas.microsoft.com/office/drawing/2014/main" val="10003"/>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play therapy</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Treatment in which a child, through use of toys in a playroom setting, expresses conflicts and feelings unable to be communicated in a direct manner</a:t>
                      </a:r>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242347875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4000" dirty="0"/>
              <a:t>Vocabulary – Therapy (Slide 5 of 6)</a:t>
            </a:r>
            <a:endParaRPr lang="en-US" sz="4000" dirty="0"/>
          </a:p>
        </p:txBody>
      </p:sp>
      <p:graphicFrame>
        <p:nvGraphicFramePr>
          <p:cNvPr id="5" name="Content Placeholder 4" descr="Group 5 of 6.  List of vocabulary-therapy terms  with corresponding meanings or definitions."/>
          <p:cNvGraphicFramePr>
            <a:graphicFrameLocks noGrp="1"/>
          </p:cNvGraphicFramePr>
          <p:nvPr>
            <p:ph idx="1"/>
            <p:extLst>
              <p:ext uri="{D42A27DB-BD31-4B8C-83A1-F6EECF244321}">
                <p14:modId xmlns:p14="http://schemas.microsoft.com/office/powerpoint/2010/main" val="4236558613"/>
              </p:ext>
            </p:extLst>
          </p:nvPr>
        </p:nvGraphicFramePr>
        <p:xfrm>
          <a:off x="457200" y="1600200"/>
          <a:ext cx="8229600" cy="4480560"/>
        </p:xfrm>
        <a:graphic>
          <a:graphicData uri="http://schemas.openxmlformats.org/drawingml/2006/table">
            <a:tbl>
              <a:tblPr firstRow="1" bandRow="1">
                <a:tableStyleId>{5C22544A-7EE6-4342-B048-85BDC9FD1C3A}</a:tableStyleId>
              </a:tblPr>
              <a:tblGrid>
                <a:gridCol w="2819400">
                  <a:extLst>
                    <a:ext uri="{9D8B030D-6E8A-4147-A177-3AD203B41FA5}">
                      <a16:colId xmlns:a16="http://schemas.microsoft.com/office/drawing/2014/main" val="20000"/>
                    </a:ext>
                  </a:extLst>
                </a:gridCol>
                <a:gridCol w="5410200">
                  <a:extLst>
                    <a:ext uri="{9D8B030D-6E8A-4147-A177-3AD203B41FA5}">
                      <a16:colId xmlns:a16="http://schemas.microsoft.com/office/drawing/2014/main" val="20001"/>
                    </a:ext>
                  </a:extLst>
                </a:gridCol>
              </a:tblGrid>
              <a:tr h="370840">
                <a:tc>
                  <a:txBody>
                    <a:bodyPr/>
                    <a:lstStyle/>
                    <a:p>
                      <a:r>
                        <a:rPr lang="en-US" sz="2400" dirty="0"/>
                        <a:t>Term</a:t>
                      </a:r>
                    </a:p>
                  </a:txBody>
                  <a:tcPr/>
                </a:tc>
                <a:tc>
                  <a:txBody>
                    <a:bodyPr/>
                    <a:lstStyle/>
                    <a:p>
                      <a:r>
                        <a:rPr lang="en-US" sz="2400" dirty="0"/>
                        <a:t>Meaning/Definition</a:t>
                      </a:r>
                    </a:p>
                  </a:txBody>
                  <a:tcPr/>
                </a:tc>
                <a:extLst>
                  <a:ext uri="{0D108BD9-81ED-4DB2-BD59-A6C34878D82A}">
                    <a16:rowId xmlns:a16="http://schemas.microsoft.com/office/drawing/2014/main" val="10000"/>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psychoanalysis</a:t>
                      </a:r>
                    </a:p>
                  </a:txBody>
                  <a:tcPr/>
                </a:tc>
                <a:tc>
                  <a:txBody>
                    <a:bodyPr/>
                    <a:lstStyle/>
                    <a:p>
                      <a:pPr marL="0" marR="0" indent="0" algn="l" defTabSz="914400" rtl="0" eaLnBrk="1" fontAlgn="auto" latinLnBrk="0" hangingPunct="1">
                        <a:lnSpc>
                          <a:spcPct val="100000"/>
                        </a:lnSpc>
                        <a:spcBef>
                          <a:spcPts val="0"/>
                        </a:spcBef>
                        <a:spcAft>
                          <a:spcPts val="0"/>
                        </a:spcAft>
                        <a:buClrTx/>
                        <a:buSzTx/>
                        <a:buFont typeface="Wingdings 2" panose="05020102010507070707" pitchFamily="18" charset="2"/>
                        <a:buNone/>
                        <a:tabLst/>
                        <a:defRPr/>
                      </a:pPr>
                      <a:r>
                        <a:rPr lang="en-US" altLang="en-US" sz="2400" dirty="0"/>
                        <a:t>Treatment that allows the patient to explore inner emotions and conflicts so as to understand and change current behavior</a:t>
                      </a:r>
                    </a:p>
                  </a:txBody>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psychodrama</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Group therapy in which a patient expresses feelings by acting out family and social roles with others</a:t>
                      </a:r>
                    </a:p>
                  </a:txBody>
                  <a:tcPr/>
                </a:tc>
                <a:extLst>
                  <a:ext uri="{0D108BD9-81ED-4DB2-BD59-A6C34878D82A}">
                    <a16:rowId xmlns:a16="http://schemas.microsoft.com/office/drawing/2014/main" val="10002"/>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psychopharmacology</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Treatment of psychiatric disorders with drugs</a:t>
                      </a:r>
                    </a:p>
                  </a:txBody>
                  <a:tcPr/>
                </a:tc>
                <a:extLst>
                  <a:ext uri="{0D108BD9-81ED-4DB2-BD59-A6C34878D82A}">
                    <a16:rowId xmlns:a16="http://schemas.microsoft.com/office/drawing/2014/main" val="10003"/>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sedatives</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Drugs that lessen anxiety</a:t>
                      </a:r>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60529356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4000" dirty="0"/>
              <a:t>Vocabulary – Therapy (Slide 6 of 6)</a:t>
            </a:r>
            <a:endParaRPr lang="en-US" sz="4000" dirty="0"/>
          </a:p>
        </p:txBody>
      </p:sp>
      <p:graphicFrame>
        <p:nvGraphicFramePr>
          <p:cNvPr id="5" name="Content Placeholder 4" descr="Group 6 of 6.  List of vocabulary-therapy terms  with corresponding meanings or definitions."/>
          <p:cNvGraphicFramePr>
            <a:graphicFrameLocks noGrp="1"/>
          </p:cNvGraphicFramePr>
          <p:nvPr>
            <p:ph idx="1"/>
            <p:extLst>
              <p:ext uri="{D42A27DB-BD31-4B8C-83A1-F6EECF244321}">
                <p14:modId xmlns:p14="http://schemas.microsoft.com/office/powerpoint/2010/main" val="865916601"/>
              </p:ext>
            </p:extLst>
          </p:nvPr>
        </p:nvGraphicFramePr>
        <p:xfrm>
          <a:off x="457200" y="1600200"/>
          <a:ext cx="8229600" cy="3657600"/>
        </p:xfrm>
        <a:graphic>
          <a:graphicData uri="http://schemas.openxmlformats.org/drawingml/2006/table">
            <a:tbl>
              <a:tblPr firstRow="1" bandRow="1">
                <a:tableStyleId>{5C22544A-7EE6-4342-B048-85BDC9FD1C3A}</a:tableStyleId>
              </a:tblPr>
              <a:tblGrid>
                <a:gridCol w="2743200">
                  <a:extLst>
                    <a:ext uri="{9D8B030D-6E8A-4147-A177-3AD203B41FA5}">
                      <a16:colId xmlns:a16="http://schemas.microsoft.com/office/drawing/2014/main" val="20000"/>
                    </a:ext>
                  </a:extLst>
                </a:gridCol>
                <a:gridCol w="5486400">
                  <a:extLst>
                    <a:ext uri="{9D8B030D-6E8A-4147-A177-3AD203B41FA5}">
                      <a16:colId xmlns:a16="http://schemas.microsoft.com/office/drawing/2014/main" val="20001"/>
                    </a:ext>
                  </a:extLst>
                </a:gridCol>
              </a:tblGrid>
              <a:tr h="370840">
                <a:tc>
                  <a:txBody>
                    <a:bodyPr/>
                    <a:lstStyle/>
                    <a:p>
                      <a:r>
                        <a:rPr lang="en-US" sz="2400" dirty="0"/>
                        <a:t>Term</a:t>
                      </a:r>
                    </a:p>
                  </a:txBody>
                  <a:tcPr/>
                </a:tc>
                <a:tc>
                  <a:txBody>
                    <a:bodyPr/>
                    <a:lstStyle/>
                    <a:p>
                      <a:r>
                        <a:rPr lang="en-US" sz="2400" dirty="0"/>
                        <a:t>Meaning/Definition</a:t>
                      </a:r>
                    </a:p>
                  </a:txBody>
                  <a:tcPr/>
                </a:tc>
                <a:extLst>
                  <a:ext uri="{0D108BD9-81ED-4DB2-BD59-A6C34878D82A}">
                    <a16:rowId xmlns:a16="http://schemas.microsoft.com/office/drawing/2014/main" val="10000"/>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supportive psychotherapy</a:t>
                      </a:r>
                    </a:p>
                  </a:txBody>
                  <a:tcPr/>
                </a:tc>
                <a:tc>
                  <a:txBody>
                    <a:bodyPr/>
                    <a:lstStyle/>
                    <a:p>
                      <a:pPr marL="0" marR="0" indent="0" algn="l" defTabSz="914400" rtl="0" eaLnBrk="1" fontAlgn="auto" latinLnBrk="0" hangingPunct="1">
                        <a:lnSpc>
                          <a:spcPct val="100000"/>
                        </a:lnSpc>
                        <a:spcBef>
                          <a:spcPts val="0"/>
                        </a:spcBef>
                        <a:spcAft>
                          <a:spcPts val="0"/>
                        </a:spcAft>
                        <a:buClrTx/>
                        <a:buSzTx/>
                        <a:buFont typeface="Wingdings 2" panose="05020102010507070707" pitchFamily="18" charset="2"/>
                        <a:buNone/>
                        <a:tabLst/>
                        <a:defRPr/>
                      </a:pPr>
                      <a:r>
                        <a:rPr lang="en-US" altLang="en-US" sz="2400" dirty="0"/>
                        <a:t>Offering encouragement, support, and hope to patients facing difficult life transitions and events</a:t>
                      </a:r>
                    </a:p>
                  </a:txBody>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transference</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Psychoanalytic process in which the patient relates to the therapist as though he/she were a prominent childhood figure</a:t>
                      </a:r>
                    </a:p>
                  </a:txBody>
                  <a:tcPr/>
                </a:tc>
                <a:extLst>
                  <a:ext uri="{0D108BD9-81ED-4DB2-BD59-A6C34878D82A}">
                    <a16:rowId xmlns:a16="http://schemas.microsoft.com/office/drawing/2014/main" val="10002"/>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tricyclic antidepressants</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Drugs used to treat severe depression</a:t>
                      </a:r>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01880796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Abbreviations (Slide 1 of 4)</a:t>
            </a:r>
            <a:endParaRPr lang="en-US" dirty="0"/>
          </a:p>
        </p:txBody>
      </p:sp>
      <p:graphicFrame>
        <p:nvGraphicFramePr>
          <p:cNvPr id="5" name="Content Placeholder 4" descr="Group 1 of 4 Abbreviations  with corresponding meanings or "/>
          <p:cNvGraphicFramePr>
            <a:graphicFrameLocks noGrp="1"/>
          </p:cNvGraphicFramePr>
          <p:nvPr>
            <p:ph idx="1"/>
            <p:extLst>
              <p:ext uri="{D42A27DB-BD31-4B8C-83A1-F6EECF244321}">
                <p14:modId xmlns:p14="http://schemas.microsoft.com/office/powerpoint/2010/main" val="4208296383"/>
              </p:ext>
            </p:extLst>
          </p:nvPr>
        </p:nvGraphicFramePr>
        <p:xfrm>
          <a:off x="457200" y="1600200"/>
          <a:ext cx="8229600" cy="4572000"/>
        </p:xfrm>
        <a:graphic>
          <a:graphicData uri="http://schemas.openxmlformats.org/drawingml/2006/table">
            <a:tbl>
              <a:tblPr firstRow="1" bandRow="1">
                <a:tableStyleId>{C083E6E3-FA7D-4D7B-A595-EF9225AFEA82}</a:tableStyleId>
              </a:tblPr>
              <a:tblGrid>
                <a:gridCol w="2743200">
                  <a:extLst>
                    <a:ext uri="{9D8B030D-6E8A-4147-A177-3AD203B41FA5}">
                      <a16:colId xmlns:a16="http://schemas.microsoft.com/office/drawing/2014/main" val="20000"/>
                    </a:ext>
                  </a:extLst>
                </a:gridCol>
                <a:gridCol w="5486400">
                  <a:extLst>
                    <a:ext uri="{9D8B030D-6E8A-4147-A177-3AD203B41FA5}">
                      <a16:colId xmlns:a16="http://schemas.microsoft.com/office/drawing/2014/main" val="20001"/>
                    </a:ext>
                  </a:extLst>
                </a:gridCol>
              </a:tblGrid>
              <a:tr h="370840">
                <a:tc>
                  <a:txBody>
                    <a:bodyPr/>
                    <a:lstStyle/>
                    <a:p>
                      <a:r>
                        <a:rPr lang="en-US" sz="2400" dirty="0"/>
                        <a:t>Abbreviation</a:t>
                      </a:r>
                    </a:p>
                  </a:txBody>
                  <a:tcPr/>
                </a:tc>
                <a:tc>
                  <a:txBody>
                    <a:bodyPr/>
                    <a:lstStyle/>
                    <a:p>
                      <a:r>
                        <a:rPr lang="en-US" sz="2400" dirty="0"/>
                        <a:t>Meaning/Definition</a:t>
                      </a:r>
                    </a:p>
                  </a:txBody>
                  <a:tcPr/>
                </a:tc>
                <a:extLst>
                  <a:ext uri="{0D108BD9-81ED-4DB2-BD59-A6C34878D82A}">
                    <a16:rowId xmlns:a16="http://schemas.microsoft.com/office/drawing/2014/main" val="10000"/>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AD</a:t>
                      </a:r>
                    </a:p>
                  </a:txBody>
                  <a:tcPr/>
                </a:tc>
                <a:tc>
                  <a:txBody>
                    <a:bodyPr/>
                    <a:lstStyle/>
                    <a:p>
                      <a:pPr marL="0" marR="0" indent="0" algn="l" defTabSz="914400" rtl="0" eaLnBrk="1" fontAlgn="auto" latinLnBrk="0" hangingPunct="1">
                        <a:lnSpc>
                          <a:spcPct val="100000"/>
                        </a:lnSpc>
                        <a:spcBef>
                          <a:spcPts val="0"/>
                        </a:spcBef>
                        <a:spcAft>
                          <a:spcPts val="0"/>
                        </a:spcAft>
                        <a:buClrTx/>
                        <a:buSzTx/>
                        <a:buFont typeface="Wingdings 2" panose="05020102010507070707" pitchFamily="18" charset="2"/>
                        <a:buNone/>
                        <a:tabLst/>
                        <a:defRPr/>
                      </a:pPr>
                      <a:r>
                        <a:rPr lang="en-US" altLang="en-US" sz="2400" dirty="0"/>
                        <a:t>Alzheimer disease</a:t>
                      </a:r>
                      <a:endParaRPr lang="en-US" altLang="en-US" sz="2400" dirty="0">
                        <a:ea typeface="MS PGothic" panose="020B0600070205080204" pitchFamily="34" charset="-128"/>
                      </a:endParaRPr>
                    </a:p>
                  </a:txBody>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ADHD</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Attention-deficit hyperactivity disorder</a:t>
                      </a:r>
                      <a:endParaRPr lang="en-US" altLang="en-US" sz="2400" dirty="0">
                        <a:ea typeface="MS PGothic" panose="020B0600070205080204" pitchFamily="34" charset="-128"/>
                      </a:endParaRPr>
                    </a:p>
                  </a:txBody>
                  <a:tcPr/>
                </a:tc>
                <a:extLst>
                  <a:ext uri="{0D108BD9-81ED-4DB2-BD59-A6C34878D82A}">
                    <a16:rowId xmlns:a16="http://schemas.microsoft.com/office/drawing/2014/main" val="10002"/>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ADLs</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Activities of daily living</a:t>
                      </a:r>
                      <a:endParaRPr lang="en-US" altLang="en-US" sz="2400" dirty="0">
                        <a:ea typeface="MS PGothic" panose="020B0600070205080204" pitchFamily="34" charset="-128"/>
                      </a:endParaRPr>
                    </a:p>
                  </a:txBody>
                  <a:tcPr/>
                </a:tc>
                <a:extLst>
                  <a:ext uri="{0D108BD9-81ED-4DB2-BD59-A6C34878D82A}">
                    <a16:rowId xmlns:a16="http://schemas.microsoft.com/office/drawing/2014/main" val="10003"/>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AIMS</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Abnormal involuntary movement scale</a:t>
                      </a:r>
                      <a:endParaRPr lang="en-US" altLang="en-US" sz="2400" dirty="0">
                        <a:ea typeface="MS PGothic" panose="020B0600070205080204" pitchFamily="34" charset="-128"/>
                      </a:endParaRPr>
                    </a:p>
                  </a:txBody>
                  <a:tcPr/>
                </a:tc>
                <a:extLst>
                  <a:ext uri="{0D108BD9-81ED-4DB2-BD59-A6C34878D82A}">
                    <a16:rowId xmlns:a16="http://schemas.microsoft.com/office/drawing/2014/main" val="10004"/>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ASD</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Autism spectrum disorder</a:t>
                      </a:r>
                      <a:endParaRPr lang="en-US" altLang="en-US" sz="2400" dirty="0">
                        <a:ea typeface="MS PGothic" panose="020B0600070205080204" pitchFamily="34" charset="-128"/>
                      </a:endParaRPr>
                    </a:p>
                  </a:txBody>
                  <a:tcPr/>
                </a:tc>
                <a:extLst>
                  <a:ext uri="{0D108BD9-81ED-4DB2-BD59-A6C34878D82A}">
                    <a16:rowId xmlns:a16="http://schemas.microsoft.com/office/drawing/2014/main" val="10005"/>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BZD</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Benzodiazepine</a:t>
                      </a:r>
                      <a:endParaRPr lang="en-US" altLang="en-US" sz="2400" dirty="0">
                        <a:ea typeface="MS PGothic" panose="020B0600070205080204" pitchFamily="34" charset="-128"/>
                      </a:endParaRPr>
                    </a:p>
                  </a:txBody>
                  <a:tcPr/>
                </a:tc>
                <a:extLst>
                  <a:ext uri="{0D108BD9-81ED-4DB2-BD59-A6C34878D82A}">
                    <a16:rowId xmlns:a16="http://schemas.microsoft.com/office/drawing/2014/main" val="10006"/>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CA</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Chronological age</a:t>
                      </a:r>
                      <a:endParaRPr lang="en-US" altLang="en-US" sz="2400" dirty="0">
                        <a:ea typeface="MS PGothic" panose="020B0600070205080204" pitchFamily="34" charset="-128"/>
                      </a:endParaRPr>
                    </a:p>
                  </a:txBody>
                  <a:tcPr/>
                </a:tc>
                <a:extLst>
                  <a:ext uri="{0D108BD9-81ED-4DB2-BD59-A6C34878D82A}">
                    <a16:rowId xmlns:a16="http://schemas.microsoft.com/office/drawing/2014/main" val="10007"/>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CBT</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Cognitive behavioral therapy</a:t>
                      </a:r>
                      <a:endParaRPr lang="en-US" altLang="en-US" sz="2400" dirty="0">
                        <a:ea typeface="MS PGothic" panose="020B0600070205080204" pitchFamily="34" charset="-128"/>
                      </a:endParaRPr>
                    </a:p>
                  </a:txBody>
                  <a:tcPr/>
                </a:tc>
                <a:extLst>
                  <a:ext uri="{0D108BD9-81ED-4DB2-BD59-A6C34878D82A}">
                    <a16:rowId xmlns:a16="http://schemas.microsoft.com/office/drawing/2014/main" val="10008"/>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CNS</a:t>
                      </a:r>
                    </a:p>
                  </a:txBody>
                  <a:tcPr/>
                </a:tc>
                <a:tc>
                  <a:txBody>
                    <a:bodyPr/>
                    <a:lstStyle/>
                    <a:p>
                      <a:pPr marL="0" indent="0" eaLnBrk="1" hangingPunct="1">
                        <a:buFont typeface="Wingdings 2" panose="05020102010507070707" pitchFamily="18" charset="2"/>
                        <a:buNone/>
                      </a:pPr>
                      <a:r>
                        <a:rPr lang="en-US" altLang="en-US" sz="2400" dirty="0"/>
                        <a:t>Central nervous system</a:t>
                      </a:r>
                      <a:endParaRPr lang="en-US" altLang="en-US" sz="2400" dirty="0">
                        <a:ea typeface="MS PGothic" panose="020B0600070205080204" pitchFamily="34" charset="-128"/>
                      </a:endParaRPr>
                    </a:p>
                  </a:txBody>
                  <a:tcPr/>
                </a:tc>
                <a:extLst>
                  <a:ext uri="{0D108BD9-81ED-4DB2-BD59-A6C34878D82A}">
                    <a16:rowId xmlns:a16="http://schemas.microsoft.com/office/drawing/2014/main" val="10009"/>
                  </a:ext>
                </a:extLst>
              </a:tr>
            </a:tbl>
          </a:graphicData>
        </a:graphic>
      </p:graphicFrame>
    </p:spTree>
    <p:extLst>
      <p:ext uri="{BB962C8B-B14F-4D97-AF65-F5344CB8AC3E}">
        <p14:creationId xmlns:p14="http://schemas.microsoft.com/office/powerpoint/2010/main" val="90623685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Abbreviations (Slide 2 of 4)</a:t>
            </a:r>
            <a:endParaRPr lang="en-US" dirty="0"/>
          </a:p>
        </p:txBody>
      </p:sp>
      <p:graphicFrame>
        <p:nvGraphicFramePr>
          <p:cNvPr id="5" name="Content Placeholder 4" descr="Group 2 of 4 Abbreviations  with corresponding meanings or "/>
          <p:cNvGraphicFramePr>
            <a:graphicFrameLocks noGrp="1"/>
          </p:cNvGraphicFramePr>
          <p:nvPr>
            <p:ph idx="1"/>
            <p:extLst>
              <p:ext uri="{D42A27DB-BD31-4B8C-83A1-F6EECF244321}">
                <p14:modId xmlns:p14="http://schemas.microsoft.com/office/powerpoint/2010/main" val="3740931290"/>
              </p:ext>
            </p:extLst>
          </p:nvPr>
        </p:nvGraphicFramePr>
        <p:xfrm>
          <a:off x="457200" y="1295400"/>
          <a:ext cx="8229600" cy="5059680"/>
        </p:xfrm>
        <a:graphic>
          <a:graphicData uri="http://schemas.openxmlformats.org/drawingml/2006/table">
            <a:tbl>
              <a:tblPr firstRow="1" bandRow="1">
                <a:tableStyleId>{C083E6E3-FA7D-4D7B-A595-EF9225AFEA82}</a:tableStyleId>
              </a:tblPr>
              <a:tblGrid>
                <a:gridCol w="2743200">
                  <a:extLst>
                    <a:ext uri="{9D8B030D-6E8A-4147-A177-3AD203B41FA5}">
                      <a16:colId xmlns:a16="http://schemas.microsoft.com/office/drawing/2014/main" val="20000"/>
                    </a:ext>
                  </a:extLst>
                </a:gridCol>
                <a:gridCol w="5486400">
                  <a:extLst>
                    <a:ext uri="{9D8B030D-6E8A-4147-A177-3AD203B41FA5}">
                      <a16:colId xmlns:a16="http://schemas.microsoft.com/office/drawing/2014/main" val="20001"/>
                    </a:ext>
                  </a:extLst>
                </a:gridCol>
              </a:tblGrid>
              <a:tr h="370840">
                <a:tc>
                  <a:txBody>
                    <a:bodyPr/>
                    <a:lstStyle/>
                    <a:p>
                      <a:r>
                        <a:rPr lang="en-US" sz="2400" dirty="0"/>
                        <a:t>Abbreviation</a:t>
                      </a:r>
                    </a:p>
                  </a:txBody>
                  <a:tcPr/>
                </a:tc>
                <a:tc>
                  <a:txBody>
                    <a:bodyPr/>
                    <a:lstStyle/>
                    <a:p>
                      <a:r>
                        <a:rPr lang="en-US" sz="2400" dirty="0"/>
                        <a:t>Meaning/Definition</a:t>
                      </a:r>
                    </a:p>
                  </a:txBody>
                  <a:tcPr/>
                </a:tc>
                <a:extLst>
                  <a:ext uri="{0D108BD9-81ED-4DB2-BD59-A6C34878D82A}">
                    <a16:rowId xmlns:a16="http://schemas.microsoft.com/office/drawing/2014/main" val="10000"/>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200" dirty="0"/>
                        <a:t>DSM-5TR</a:t>
                      </a:r>
                    </a:p>
                  </a:txBody>
                  <a:tcPr/>
                </a:tc>
                <a:tc>
                  <a:txBody>
                    <a:bodyPr/>
                    <a:lstStyle/>
                    <a:p>
                      <a:pPr marL="0" marR="0" indent="0" algn="l" defTabSz="914400" rtl="0" eaLnBrk="1" fontAlgn="auto" latinLnBrk="0" hangingPunct="1">
                        <a:lnSpc>
                          <a:spcPct val="100000"/>
                        </a:lnSpc>
                        <a:spcBef>
                          <a:spcPts val="0"/>
                        </a:spcBef>
                        <a:spcAft>
                          <a:spcPts val="0"/>
                        </a:spcAft>
                        <a:buClrTx/>
                        <a:buSzTx/>
                        <a:buFont typeface="Wingdings 2" panose="05020102010507070707" pitchFamily="18" charset="2"/>
                        <a:buNone/>
                        <a:tabLst/>
                        <a:defRPr/>
                      </a:pPr>
                      <a:r>
                        <a:rPr lang="en-US" altLang="en-US" sz="2200" dirty="0"/>
                        <a:t>Diagnostic and Statistical Manual of Mental Disorders, 5th edition, Text Revision</a:t>
                      </a:r>
                      <a:endParaRPr lang="en-US" altLang="en-US" sz="2200" i="1" dirty="0"/>
                    </a:p>
                  </a:txBody>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200" dirty="0"/>
                        <a:t>DT</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200" dirty="0"/>
                        <a:t>Delirium tremens</a:t>
                      </a:r>
                    </a:p>
                  </a:txBody>
                  <a:tcPr/>
                </a:tc>
                <a:extLst>
                  <a:ext uri="{0D108BD9-81ED-4DB2-BD59-A6C34878D82A}">
                    <a16:rowId xmlns:a16="http://schemas.microsoft.com/office/drawing/2014/main" val="10002"/>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200" dirty="0"/>
                        <a:t>ECT</a:t>
                      </a:r>
                    </a:p>
                  </a:txBody>
                  <a:tcPr/>
                </a:tc>
                <a:tc>
                  <a:txBody>
                    <a:bodyPr/>
                    <a:lstStyle/>
                    <a:p>
                      <a:r>
                        <a:rPr lang="en-US" altLang="en-US" sz="2200" dirty="0"/>
                        <a:t>Electroconvulsive</a:t>
                      </a:r>
                      <a:endParaRPr lang="en-US" sz="2200" dirty="0"/>
                    </a:p>
                  </a:txBody>
                  <a:tcPr/>
                </a:tc>
                <a:extLst>
                  <a:ext uri="{0D108BD9-81ED-4DB2-BD59-A6C34878D82A}">
                    <a16:rowId xmlns:a16="http://schemas.microsoft.com/office/drawing/2014/main" val="10003"/>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200" dirty="0"/>
                        <a:t>GAD</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200" dirty="0"/>
                        <a:t>Generalized anxiety disorder</a:t>
                      </a:r>
                    </a:p>
                  </a:txBody>
                  <a:tcPr/>
                </a:tc>
                <a:extLst>
                  <a:ext uri="{0D108BD9-81ED-4DB2-BD59-A6C34878D82A}">
                    <a16:rowId xmlns:a16="http://schemas.microsoft.com/office/drawing/2014/main" val="10004"/>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200" dirty="0"/>
                        <a:t>ID</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200" dirty="0"/>
                        <a:t>Intellectual disability</a:t>
                      </a:r>
                    </a:p>
                  </a:txBody>
                  <a:tcPr/>
                </a:tc>
                <a:extLst>
                  <a:ext uri="{0D108BD9-81ED-4DB2-BD59-A6C34878D82A}">
                    <a16:rowId xmlns:a16="http://schemas.microsoft.com/office/drawing/2014/main" val="10005"/>
                  </a:ext>
                </a:extLst>
              </a:tr>
              <a:tr h="370840">
                <a:tc>
                  <a:txBody>
                    <a:bodyPr/>
                    <a:lstStyle/>
                    <a:p>
                      <a:pPr eaLnBrk="1" hangingPunct="1"/>
                      <a:r>
                        <a:rPr lang="en-US" altLang="en-US" sz="2200" dirty="0"/>
                        <a:t>IQ</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200" dirty="0"/>
                        <a:t>Intelligence quotient</a:t>
                      </a:r>
                    </a:p>
                  </a:txBody>
                  <a:tcPr/>
                </a:tc>
                <a:extLst>
                  <a:ext uri="{0D108BD9-81ED-4DB2-BD59-A6C34878D82A}">
                    <a16:rowId xmlns:a16="http://schemas.microsoft.com/office/drawing/2014/main" val="10006"/>
                  </a:ext>
                </a:extLst>
              </a:tr>
              <a:tr h="370840">
                <a:tc>
                  <a:txBody>
                    <a:bodyPr/>
                    <a:lstStyle/>
                    <a:p>
                      <a:r>
                        <a:rPr lang="en-US" altLang="en-US" sz="2200" dirty="0"/>
                        <a:t>LSD</a:t>
                      </a:r>
                      <a:endParaRPr lang="en-US" sz="22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200" dirty="0"/>
                        <a:t>Lysergic acid diethylamide</a:t>
                      </a:r>
                    </a:p>
                  </a:txBody>
                  <a:tcPr/>
                </a:tc>
                <a:extLst>
                  <a:ext uri="{0D108BD9-81ED-4DB2-BD59-A6C34878D82A}">
                    <a16:rowId xmlns:a16="http://schemas.microsoft.com/office/drawing/2014/main" val="10007"/>
                  </a:ext>
                </a:extLst>
              </a:tr>
              <a:tr h="370840">
                <a:tc>
                  <a:txBody>
                    <a:bodyPr/>
                    <a:lstStyle/>
                    <a:p>
                      <a:r>
                        <a:rPr lang="en-US" altLang="en-US" sz="2200" dirty="0"/>
                        <a:t>MA</a:t>
                      </a:r>
                      <a:endParaRPr lang="en-US" sz="22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200" dirty="0"/>
                        <a:t>Mental age</a:t>
                      </a:r>
                    </a:p>
                  </a:txBody>
                  <a:tcPr/>
                </a:tc>
                <a:extLst>
                  <a:ext uri="{0D108BD9-81ED-4DB2-BD59-A6C34878D82A}">
                    <a16:rowId xmlns:a16="http://schemas.microsoft.com/office/drawing/2014/main" val="10008"/>
                  </a:ext>
                </a:extLst>
              </a:tr>
              <a:tr h="370840">
                <a:tc>
                  <a:txBody>
                    <a:bodyPr/>
                    <a:lstStyle/>
                    <a:p>
                      <a:r>
                        <a:rPr lang="en-US" altLang="en-US" sz="2200" dirty="0"/>
                        <a:t>MAOI</a:t>
                      </a:r>
                      <a:endParaRPr lang="en-US" sz="22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200" dirty="0"/>
                        <a:t>Monoamine oxidase inhibitor</a:t>
                      </a:r>
                    </a:p>
                  </a:txBody>
                  <a:tcPr/>
                </a:tc>
                <a:extLst>
                  <a:ext uri="{0D108BD9-81ED-4DB2-BD59-A6C34878D82A}">
                    <a16:rowId xmlns:a16="http://schemas.microsoft.com/office/drawing/2014/main" val="10009"/>
                  </a:ext>
                </a:extLst>
              </a:tr>
              <a:tr h="370840">
                <a:tc>
                  <a:txBody>
                    <a:bodyPr/>
                    <a:lstStyle/>
                    <a:p>
                      <a:r>
                        <a:rPr lang="en-US" altLang="en-US" sz="2200" dirty="0"/>
                        <a:t>MDD</a:t>
                      </a:r>
                      <a:endParaRPr lang="en-US" sz="22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000" dirty="0"/>
                        <a:t>Major depressive disorder</a:t>
                      </a:r>
                    </a:p>
                  </a:txBody>
                  <a:tcPr/>
                </a:tc>
                <a:extLst>
                  <a:ext uri="{0D108BD9-81ED-4DB2-BD59-A6C34878D82A}">
                    <a16:rowId xmlns:a16="http://schemas.microsoft.com/office/drawing/2014/main" val="10010"/>
                  </a:ext>
                </a:extLst>
              </a:tr>
            </a:tbl>
          </a:graphicData>
        </a:graphic>
      </p:graphicFrame>
    </p:spTree>
    <p:extLst>
      <p:ext uri="{BB962C8B-B14F-4D97-AF65-F5344CB8AC3E}">
        <p14:creationId xmlns:p14="http://schemas.microsoft.com/office/powerpoint/2010/main" val="438741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Abbreviations (Slide 3 of 4)</a:t>
            </a:r>
            <a:endParaRPr lang="en-US" dirty="0"/>
          </a:p>
        </p:txBody>
      </p:sp>
      <p:graphicFrame>
        <p:nvGraphicFramePr>
          <p:cNvPr id="5" name="Content Placeholder 4" descr="Group 3 of 4 Abbreviations  with corresponding meanings or "/>
          <p:cNvGraphicFramePr>
            <a:graphicFrameLocks noGrp="1"/>
          </p:cNvGraphicFramePr>
          <p:nvPr>
            <p:ph idx="1"/>
            <p:extLst>
              <p:ext uri="{D42A27DB-BD31-4B8C-83A1-F6EECF244321}">
                <p14:modId xmlns:p14="http://schemas.microsoft.com/office/powerpoint/2010/main" val="3857181155"/>
              </p:ext>
            </p:extLst>
          </p:nvPr>
        </p:nvGraphicFramePr>
        <p:xfrm>
          <a:off x="457200" y="1600200"/>
          <a:ext cx="8229600" cy="4389120"/>
        </p:xfrm>
        <a:graphic>
          <a:graphicData uri="http://schemas.openxmlformats.org/drawingml/2006/table">
            <a:tbl>
              <a:tblPr firstRow="1" bandRow="1">
                <a:tableStyleId>{C083E6E3-FA7D-4D7B-A595-EF9225AFEA82}</a:tableStyleId>
              </a:tblPr>
              <a:tblGrid>
                <a:gridCol w="2743200">
                  <a:extLst>
                    <a:ext uri="{9D8B030D-6E8A-4147-A177-3AD203B41FA5}">
                      <a16:colId xmlns:a16="http://schemas.microsoft.com/office/drawing/2014/main" val="20000"/>
                    </a:ext>
                  </a:extLst>
                </a:gridCol>
                <a:gridCol w="5486400">
                  <a:extLst>
                    <a:ext uri="{9D8B030D-6E8A-4147-A177-3AD203B41FA5}">
                      <a16:colId xmlns:a16="http://schemas.microsoft.com/office/drawing/2014/main" val="20001"/>
                    </a:ext>
                  </a:extLst>
                </a:gridCol>
              </a:tblGrid>
              <a:tr h="370840">
                <a:tc>
                  <a:txBody>
                    <a:bodyPr/>
                    <a:lstStyle/>
                    <a:p>
                      <a:r>
                        <a:rPr lang="en-US" sz="2400" dirty="0"/>
                        <a:t>Abbreviation</a:t>
                      </a:r>
                    </a:p>
                  </a:txBody>
                  <a:tcPr/>
                </a:tc>
                <a:tc>
                  <a:txBody>
                    <a:bodyPr/>
                    <a:lstStyle/>
                    <a:p>
                      <a:r>
                        <a:rPr lang="en-US" sz="2400" dirty="0"/>
                        <a:t>Meaning/Definition</a:t>
                      </a:r>
                    </a:p>
                  </a:txBody>
                  <a:tcPr/>
                </a:tc>
                <a:extLst>
                  <a:ext uri="{0D108BD9-81ED-4DB2-BD59-A6C34878D82A}">
                    <a16:rowId xmlns:a16="http://schemas.microsoft.com/office/drawing/2014/main" val="10000"/>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MMPI</a:t>
                      </a:r>
                    </a:p>
                  </a:txBody>
                  <a:tcPr/>
                </a:tc>
                <a:tc>
                  <a:txBody>
                    <a:bodyPr/>
                    <a:lstStyle/>
                    <a:p>
                      <a:pPr marL="0" marR="0" indent="0" algn="l" defTabSz="914400" rtl="0" eaLnBrk="1" fontAlgn="auto" latinLnBrk="0" hangingPunct="1">
                        <a:lnSpc>
                          <a:spcPct val="100000"/>
                        </a:lnSpc>
                        <a:spcBef>
                          <a:spcPts val="0"/>
                        </a:spcBef>
                        <a:spcAft>
                          <a:spcPts val="0"/>
                        </a:spcAft>
                        <a:buClrTx/>
                        <a:buSzTx/>
                        <a:buFont typeface="Wingdings 2" panose="05020102010507070707" pitchFamily="18" charset="2"/>
                        <a:buNone/>
                        <a:tabLst/>
                        <a:defRPr/>
                      </a:pPr>
                      <a:r>
                        <a:rPr lang="en-US" altLang="en-US" sz="2400" dirty="0"/>
                        <a:t>Minnesota Multiphasic Personality Inventory</a:t>
                      </a:r>
                    </a:p>
                  </a:txBody>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OCD</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Obsessive-compulsive disorder</a:t>
                      </a:r>
                    </a:p>
                  </a:txBody>
                  <a:tcPr/>
                </a:tc>
                <a:extLst>
                  <a:ext uri="{0D108BD9-81ED-4DB2-BD59-A6C34878D82A}">
                    <a16:rowId xmlns:a16="http://schemas.microsoft.com/office/drawing/2014/main" val="10002"/>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PTSD</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Post-traumatic stress disorder</a:t>
                      </a:r>
                    </a:p>
                  </a:txBody>
                  <a:tcPr/>
                </a:tc>
                <a:extLst>
                  <a:ext uri="{0D108BD9-81ED-4DB2-BD59-A6C34878D82A}">
                    <a16:rowId xmlns:a16="http://schemas.microsoft.com/office/drawing/2014/main" val="10003"/>
                  </a:ext>
                </a:extLst>
              </a:tr>
              <a:tr h="370840">
                <a:tc>
                  <a:txBody>
                    <a:bodyPr/>
                    <a:lstStyle/>
                    <a:p>
                      <a:r>
                        <a:rPr lang="en-US" altLang="en-US" sz="2400" dirty="0"/>
                        <a:t>Rx</a:t>
                      </a:r>
                      <a:endParaRPr lang="en-US" sz="2400" dirty="0"/>
                    </a:p>
                  </a:txBody>
                  <a:tcPr/>
                </a:tc>
                <a:tc>
                  <a:txBody>
                    <a:bodyPr/>
                    <a:lstStyle/>
                    <a:p>
                      <a:r>
                        <a:rPr lang="en-US" altLang="en-US" sz="2400" dirty="0"/>
                        <a:t>Therapy</a:t>
                      </a:r>
                      <a:endParaRPr lang="en-US" sz="2400" dirty="0"/>
                    </a:p>
                  </a:txBody>
                  <a:tcPr/>
                </a:tc>
                <a:extLst>
                  <a:ext uri="{0D108BD9-81ED-4DB2-BD59-A6C34878D82A}">
                    <a16:rowId xmlns:a16="http://schemas.microsoft.com/office/drawing/2014/main" val="10004"/>
                  </a:ext>
                </a:extLst>
              </a:tr>
              <a:tr h="370840">
                <a:tc>
                  <a:txBody>
                    <a:bodyPr/>
                    <a:lstStyle/>
                    <a:p>
                      <a:r>
                        <a:rPr lang="en-US" altLang="en-US" sz="2400" dirty="0"/>
                        <a:t>SAD</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Seasonal affective disorder</a:t>
                      </a:r>
                    </a:p>
                  </a:txBody>
                  <a:tcPr/>
                </a:tc>
                <a:extLst>
                  <a:ext uri="{0D108BD9-81ED-4DB2-BD59-A6C34878D82A}">
                    <a16:rowId xmlns:a16="http://schemas.microsoft.com/office/drawing/2014/main" val="10005"/>
                  </a:ext>
                </a:extLst>
              </a:tr>
              <a:tr h="370840">
                <a:tc>
                  <a:txBody>
                    <a:bodyPr/>
                    <a:lstStyle/>
                    <a:p>
                      <a:r>
                        <a:rPr lang="en-US" altLang="en-US" sz="2400" dirty="0"/>
                        <a:t>SNRI</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Serotonin norepinephrine reuptake inhibitor</a:t>
                      </a:r>
                    </a:p>
                  </a:txBody>
                  <a:tcPr/>
                </a:tc>
                <a:extLst>
                  <a:ext uri="{0D108BD9-81ED-4DB2-BD59-A6C34878D82A}">
                    <a16:rowId xmlns:a16="http://schemas.microsoft.com/office/drawing/2014/main" val="10006"/>
                  </a:ext>
                </a:extLst>
              </a:tr>
              <a:tr h="370840">
                <a:tc>
                  <a:txBody>
                    <a:bodyPr/>
                    <a:lstStyle/>
                    <a:p>
                      <a:r>
                        <a:rPr lang="en-US" altLang="en-US" sz="2400" dirty="0"/>
                        <a:t>SSRI</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Selective serotonin reuptake inhibitor</a:t>
                      </a:r>
                    </a:p>
                  </a:txBody>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202510859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Abbreviations (Slide 4 of 4)</a:t>
            </a:r>
            <a:endParaRPr lang="en-US" dirty="0"/>
          </a:p>
        </p:txBody>
      </p:sp>
      <p:graphicFrame>
        <p:nvGraphicFramePr>
          <p:cNvPr id="5" name="Content Placeholder 4" descr="Group 4 of 4 Abbreviations  with corresponding meanings or "/>
          <p:cNvGraphicFramePr>
            <a:graphicFrameLocks noGrp="1"/>
          </p:cNvGraphicFramePr>
          <p:nvPr>
            <p:ph idx="1"/>
            <p:extLst>
              <p:ext uri="{D42A27DB-BD31-4B8C-83A1-F6EECF244321}">
                <p14:modId xmlns:p14="http://schemas.microsoft.com/office/powerpoint/2010/main" val="91180862"/>
              </p:ext>
            </p:extLst>
          </p:nvPr>
        </p:nvGraphicFramePr>
        <p:xfrm>
          <a:off x="457200" y="1600200"/>
          <a:ext cx="8229600" cy="4114800"/>
        </p:xfrm>
        <a:graphic>
          <a:graphicData uri="http://schemas.openxmlformats.org/drawingml/2006/table">
            <a:tbl>
              <a:tblPr firstRow="1" bandRow="1">
                <a:tableStyleId>{C083E6E3-FA7D-4D7B-A595-EF9225AFEA82}</a:tableStyleId>
              </a:tblPr>
              <a:tblGrid>
                <a:gridCol w="2743200">
                  <a:extLst>
                    <a:ext uri="{9D8B030D-6E8A-4147-A177-3AD203B41FA5}">
                      <a16:colId xmlns:a16="http://schemas.microsoft.com/office/drawing/2014/main" val="20000"/>
                    </a:ext>
                  </a:extLst>
                </a:gridCol>
                <a:gridCol w="5486400">
                  <a:extLst>
                    <a:ext uri="{9D8B030D-6E8A-4147-A177-3AD203B41FA5}">
                      <a16:colId xmlns:a16="http://schemas.microsoft.com/office/drawing/2014/main" val="20001"/>
                    </a:ext>
                  </a:extLst>
                </a:gridCol>
              </a:tblGrid>
              <a:tr h="370840">
                <a:tc>
                  <a:txBody>
                    <a:bodyPr/>
                    <a:lstStyle/>
                    <a:p>
                      <a:r>
                        <a:rPr lang="en-US" sz="2400" dirty="0"/>
                        <a:t>Abbreviation</a:t>
                      </a:r>
                    </a:p>
                  </a:txBody>
                  <a:tcPr/>
                </a:tc>
                <a:tc>
                  <a:txBody>
                    <a:bodyPr/>
                    <a:lstStyle/>
                    <a:p>
                      <a:r>
                        <a:rPr lang="en-US" sz="2400" dirty="0"/>
                        <a:t>Meaning/Definition</a:t>
                      </a:r>
                    </a:p>
                  </a:txBody>
                  <a:tcPr/>
                </a:tc>
                <a:extLst>
                  <a:ext uri="{0D108BD9-81ED-4DB2-BD59-A6C34878D82A}">
                    <a16:rowId xmlns:a16="http://schemas.microsoft.com/office/drawing/2014/main" val="10000"/>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TAT</a:t>
                      </a:r>
                    </a:p>
                  </a:txBody>
                  <a:tcPr/>
                </a:tc>
                <a:tc>
                  <a:txBody>
                    <a:bodyPr/>
                    <a:lstStyle/>
                    <a:p>
                      <a:pPr marL="0" marR="0" indent="0" algn="l" defTabSz="914400" rtl="0" eaLnBrk="1" fontAlgn="auto" latinLnBrk="0" hangingPunct="1">
                        <a:lnSpc>
                          <a:spcPct val="100000"/>
                        </a:lnSpc>
                        <a:spcBef>
                          <a:spcPts val="0"/>
                        </a:spcBef>
                        <a:spcAft>
                          <a:spcPts val="0"/>
                        </a:spcAft>
                        <a:buClrTx/>
                        <a:buSzTx/>
                        <a:buFont typeface="Wingdings 2" panose="05020102010507070707" pitchFamily="18" charset="2"/>
                        <a:buNone/>
                        <a:tabLst/>
                        <a:defRPr/>
                      </a:pPr>
                      <a:r>
                        <a:rPr lang="en-US" altLang="en-US" sz="2400" dirty="0"/>
                        <a:t>Thematic Apperception Test</a:t>
                      </a:r>
                    </a:p>
                  </a:txBody>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TCA</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Tricyclic antidepressants</a:t>
                      </a:r>
                    </a:p>
                  </a:txBody>
                  <a:tcPr/>
                </a:tc>
                <a:extLst>
                  <a:ext uri="{0D108BD9-81ED-4DB2-BD59-A6C34878D82A}">
                    <a16:rowId xmlns:a16="http://schemas.microsoft.com/office/drawing/2014/main" val="10002"/>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TD</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Tardive dyskinesia</a:t>
                      </a:r>
                    </a:p>
                  </a:txBody>
                  <a:tcPr/>
                </a:tc>
                <a:extLst>
                  <a:ext uri="{0D108BD9-81ED-4DB2-BD59-A6C34878D82A}">
                    <a16:rowId xmlns:a16="http://schemas.microsoft.com/office/drawing/2014/main" val="10003"/>
                  </a:ext>
                </a:extLst>
              </a:tr>
              <a:tr h="370840">
                <a:tc>
                  <a:txBody>
                    <a:bodyPr/>
                    <a:lstStyle/>
                    <a:p>
                      <a:r>
                        <a:rPr lang="en-US" altLang="en-US" sz="2400" dirty="0"/>
                        <a:t>THC</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Delta-9-tetrahydrocannabinol</a:t>
                      </a:r>
                    </a:p>
                  </a:txBody>
                  <a:tcPr/>
                </a:tc>
                <a:extLst>
                  <a:ext uri="{0D108BD9-81ED-4DB2-BD59-A6C34878D82A}">
                    <a16:rowId xmlns:a16="http://schemas.microsoft.com/office/drawing/2014/main" val="10004"/>
                  </a:ext>
                </a:extLst>
              </a:tr>
              <a:tr h="370840">
                <a:tc>
                  <a:txBody>
                    <a:bodyPr/>
                    <a:lstStyle/>
                    <a:p>
                      <a:r>
                        <a:rPr lang="en-US" altLang="en-US" sz="2400" dirty="0"/>
                        <a:t>WAIS</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Wechsler Adult Intelligence Scale</a:t>
                      </a:r>
                    </a:p>
                  </a:txBody>
                  <a:tcPr/>
                </a:tc>
                <a:extLst>
                  <a:ext uri="{0D108BD9-81ED-4DB2-BD59-A6C34878D82A}">
                    <a16:rowId xmlns:a16="http://schemas.microsoft.com/office/drawing/2014/main" val="10005"/>
                  </a:ext>
                </a:extLst>
              </a:tr>
              <a:tr h="370840">
                <a:tc>
                  <a:txBody>
                    <a:bodyPr/>
                    <a:lstStyle/>
                    <a:p>
                      <a:r>
                        <a:rPr lang="en-US" altLang="en-US" sz="2400" dirty="0"/>
                        <a:t>WISC</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Wechsler Intelligence Scale for Children</a:t>
                      </a:r>
                    </a:p>
                  </a:txBody>
                  <a:tcPr/>
                </a:tc>
                <a:extLst>
                  <a:ext uri="{0D108BD9-81ED-4DB2-BD59-A6C34878D82A}">
                    <a16:rowId xmlns:a16="http://schemas.microsoft.com/office/drawing/2014/main" val="10006"/>
                  </a:ext>
                </a:extLst>
              </a:tr>
              <a:tr h="370840">
                <a:tc>
                  <a:txBody>
                    <a:bodyPr/>
                    <a:lstStyle/>
                    <a:p>
                      <a:r>
                        <a:rPr lang="en-US" altLang="en-US" sz="2400" dirty="0" err="1"/>
                        <a:t>Ψ</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Symbol for psychiatry</a:t>
                      </a:r>
                    </a:p>
                  </a:txBody>
                  <a:tcPr/>
                </a:tc>
                <a:extLst>
                  <a:ext uri="{0D108BD9-81ED-4DB2-BD59-A6C34878D82A}">
                    <a16:rowId xmlns:a16="http://schemas.microsoft.com/office/drawing/2014/main" val="10007"/>
                  </a:ext>
                </a:extLst>
              </a:tr>
              <a:tr h="370840">
                <a:tc>
                  <a:txBody>
                    <a:bodyPr/>
                    <a:lstStyle/>
                    <a:p>
                      <a:r>
                        <a:rPr lang="en-US" altLang="en-US" sz="2400" dirty="0" err="1"/>
                        <a:t>ΨRx</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Psychotherapy</a:t>
                      </a:r>
                    </a:p>
                  </a:txBody>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405931318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4000" dirty="0"/>
              <a:t>Combining Forms, Suffixes, Prefixes, and Terminology (Slide 1 of 4)</a:t>
            </a:r>
            <a:endParaRPr lang="en-US" sz="4000" dirty="0"/>
          </a:p>
        </p:txBody>
      </p:sp>
      <p:graphicFrame>
        <p:nvGraphicFramePr>
          <p:cNvPr id="5" name="Content Placeholder 4" descr="Group 1 of 4 lists Combining Forms, Prefixes and Terminology section of the textbook  with corresponding meanings or "/>
          <p:cNvGraphicFramePr>
            <a:graphicFrameLocks noGrp="1"/>
          </p:cNvGraphicFramePr>
          <p:nvPr>
            <p:ph idx="1"/>
            <p:extLst>
              <p:ext uri="{D42A27DB-BD31-4B8C-83A1-F6EECF244321}">
                <p14:modId xmlns:p14="http://schemas.microsoft.com/office/powerpoint/2010/main" val="733755563"/>
              </p:ext>
            </p:extLst>
          </p:nvPr>
        </p:nvGraphicFramePr>
        <p:xfrm>
          <a:off x="457200" y="1600200"/>
          <a:ext cx="8229600" cy="3657600"/>
        </p:xfrm>
        <a:graphic>
          <a:graphicData uri="http://schemas.openxmlformats.org/drawingml/2006/table">
            <a:tbl>
              <a:tblPr firstRow="1" bandRow="1">
                <a:tableStyleId>{68D230F3-CF80-4859-8CE7-A43EE81993B5}</a:tableStyleId>
              </a:tblPr>
              <a:tblGrid>
                <a:gridCol w="2743200">
                  <a:extLst>
                    <a:ext uri="{9D8B030D-6E8A-4147-A177-3AD203B41FA5}">
                      <a16:colId xmlns:a16="http://schemas.microsoft.com/office/drawing/2014/main" val="20000"/>
                    </a:ext>
                  </a:extLst>
                </a:gridCol>
                <a:gridCol w="5486400">
                  <a:extLst>
                    <a:ext uri="{9D8B030D-6E8A-4147-A177-3AD203B41FA5}">
                      <a16:colId xmlns:a16="http://schemas.microsoft.com/office/drawing/2014/main" val="20001"/>
                    </a:ext>
                  </a:extLst>
                </a:gridCol>
              </a:tblGrid>
              <a:tr h="370840">
                <a:tc>
                  <a:txBody>
                    <a:bodyPr/>
                    <a:lstStyle/>
                    <a:p>
                      <a:r>
                        <a:rPr lang="en-US" sz="2400" dirty="0"/>
                        <a:t>Combining</a:t>
                      </a:r>
                      <a:r>
                        <a:rPr lang="en-US" sz="2400" baseline="0" dirty="0"/>
                        <a:t> Form</a:t>
                      </a:r>
                      <a:endParaRPr lang="en-US" sz="2400" dirty="0"/>
                    </a:p>
                  </a:txBody>
                  <a:tcPr/>
                </a:tc>
                <a:tc>
                  <a:txBody>
                    <a:bodyPr/>
                    <a:lstStyle/>
                    <a:p>
                      <a:r>
                        <a:rPr lang="en-US" sz="2400" dirty="0"/>
                        <a:t>Meaning</a:t>
                      </a:r>
                    </a:p>
                  </a:txBody>
                  <a:tcPr/>
                </a:tc>
                <a:extLst>
                  <a:ext uri="{0D108BD9-81ED-4DB2-BD59-A6C34878D82A}">
                    <a16:rowId xmlns:a16="http://schemas.microsoft.com/office/drawing/2014/main" val="10000"/>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400" b="1" dirty="0" err="1"/>
                        <a:t>anxi</a:t>
                      </a:r>
                      <a:r>
                        <a:rPr lang="en-US" sz="2400" b="1" dirty="0"/>
                        <a:t>/o</a:t>
                      </a:r>
                      <a:endParaRPr lang="en-US" altLang="en-US" sz="2400" dirty="0"/>
                    </a:p>
                  </a:txBody>
                  <a:tcPr/>
                </a:tc>
                <a:tc>
                  <a:txBody>
                    <a:bodyPr/>
                    <a:lstStyle/>
                    <a:p>
                      <a:pPr marL="0" indent="0" eaLnBrk="1" hangingPunct="1">
                        <a:buFont typeface="Wingdings 2" panose="05020102010507070707" pitchFamily="18" charset="2"/>
                        <a:buNone/>
                      </a:pPr>
                      <a:r>
                        <a:rPr lang="en-US" sz="2400" dirty="0"/>
                        <a:t>uneasy, anxious</a:t>
                      </a:r>
                      <a:endParaRPr lang="en-US" altLang="en-US" sz="2400" dirty="0"/>
                    </a:p>
                  </a:txBody>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400" b="1" dirty="0"/>
                        <a:t>auto-</a:t>
                      </a:r>
                      <a:endParaRPr lang="en-US" alt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400" dirty="0"/>
                        <a:t>self</a:t>
                      </a:r>
                      <a:endParaRPr lang="en-US" altLang="en-US" sz="2400" dirty="0"/>
                    </a:p>
                  </a:txBody>
                  <a:tcPr/>
                </a:tc>
                <a:extLst>
                  <a:ext uri="{0D108BD9-81ED-4DB2-BD59-A6C34878D82A}">
                    <a16:rowId xmlns:a16="http://schemas.microsoft.com/office/drawing/2014/main" val="10002"/>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400" b="1" dirty="0" err="1"/>
                        <a:t>hallucin</a:t>
                      </a:r>
                      <a:r>
                        <a:rPr lang="en-US" sz="2400" b="1" dirty="0"/>
                        <a:t>/o</a:t>
                      </a:r>
                      <a:endParaRPr lang="en-US" alt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400" dirty="0"/>
                        <a:t>hallucination</a:t>
                      </a:r>
                      <a:endParaRPr lang="en-US" altLang="en-US" sz="2400" dirty="0"/>
                    </a:p>
                  </a:txBody>
                  <a:tcPr/>
                </a:tc>
                <a:extLst>
                  <a:ext uri="{0D108BD9-81ED-4DB2-BD59-A6C34878D82A}">
                    <a16:rowId xmlns:a16="http://schemas.microsoft.com/office/drawing/2014/main" val="10003"/>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400" b="1" dirty="0" err="1"/>
                        <a:t>hypn</a:t>
                      </a:r>
                      <a:r>
                        <a:rPr lang="en-US" sz="2400" b="1" dirty="0"/>
                        <a:t>/o</a:t>
                      </a:r>
                      <a:endParaRPr lang="en-US" alt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400" dirty="0"/>
                        <a:t>sleep</a:t>
                      </a:r>
                      <a:endParaRPr lang="en-US" altLang="en-US" sz="2400" dirty="0"/>
                    </a:p>
                  </a:txBody>
                  <a:tcPr/>
                </a:tc>
                <a:extLst>
                  <a:ext uri="{0D108BD9-81ED-4DB2-BD59-A6C34878D82A}">
                    <a16:rowId xmlns:a16="http://schemas.microsoft.com/office/drawing/2014/main" val="10004"/>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400" b="1" dirty="0" err="1"/>
                        <a:t>iatr</a:t>
                      </a:r>
                      <a:r>
                        <a:rPr lang="en-US" sz="2400" b="1" dirty="0"/>
                        <a:t>/o</a:t>
                      </a:r>
                      <a:endParaRPr lang="en-US" alt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400" dirty="0"/>
                        <a:t>treatment</a:t>
                      </a:r>
                      <a:endParaRPr lang="en-US" altLang="en-US" sz="2400" dirty="0"/>
                    </a:p>
                  </a:txBody>
                  <a:tcPr/>
                </a:tc>
                <a:extLst>
                  <a:ext uri="{0D108BD9-81ED-4DB2-BD59-A6C34878D82A}">
                    <a16:rowId xmlns:a16="http://schemas.microsoft.com/office/drawing/2014/main" val="10005"/>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400" b="1" dirty="0" err="1"/>
                        <a:t>ment</a:t>
                      </a:r>
                      <a:r>
                        <a:rPr lang="en-US" sz="2400" b="1" dirty="0"/>
                        <a:t>/o</a:t>
                      </a:r>
                      <a:endParaRPr lang="en-US" altLang="en-US" sz="2400" dirty="0"/>
                    </a:p>
                  </a:txBody>
                  <a:tcPr/>
                </a:tc>
                <a:tc>
                  <a:txBody>
                    <a:bodyPr/>
                    <a:lstStyle/>
                    <a:p>
                      <a:r>
                        <a:rPr lang="en-US" sz="2400" dirty="0"/>
                        <a:t>mind</a:t>
                      </a:r>
                    </a:p>
                  </a:txBody>
                  <a:tcPr/>
                </a:tc>
                <a:extLst>
                  <a:ext uri="{0D108BD9-81ED-4DB2-BD59-A6C34878D82A}">
                    <a16:rowId xmlns:a16="http://schemas.microsoft.com/office/drawing/2014/main" val="10006"/>
                  </a:ext>
                </a:extLst>
              </a:tr>
              <a:tr h="370840">
                <a:tc>
                  <a:txBody>
                    <a:bodyPr/>
                    <a:lstStyle/>
                    <a:p>
                      <a:r>
                        <a:rPr lang="en-US" sz="2400" b="1" dirty="0" err="1"/>
                        <a:t>neur</a:t>
                      </a:r>
                      <a:r>
                        <a:rPr lang="en-US" sz="2400" b="1" dirty="0"/>
                        <a:t>/o</a:t>
                      </a:r>
                      <a:endParaRPr lang="en-US" sz="2400" dirty="0"/>
                    </a:p>
                  </a:txBody>
                  <a:tcPr/>
                </a:tc>
                <a:tc>
                  <a:txBody>
                    <a:bodyPr/>
                    <a:lstStyle/>
                    <a:p>
                      <a:r>
                        <a:rPr lang="en-US" sz="2400" dirty="0"/>
                        <a:t>nerve</a:t>
                      </a:r>
                    </a:p>
                  </a:txBody>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41424920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4000" dirty="0"/>
              <a:t>Combining Forms, Suffixes, Prefixes, and Terminology (Slide 2 of 4)</a:t>
            </a:r>
            <a:endParaRPr lang="en-US" sz="4000" dirty="0"/>
          </a:p>
        </p:txBody>
      </p:sp>
      <p:graphicFrame>
        <p:nvGraphicFramePr>
          <p:cNvPr id="5" name="Content Placeholder 4" descr="Group 2 of 4 lists Combining Forms, Prefixes and Terminology section of the textbook  with corresponding meanings or "/>
          <p:cNvGraphicFramePr>
            <a:graphicFrameLocks noGrp="1"/>
          </p:cNvGraphicFramePr>
          <p:nvPr>
            <p:ph idx="1"/>
            <p:extLst>
              <p:ext uri="{D42A27DB-BD31-4B8C-83A1-F6EECF244321}">
                <p14:modId xmlns:p14="http://schemas.microsoft.com/office/powerpoint/2010/main" val="768139469"/>
              </p:ext>
            </p:extLst>
          </p:nvPr>
        </p:nvGraphicFramePr>
        <p:xfrm>
          <a:off x="457200" y="1600200"/>
          <a:ext cx="8229600" cy="2743200"/>
        </p:xfrm>
        <a:graphic>
          <a:graphicData uri="http://schemas.openxmlformats.org/drawingml/2006/table">
            <a:tbl>
              <a:tblPr firstRow="1" bandRow="1">
                <a:tableStyleId>{68D230F3-CF80-4859-8CE7-A43EE81993B5}</a:tableStyleId>
              </a:tblPr>
              <a:tblGrid>
                <a:gridCol w="2743200">
                  <a:extLst>
                    <a:ext uri="{9D8B030D-6E8A-4147-A177-3AD203B41FA5}">
                      <a16:colId xmlns:a16="http://schemas.microsoft.com/office/drawing/2014/main" val="20000"/>
                    </a:ext>
                  </a:extLst>
                </a:gridCol>
                <a:gridCol w="5486400">
                  <a:extLst>
                    <a:ext uri="{9D8B030D-6E8A-4147-A177-3AD203B41FA5}">
                      <a16:colId xmlns:a16="http://schemas.microsoft.com/office/drawing/2014/main" val="20001"/>
                    </a:ext>
                  </a:extLst>
                </a:gridCol>
              </a:tblGrid>
              <a:tr h="370840">
                <a:tc>
                  <a:txBody>
                    <a:bodyPr/>
                    <a:lstStyle/>
                    <a:p>
                      <a:r>
                        <a:rPr lang="en-US" sz="2400" dirty="0"/>
                        <a:t>Combining</a:t>
                      </a:r>
                      <a:r>
                        <a:rPr lang="en-US" sz="2400" baseline="0" dirty="0"/>
                        <a:t> Form</a:t>
                      </a:r>
                      <a:endParaRPr lang="en-US" sz="2400" dirty="0"/>
                    </a:p>
                  </a:txBody>
                  <a:tcPr/>
                </a:tc>
                <a:tc>
                  <a:txBody>
                    <a:bodyPr/>
                    <a:lstStyle/>
                    <a:p>
                      <a:r>
                        <a:rPr lang="en-US" sz="2400" dirty="0"/>
                        <a:t>Meaning</a:t>
                      </a:r>
                    </a:p>
                  </a:txBody>
                  <a:tcPr/>
                </a:tc>
                <a:extLst>
                  <a:ext uri="{0D108BD9-81ED-4DB2-BD59-A6C34878D82A}">
                    <a16:rowId xmlns:a16="http://schemas.microsoft.com/office/drawing/2014/main" val="10000"/>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400" b="1" dirty="0" err="1"/>
                        <a:t>phil</a:t>
                      </a:r>
                      <a:r>
                        <a:rPr lang="en-US" sz="2400" b="1" dirty="0"/>
                        <a:t>/o</a:t>
                      </a:r>
                      <a:endParaRPr lang="en-US" altLang="en-US" sz="2400" dirty="0"/>
                    </a:p>
                  </a:txBody>
                  <a:tcPr/>
                </a:tc>
                <a:tc>
                  <a:txBody>
                    <a:bodyPr/>
                    <a:lstStyle/>
                    <a:p>
                      <a:pPr marL="0" indent="0" eaLnBrk="1" hangingPunct="1">
                        <a:buFont typeface="Wingdings 2" panose="05020102010507070707" pitchFamily="18" charset="2"/>
                        <a:buNone/>
                      </a:pPr>
                      <a:r>
                        <a:rPr lang="en-US" sz="2400" dirty="0"/>
                        <a:t>attraction to, love</a:t>
                      </a:r>
                      <a:endParaRPr lang="en-US" altLang="en-US" sz="2400" dirty="0"/>
                    </a:p>
                  </a:txBody>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400" b="1" dirty="0" err="1"/>
                        <a:t>phren</a:t>
                      </a:r>
                      <a:r>
                        <a:rPr lang="en-US" sz="2400" b="1" dirty="0"/>
                        <a:t>/o</a:t>
                      </a:r>
                      <a:endParaRPr lang="en-US" alt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400" dirty="0"/>
                        <a:t>mind</a:t>
                      </a:r>
                      <a:endParaRPr lang="en-US" altLang="en-US" sz="2400" dirty="0"/>
                    </a:p>
                  </a:txBody>
                  <a:tcPr/>
                </a:tc>
                <a:extLst>
                  <a:ext uri="{0D108BD9-81ED-4DB2-BD59-A6C34878D82A}">
                    <a16:rowId xmlns:a16="http://schemas.microsoft.com/office/drawing/2014/main" val="10002"/>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400" b="1" dirty="0"/>
                        <a:t>psych/o</a:t>
                      </a:r>
                      <a:endParaRPr lang="en-US" alt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400" dirty="0"/>
                        <a:t>mind</a:t>
                      </a:r>
                      <a:endParaRPr lang="en-US" altLang="en-US" sz="2400" dirty="0"/>
                    </a:p>
                  </a:txBody>
                  <a:tcPr/>
                </a:tc>
                <a:extLst>
                  <a:ext uri="{0D108BD9-81ED-4DB2-BD59-A6C34878D82A}">
                    <a16:rowId xmlns:a16="http://schemas.microsoft.com/office/drawing/2014/main" val="10003"/>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400" b="1" dirty="0" err="1"/>
                        <a:t>schiz</a:t>
                      </a:r>
                      <a:r>
                        <a:rPr lang="en-US" sz="2400" b="1" dirty="0"/>
                        <a:t>/o</a:t>
                      </a:r>
                      <a:endParaRPr lang="en-US" alt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400" dirty="0"/>
                        <a:t>split</a:t>
                      </a:r>
                      <a:endParaRPr lang="en-US" altLang="en-US" sz="2400" dirty="0"/>
                    </a:p>
                  </a:txBody>
                  <a:tcPr/>
                </a:tc>
                <a:extLst>
                  <a:ext uri="{0D108BD9-81ED-4DB2-BD59-A6C34878D82A}">
                    <a16:rowId xmlns:a16="http://schemas.microsoft.com/office/drawing/2014/main" val="10004"/>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400" b="1" dirty="0" err="1"/>
                        <a:t>somat</a:t>
                      </a:r>
                      <a:r>
                        <a:rPr lang="en-US" sz="2400" b="1" dirty="0"/>
                        <a:t>/o</a:t>
                      </a:r>
                      <a:endParaRPr lang="en-US" alt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400" dirty="0"/>
                        <a:t>body</a:t>
                      </a:r>
                      <a:endParaRPr lang="en-US" altLang="en-US" sz="2400" dirty="0"/>
                    </a:p>
                  </a:txBody>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307101004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4000" dirty="0"/>
              <a:t>Combining Forms, Suffixes, Prefixes, and Terminology (Slide 3 of 4)</a:t>
            </a:r>
            <a:endParaRPr lang="en-US" sz="4000" dirty="0"/>
          </a:p>
        </p:txBody>
      </p:sp>
      <p:graphicFrame>
        <p:nvGraphicFramePr>
          <p:cNvPr id="5" name="Content Placeholder 4" descr="Group 3 of 4 lists suffixes from the Terminology section of the textbook  with corresponding meanings or "/>
          <p:cNvGraphicFramePr>
            <a:graphicFrameLocks noGrp="1"/>
          </p:cNvGraphicFramePr>
          <p:nvPr>
            <p:ph idx="1"/>
            <p:extLst>
              <p:ext uri="{D42A27DB-BD31-4B8C-83A1-F6EECF244321}">
                <p14:modId xmlns:p14="http://schemas.microsoft.com/office/powerpoint/2010/main" val="3917993220"/>
              </p:ext>
            </p:extLst>
          </p:nvPr>
        </p:nvGraphicFramePr>
        <p:xfrm>
          <a:off x="457200" y="1600200"/>
          <a:ext cx="8229600" cy="3200400"/>
        </p:xfrm>
        <a:graphic>
          <a:graphicData uri="http://schemas.openxmlformats.org/drawingml/2006/table">
            <a:tbl>
              <a:tblPr firstRow="1" bandRow="1">
                <a:tableStyleId>{68D230F3-CF80-4859-8CE7-A43EE81993B5}</a:tableStyleId>
              </a:tblPr>
              <a:tblGrid>
                <a:gridCol w="2743200">
                  <a:extLst>
                    <a:ext uri="{9D8B030D-6E8A-4147-A177-3AD203B41FA5}">
                      <a16:colId xmlns:a16="http://schemas.microsoft.com/office/drawing/2014/main" val="20000"/>
                    </a:ext>
                  </a:extLst>
                </a:gridCol>
                <a:gridCol w="5486400">
                  <a:extLst>
                    <a:ext uri="{9D8B030D-6E8A-4147-A177-3AD203B41FA5}">
                      <a16:colId xmlns:a16="http://schemas.microsoft.com/office/drawing/2014/main" val="20001"/>
                    </a:ext>
                  </a:extLst>
                </a:gridCol>
              </a:tblGrid>
              <a:tr h="370840">
                <a:tc>
                  <a:txBody>
                    <a:bodyPr/>
                    <a:lstStyle/>
                    <a:p>
                      <a:r>
                        <a:rPr lang="en-US" sz="2400" dirty="0"/>
                        <a:t>Suffix</a:t>
                      </a:r>
                    </a:p>
                  </a:txBody>
                  <a:tcPr/>
                </a:tc>
                <a:tc>
                  <a:txBody>
                    <a:bodyPr/>
                    <a:lstStyle/>
                    <a:p>
                      <a:r>
                        <a:rPr lang="en-US" sz="2400" dirty="0"/>
                        <a:t>Meaning</a:t>
                      </a:r>
                    </a:p>
                  </a:txBody>
                  <a:tcPr/>
                </a:tc>
                <a:extLst>
                  <a:ext uri="{0D108BD9-81ED-4DB2-BD59-A6C34878D82A}">
                    <a16:rowId xmlns:a16="http://schemas.microsoft.com/office/drawing/2014/main" val="10000"/>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400" b="1" dirty="0"/>
                        <a:t>-genic</a:t>
                      </a:r>
                      <a:endParaRPr lang="en-US" altLang="en-US" sz="2400" dirty="0"/>
                    </a:p>
                  </a:txBody>
                  <a:tcPr/>
                </a:tc>
                <a:tc>
                  <a:txBody>
                    <a:bodyPr/>
                    <a:lstStyle/>
                    <a:p>
                      <a:pPr marL="0" indent="0" eaLnBrk="1" hangingPunct="1">
                        <a:buFont typeface="Wingdings 2" panose="05020102010507070707" pitchFamily="18" charset="2"/>
                        <a:buNone/>
                      </a:pPr>
                      <a:r>
                        <a:rPr lang="en-US" sz="2400" dirty="0"/>
                        <a:t>produced by</a:t>
                      </a:r>
                      <a:endParaRPr lang="en-US" altLang="en-US" sz="2400" dirty="0"/>
                    </a:p>
                  </a:txBody>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400" b="1" dirty="0"/>
                        <a:t>-</a:t>
                      </a:r>
                      <a:r>
                        <a:rPr lang="en-US" sz="2400" b="1" dirty="0" err="1"/>
                        <a:t>leptic</a:t>
                      </a:r>
                      <a:endParaRPr lang="en-US" alt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400" dirty="0"/>
                        <a:t>to seize hold of</a:t>
                      </a:r>
                      <a:endParaRPr lang="en-US" altLang="en-US" sz="2400" dirty="0"/>
                    </a:p>
                  </a:txBody>
                  <a:tcPr/>
                </a:tc>
                <a:extLst>
                  <a:ext uri="{0D108BD9-81ED-4DB2-BD59-A6C34878D82A}">
                    <a16:rowId xmlns:a16="http://schemas.microsoft.com/office/drawing/2014/main" val="10002"/>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400" b="1" dirty="0"/>
                        <a:t>-mania</a:t>
                      </a:r>
                      <a:endParaRPr lang="en-US" alt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400" dirty="0"/>
                        <a:t>obsessive</a:t>
                      </a:r>
                      <a:endParaRPr lang="en-US" altLang="en-US" sz="2400" dirty="0"/>
                    </a:p>
                  </a:txBody>
                  <a:tcPr/>
                </a:tc>
                <a:extLst>
                  <a:ext uri="{0D108BD9-81ED-4DB2-BD59-A6C34878D82A}">
                    <a16:rowId xmlns:a16="http://schemas.microsoft.com/office/drawing/2014/main" val="10003"/>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400" b="1" dirty="0"/>
                        <a:t>-phobia</a:t>
                      </a:r>
                      <a:endParaRPr lang="en-US" alt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400" dirty="0"/>
                        <a:t>fear</a:t>
                      </a:r>
                      <a:endParaRPr lang="en-US" altLang="en-US" sz="2400" dirty="0"/>
                    </a:p>
                  </a:txBody>
                  <a:tcPr/>
                </a:tc>
                <a:extLst>
                  <a:ext uri="{0D108BD9-81ED-4DB2-BD59-A6C34878D82A}">
                    <a16:rowId xmlns:a16="http://schemas.microsoft.com/office/drawing/2014/main" val="10004"/>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400" b="1" dirty="0"/>
                        <a:t>-</a:t>
                      </a:r>
                      <a:r>
                        <a:rPr lang="en-US" sz="2400" b="1" dirty="0" err="1"/>
                        <a:t>phoria</a:t>
                      </a:r>
                      <a:endParaRPr lang="en-US" alt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400" dirty="0"/>
                        <a:t>feeling</a:t>
                      </a:r>
                      <a:endParaRPr lang="en-US" altLang="en-US" sz="2400" dirty="0"/>
                    </a:p>
                  </a:txBody>
                  <a:tcPr/>
                </a:tc>
                <a:extLst>
                  <a:ext uri="{0D108BD9-81ED-4DB2-BD59-A6C34878D82A}">
                    <a16:rowId xmlns:a16="http://schemas.microsoft.com/office/drawing/2014/main" val="10005"/>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400" b="1" dirty="0"/>
                        <a:t>-</a:t>
                      </a:r>
                      <a:r>
                        <a:rPr lang="en-US" sz="2400" b="1" dirty="0" err="1"/>
                        <a:t>thymia</a:t>
                      </a:r>
                      <a:endParaRPr lang="en-US" altLang="en-US" sz="2400" dirty="0"/>
                    </a:p>
                  </a:txBody>
                  <a:tcPr/>
                </a:tc>
                <a:tc>
                  <a:txBody>
                    <a:bodyPr/>
                    <a:lstStyle/>
                    <a:p>
                      <a:r>
                        <a:rPr lang="en-US" sz="2400" dirty="0"/>
                        <a:t>mind</a:t>
                      </a:r>
                    </a:p>
                  </a:txBody>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297102218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4000" dirty="0"/>
              <a:t>Combining Forms, Suffixes, Prefixes, and Terminology (Slide 4 of 4)</a:t>
            </a:r>
            <a:endParaRPr lang="en-US" sz="4000" dirty="0"/>
          </a:p>
        </p:txBody>
      </p:sp>
      <p:graphicFrame>
        <p:nvGraphicFramePr>
          <p:cNvPr id="5" name="Content Placeholder 4" descr="Group 4 of 4 lists Prefixes and Suffixes from the Terminology section of the textbook  with corresponding meanings or "/>
          <p:cNvGraphicFramePr>
            <a:graphicFrameLocks noGrp="1"/>
          </p:cNvGraphicFramePr>
          <p:nvPr>
            <p:ph idx="1"/>
            <p:extLst>
              <p:ext uri="{D42A27DB-BD31-4B8C-83A1-F6EECF244321}">
                <p14:modId xmlns:p14="http://schemas.microsoft.com/office/powerpoint/2010/main" val="4072934952"/>
              </p:ext>
            </p:extLst>
          </p:nvPr>
        </p:nvGraphicFramePr>
        <p:xfrm>
          <a:off x="457200" y="1600200"/>
          <a:ext cx="8229600" cy="2743200"/>
        </p:xfrm>
        <a:graphic>
          <a:graphicData uri="http://schemas.openxmlformats.org/drawingml/2006/table">
            <a:tbl>
              <a:tblPr firstRow="1" bandRow="1">
                <a:tableStyleId>{68D230F3-CF80-4859-8CE7-A43EE81993B5}</a:tableStyleId>
              </a:tblPr>
              <a:tblGrid>
                <a:gridCol w="2743200">
                  <a:extLst>
                    <a:ext uri="{9D8B030D-6E8A-4147-A177-3AD203B41FA5}">
                      <a16:colId xmlns:a16="http://schemas.microsoft.com/office/drawing/2014/main" val="20000"/>
                    </a:ext>
                  </a:extLst>
                </a:gridCol>
                <a:gridCol w="5486400">
                  <a:extLst>
                    <a:ext uri="{9D8B030D-6E8A-4147-A177-3AD203B41FA5}">
                      <a16:colId xmlns:a16="http://schemas.microsoft.com/office/drawing/2014/main" val="20001"/>
                    </a:ext>
                  </a:extLst>
                </a:gridCol>
              </a:tblGrid>
              <a:tr h="370840">
                <a:tc>
                  <a:txBody>
                    <a:bodyPr/>
                    <a:lstStyle/>
                    <a:p>
                      <a:r>
                        <a:rPr lang="en-US" sz="2400" dirty="0"/>
                        <a:t>Prefix</a:t>
                      </a:r>
                    </a:p>
                  </a:txBody>
                  <a:tcPr/>
                </a:tc>
                <a:tc>
                  <a:txBody>
                    <a:bodyPr/>
                    <a:lstStyle/>
                    <a:p>
                      <a:r>
                        <a:rPr lang="en-US" sz="2400" dirty="0"/>
                        <a:t>Meaning</a:t>
                      </a:r>
                    </a:p>
                  </a:txBody>
                  <a:tcPr/>
                </a:tc>
                <a:extLst>
                  <a:ext uri="{0D108BD9-81ED-4DB2-BD59-A6C34878D82A}">
                    <a16:rowId xmlns:a16="http://schemas.microsoft.com/office/drawing/2014/main" val="10000"/>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400" b="1" dirty="0"/>
                        <a:t>-a-, an-</a:t>
                      </a:r>
                      <a:endParaRPr lang="en-US" altLang="en-US" sz="2400" dirty="0"/>
                    </a:p>
                  </a:txBody>
                  <a:tcPr/>
                </a:tc>
                <a:tc>
                  <a:txBody>
                    <a:bodyPr/>
                    <a:lstStyle/>
                    <a:p>
                      <a:pPr marL="0" indent="0" eaLnBrk="1" hangingPunct="1">
                        <a:buFont typeface="Wingdings 2" panose="05020102010507070707" pitchFamily="18" charset="2"/>
                        <a:buNone/>
                      </a:pPr>
                      <a:r>
                        <a:rPr lang="en-US" sz="2400" dirty="0"/>
                        <a:t>no, not</a:t>
                      </a:r>
                      <a:endParaRPr lang="en-US" altLang="en-US" sz="2400" dirty="0"/>
                    </a:p>
                  </a:txBody>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400" b="1" dirty="0"/>
                        <a:t>bi-</a:t>
                      </a:r>
                      <a:endParaRPr lang="en-US" alt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400" dirty="0"/>
                        <a:t>two</a:t>
                      </a:r>
                      <a:endParaRPr lang="en-US" altLang="en-US" sz="2400" dirty="0"/>
                    </a:p>
                  </a:txBody>
                  <a:tcPr/>
                </a:tc>
                <a:extLst>
                  <a:ext uri="{0D108BD9-81ED-4DB2-BD59-A6C34878D82A}">
                    <a16:rowId xmlns:a16="http://schemas.microsoft.com/office/drawing/2014/main" val="10002"/>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400" b="1" dirty="0" err="1"/>
                        <a:t>cata</a:t>
                      </a:r>
                      <a:r>
                        <a:rPr lang="en-US" sz="2400" b="1" dirty="0"/>
                        <a:t>-</a:t>
                      </a:r>
                      <a:endParaRPr lang="en-US" alt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400" dirty="0"/>
                        <a:t>down</a:t>
                      </a:r>
                      <a:endParaRPr lang="en-US" altLang="en-US" sz="2400" dirty="0"/>
                    </a:p>
                  </a:txBody>
                  <a:tcPr/>
                </a:tc>
                <a:extLst>
                  <a:ext uri="{0D108BD9-81ED-4DB2-BD59-A6C34878D82A}">
                    <a16:rowId xmlns:a16="http://schemas.microsoft.com/office/drawing/2014/main" val="10003"/>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400" b="1" dirty="0"/>
                        <a:t>hypo-</a:t>
                      </a:r>
                      <a:endParaRPr lang="en-US" alt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400" dirty="0"/>
                        <a:t>deficient, less than</a:t>
                      </a:r>
                      <a:endParaRPr lang="en-US" altLang="en-US" sz="2400" dirty="0"/>
                    </a:p>
                  </a:txBody>
                  <a:tcPr/>
                </a:tc>
                <a:extLst>
                  <a:ext uri="{0D108BD9-81ED-4DB2-BD59-A6C34878D82A}">
                    <a16:rowId xmlns:a16="http://schemas.microsoft.com/office/drawing/2014/main" val="10004"/>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400" b="1" dirty="0" err="1"/>
                        <a:t>para</a:t>
                      </a:r>
                      <a:r>
                        <a:rPr lang="en-US" sz="2400" b="1" dirty="0"/>
                        <a:t>-</a:t>
                      </a:r>
                      <a:endParaRPr lang="en-US" alt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400" dirty="0"/>
                        <a:t>abnormal</a:t>
                      </a:r>
                      <a:endParaRPr lang="en-US" altLang="en-US" sz="2400" dirty="0"/>
                    </a:p>
                  </a:txBody>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225001686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p:cNvSpPr>
            <a:spLocks noGrp="1" noChangeArrowheads="1"/>
          </p:cNvSpPr>
          <p:nvPr>
            <p:ph type="title"/>
          </p:nvPr>
        </p:nvSpPr>
        <p:spPr>
          <a:xfrm>
            <a:off x="762000" y="304800"/>
            <a:ext cx="7772400" cy="1219200"/>
          </a:xfrm>
        </p:spPr>
        <p:txBody>
          <a:bodyPr/>
          <a:lstStyle/>
          <a:p>
            <a:pPr eaLnBrk="1" hangingPunct="1"/>
            <a:r>
              <a:rPr lang="en-US" altLang="en-US" dirty="0"/>
              <a:t>      QUICK QUIZ (Slide 1 of 3)</a:t>
            </a:r>
            <a:endParaRPr lang="en-US" altLang="en-US" sz="4800" dirty="0"/>
          </a:p>
        </p:txBody>
      </p:sp>
      <p:sp>
        <p:nvSpPr>
          <p:cNvPr id="91139" name="Rectangle 3"/>
          <p:cNvSpPr>
            <a:spLocks noGrp="1" noChangeArrowheads="1"/>
          </p:cNvSpPr>
          <p:nvPr>
            <p:ph idx="1"/>
          </p:nvPr>
        </p:nvSpPr>
        <p:spPr>
          <a:xfrm>
            <a:off x="762000" y="1676400"/>
            <a:ext cx="6934200" cy="3540125"/>
          </a:xfrm>
        </p:spPr>
        <p:txBody>
          <a:bodyPr>
            <a:spAutoFit/>
          </a:bodyPr>
          <a:lstStyle/>
          <a:p>
            <a:pPr marL="533400" indent="-533400" eaLnBrk="1" hangingPunct="1">
              <a:buFont typeface="Arial" panose="020B0604020202020204" pitchFamily="34" charset="0"/>
              <a:buAutoNum type="arabicPeriod"/>
            </a:pPr>
            <a:r>
              <a:rPr lang="en-US" altLang="en-US" b="1"/>
              <a:t>Fear of strangers is called:</a:t>
            </a:r>
          </a:p>
          <a:p>
            <a:pPr marL="533400" indent="-533400" eaLnBrk="1" hangingPunct="1">
              <a:buFont typeface="Wingdings 2" panose="05020102010507070707" pitchFamily="18" charset="2"/>
              <a:buNone/>
            </a:pPr>
            <a:endParaRPr lang="en-US" altLang="en-US" b="1"/>
          </a:p>
          <a:p>
            <a:pPr marL="914400" lvl="1" indent="-457200" eaLnBrk="1" hangingPunct="1">
              <a:buFont typeface="Arial" panose="020B0604020202020204" pitchFamily="34" charset="0"/>
              <a:buAutoNum type="alphaUcPeriod"/>
            </a:pPr>
            <a:r>
              <a:rPr lang="en-US" altLang="en-US" sz="3200"/>
              <a:t>kleptomania</a:t>
            </a:r>
          </a:p>
          <a:p>
            <a:pPr marL="914400" lvl="1" indent="-457200" eaLnBrk="1" hangingPunct="1">
              <a:buFont typeface="Arial" panose="020B0604020202020204" pitchFamily="34" charset="0"/>
              <a:buAutoNum type="alphaUcPeriod"/>
            </a:pPr>
            <a:r>
              <a:rPr lang="en-US" altLang="en-US" sz="3200"/>
              <a:t>agoraphobia</a:t>
            </a:r>
          </a:p>
          <a:p>
            <a:pPr marL="914400" lvl="1" indent="-457200" eaLnBrk="1" hangingPunct="1">
              <a:buFont typeface="Arial" panose="020B0604020202020204" pitchFamily="34" charset="0"/>
              <a:buAutoNum type="alphaUcPeriod"/>
            </a:pPr>
            <a:r>
              <a:rPr lang="en-US" altLang="en-US" sz="3200"/>
              <a:t>xenophobia</a:t>
            </a:r>
          </a:p>
          <a:p>
            <a:pPr marL="914400" lvl="1" indent="-457200" eaLnBrk="1" hangingPunct="1">
              <a:buFont typeface="Arial" panose="020B0604020202020204" pitchFamily="34" charset="0"/>
              <a:buAutoNum type="alphaUcPeriod"/>
            </a:pPr>
            <a:r>
              <a:rPr lang="en-US" altLang="en-US" sz="3200"/>
              <a:t>pyromania</a:t>
            </a:r>
          </a:p>
        </p:txBody>
      </p:sp>
    </p:spTree>
    <p:extLst>
      <p:ext uri="{BB962C8B-B14F-4D97-AF65-F5344CB8AC3E}">
        <p14:creationId xmlns:p14="http://schemas.microsoft.com/office/powerpoint/2010/main" val="153390462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7"/>
          <p:cNvSpPr>
            <a:spLocks noGrp="1" noChangeArrowheads="1"/>
          </p:cNvSpPr>
          <p:nvPr>
            <p:ph type="title"/>
          </p:nvPr>
        </p:nvSpPr>
        <p:spPr>
          <a:xfrm>
            <a:off x="228600" y="304800"/>
            <a:ext cx="7772400" cy="1219200"/>
          </a:xfrm>
        </p:spPr>
        <p:txBody>
          <a:bodyPr/>
          <a:lstStyle/>
          <a:p>
            <a:pPr algn="r" eaLnBrk="1" hangingPunct="1"/>
            <a:r>
              <a:rPr lang="en-US" altLang="en-US" dirty="0"/>
              <a:t>QUICK QUIZ (Slide 2 of 3</a:t>
            </a:r>
            <a:r>
              <a:rPr lang="en-US" altLang="ja-JP" dirty="0"/>
              <a:t>)	</a:t>
            </a:r>
            <a:endParaRPr lang="en-US" altLang="en-US" dirty="0"/>
          </a:p>
        </p:txBody>
      </p:sp>
      <p:sp>
        <p:nvSpPr>
          <p:cNvPr id="92163" name="Rectangle 3"/>
          <p:cNvSpPr>
            <a:spLocks noGrp="1" noChangeArrowheads="1"/>
          </p:cNvSpPr>
          <p:nvPr>
            <p:ph idx="1"/>
          </p:nvPr>
        </p:nvSpPr>
        <p:spPr>
          <a:xfrm>
            <a:off x="762000" y="1676400"/>
            <a:ext cx="6934200" cy="3887788"/>
          </a:xfrm>
        </p:spPr>
        <p:txBody>
          <a:bodyPr>
            <a:spAutoFit/>
          </a:bodyPr>
          <a:lstStyle/>
          <a:p>
            <a:pPr marL="533400" indent="-533400" eaLnBrk="1" hangingPunct="1">
              <a:buFont typeface="Arial" panose="020B0604020202020204" pitchFamily="34" charset="0"/>
              <a:buAutoNum type="arabicPeriod" startAt="2"/>
            </a:pPr>
            <a:r>
              <a:rPr lang="en-US" altLang="en-US" b="1" dirty="0"/>
              <a:t>Which of these health professionals has an MD degree?</a:t>
            </a:r>
          </a:p>
          <a:p>
            <a:pPr marL="533400" indent="-533400" eaLnBrk="1" hangingPunct="1">
              <a:buFont typeface="Wingdings 2" panose="05020102010507070707" pitchFamily="18" charset="2"/>
              <a:buNone/>
            </a:pPr>
            <a:endParaRPr lang="en-US" altLang="en-US" b="1" dirty="0"/>
          </a:p>
          <a:p>
            <a:pPr marL="914400" lvl="1" indent="-457200" eaLnBrk="1" hangingPunct="1">
              <a:buFont typeface="Arial" panose="020B0604020202020204" pitchFamily="34" charset="0"/>
              <a:buAutoNum type="alphaUcPeriod"/>
            </a:pPr>
            <a:r>
              <a:rPr lang="en-US" altLang="en-US" sz="3200" dirty="0">
                <a:ea typeface="MS PGothic" panose="020B0600070205080204" pitchFamily="34" charset="-128"/>
              </a:rPr>
              <a:t>Psychologist</a:t>
            </a:r>
          </a:p>
          <a:p>
            <a:pPr marL="914400" lvl="1" indent="-457200" eaLnBrk="1" hangingPunct="1">
              <a:buFont typeface="Arial" panose="020B0604020202020204" pitchFamily="34" charset="0"/>
              <a:buAutoNum type="alphaUcPeriod"/>
            </a:pPr>
            <a:r>
              <a:rPr lang="en-US" altLang="en-US" sz="3200" dirty="0">
                <a:ea typeface="MS PGothic" panose="020B0600070205080204" pitchFamily="34" charset="-128"/>
              </a:rPr>
              <a:t>Psychiatrist</a:t>
            </a:r>
          </a:p>
          <a:p>
            <a:pPr marL="914400" lvl="1" indent="-457200" eaLnBrk="1" hangingPunct="1">
              <a:buFont typeface="Arial" panose="020B0604020202020204" pitchFamily="34" charset="0"/>
              <a:buAutoNum type="alphaUcPeriod"/>
            </a:pPr>
            <a:r>
              <a:rPr lang="en-US" altLang="en-US" sz="3200" dirty="0">
                <a:ea typeface="MS PGothic" panose="020B0600070205080204" pitchFamily="34" charset="-128"/>
              </a:rPr>
              <a:t>Clinical psychologist</a:t>
            </a:r>
          </a:p>
          <a:p>
            <a:pPr marL="533400" indent="-533400" eaLnBrk="1" hangingPunct="1">
              <a:lnSpc>
                <a:spcPct val="65000"/>
              </a:lnSpc>
              <a:buFont typeface="Wingdings 2" panose="05020102010507070707" pitchFamily="18" charset="2"/>
              <a:buNone/>
            </a:pPr>
            <a:endParaRPr lang="en-US" altLang="en-US" dirty="0"/>
          </a:p>
        </p:txBody>
      </p:sp>
    </p:spTree>
    <p:extLst>
      <p:ext uri="{BB962C8B-B14F-4D97-AF65-F5344CB8AC3E}">
        <p14:creationId xmlns:p14="http://schemas.microsoft.com/office/powerpoint/2010/main" val="334181598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7"/>
          <p:cNvSpPr>
            <a:spLocks noGrp="1" noChangeArrowheads="1"/>
          </p:cNvSpPr>
          <p:nvPr>
            <p:ph type="title"/>
          </p:nvPr>
        </p:nvSpPr>
        <p:spPr>
          <a:xfrm>
            <a:off x="762000" y="304800"/>
            <a:ext cx="7772400" cy="1219200"/>
          </a:xfrm>
        </p:spPr>
        <p:txBody>
          <a:bodyPr/>
          <a:lstStyle/>
          <a:p>
            <a:pPr eaLnBrk="1" hangingPunct="1"/>
            <a:r>
              <a:rPr lang="en-US" altLang="en-US" dirty="0"/>
              <a:t>      QUICK QUIZ (Slide 3 of 3</a:t>
            </a:r>
            <a:r>
              <a:rPr lang="en-US" altLang="ja-JP" dirty="0"/>
              <a:t>)</a:t>
            </a:r>
            <a:r>
              <a:rPr lang="en-US" altLang="ja-JP" sz="4800" dirty="0"/>
              <a:t>	</a:t>
            </a:r>
            <a:endParaRPr lang="en-US" altLang="en-US" sz="4800" dirty="0"/>
          </a:p>
        </p:txBody>
      </p:sp>
      <p:sp>
        <p:nvSpPr>
          <p:cNvPr id="90115" name="Rectangle 3"/>
          <p:cNvSpPr>
            <a:spLocks noGrp="1" noChangeArrowheads="1"/>
          </p:cNvSpPr>
          <p:nvPr>
            <p:ph idx="1"/>
          </p:nvPr>
        </p:nvSpPr>
        <p:spPr>
          <a:xfrm>
            <a:off x="762000" y="1676400"/>
            <a:ext cx="6934200" cy="4622800"/>
          </a:xfrm>
        </p:spPr>
        <p:txBody>
          <a:bodyPr>
            <a:spAutoFit/>
          </a:bodyPr>
          <a:lstStyle/>
          <a:p>
            <a:pPr marL="533400" indent="-533400" eaLnBrk="1" hangingPunct="1">
              <a:buFont typeface="Arial" panose="020B0604020202020204" pitchFamily="34" charset="0"/>
              <a:buAutoNum type="arabicPeriod" startAt="3"/>
              <a:defRPr/>
            </a:pPr>
            <a:r>
              <a:rPr lang="en-US" b="1" dirty="0"/>
              <a:t>An uncontrollable urge to perform an act repeatedly is called: </a:t>
            </a:r>
          </a:p>
          <a:p>
            <a:pPr marL="0" indent="0" eaLnBrk="1" hangingPunct="1">
              <a:buFont typeface="Arial" panose="020B0604020202020204" pitchFamily="34" charset="0"/>
              <a:buNone/>
              <a:defRPr/>
            </a:pPr>
            <a:endParaRPr lang="en-US" b="1" dirty="0"/>
          </a:p>
          <a:p>
            <a:pPr marL="914400" lvl="1" indent="-457200" eaLnBrk="1" hangingPunct="1">
              <a:buFont typeface="Arial" panose="020B0604020202020204" pitchFamily="34" charset="0"/>
              <a:buAutoNum type="alphaUcPeriod"/>
              <a:defRPr/>
            </a:pPr>
            <a:r>
              <a:rPr lang="en-US" sz="3200" dirty="0">
                <a:ea typeface="MS PGothic" pitchFamily="34" charset="-128"/>
              </a:rPr>
              <a:t>delusion</a:t>
            </a:r>
          </a:p>
          <a:p>
            <a:pPr marL="914400" lvl="1" indent="-457200" eaLnBrk="1" hangingPunct="1">
              <a:buFont typeface="Arial" panose="020B0604020202020204" pitchFamily="34" charset="0"/>
              <a:buAutoNum type="alphaUcPeriod"/>
              <a:defRPr/>
            </a:pPr>
            <a:r>
              <a:rPr lang="en-US" sz="3200" dirty="0">
                <a:ea typeface="MS PGothic" pitchFamily="34" charset="-128"/>
              </a:rPr>
              <a:t>compulsion</a:t>
            </a:r>
          </a:p>
          <a:p>
            <a:pPr marL="914400" lvl="1" indent="-457200" eaLnBrk="1" hangingPunct="1">
              <a:buFont typeface="Arial" panose="020B0604020202020204" pitchFamily="34" charset="0"/>
              <a:buAutoNum type="alphaUcPeriod"/>
              <a:defRPr/>
            </a:pPr>
            <a:r>
              <a:rPr lang="en-US" sz="3200" dirty="0">
                <a:ea typeface="MS PGothic" pitchFamily="34" charset="-128"/>
              </a:rPr>
              <a:t>dissociation</a:t>
            </a:r>
          </a:p>
          <a:p>
            <a:pPr marL="914400" lvl="1" indent="-457200" eaLnBrk="1" hangingPunct="1">
              <a:buFont typeface="Arial" panose="020B0604020202020204" pitchFamily="34" charset="0"/>
              <a:buAutoNum type="alphaUcPeriod"/>
              <a:defRPr/>
            </a:pPr>
            <a:r>
              <a:rPr lang="en-US" sz="3200" dirty="0">
                <a:ea typeface="MS PGothic" pitchFamily="34" charset="-128"/>
              </a:rPr>
              <a:t>amnesia</a:t>
            </a:r>
          </a:p>
          <a:p>
            <a:pPr marL="533400" indent="-533400" eaLnBrk="1" hangingPunct="1">
              <a:buFont typeface="Wingdings 2" pitchFamily="18" charset="2"/>
              <a:buNone/>
              <a:defRPr/>
            </a:pPr>
            <a:endParaRPr lang="en-US" dirty="0"/>
          </a:p>
        </p:txBody>
      </p:sp>
    </p:spTree>
    <p:extLst>
      <p:ext uri="{BB962C8B-B14F-4D97-AF65-F5344CB8AC3E}">
        <p14:creationId xmlns:p14="http://schemas.microsoft.com/office/powerpoint/2010/main" val="82818605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5077</TotalTime>
  <Words>3771</Words>
  <Application>Microsoft Office PowerPoint</Application>
  <PresentationFormat>On-screen Show (4:3)</PresentationFormat>
  <Paragraphs>569</Paragraphs>
  <Slides>60</Slides>
  <Notes>33</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60</vt:i4>
      </vt:variant>
    </vt:vector>
  </HeadingPairs>
  <TitlesOfParts>
    <vt:vector size="69" baseType="lpstr">
      <vt:lpstr>MS PGothic</vt:lpstr>
      <vt:lpstr>MS PGothic</vt:lpstr>
      <vt:lpstr>Arial</vt:lpstr>
      <vt:lpstr>Calibri</vt:lpstr>
      <vt:lpstr>Times</vt:lpstr>
      <vt:lpstr>Times New Roman</vt:lpstr>
      <vt:lpstr>Wingdings</vt:lpstr>
      <vt:lpstr>Wingdings 2</vt:lpstr>
      <vt:lpstr>Office Theme</vt:lpstr>
      <vt:lpstr>The Language of Medicine 13th edition</vt:lpstr>
      <vt:lpstr>Chapter 22 Psychiatry</vt:lpstr>
      <vt:lpstr>Chapter Goals (Slide 1 of 3)</vt:lpstr>
      <vt:lpstr>Chapter Goals (Slide 2 of 3)</vt:lpstr>
      <vt:lpstr>Chapter Goals (Slide 3 of 3)</vt:lpstr>
      <vt:lpstr>Chapter 22 Lesson 22.1</vt:lpstr>
      <vt:lpstr>Introduction</vt:lpstr>
      <vt:lpstr>Tools Used by Psychiatrists</vt:lpstr>
      <vt:lpstr>Tools Used by Clinical Psychologists</vt:lpstr>
      <vt:lpstr>Psychiatric Disorders Background</vt:lpstr>
      <vt:lpstr>Psychiatric Disorders Samples  </vt:lpstr>
      <vt:lpstr>Anxiety Disorders</vt:lpstr>
      <vt:lpstr>Bipolar Disorders</vt:lpstr>
      <vt:lpstr>Depressive Disorders</vt:lpstr>
      <vt:lpstr>Dissociative Disorders</vt:lpstr>
      <vt:lpstr>Eating Disorders</vt:lpstr>
      <vt:lpstr>Neurocognitive Disorders</vt:lpstr>
      <vt:lpstr>Neurodevelopmental Disorders</vt:lpstr>
      <vt:lpstr>Personality Disorders (Slide 1 of 4)</vt:lpstr>
      <vt:lpstr>Personality Disorders (Slide 2 of 4)</vt:lpstr>
      <vt:lpstr>Personality Disorders (Slide 3 of 4)</vt:lpstr>
      <vt:lpstr>Personality Disorders (Slide 4 of 4)</vt:lpstr>
      <vt:lpstr>Chapter 22 Lesson 22.2</vt:lpstr>
      <vt:lpstr>Schizophrenia Spectrum Disorder</vt:lpstr>
      <vt:lpstr>Somatic Symptom Disorders</vt:lpstr>
      <vt:lpstr>Substance-Related &amp; Addictive Disorders</vt:lpstr>
      <vt:lpstr>Substances Associated with Abuse</vt:lpstr>
      <vt:lpstr>Chapter 22 Lesson 22.3</vt:lpstr>
      <vt:lpstr>Therapeutic Modalities</vt:lpstr>
      <vt:lpstr>Psychotherapy</vt:lpstr>
      <vt:lpstr>Drug Therapies and Specific Drugs</vt:lpstr>
      <vt:lpstr>Vocabulary – General Terms, Symptoms, and Disorders (Slide 1 of 12)</vt:lpstr>
      <vt:lpstr>Vocabulary – General Terms, Symptoms, and Disorders (Slide 2 of 12)</vt:lpstr>
      <vt:lpstr>Vocabulary – General Terms, Symptoms, and Disorders (Slide 3 of 12)</vt:lpstr>
      <vt:lpstr>Vocabulary – General Terms, Symptoms, and Disorders (Slide 4 of 12)</vt:lpstr>
      <vt:lpstr>Vocabulary – General Terms, Symptoms, and Disorders (Slide 5 of 12)</vt:lpstr>
      <vt:lpstr>Vocabulary – General Terms, Symptoms, and Disorders (Slide 6 of 12)</vt:lpstr>
      <vt:lpstr>Vocabulary – General Terms, Symptoms, and Disorders (Slide 7 of 12)</vt:lpstr>
      <vt:lpstr>Vocabulary – General Terms, Symptoms, and Disorders (Slide 8 of 12)</vt:lpstr>
      <vt:lpstr>Vocabulary – General Terms, Symptoms, and Disorders (Slide 9 of 12)</vt:lpstr>
      <vt:lpstr>Vocabulary – General Terms, Symptoms, and Disorders (Slide 10 of 12)</vt:lpstr>
      <vt:lpstr>Vocabulary – General Terms, Symptoms, and Disorders (Slide 11 of 12)</vt:lpstr>
      <vt:lpstr>Vocabulary – General Terms, Symptoms, and Disorders (Slide 12 of 12)</vt:lpstr>
      <vt:lpstr>Vocabulary – Therapy (Slide 1 of 6)</vt:lpstr>
      <vt:lpstr>Vocabulary – Therapy (Slide 2 of 6)</vt:lpstr>
      <vt:lpstr>Vocabulary – Therapy (Slide 3 of 6)</vt:lpstr>
      <vt:lpstr>Vocabulary – Therapy (Slide 4 of 6)</vt:lpstr>
      <vt:lpstr>Vocabulary – Therapy (Slide 5 of 6)</vt:lpstr>
      <vt:lpstr>Vocabulary – Therapy (Slide 6 of 6)</vt:lpstr>
      <vt:lpstr>Abbreviations (Slide 1 of 4)</vt:lpstr>
      <vt:lpstr>Abbreviations (Slide 2 of 4)</vt:lpstr>
      <vt:lpstr>Abbreviations (Slide 3 of 4)</vt:lpstr>
      <vt:lpstr>Abbreviations (Slide 4 of 4)</vt:lpstr>
      <vt:lpstr>Combining Forms, Suffixes, Prefixes, and Terminology (Slide 1 of 4)</vt:lpstr>
      <vt:lpstr>Combining Forms, Suffixes, Prefixes, and Terminology (Slide 2 of 4)</vt:lpstr>
      <vt:lpstr>Combining Forms, Suffixes, Prefixes, and Terminology (Slide 3 of 4)</vt:lpstr>
      <vt:lpstr>Combining Forms, Suffixes, Prefixes, and Terminology (Slide 4 of 4)</vt:lpstr>
      <vt:lpstr>      QUICK QUIZ (Slide 1 of 3)</vt:lpstr>
      <vt:lpstr>QUICK QUIZ (Slide 2 of 3) </vt:lpstr>
      <vt:lpstr>      QUICK QUIZ (Slide 3 of 3)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Language of Medicine A Write-in Text Explaining Medical Terms 7th Edition Davi-Ellen Chabner, B.A., M.A.T.</dc:title>
  <dc:creator>dell</dc:creator>
  <cp:lastModifiedBy>mpfeifer</cp:lastModifiedBy>
  <cp:revision>300</cp:revision>
  <cp:lastPrinted>2007-04-13T22:20:09Z</cp:lastPrinted>
  <dcterms:created xsi:type="dcterms:W3CDTF">2004-11-01T16:15:23Z</dcterms:created>
  <dcterms:modified xsi:type="dcterms:W3CDTF">2024-02-06T05:17:29Z</dcterms:modified>
</cp:coreProperties>
</file>