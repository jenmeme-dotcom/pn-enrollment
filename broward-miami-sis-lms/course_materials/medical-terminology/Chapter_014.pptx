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83"/>
  </p:notesMasterIdLst>
  <p:handoutMasterIdLst>
    <p:handoutMasterId r:id="rId84"/>
  </p:handoutMasterIdLst>
  <p:sldIdLst>
    <p:sldId id="332" r:id="rId2"/>
    <p:sldId id="338" r:id="rId3"/>
    <p:sldId id="339" r:id="rId4"/>
    <p:sldId id="340" r:id="rId5"/>
    <p:sldId id="341" r:id="rId6"/>
    <p:sldId id="342" r:id="rId7"/>
    <p:sldId id="343" r:id="rId8"/>
    <p:sldId id="344" r:id="rId9"/>
    <p:sldId id="345" r:id="rId10"/>
    <p:sldId id="346" r:id="rId11"/>
    <p:sldId id="347" r:id="rId12"/>
    <p:sldId id="348" r:id="rId13"/>
    <p:sldId id="349" r:id="rId14"/>
    <p:sldId id="352" r:id="rId15"/>
    <p:sldId id="353" r:id="rId16"/>
    <p:sldId id="354" r:id="rId17"/>
    <p:sldId id="355" r:id="rId18"/>
    <p:sldId id="356" r:id="rId19"/>
    <p:sldId id="357" r:id="rId20"/>
    <p:sldId id="358" r:id="rId21"/>
    <p:sldId id="359" r:id="rId22"/>
    <p:sldId id="360" r:id="rId23"/>
    <p:sldId id="361" r:id="rId24"/>
    <p:sldId id="362" r:id="rId25"/>
    <p:sldId id="363" r:id="rId26"/>
    <p:sldId id="364" r:id="rId27"/>
    <p:sldId id="365" r:id="rId28"/>
    <p:sldId id="366" r:id="rId29"/>
    <p:sldId id="367" r:id="rId30"/>
    <p:sldId id="368" r:id="rId31"/>
    <p:sldId id="369" r:id="rId32"/>
    <p:sldId id="370" r:id="rId33"/>
    <p:sldId id="371" r:id="rId34"/>
    <p:sldId id="372" r:id="rId35"/>
    <p:sldId id="373" r:id="rId36"/>
    <p:sldId id="374" r:id="rId37"/>
    <p:sldId id="375" r:id="rId38"/>
    <p:sldId id="376" r:id="rId39"/>
    <p:sldId id="377" r:id="rId40"/>
    <p:sldId id="378" r:id="rId41"/>
    <p:sldId id="379" r:id="rId42"/>
    <p:sldId id="380" r:id="rId43"/>
    <p:sldId id="381" r:id="rId44"/>
    <p:sldId id="382" r:id="rId45"/>
    <p:sldId id="383" r:id="rId46"/>
    <p:sldId id="384" r:id="rId47"/>
    <p:sldId id="385" r:id="rId48"/>
    <p:sldId id="386" r:id="rId49"/>
    <p:sldId id="387" r:id="rId50"/>
    <p:sldId id="388" r:id="rId51"/>
    <p:sldId id="389" r:id="rId52"/>
    <p:sldId id="390" r:id="rId53"/>
    <p:sldId id="391" r:id="rId54"/>
    <p:sldId id="392" r:id="rId55"/>
    <p:sldId id="393" r:id="rId56"/>
    <p:sldId id="394" r:id="rId57"/>
    <p:sldId id="395" r:id="rId58"/>
    <p:sldId id="396" r:id="rId59"/>
    <p:sldId id="397" r:id="rId60"/>
    <p:sldId id="398" r:id="rId61"/>
    <p:sldId id="399" r:id="rId62"/>
    <p:sldId id="400" r:id="rId63"/>
    <p:sldId id="401" r:id="rId64"/>
    <p:sldId id="402" r:id="rId65"/>
    <p:sldId id="403" r:id="rId66"/>
    <p:sldId id="404" r:id="rId67"/>
    <p:sldId id="406" r:id="rId68"/>
    <p:sldId id="408" r:id="rId69"/>
    <p:sldId id="410" r:id="rId70"/>
    <p:sldId id="411" r:id="rId71"/>
    <p:sldId id="412" r:id="rId72"/>
    <p:sldId id="413" r:id="rId73"/>
    <p:sldId id="414" r:id="rId74"/>
    <p:sldId id="415" r:id="rId75"/>
    <p:sldId id="416" r:id="rId76"/>
    <p:sldId id="417" r:id="rId77"/>
    <p:sldId id="418" r:id="rId78"/>
    <p:sldId id="419" r:id="rId79"/>
    <p:sldId id="420" r:id="rId80"/>
    <p:sldId id="421" r:id="rId81"/>
    <p:sldId id="422" r:id="rId82"/>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92" autoAdjust="0"/>
    <p:restoredTop sz="80777" autoAdjust="0"/>
  </p:normalViewPr>
  <p:slideViewPr>
    <p:cSldViewPr>
      <p:cViewPr varScale="1">
        <p:scale>
          <a:sx n="51" d="100"/>
          <a:sy n="51" d="100"/>
        </p:scale>
        <p:origin x="1496" y="40"/>
      </p:cViewPr>
      <p:guideLst>
        <p:guide orient="horz" pos="1008"/>
        <p:guide pos="432"/>
      </p:guideLst>
    </p:cSldViewPr>
  </p:slideViewPr>
  <p:outlineViewPr>
    <p:cViewPr>
      <p:scale>
        <a:sx n="33" d="100"/>
        <a:sy n="33" d="100"/>
      </p:scale>
      <p:origin x="0" y="119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89"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Pfeifer" userId="fb68dd40a6c6cee7" providerId="LiveId" clId="{9B1BA4AD-BAFE-44BD-8049-E6D81438CED4}"/>
    <pc:docChg chg="modSld modMainMaster">
      <pc:chgData name="Ben Pfeifer" userId="fb68dd40a6c6cee7" providerId="LiveId" clId="{9B1BA4AD-BAFE-44BD-8049-E6D81438CED4}" dt="2023-09-26T08:49:21.724" v="11" actId="12385"/>
      <pc:docMkLst>
        <pc:docMk/>
      </pc:docMkLst>
      <pc:sldChg chg="modSp mod">
        <pc:chgData name="Ben Pfeifer" userId="fb68dd40a6c6cee7" providerId="LiveId" clId="{9B1BA4AD-BAFE-44BD-8049-E6D81438CED4}" dt="2023-09-26T08:47:14.896" v="1" actId="20577"/>
        <pc:sldMkLst>
          <pc:docMk/>
          <pc:sldMk cId="1428288934" sldId="332"/>
        </pc:sldMkLst>
        <pc:spChg chg="mod">
          <ac:chgData name="Ben Pfeifer" userId="fb68dd40a6c6cee7" providerId="LiveId" clId="{9B1BA4AD-BAFE-44BD-8049-E6D81438CED4}" dt="2023-09-26T08:47:14.896" v="1" actId="20577"/>
          <ac:spMkLst>
            <pc:docMk/>
            <pc:sldMk cId="1428288934" sldId="332"/>
            <ac:spMk id="2" creationId="{00000000-0000-0000-0000-000000000000}"/>
          </ac:spMkLst>
        </pc:spChg>
      </pc:sldChg>
      <pc:sldChg chg="modSp mod">
        <pc:chgData name="Ben Pfeifer" userId="fb68dd40a6c6cee7" providerId="LiveId" clId="{9B1BA4AD-BAFE-44BD-8049-E6D81438CED4}" dt="2023-09-26T08:49:03.439" v="7" actId="12385"/>
        <pc:sldMkLst>
          <pc:docMk/>
          <pc:sldMk cId="1727252081" sldId="393"/>
        </pc:sldMkLst>
        <pc:graphicFrameChg chg="modGraphic">
          <ac:chgData name="Ben Pfeifer" userId="fb68dd40a6c6cee7" providerId="LiveId" clId="{9B1BA4AD-BAFE-44BD-8049-E6D81438CED4}" dt="2023-09-26T08:49:03.439" v="7" actId="12385"/>
          <ac:graphicFrameMkLst>
            <pc:docMk/>
            <pc:sldMk cId="1727252081" sldId="393"/>
            <ac:graphicFrameMk id="8" creationId="{00000000-0000-0000-0000-000000000000}"/>
          </ac:graphicFrameMkLst>
        </pc:graphicFrameChg>
      </pc:sldChg>
      <pc:sldChg chg="modSp mod">
        <pc:chgData name="Ben Pfeifer" userId="fb68dd40a6c6cee7" providerId="LiveId" clId="{9B1BA4AD-BAFE-44BD-8049-E6D81438CED4}" dt="2023-09-26T08:49:06.899" v="8" actId="12385"/>
        <pc:sldMkLst>
          <pc:docMk/>
          <pc:sldMk cId="3234411749" sldId="394"/>
        </pc:sldMkLst>
        <pc:graphicFrameChg chg="modGraphic">
          <ac:chgData name="Ben Pfeifer" userId="fb68dd40a6c6cee7" providerId="LiveId" clId="{9B1BA4AD-BAFE-44BD-8049-E6D81438CED4}" dt="2023-09-26T08:49:06.899" v="8" actId="12385"/>
          <ac:graphicFrameMkLst>
            <pc:docMk/>
            <pc:sldMk cId="3234411749" sldId="394"/>
            <ac:graphicFrameMk id="8" creationId="{00000000-0000-0000-0000-000000000000}"/>
          </ac:graphicFrameMkLst>
        </pc:graphicFrameChg>
      </pc:sldChg>
      <pc:sldChg chg="modSp mod">
        <pc:chgData name="Ben Pfeifer" userId="fb68dd40a6c6cee7" providerId="LiveId" clId="{9B1BA4AD-BAFE-44BD-8049-E6D81438CED4}" dt="2023-09-26T08:49:09.612" v="9" actId="12385"/>
        <pc:sldMkLst>
          <pc:docMk/>
          <pc:sldMk cId="1174433619" sldId="406"/>
        </pc:sldMkLst>
        <pc:graphicFrameChg chg="modGraphic">
          <ac:chgData name="Ben Pfeifer" userId="fb68dd40a6c6cee7" providerId="LiveId" clId="{9B1BA4AD-BAFE-44BD-8049-E6D81438CED4}" dt="2023-09-26T08:49:09.612" v="9" actId="12385"/>
          <ac:graphicFrameMkLst>
            <pc:docMk/>
            <pc:sldMk cId="1174433619" sldId="406"/>
            <ac:graphicFrameMk id="8" creationId="{00000000-0000-0000-0000-000000000000}"/>
          </ac:graphicFrameMkLst>
        </pc:graphicFrameChg>
      </pc:sldChg>
      <pc:sldChg chg="modSp mod">
        <pc:chgData name="Ben Pfeifer" userId="fb68dd40a6c6cee7" providerId="LiveId" clId="{9B1BA4AD-BAFE-44BD-8049-E6D81438CED4}" dt="2023-09-26T08:49:16.823" v="10" actId="12385"/>
        <pc:sldMkLst>
          <pc:docMk/>
          <pc:sldMk cId="4176244458" sldId="408"/>
        </pc:sldMkLst>
        <pc:graphicFrameChg chg="modGraphic">
          <ac:chgData name="Ben Pfeifer" userId="fb68dd40a6c6cee7" providerId="LiveId" clId="{9B1BA4AD-BAFE-44BD-8049-E6D81438CED4}" dt="2023-09-26T08:49:16.823" v="10" actId="12385"/>
          <ac:graphicFrameMkLst>
            <pc:docMk/>
            <pc:sldMk cId="4176244458" sldId="408"/>
            <ac:graphicFrameMk id="8" creationId="{00000000-0000-0000-0000-000000000000}"/>
          </ac:graphicFrameMkLst>
        </pc:graphicFrameChg>
      </pc:sldChg>
      <pc:sldChg chg="modSp mod">
        <pc:chgData name="Ben Pfeifer" userId="fb68dd40a6c6cee7" providerId="LiveId" clId="{9B1BA4AD-BAFE-44BD-8049-E6D81438CED4}" dt="2023-09-26T08:49:21.724" v="11" actId="12385"/>
        <pc:sldMkLst>
          <pc:docMk/>
          <pc:sldMk cId="4138694501" sldId="410"/>
        </pc:sldMkLst>
        <pc:graphicFrameChg chg="modGraphic">
          <ac:chgData name="Ben Pfeifer" userId="fb68dd40a6c6cee7" providerId="LiveId" clId="{9B1BA4AD-BAFE-44BD-8049-E6D81438CED4}" dt="2023-09-26T08:49:21.724" v="11" actId="12385"/>
          <ac:graphicFrameMkLst>
            <pc:docMk/>
            <pc:sldMk cId="4138694501" sldId="410"/>
            <ac:graphicFrameMk id="8" creationId="{00000000-0000-0000-0000-000000000000}"/>
          </ac:graphicFrameMkLst>
        </pc:graphicFrameChg>
      </pc:sldChg>
      <pc:sldMasterChg chg="modSp mod">
        <pc:chgData name="Ben Pfeifer" userId="fb68dd40a6c6cee7" providerId="LiveId" clId="{9B1BA4AD-BAFE-44BD-8049-E6D81438CED4}" dt="2023-09-26T08:47:38.741" v="6" actId="20577"/>
        <pc:sldMasterMkLst>
          <pc:docMk/>
          <pc:sldMasterMk cId="0" sldId="2147483762"/>
        </pc:sldMasterMkLst>
        <pc:spChg chg="mod">
          <ac:chgData name="Ben Pfeifer" userId="fb68dd40a6c6cee7" providerId="LiveId" clId="{9B1BA4AD-BAFE-44BD-8049-E6D81438CED4}" dt="2023-09-26T08:47:38.741" v="6" actId="20577"/>
          <ac:spMkLst>
            <pc:docMk/>
            <pc:sldMasterMk cId="0" sldId="2147483762"/>
            <ac:spMk id="103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3"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algn="r" eaLnBrk="1" hangingPunct="1">
              <a:defRPr sz="1200">
                <a:latin typeface="Times New Roman" pitchFamily="80" charset="0"/>
                <a:ea typeface="+mn-ea"/>
                <a:cs typeface="+mn-cs"/>
              </a:defRPr>
            </a:lvl1pPr>
          </a:lstStyle>
          <a:p>
            <a:pPr>
              <a:defRPr/>
            </a:pPr>
            <a:endParaRPr lang="en-US"/>
          </a:p>
        </p:txBody>
      </p:sp>
      <p:sp>
        <p:nvSpPr>
          <p:cNvPr id="128004"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5"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eaLnBrk="1" hangingPunct="1">
              <a:defRPr sz="1200"/>
            </a:lvl1pPr>
          </a:lstStyle>
          <a:p>
            <a:fld id="{5FB9E71A-E6C8-4FD3-B040-DCC6247393BF}" type="slidenum">
              <a:rPr lang="en-US" altLang="en-US"/>
              <a:pPr/>
              <a:t>‹#›</a:t>
            </a:fld>
            <a:endParaRPr lang="en-US" altLang="en-US"/>
          </a:p>
        </p:txBody>
      </p:sp>
    </p:spTree>
    <p:extLst>
      <p:ext uri="{BB962C8B-B14F-4D97-AF65-F5344CB8AC3E}">
        <p14:creationId xmlns:p14="http://schemas.microsoft.com/office/powerpoint/2010/main" val="1507465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9DD8956B-8F79-4131-A174-E4232C945132}" type="slidenum">
              <a:rPr lang="en-US" altLang="en-US"/>
              <a:pPr/>
              <a:t>‹#›</a:t>
            </a:fld>
            <a:endParaRPr lang="en-US" altLang="en-US"/>
          </a:p>
        </p:txBody>
      </p:sp>
    </p:spTree>
    <p:extLst>
      <p:ext uri="{BB962C8B-B14F-4D97-AF65-F5344CB8AC3E}">
        <p14:creationId xmlns:p14="http://schemas.microsoft.com/office/powerpoint/2010/main" val="33273619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BA67ACD-50C0-4A6F-9005-402136835CB0}" type="slidenum">
              <a:rPr lang="en-US" altLang="en-US" sz="1200"/>
              <a:pPr/>
              <a:t>2</a:t>
            </a:fld>
            <a:endParaRPr lang="en-US" altLang="en-US" sz="1200"/>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261483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59B4C67-8EC5-407D-8B7E-432B212E4C9D}" type="slidenum">
              <a:rPr lang="en-US" altLang="en-US" sz="1200"/>
              <a:pPr/>
              <a:t>3</a:t>
            </a:fld>
            <a:endParaRPr lang="en-US" altLang="en-US" sz="1200"/>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013023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DCF1B85-EF25-4416-9CD7-D96CA75ACD52}" type="slidenum">
              <a:rPr lang="en-US" altLang="en-US" sz="1200"/>
              <a:pPr/>
              <a:t>4</a:t>
            </a:fld>
            <a:endParaRPr lang="en-US" altLang="en-US" sz="120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957158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48B6B38-A5A1-4242-8A17-420F4FBE42E3}" type="slidenum">
              <a:rPr lang="en-US" altLang="en-US" sz="1200"/>
              <a:pPr/>
              <a:t>5</a:t>
            </a:fld>
            <a:endParaRPr lang="en-US" alt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094424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D30253F-6D46-46FF-A311-521264D742B6}" type="slidenum">
              <a:rPr lang="en-US" altLang="en-US" sz="1200"/>
              <a:pPr/>
              <a:t>6</a:t>
            </a:fld>
            <a:endParaRPr lang="en-US" altLang="en-US" sz="120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Tonsils are aggregate lymphatic organs.</a:t>
            </a:r>
          </a:p>
          <a:p>
            <a:pPr eaLnBrk="1" hangingPunct="1">
              <a:buClr>
                <a:srgbClr val="A50021"/>
              </a:buClr>
              <a:buFontTx/>
              <a:buChar char="•"/>
            </a:pPr>
            <a:r>
              <a:rPr lang="en-US" altLang="en-US">
                <a:latin typeface="Times New Roman" panose="02020603050405020304" pitchFamily="18" charset="0"/>
              </a:rPr>
              <a:t> Lymphocytes and monocytes in lymph organs protect the body from foreign invaders.</a:t>
            </a:r>
          </a:p>
          <a:p>
            <a:pPr eaLnBrk="1" hangingPunct="1">
              <a:buFontTx/>
              <a:buChar char="•"/>
            </a:pPr>
            <a:r>
              <a:rPr lang="en-US" altLang="en-US">
                <a:latin typeface="Times New Roman" panose="02020603050405020304" pitchFamily="18" charset="0"/>
              </a:rPr>
              <a:t> What are the three functions of the lymphatic system?</a:t>
            </a:r>
          </a:p>
        </p:txBody>
      </p:sp>
    </p:spTree>
    <p:extLst>
      <p:ext uri="{BB962C8B-B14F-4D97-AF65-F5344CB8AC3E}">
        <p14:creationId xmlns:p14="http://schemas.microsoft.com/office/powerpoint/2010/main" val="133646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11F3B72-C2DF-419E-9604-A0A5F1B1E804}" type="slidenum">
              <a:rPr lang="en-US" altLang="en-US" sz="1200"/>
              <a:pPr/>
              <a:t>7</a:t>
            </a:fld>
            <a:endParaRPr lang="en-US" altLang="en-US" sz="120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Tonsils are aggregate lymphatic organs.</a:t>
            </a:r>
          </a:p>
          <a:p>
            <a:pPr eaLnBrk="1" hangingPunct="1">
              <a:buClr>
                <a:srgbClr val="A50021"/>
              </a:buClr>
              <a:buFontTx/>
              <a:buChar char="•"/>
            </a:pPr>
            <a:r>
              <a:rPr lang="en-US" altLang="en-US">
                <a:latin typeface="Times New Roman" panose="02020603050405020304" pitchFamily="18" charset="0"/>
              </a:rPr>
              <a:t> Lymphocytes and monocytes in lymph organs protect the body from foreign invaders.</a:t>
            </a:r>
          </a:p>
          <a:p>
            <a:pPr eaLnBrk="1" hangingPunct="1">
              <a:buFontTx/>
              <a:buChar char="•"/>
            </a:pPr>
            <a:r>
              <a:rPr lang="en-US" altLang="en-US">
                <a:latin typeface="Times New Roman" panose="02020603050405020304" pitchFamily="18" charset="0"/>
              </a:rPr>
              <a:t> What are the three functions of the lymphatic system?</a:t>
            </a:r>
          </a:p>
        </p:txBody>
      </p:sp>
    </p:spTree>
    <p:extLst>
      <p:ext uri="{BB962C8B-B14F-4D97-AF65-F5344CB8AC3E}">
        <p14:creationId xmlns:p14="http://schemas.microsoft.com/office/powerpoint/2010/main" val="4058201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5517A73-3D68-48B6-B866-AFF58D86EBB8}" type="slidenum">
              <a:rPr lang="en-US" altLang="en-US" sz="1200"/>
              <a:pPr/>
              <a:t>8</a:t>
            </a:fld>
            <a:endParaRPr lang="en-US" altLang="en-US" sz="120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Have students label the figure or use the next figure, which has the labels in place.</a:t>
            </a:r>
          </a:p>
          <a:p>
            <a:pPr eaLnBrk="1" hangingPunct="1">
              <a:buFontTx/>
              <a:buChar char="•"/>
            </a:pPr>
            <a:r>
              <a:rPr lang="en-US" altLang="en-US">
                <a:latin typeface="Times New Roman" panose="02020603050405020304" pitchFamily="18" charset="0"/>
              </a:rPr>
              <a:t> Review the circulation of blood in blood vessels. </a:t>
            </a:r>
          </a:p>
          <a:p>
            <a:pPr eaLnBrk="1" hangingPunct="1">
              <a:buFontTx/>
              <a:buChar char="•"/>
            </a:pPr>
            <a:r>
              <a:rPr lang="en-US" altLang="en-US">
                <a:latin typeface="Times New Roman" panose="02020603050405020304" pitchFamily="18" charset="0"/>
              </a:rPr>
              <a:t> Compare and contrast with lymph in lymph capillaries. </a:t>
            </a:r>
          </a:p>
          <a:p>
            <a:pPr eaLnBrk="1" hangingPunct="1">
              <a:buFontTx/>
              <a:buChar char="•"/>
            </a:pPr>
            <a:r>
              <a:rPr lang="en-US" altLang="en-US">
                <a:latin typeface="Times New Roman" panose="02020603050405020304" pitchFamily="18" charset="0"/>
              </a:rPr>
              <a:t> How do the blood and lymph systems complement each other?</a:t>
            </a:r>
          </a:p>
          <a:p>
            <a:pPr eaLnBrk="1" hangingPunct="1">
              <a:buFontTx/>
              <a:buChar char="•"/>
            </a:pPr>
            <a:r>
              <a:rPr lang="en-US" altLang="en-US">
                <a:latin typeface="Times New Roman" panose="02020603050405020304" pitchFamily="18" charset="0"/>
              </a:rPr>
              <a:t> How are the structures of lymph vessels and veins similar? </a:t>
            </a:r>
            <a:r>
              <a:rPr lang="en-US" altLang="en-US" i="1">
                <a:latin typeface="Times New Roman" panose="02020603050405020304" pitchFamily="18" charset="0"/>
              </a:rPr>
              <a:t>(Valves, no pump)</a:t>
            </a:r>
          </a:p>
        </p:txBody>
      </p:sp>
    </p:spTree>
    <p:extLst>
      <p:ext uri="{BB962C8B-B14F-4D97-AF65-F5344CB8AC3E}">
        <p14:creationId xmlns:p14="http://schemas.microsoft.com/office/powerpoint/2010/main" val="1888641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776E4A6-4DFF-410B-B096-6D4BE0390B53}" type="slidenum">
              <a:rPr lang="en-US" altLang="en-US" sz="1200"/>
              <a:pPr/>
              <a:t>9</a:t>
            </a:fld>
            <a:endParaRPr lang="en-US" altLang="en-US" sz="120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Review the circulation of blood in blood vessels. </a:t>
            </a:r>
          </a:p>
          <a:p>
            <a:pPr eaLnBrk="1" hangingPunct="1">
              <a:buFontTx/>
              <a:buChar char="•"/>
            </a:pPr>
            <a:r>
              <a:rPr lang="en-US" altLang="en-US">
                <a:latin typeface="Times New Roman" panose="02020603050405020304" pitchFamily="18" charset="0"/>
              </a:rPr>
              <a:t> Compare and contrast with lymph in lymph capillaries. </a:t>
            </a:r>
          </a:p>
          <a:p>
            <a:pPr eaLnBrk="1" hangingPunct="1">
              <a:buFontTx/>
              <a:buChar char="•"/>
            </a:pPr>
            <a:r>
              <a:rPr lang="en-US" altLang="en-US">
                <a:latin typeface="Times New Roman" panose="02020603050405020304" pitchFamily="18" charset="0"/>
              </a:rPr>
              <a:t> How do the blood and lymph systems complement each other?</a:t>
            </a:r>
          </a:p>
          <a:p>
            <a:pPr eaLnBrk="1" hangingPunct="1">
              <a:buFontTx/>
              <a:buChar char="•"/>
            </a:pPr>
            <a:r>
              <a:rPr lang="en-US" altLang="en-US">
                <a:latin typeface="Times New Roman" panose="02020603050405020304" pitchFamily="18" charset="0"/>
              </a:rPr>
              <a:t> How are the structures of lymph vessels and veins similar? </a:t>
            </a:r>
            <a:r>
              <a:rPr lang="en-US" altLang="en-US" i="1">
                <a:latin typeface="Times New Roman" panose="02020603050405020304" pitchFamily="18" charset="0"/>
              </a:rPr>
              <a:t>(Valves, no pump)</a:t>
            </a:r>
          </a:p>
        </p:txBody>
      </p:sp>
    </p:spTree>
    <p:extLst>
      <p:ext uri="{BB962C8B-B14F-4D97-AF65-F5344CB8AC3E}">
        <p14:creationId xmlns:p14="http://schemas.microsoft.com/office/powerpoint/2010/main" val="1735033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0070775-CC8F-4B8D-8291-B4E32F46C9F8}" type="slidenum">
              <a:rPr lang="en-US" altLang="en-US" sz="1200"/>
              <a:pPr/>
              <a:t>10</a:t>
            </a:fld>
            <a:endParaRPr lang="en-US" altLang="en-US" sz="120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Use this slide to continue your discussion from the previous slide. </a:t>
            </a:r>
          </a:p>
          <a:p>
            <a:pPr eaLnBrk="1" hangingPunct="1">
              <a:buFontTx/>
              <a:buChar char="•"/>
            </a:pPr>
            <a:r>
              <a:rPr lang="en-US" altLang="en-US">
                <a:latin typeface="Times New Roman" panose="02020603050405020304" pitchFamily="18" charset="0"/>
              </a:rPr>
              <a:t> What happens in situations such as edema?</a:t>
            </a:r>
          </a:p>
        </p:txBody>
      </p:sp>
    </p:spTree>
    <p:extLst>
      <p:ext uri="{BB962C8B-B14F-4D97-AF65-F5344CB8AC3E}">
        <p14:creationId xmlns:p14="http://schemas.microsoft.com/office/powerpoint/2010/main" val="3310578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FFA794A-1895-465B-A8A0-2A60EC824D5B}" type="slidenum">
              <a:rPr lang="en-US" altLang="en-US" sz="1200"/>
              <a:pPr/>
              <a:t>11</a:t>
            </a:fld>
            <a:endParaRPr lang="en-US" altLang="en-US" sz="120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Use this slide to continue your discussion from the previous slide. </a:t>
            </a:r>
          </a:p>
          <a:p>
            <a:pPr eaLnBrk="1" hangingPunct="1">
              <a:buFontTx/>
              <a:buChar char="•"/>
            </a:pPr>
            <a:r>
              <a:rPr lang="en-US" altLang="en-US">
                <a:latin typeface="Times New Roman" panose="02020603050405020304" pitchFamily="18" charset="0"/>
              </a:rPr>
              <a:t> What happens in situations such as edema?</a:t>
            </a:r>
          </a:p>
        </p:txBody>
      </p:sp>
    </p:spTree>
    <p:extLst>
      <p:ext uri="{BB962C8B-B14F-4D97-AF65-F5344CB8AC3E}">
        <p14:creationId xmlns:p14="http://schemas.microsoft.com/office/powerpoint/2010/main" val="3558942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6F3E851-2692-4C8B-AB25-FA6A95EC5E04}" type="slidenum">
              <a:rPr lang="en-US" altLang="en-US" sz="1200"/>
              <a:pPr/>
              <a:t>12</a:t>
            </a:fld>
            <a:endParaRPr lang="en-US" altLang="en-US" sz="120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are lymph capillaries and lymph vessels?</a:t>
            </a:r>
          </a:p>
          <a:p>
            <a:pPr eaLnBrk="1" hangingPunct="1">
              <a:buFontTx/>
              <a:buChar char="•"/>
            </a:pPr>
            <a:r>
              <a:rPr lang="en-US" altLang="en-US">
                <a:latin typeface="Times New Roman" panose="02020603050405020304" pitchFamily="18" charset="0"/>
              </a:rPr>
              <a:t> What does each do? </a:t>
            </a:r>
          </a:p>
          <a:p>
            <a:pPr eaLnBrk="1" hangingPunct="1">
              <a:buFontTx/>
              <a:buChar char="•"/>
            </a:pPr>
            <a:r>
              <a:rPr lang="en-US" altLang="en-US">
                <a:latin typeface="Times New Roman" panose="02020603050405020304" pitchFamily="18" charset="0"/>
              </a:rPr>
              <a:t> Describe lymph nodes and what they do.</a:t>
            </a:r>
          </a:p>
        </p:txBody>
      </p:sp>
    </p:spTree>
    <p:extLst>
      <p:ext uri="{BB962C8B-B14F-4D97-AF65-F5344CB8AC3E}">
        <p14:creationId xmlns:p14="http://schemas.microsoft.com/office/powerpoint/2010/main" val="1007389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1F1C3C7-7BF4-4F95-B015-55E3C867C406}" type="slidenum">
              <a:rPr lang="en-US" altLang="en-US" sz="1200"/>
              <a:pPr/>
              <a:t>13</a:t>
            </a:fld>
            <a:endParaRPr lang="en-US" altLang="en-US" sz="120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happens in a lymph node?</a:t>
            </a:r>
          </a:p>
          <a:p>
            <a:pPr eaLnBrk="1" hangingPunct="1">
              <a:buFontTx/>
              <a:buChar char="•"/>
            </a:pPr>
            <a:r>
              <a:rPr lang="en-US" altLang="en-US">
                <a:latin typeface="Times New Roman" panose="02020603050405020304" pitchFamily="18" charset="0"/>
              </a:rPr>
              <a:t> How do T cells act to attack foreign cells?</a:t>
            </a:r>
          </a:p>
        </p:txBody>
      </p:sp>
    </p:spTree>
    <p:extLst>
      <p:ext uri="{BB962C8B-B14F-4D97-AF65-F5344CB8AC3E}">
        <p14:creationId xmlns:p14="http://schemas.microsoft.com/office/powerpoint/2010/main" val="176756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30DF81E-8EB1-400A-AB66-1D5B66E58E92}" type="slidenum">
              <a:rPr lang="en-US" altLang="en-US" sz="1200"/>
              <a:pPr/>
              <a:t>14</a:t>
            </a:fld>
            <a:endParaRPr lang="en-US" altLang="en-US" sz="1200"/>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The spleen and thymus gland are composed of lymph tissue.</a:t>
            </a:r>
          </a:p>
          <a:p>
            <a:pPr eaLnBrk="1" hangingPunct="1">
              <a:buFontTx/>
              <a:buChar char="•"/>
            </a:pPr>
            <a:r>
              <a:rPr lang="en-US" altLang="en-US">
                <a:latin typeface="Times New Roman" panose="02020603050405020304" pitchFamily="18" charset="0"/>
              </a:rPr>
              <a:t> Note their locations.</a:t>
            </a:r>
          </a:p>
          <a:p>
            <a:pPr eaLnBrk="1" hangingPunct="1">
              <a:buFontTx/>
              <a:buChar char="•"/>
            </a:pPr>
            <a:r>
              <a:rPr lang="en-US" altLang="en-US">
                <a:latin typeface="Times New Roman" panose="02020603050405020304" pitchFamily="18" charset="0"/>
              </a:rPr>
              <a:t> What are the functions of the spleen?</a:t>
            </a:r>
          </a:p>
          <a:p>
            <a:pPr eaLnBrk="1" hangingPunct="1">
              <a:buFontTx/>
              <a:buChar char="•"/>
            </a:pPr>
            <a:r>
              <a:rPr lang="en-US" altLang="en-US">
                <a:latin typeface="Times New Roman" panose="02020603050405020304" pitchFamily="18" charset="0"/>
              </a:rPr>
              <a:t> Is the thymus proportionately larger in infants or adults? Why?</a:t>
            </a:r>
          </a:p>
        </p:txBody>
      </p:sp>
    </p:spTree>
    <p:extLst>
      <p:ext uri="{BB962C8B-B14F-4D97-AF65-F5344CB8AC3E}">
        <p14:creationId xmlns:p14="http://schemas.microsoft.com/office/powerpoint/2010/main" val="17243984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1D1E443-F9EC-43DD-B157-67478E7D42AD}" type="slidenum">
              <a:rPr lang="en-US" altLang="en-US" sz="1200"/>
              <a:pPr/>
              <a:t>15</a:t>
            </a:fld>
            <a:endParaRPr lang="en-US" altLang="en-US" sz="12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The spleen and thymus gland are composed of lymph tissue.</a:t>
            </a:r>
          </a:p>
          <a:p>
            <a:pPr eaLnBrk="1" hangingPunct="1">
              <a:buFontTx/>
              <a:buChar char="•"/>
            </a:pPr>
            <a:r>
              <a:rPr lang="en-US" altLang="en-US">
                <a:latin typeface="Times New Roman" panose="02020603050405020304" pitchFamily="18" charset="0"/>
              </a:rPr>
              <a:t> Note their locations.</a:t>
            </a:r>
          </a:p>
          <a:p>
            <a:pPr eaLnBrk="1" hangingPunct="1">
              <a:buFontTx/>
              <a:buChar char="•"/>
            </a:pPr>
            <a:r>
              <a:rPr lang="en-US" altLang="en-US">
                <a:latin typeface="Times New Roman" panose="02020603050405020304" pitchFamily="18" charset="0"/>
              </a:rPr>
              <a:t> What are the functions of the spleen?</a:t>
            </a:r>
          </a:p>
          <a:p>
            <a:pPr eaLnBrk="1" hangingPunct="1">
              <a:buFontTx/>
              <a:buChar char="•"/>
            </a:pPr>
            <a:r>
              <a:rPr lang="en-US" altLang="en-US">
                <a:latin typeface="Times New Roman" panose="02020603050405020304" pitchFamily="18" charset="0"/>
              </a:rPr>
              <a:t> Is the thymus proportionately larger in infants or adults? Why?</a:t>
            </a:r>
          </a:p>
        </p:txBody>
      </p:sp>
    </p:spTree>
    <p:extLst>
      <p:ext uri="{BB962C8B-B14F-4D97-AF65-F5344CB8AC3E}">
        <p14:creationId xmlns:p14="http://schemas.microsoft.com/office/powerpoint/2010/main" val="175184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04C3CCB-7123-4203-9DA9-0BCE0F63A451}" type="slidenum">
              <a:rPr lang="en-US" altLang="en-US" sz="1200"/>
              <a:pPr/>
              <a:t>17</a:t>
            </a:fld>
            <a:endParaRPr lang="en-US" altLang="en-US" sz="1200"/>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Why is it important for infants to possess natural immunity at birth?</a:t>
            </a:r>
          </a:p>
          <a:p>
            <a:pPr eaLnBrk="1" hangingPunct="1">
              <a:buFontTx/>
              <a:buChar char="•"/>
            </a:pPr>
            <a:r>
              <a:rPr lang="en-US" altLang="en-US">
                <a:latin typeface="Times New Roman" panose="02020603050405020304" pitchFamily="18" charset="0"/>
              </a:rPr>
              <a:t> What is an example of genetic predisposition? </a:t>
            </a:r>
            <a:r>
              <a:rPr lang="en-US" altLang="en-US" i="1">
                <a:latin typeface="Times New Roman" panose="02020603050405020304" pitchFamily="18" charset="0"/>
              </a:rPr>
              <a:t>(Humans cannot contract feline leukemia.)</a:t>
            </a:r>
          </a:p>
        </p:txBody>
      </p:sp>
    </p:spTree>
    <p:extLst>
      <p:ext uri="{BB962C8B-B14F-4D97-AF65-F5344CB8AC3E}">
        <p14:creationId xmlns:p14="http://schemas.microsoft.com/office/powerpoint/2010/main" val="1728109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0E5F8AC-2498-4C98-9E3A-17E2544F29BE}" type="slidenum">
              <a:rPr lang="en-US" altLang="en-US" sz="1200"/>
              <a:pPr/>
              <a:t>18</a:t>
            </a:fld>
            <a:endParaRPr lang="en-US" altLang="en-US" sz="1200"/>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Ask students to provide an example for each method of acquiring active immunity.</a:t>
            </a:r>
          </a:p>
          <a:p>
            <a:pPr eaLnBrk="1" hangingPunct="1">
              <a:buFontTx/>
              <a:buChar char="•"/>
            </a:pPr>
            <a:r>
              <a:rPr lang="en-US" altLang="en-US">
                <a:latin typeface="Times New Roman" panose="02020603050405020304" pitchFamily="18" charset="0"/>
              </a:rPr>
              <a:t> Ask students what vaccinations they have had.</a:t>
            </a:r>
          </a:p>
        </p:txBody>
      </p:sp>
    </p:spTree>
    <p:extLst>
      <p:ext uri="{BB962C8B-B14F-4D97-AF65-F5344CB8AC3E}">
        <p14:creationId xmlns:p14="http://schemas.microsoft.com/office/powerpoint/2010/main" val="40166115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4564563-BECD-450E-B73C-085724E54E44}" type="slidenum">
              <a:rPr lang="en-US" altLang="en-US" sz="1200"/>
              <a:pPr/>
              <a:t>19</a:t>
            </a:fld>
            <a:endParaRPr lang="en-US" altLang="en-US" sz="1200"/>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3428614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F8A2846-1670-4CBC-A1FD-A927780D7DBB}" type="slidenum">
              <a:rPr lang="en-US" altLang="en-US" sz="1200"/>
              <a:pPr/>
              <a:t>20</a:t>
            </a:fld>
            <a:endParaRPr lang="en-US" altLang="en-US" sz="120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T-cell lymphocytes originate from bone marrow stem cells. They are processed in the thymus gland.</a:t>
            </a:r>
          </a:p>
        </p:txBody>
      </p:sp>
    </p:spTree>
    <p:extLst>
      <p:ext uri="{BB962C8B-B14F-4D97-AF65-F5344CB8AC3E}">
        <p14:creationId xmlns:p14="http://schemas.microsoft.com/office/powerpoint/2010/main" val="36922165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5358D6D-C2D5-4B06-B287-DDB70651765F}" type="slidenum">
              <a:rPr lang="en-US" altLang="en-US" sz="1200"/>
              <a:pPr/>
              <a:t>21</a:t>
            </a:fld>
            <a:endParaRPr lang="en-US" altLang="en-US" sz="1200"/>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Some of the dendritic cell work (sensitizing them in a culture) is under investigation in clinical studies used to treat tumors and tumor antigens, thus getting the patient</a:t>
            </a:r>
            <a:r>
              <a:rPr lang="ja-JP" altLang="en-US">
                <a:latin typeface="Times New Roman" panose="02020603050405020304" pitchFamily="18" charset="0"/>
              </a:rPr>
              <a:t>’</a:t>
            </a:r>
            <a:r>
              <a:rPr lang="en-US" altLang="ja-JP">
                <a:latin typeface="Times New Roman" panose="02020603050405020304" pitchFamily="18" charset="0"/>
              </a:rPr>
              <a:t>s own immune system to attack the tumor.</a:t>
            </a:r>
            <a:endParaRPr lang="en-US" altLang="en-US">
              <a:latin typeface="Times New Roman" panose="02020603050405020304" pitchFamily="18" charset="0"/>
            </a:endParaRPr>
          </a:p>
        </p:txBody>
      </p:sp>
    </p:spTree>
    <p:extLst>
      <p:ext uri="{BB962C8B-B14F-4D97-AF65-F5344CB8AC3E}">
        <p14:creationId xmlns:p14="http://schemas.microsoft.com/office/powerpoint/2010/main" val="3752163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81D4FFC-97CB-4C65-9F55-69ED1A1BEEAB}" type="slidenum">
              <a:rPr lang="en-US" altLang="en-US" sz="1200"/>
              <a:pPr/>
              <a:t>22</a:t>
            </a:fld>
            <a:endParaRPr lang="en-US" altLang="en-US"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9239218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1904DB3-782C-455C-AA3F-8D917D3448CB}" type="slidenum">
              <a:rPr lang="en-US" altLang="en-US" sz="1200"/>
              <a:pPr/>
              <a:t>53</a:t>
            </a:fld>
            <a:endParaRPr lang="en-US" altLang="en-US" sz="1200"/>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B: helper T cell.</a:t>
            </a:r>
          </a:p>
        </p:txBody>
      </p:sp>
    </p:spTree>
    <p:extLst>
      <p:ext uri="{BB962C8B-B14F-4D97-AF65-F5344CB8AC3E}">
        <p14:creationId xmlns:p14="http://schemas.microsoft.com/office/powerpoint/2010/main" val="29019139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D559EA2-DBA8-47C8-926D-43162D6BF7D9}" type="slidenum">
              <a:rPr lang="en-US" altLang="en-US" sz="1200"/>
              <a:pPr/>
              <a:t>54</a:t>
            </a:fld>
            <a:endParaRPr lang="en-US" altLang="en-US" sz="120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B: humoral immunity.</a:t>
            </a:r>
          </a:p>
        </p:txBody>
      </p:sp>
    </p:spTree>
    <p:extLst>
      <p:ext uri="{BB962C8B-B14F-4D97-AF65-F5344CB8AC3E}">
        <p14:creationId xmlns:p14="http://schemas.microsoft.com/office/powerpoint/2010/main" val="39143452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572E20B-E73E-40E4-B242-A59390715B94}" type="slidenum">
              <a:rPr lang="en-US" altLang="en-US" sz="1200"/>
              <a:pPr/>
              <a:t>57</a:t>
            </a:fld>
            <a:endParaRPr lang="en-US" altLang="en-US" sz="120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5394864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AEFF429-31F8-460F-B941-3D60988FEE9B}" type="slidenum">
              <a:rPr lang="en-US" altLang="en-US" sz="1200"/>
              <a:pPr/>
              <a:t>58</a:t>
            </a:fld>
            <a:endParaRPr lang="en-US" altLang="en-US" sz="1200"/>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3007569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0951928-0D80-49F0-87CE-74288442DC81}" type="slidenum">
              <a:rPr lang="en-US" altLang="en-US" sz="1200"/>
              <a:pPr/>
              <a:t>59</a:t>
            </a:fld>
            <a:endParaRPr lang="en-US" altLang="en-US"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Ask students to provide symptoms for the opportunistic infections listed.</a:t>
            </a:r>
          </a:p>
        </p:txBody>
      </p:sp>
    </p:spTree>
    <p:extLst>
      <p:ext uri="{BB962C8B-B14F-4D97-AF65-F5344CB8AC3E}">
        <p14:creationId xmlns:p14="http://schemas.microsoft.com/office/powerpoint/2010/main" val="28185959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EF83586-1C0C-4657-9E31-0AD05ABF4652}" type="slidenum">
              <a:rPr lang="en-US" altLang="en-US" sz="1200"/>
              <a:pPr/>
              <a:t>60</a:t>
            </a:fld>
            <a:endParaRPr lang="en-US" altLang="en-US" sz="1200"/>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HIV needs protease at a later stage than it needs RT to make viral parts that will spread throughout the body.</a:t>
            </a:r>
          </a:p>
        </p:txBody>
      </p:sp>
    </p:spTree>
    <p:extLst>
      <p:ext uri="{BB962C8B-B14F-4D97-AF65-F5344CB8AC3E}">
        <p14:creationId xmlns:p14="http://schemas.microsoft.com/office/powerpoint/2010/main" val="36386429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F9C7545-3BAD-4826-9D41-4BC1A48D6F1E}" type="slidenum">
              <a:rPr lang="en-US" altLang="en-US" sz="1200"/>
              <a:pPr/>
              <a:t>61</a:t>
            </a:fld>
            <a:endParaRPr lang="en-US" altLang="en-US" sz="1200"/>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Review examples of hypersensitivity reactions. Discuss reactions that students have had.</a:t>
            </a:r>
          </a:p>
          <a:p>
            <a:pPr eaLnBrk="1" hangingPunct="1">
              <a:buFontTx/>
              <a:buChar char="•"/>
            </a:pPr>
            <a:r>
              <a:rPr lang="en-US" altLang="en-US">
                <a:latin typeface="Times New Roman" panose="02020603050405020304" pitchFamily="18" charset="0"/>
              </a:rPr>
              <a:t> What is anaphylaxis? Why is it dangerous?</a:t>
            </a:r>
          </a:p>
          <a:p>
            <a:pPr eaLnBrk="1" hangingPunct="1">
              <a:buFontTx/>
              <a:buChar char="•"/>
            </a:pPr>
            <a:r>
              <a:rPr lang="en-US" altLang="en-US">
                <a:latin typeface="Times New Roman" panose="02020603050405020304" pitchFamily="18" charset="0"/>
              </a:rPr>
              <a:t> What is the common name for urticaria?</a:t>
            </a:r>
          </a:p>
        </p:txBody>
      </p:sp>
    </p:spTree>
    <p:extLst>
      <p:ext uri="{BB962C8B-B14F-4D97-AF65-F5344CB8AC3E}">
        <p14:creationId xmlns:p14="http://schemas.microsoft.com/office/powerpoint/2010/main" val="41624384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D44D2CF-16D5-491D-8333-2C6E0206A1ED}" type="slidenum">
              <a:rPr lang="en-US" altLang="en-US" sz="1200"/>
              <a:pPr/>
              <a:t>62</a:t>
            </a:fld>
            <a:endParaRPr lang="en-US" altLang="en-US" sz="1200"/>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Ask students to define associated terms:</a:t>
            </a:r>
          </a:p>
          <a:p>
            <a:pPr lvl="1" eaLnBrk="1" hangingPunct="1">
              <a:buFontTx/>
              <a:buChar char="•"/>
            </a:pPr>
            <a:r>
              <a:rPr lang="en-US" altLang="en-US">
                <a:latin typeface="Times New Roman" panose="02020603050405020304" pitchFamily="18" charset="0"/>
              </a:rPr>
              <a:t> Splenomegaly</a:t>
            </a:r>
          </a:p>
          <a:p>
            <a:pPr lvl="1" eaLnBrk="1" hangingPunct="1">
              <a:buFontTx/>
              <a:buChar char="•"/>
            </a:pPr>
            <a:r>
              <a:rPr lang="en-US" altLang="en-US">
                <a:latin typeface="Times New Roman" panose="02020603050405020304" pitchFamily="18" charset="0"/>
              </a:rPr>
              <a:t> Lymphadenopathy</a:t>
            </a:r>
          </a:p>
          <a:p>
            <a:pPr lvl="1" eaLnBrk="1" hangingPunct="1">
              <a:buFontTx/>
              <a:buChar char="•"/>
            </a:pPr>
            <a:r>
              <a:rPr lang="en-US" altLang="en-US">
                <a:latin typeface="Times New Roman" panose="02020603050405020304" pitchFamily="18" charset="0"/>
              </a:rPr>
              <a:t> Radiotherapy</a:t>
            </a:r>
          </a:p>
        </p:txBody>
      </p:sp>
    </p:spTree>
    <p:extLst>
      <p:ext uri="{BB962C8B-B14F-4D97-AF65-F5344CB8AC3E}">
        <p14:creationId xmlns:p14="http://schemas.microsoft.com/office/powerpoint/2010/main" val="38443245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430AE9E-57E7-4B7B-B4DF-2157B52BE583}" type="slidenum">
              <a:rPr lang="en-US" altLang="en-US" sz="1200"/>
              <a:pPr/>
              <a:t>63</a:t>
            </a:fld>
            <a:endParaRPr lang="en-US" altLang="en-US"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Ask students to define associated terms and reuse them correctly in another context:</a:t>
            </a:r>
          </a:p>
          <a:p>
            <a:pPr lvl="1" eaLnBrk="1" hangingPunct="1">
              <a:buFontTx/>
              <a:buChar char="•"/>
            </a:pPr>
            <a:r>
              <a:rPr lang="en-US" altLang="en-US">
                <a:latin typeface="Times New Roman" panose="02020603050405020304" pitchFamily="18" charset="0"/>
              </a:rPr>
              <a:t> Mediastinum</a:t>
            </a:r>
          </a:p>
          <a:p>
            <a:pPr lvl="1" eaLnBrk="1" hangingPunct="1">
              <a:buFontTx/>
              <a:buChar char="•"/>
            </a:pPr>
            <a:r>
              <a:rPr lang="en-US" altLang="en-US">
                <a:latin typeface="Times New Roman" panose="02020603050405020304" pitchFamily="18" charset="0"/>
              </a:rPr>
              <a:t> Extranodal</a:t>
            </a:r>
          </a:p>
          <a:p>
            <a:pPr lvl="1" eaLnBrk="1" hangingPunct="1">
              <a:buFontTx/>
              <a:buChar char="•"/>
            </a:pPr>
            <a:r>
              <a:rPr lang="en-US" altLang="en-US">
                <a:latin typeface="Times New Roman" panose="02020603050405020304" pitchFamily="18" charset="0"/>
              </a:rPr>
              <a:t> Extralymphatic</a:t>
            </a:r>
          </a:p>
          <a:p>
            <a:pPr lvl="1" eaLnBrk="1" hangingPunct="1">
              <a:buFontTx/>
              <a:buChar char="•"/>
            </a:pPr>
            <a:r>
              <a:rPr lang="en-US" altLang="en-US">
                <a:latin typeface="Times New Roman" panose="02020603050405020304" pitchFamily="18" charset="0"/>
              </a:rPr>
              <a:t> Splenectomy</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4811119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A49159D-510D-44D5-A861-AB72D03B1115}" type="slidenum">
              <a:rPr lang="en-US" altLang="en-US" sz="1200"/>
              <a:pPr/>
              <a:t>64</a:t>
            </a:fld>
            <a:endParaRPr lang="en-US" altLang="en-US" sz="1200"/>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C: Kaposi sarcoma.</a:t>
            </a:r>
          </a:p>
        </p:txBody>
      </p:sp>
    </p:spTree>
    <p:extLst>
      <p:ext uri="{BB962C8B-B14F-4D97-AF65-F5344CB8AC3E}">
        <p14:creationId xmlns:p14="http://schemas.microsoft.com/office/powerpoint/2010/main" val="9278967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4AEE11F-922C-40C2-9C5D-E4668C04BA45}" type="slidenum">
              <a:rPr lang="en-US" altLang="en-US" sz="1200"/>
              <a:pPr/>
              <a:t>65</a:t>
            </a:fld>
            <a:endParaRPr lang="en-US" altLang="en-US" sz="120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ELISA is an acronym that stands for what? </a:t>
            </a:r>
            <a:r>
              <a:rPr lang="en-US" altLang="en-US" i="1">
                <a:latin typeface="Times New Roman" panose="02020603050405020304" pitchFamily="18" charset="0"/>
              </a:rPr>
              <a:t>(</a:t>
            </a:r>
            <a:r>
              <a:rPr lang="en-US" altLang="en-US" i="1" u="sng">
                <a:latin typeface="Times New Roman" panose="02020603050405020304" pitchFamily="18" charset="0"/>
              </a:rPr>
              <a:t>E</a:t>
            </a:r>
            <a:r>
              <a:rPr lang="en-US" altLang="en-US" i="1">
                <a:latin typeface="Times New Roman" panose="02020603050405020304" pitchFamily="18" charset="0"/>
              </a:rPr>
              <a:t>nzyme-</a:t>
            </a:r>
            <a:r>
              <a:rPr lang="en-US" altLang="en-US" i="1" u="sng">
                <a:latin typeface="Times New Roman" panose="02020603050405020304" pitchFamily="18" charset="0"/>
              </a:rPr>
              <a:t>l</a:t>
            </a:r>
            <a:r>
              <a:rPr lang="en-US" altLang="en-US" i="1">
                <a:latin typeface="Times New Roman" panose="02020603050405020304" pitchFamily="18" charset="0"/>
              </a:rPr>
              <a:t>inked </a:t>
            </a:r>
            <a:r>
              <a:rPr lang="en-US" altLang="en-US" i="1" u="sng">
                <a:latin typeface="Times New Roman" panose="02020603050405020304" pitchFamily="18" charset="0"/>
              </a:rPr>
              <a:t>i</a:t>
            </a:r>
            <a:r>
              <a:rPr lang="en-US" altLang="en-US" i="1">
                <a:latin typeface="Times New Roman" panose="02020603050405020304" pitchFamily="18" charset="0"/>
              </a:rPr>
              <a:t>mmuno</a:t>
            </a:r>
            <a:r>
              <a:rPr lang="en-US" altLang="en-US" i="1" u="sng">
                <a:latin typeface="Times New Roman" panose="02020603050405020304" pitchFamily="18" charset="0"/>
              </a:rPr>
              <a:t>s</a:t>
            </a:r>
            <a:r>
              <a:rPr lang="en-US" altLang="en-US" i="1">
                <a:latin typeface="Times New Roman" panose="02020603050405020304" pitchFamily="18" charset="0"/>
              </a:rPr>
              <a:t>orbent </a:t>
            </a:r>
            <a:r>
              <a:rPr lang="en-US" altLang="en-US" i="1" u="sng">
                <a:latin typeface="Times New Roman" panose="02020603050405020304" pitchFamily="18" charset="0"/>
              </a:rPr>
              <a:t>a</a:t>
            </a:r>
            <a:r>
              <a:rPr lang="en-US" altLang="en-US" i="1">
                <a:latin typeface="Times New Roman" panose="02020603050405020304" pitchFamily="18" charset="0"/>
              </a:rPr>
              <a:t>ssay)</a:t>
            </a:r>
          </a:p>
          <a:p>
            <a:pPr eaLnBrk="1" hangingPunct="1">
              <a:buFontTx/>
              <a:buChar char="•"/>
            </a:pPr>
            <a:r>
              <a:rPr lang="en-US" altLang="en-US">
                <a:latin typeface="Times New Roman" panose="02020603050405020304" pitchFamily="18" charset="0"/>
              </a:rPr>
              <a:t> For what conditions is immunoelectrophoresis used?</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4109087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C1B6EDF-DD76-419B-968A-C901026C9210}" type="slidenum">
              <a:rPr lang="en-US" altLang="en-US" sz="1200"/>
              <a:pPr/>
              <a:t>66</a:t>
            </a:fld>
            <a:endParaRPr lang="en-US" altLang="en-US" sz="1200"/>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5058635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A132128-5EA5-45E3-8541-1036F15661AE}" type="slidenum">
              <a:rPr lang="en-US" altLang="en-US" sz="1200"/>
              <a:pPr/>
              <a:t>80</a:t>
            </a:fld>
            <a:endParaRPr lang="en-US" altLang="en-US" sz="1200"/>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C: interstitial fluid.</a:t>
            </a:r>
          </a:p>
        </p:txBody>
      </p:sp>
    </p:spTree>
    <p:extLst>
      <p:ext uri="{BB962C8B-B14F-4D97-AF65-F5344CB8AC3E}">
        <p14:creationId xmlns:p14="http://schemas.microsoft.com/office/powerpoint/2010/main" val="4532366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69AC242-FA4F-4206-BF09-2A53DB9A24C1}" type="slidenum">
              <a:rPr lang="en-US" altLang="en-US" sz="1200"/>
              <a:pPr/>
              <a:t>81</a:t>
            </a:fld>
            <a:endParaRPr lang="en-US" altLang="en-US" sz="1200"/>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D: Hodgkin lymphoma.</a:t>
            </a:r>
          </a:p>
        </p:txBody>
      </p:sp>
    </p:spTree>
    <p:extLst>
      <p:ext uri="{BB962C8B-B14F-4D97-AF65-F5344CB8AC3E}">
        <p14:creationId xmlns:p14="http://schemas.microsoft.com/office/powerpoint/2010/main" val="2233966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4F46A433-53BE-44F2-B0BE-CD4AA7F6F7B2}"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Date Placeholder 8"/>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10" name="Footer Placeholder 9"/>
          <p:cNvSpPr>
            <a:spLocks noGrp="1"/>
          </p:cNvSpPr>
          <p:nvPr>
            <p:ph type="ftr" sz="quarter" idx="11"/>
          </p:nvPr>
        </p:nvSpPr>
        <p:spPr>
          <a:xfrm>
            <a:off x="3124200" y="5859295"/>
            <a:ext cx="2895600" cy="365125"/>
          </a:xfrm>
          <a:prstGeom prst="rect">
            <a:avLst/>
          </a:prstGeom>
        </p:spPr>
        <p:txBody>
          <a:bodyPr/>
          <a:lstStyle/>
          <a:p>
            <a:pPr>
              <a:defRPr/>
            </a:pPr>
            <a:endParaRPr lang="en-US" dirty="0"/>
          </a:p>
        </p:txBody>
      </p:sp>
      <p:sp>
        <p:nvSpPr>
          <p:cNvPr id="11" name="Slide Number Placeholder 10"/>
          <p:cNvSpPr>
            <a:spLocks noGrp="1"/>
          </p:cNvSpPr>
          <p:nvPr>
            <p:ph type="sldNum" sz="quarter" idx="12"/>
          </p:nvPr>
        </p:nvSpPr>
        <p:spPr/>
        <p:txBody>
          <a:bodyPr/>
          <a:lstStyle/>
          <a:p>
            <a:fld id="{28A3EFAA-5F29-4212-A320-E00D10714EB8}" type="slidenum">
              <a:rPr lang="en-US" altLang="en-US" smtClean="0"/>
              <a:pPr/>
              <a:t>‹#›</a:t>
            </a:fld>
            <a:endParaRPr lang="en-US" altLang="en-US"/>
          </a:p>
        </p:txBody>
      </p:sp>
      <p:sp>
        <p:nvSpPr>
          <p:cNvPr id="4" name="Rectangle 8"/>
          <p:cNvSpPr txBox="1">
            <a:spLocks noGrp="1" noChangeArrowheads="1"/>
          </p:cNvSpPr>
          <p:nvPr userDrawn="1"/>
        </p:nvSpPr>
        <p:spPr bwMode="auto">
          <a:xfrm>
            <a:off x="917575" y="6444916"/>
            <a:ext cx="7769225" cy="381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defRPr/>
            </a:pPr>
            <a:endParaRPr lang="en-US" dirty="0"/>
          </a:p>
        </p:txBody>
      </p:sp>
    </p:spTree>
    <p:extLst>
      <p:ext uri="{BB962C8B-B14F-4D97-AF65-F5344CB8AC3E}">
        <p14:creationId xmlns:p14="http://schemas.microsoft.com/office/powerpoint/2010/main" val="15693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419"/>
          </a:p>
        </p:txBody>
      </p:sp>
      <p:sp>
        <p:nvSpPr>
          <p:cNvPr id="3" name="Date Placeholder 2"/>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5" name="Slide Number Placeholder 4"/>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34865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2D8646-B954-479C-A337-986E442FC1A9}"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7C3B6F8-FB65-40D1-9D78-3B0834AA2902}" type="slidenum">
              <a:rPr lang="en-US" altLang="en-US"/>
              <a:pPr/>
              <a:t>‹#›</a:t>
            </a:fld>
            <a:endParaRPr lang="en-US" altLang="en-US"/>
          </a:p>
        </p:txBody>
      </p:sp>
    </p:spTree>
    <p:extLst>
      <p:ext uri="{BB962C8B-B14F-4D97-AF65-F5344CB8AC3E}">
        <p14:creationId xmlns:p14="http://schemas.microsoft.com/office/powerpoint/2010/main" val="104255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026FB1C-0B93-4FFC-AFAC-202B5BB6FD8D}"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AD0EB3D-4C75-400C-847F-27CED06B6053}" type="slidenum">
              <a:rPr lang="en-US" altLang="en-US"/>
              <a:pPr/>
              <a:t>‹#›</a:t>
            </a:fld>
            <a:endParaRPr lang="en-US" altLang="en-US"/>
          </a:p>
        </p:txBody>
      </p:sp>
    </p:spTree>
    <p:extLst>
      <p:ext uri="{BB962C8B-B14F-4D97-AF65-F5344CB8AC3E}">
        <p14:creationId xmlns:p14="http://schemas.microsoft.com/office/powerpoint/2010/main" val="298465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C71BE0B-DC10-4A86-884B-421A21A3786F}"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A7988B2-9A38-4469-A73A-3A8A3875C86B}" type="slidenum">
              <a:rPr lang="en-US" altLang="en-US"/>
              <a:pPr/>
              <a:t>‹#›</a:t>
            </a:fld>
            <a:endParaRPr lang="en-US" altLang="en-US"/>
          </a:p>
        </p:txBody>
      </p:sp>
    </p:spTree>
    <p:extLst>
      <p:ext uri="{BB962C8B-B14F-4D97-AF65-F5344CB8AC3E}">
        <p14:creationId xmlns:p14="http://schemas.microsoft.com/office/powerpoint/2010/main" val="1484110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3F8196F-BB54-4DF1-9DDF-EB61181FD455}" type="datetimeFigureOut">
              <a:rPr lang="en-US"/>
              <a:pPr>
                <a:defRPr/>
              </a:pPr>
              <a:t>12/7/2023</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069FD97-2CE7-4101-9BDA-A6CDF9D7F198}" type="slidenum">
              <a:rPr lang="en-US" altLang="en-US"/>
              <a:pPr/>
              <a:t>‹#›</a:t>
            </a:fld>
            <a:endParaRPr lang="en-US" altLang="en-US"/>
          </a:p>
        </p:txBody>
      </p:sp>
    </p:spTree>
    <p:extLst>
      <p:ext uri="{BB962C8B-B14F-4D97-AF65-F5344CB8AC3E}">
        <p14:creationId xmlns:p14="http://schemas.microsoft.com/office/powerpoint/2010/main" val="14988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7" name="Footer Placeholder 6"/>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8" name="Slide Number Placeholder 7"/>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150113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424A-0666-4F8A-AE0B-042263A2F523}" type="datetimeFigureOut">
              <a:rPr lang="en-US"/>
              <a:pPr>
                <a:defRPr/>
              </a:pPr>
              <a:t>12/7/2023</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sz="1000" baseline="0">
                <a:latin typeface="Arial" pitchFamily="34" charset="0"/>
                <a:cs typeface="Arial" pitchFamily="34" charset="0"/>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98923256-9629-4751-9FC7-D9A617797BD9}" type="slidenum">
              <a:rPr lang="en-US" altLang="en-US"/>
              <a:pPr/>
              <a:t>‹#›</a:t>
            </a:fld>
            <a:endParaRPr lang="en-US" altLang="en-US"/>
          </a:p>
        </p:txBody>
      </p:sp>
    </p:spTree>
    <p:extLst>
      <p:ext uri="{BB962C8B-B14F-4D97-AF65-F5344CB8AC3E}">
        <p14:creationId xmlns:p14="http://schemas.microsoft.com/office/powerpoint/2010/main" val="3502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BC957C-8A28-4346-A91E-3181E23B9FC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23BBEA-FBE4-4D1C-948E-35E3FD648AC7}" type="slidenum">
              <a:rPr lang="en-US" altLang="en-US"/>
              <a:pPr/>
              <a:t>‹#›</a:t>
            </a:fld>
            <a:endParaRPr lang="en-US" altLang="en-US"/>
          </a:p>
        </p:txBody>
      </p:sp>
    </p:spTree>
    <p:extLst>
      <p:ext uri="{BB962C8B-B14F-4D97-AF65-F5344CB8AC3E}">
        <p14:creationId xmlns:p14="http://schemas.microsoft.com/office/powerpoint/2010/main" val="2919125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BD414B3-CE71-4CAC-BF20-28E9BC6B1BB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B0C2544-6AE1-4FFD-9204-B2754DEAA11A}" type="slidenum">
              <a:rPr lang="en-US" altLang="en-US"/>
              <a:pPr/>
              <a:t>‹#›</a:t>
            </a:fld>
            <a:endParaRPr lang="en-US" altLang="en-US"/>
          </a:p>
        </p:txBody>
      </p:sp>
    </p:spTree>
    <p:extLst>
      <p:ext uri="{BB962C8B-B14F-4D97-AF65-F5344CB8AC3E}">
        <p14:creationId xmlns:p14="http://schemas.microsoft.com/office/powerpoint/2010/main" val="378066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89D59-B1E6-4DCF-8F4C-326D6ED2C2B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B8DA79-2483-40AE-83CF-C031752A90C3}" type="slidenum">
              <a:rPr lang="en-US" altLang="en-US"/>
              <a:pPr/>
              <a:t>‹#›</a:t>
            </a:fld>
            <a:endParaRPr lang="en-US" altLang="en-US"/>
          </a:p>
        </p:txBody>
      </p:sp>
    </p:spTree>
    <p:extLst>
      <p:ext uri="{BB962C8B-B14F-4D97-AF65-F5344CB8AC3E}">
        <p14:creationId xmlns:p14="http://schemas.microsoft.com/office/powerpoint/2010/main" val="243053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BF2560-A50C-4A12-98A3-C5D77FC1843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E28CD66-7605-4E45-9E45-CFA0ED8972E6}" type="slidenum">
              <a:rPr lang="en-US" altLang="en-US"/>
              <a:pPr/>
              <a:t>‹#›</a:t>
            </a:fld>
            <a:endParaRPr lang="en-US" altLang="en-US"/>
          </a:p>
        </p:txBody>
      </p:sp>
    </p:spTree>
    <p:extLst>
      <p:ext uri="{BB962C8B-B14F-4D97-AF65-F5344CB8AC3E}">
        <p14:creationId xmlns:p14="http://schemas.microsoft.com/office/powerpoint/2010/main" val="1655669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01F176B-337D-4B0C-9E0F-CF98E924232A}" type="datetimeFigureOut">
              <a:rPr lang="en-US"/>
              <a:pPr>
                <a:defRPr/>
              </a:pPr>
              <a:t>12/7/2023</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A3EFAA-5F29-4212-A320-E00D10714EB8}" type="slidenum">
              <a:rPr lang="en-US" altLang="en-US"/>
              <a:pPr/>
              <a:t>‹#›</a:t>
            </a:fld>
            <a:endParaRPr lang="en-US" altLang="en-US"/>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FF5DB33-233E-420C-BB96-6F4A112866E6}"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481CF930-0174-39AF-B065-F667C9E3B158}"/>
              </a:ext>
            </a:extLst>
          </p:cNvPr>
          <p:cNvPicPr>
            <a:picLocks noChangeAspect="1"/>
          </p:cNvPicPr>
          <p:nvPr userDrawn="1"/>
        </p:nvPicPr>
        <p:blipFill>
          <a:blip r:embed="rId14"/>
          <a:stretch>
            <a:fillRect/>
          </a:stretch>
        </p:blipFill>
        <p:spPr>
          <a:xfrm>
            <a:off x="3041871" y="6478581"/>
            <a:ext cx="3118010" cy="209561"/>
          </a:xfrm>
          <a:prstGeom prst="rect">
            <a:avLst/>
          </a:prstGeom>
        </p:spPr>
      </p:pic>
    </p:spTree>
  </p:cSld>
  <p:clrMap bg1="lt1" tx1="dk1" bg2="lt2" tx2="dk2" accent1="accent1" accent2="accent2" accent3="accent3" accent4="accent4" accent5="accent5" accent6="accent6" hlink="hlink" folHlink="folHlink"/>
  <p:sldLayoutIdLst>
    <p:sldLayoutId id="2147483948" r:id="rId1"/>
    <p:sldLayoutId id="2147483951" r:id="rId2"/>
    <p:sldLayoutId id="2147483939" r:id="rId3"/>
    <p:sldLayoutId id="2147483940" r:id="rId4"/>
    <p:sldLayoutId id="2147483941" r:id="rId5"/>
    <p:sldLayoutId id="2147483942" r:id="rId6"/>
    <p:sldLayoutId id="2147483943" r:id="rId7"/>
    <p:sldLayoutId id="2147483949" r:id="rId8"/>
    <p:sldLayoutId id="2147483944" r:id="rId9"/>
    <p:sldLayoutId id="2147483945" r:id="rId10"/>
    <p:sldLayoutId id="2147483946" r:id="rId11"/>
    <p:sldLayoutId id="2147483947" r:id="rId12"/>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dirty="0"/>
            </a:br>
            <a:r>
              <a:rPr lang="en-US" dirty="0"/>
              <a:t>13</a:t>
            </a:r>
            <a:r>
              <a:rPr lang="en-US" baseline="30000" dirty="0"/>
              <a:t>th</a:t>
            </a:r>
            <a:r>
              <a:rPr lang="en-US" dirty="0"/>
              <a:t> 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142828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556A40-637A-4D63-8478-0947D3E7B56B}"/>
              </a:ext>
            </a:extLst>
          </p:cNvPr>
          <p:cNvSpPr>
            <a:spLocks noGrp="1"/>
          </p:cNvSpPr>
          <p:nvPr>
            <p:ph type="title"/>
          </p:nvPr>
        </p:nvSpPr>
        <p:spPr/>
        <p:txBody>
          <a:bodyPr/>
          <a:lstStyle/>
          <a:p>
            <a:r>
              <a:rPr lang="en-US" dirty="0"/>
              <a:t>Chapter 14</a:t>
            </a:r>
            <a:br>
              <a:rPr lang="en-US" dirty="0"/>
            </a:br>
            <a:r>
              <a:rPr lang="en-US" dirty="0"/>
              <a:t>Lymphatic and Immune System</a:t>
            </a:r>
          </a:p>
        </p:txBody>
      </p:sp>
    </p:spTree>
    <p:extLst>
      <p:ext uri="{BB962C8B-B14F-4D97-AF65-F5344CB8AC3E}">
        <p14:creationId xmlns:p14="http://schemas.microsoft.com/office/powerpoint/2010/main" val="443841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title"/>
          </p:nvPr>
        </p:nvSpPr>
        <p:spPr/>
        <p:txBody>
          <a:bodyPr/>
          <a:lstStyle/>
          <a:p>
            <a:pPr eaLnBrk="1" hangingPunct="1"/>
            <a:r>
              <a:rPr lang="en-US" altLang="en-US" dirty="0"/>
              <a:t>Chapter Goals (Slide 1 of 2)</a:t>
            </a:r>
          </a:p>
        </p:txBody>
      </p:sp>
      <p:sp>
        <p:nvSpPr>
          <p:cNvPr id="5123" name="Rectangle 5"/>
          <p:cNvSpPr>
            <a:spLocks noGrp="1" noChangeArrowheads="1"/>
          </p:cNvSpPr>
          <p:nvPr>
            <p:ph idx="1"/>
          </p:nvPr>
        </p:nvSpPr>
        <p:spPr/>
        <p:txBody>
          <a:bodyPr/>
          <a:lstStyle/>
          <a:p>
            <a:pPr eaLnBrk="1" hangingPunct="1"/>
            <a:r>
              <a:rPr lang="en-US" altLang="en-US"/>
              <a:t>Identify the structures and analyze terms related to the lymphatic and immune systems.</a:t>
            </a:r>
          </a:p>
          <a:p>
            <a:pPr eaLnBrk="1" hangingPunct="1"/>
            <a:r>
              <a:rPr lang="en-US" altLang="en-US"/>
              <a:t>Learn basic terminology, combining forms, and other word parts related to these systems.</a:t>
            </a:r>
          </a:p>
          <a:p>
            <a:pPr eaLnBrk="1" hangingPunct="1"/>
            <a:r>
              <a:rPr lang="en-US" altLang="en-US"/>
              <a:t>Recognize terms describing pathologic conditions.</a:t>
            </a:r>
          </a:p>
        </p:txBody>
      </p:sp>
    </p:spTree>
    <p:extLst>
      <p:ext uri="{BB962C8B-B14F-4D97-AF65-F5344CB8AC3E}">
        <p14:creationId xmlns:p14="http://schemas.microsoft.com/office/powerpoint/2010/main" val="2626592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title"/>
          </p:nvPr>
        </p:nvSpPr>
        <p:spPr/>
        <p:txBody>
          <a:bodyPr/>
          <a:lstStyle/>
          <a:p>
            <a:pPr eaLnBrk="1" hangingPunct="1"/>
            <a:r>
              <a:rPr lang="en-US" altLang="en-US" dirty="0"/>
              <a:t>Chapter Goals (Slide 2 of 2</a:t>
            </a:r>
            <a:r>
              <a:rPr lang="en-US" altLang="ja-JP" dirty="0"/>
              <a:t>)</a:t>
            </a:r>
            <a:endParaRPr lang="en-US" altLang="en-US" dirty="0"/>
          </a:p>
        </p:txBody>
      </p:sp>
      <p:sp>
        <p:nvSpPr>
          <p:cNvPr id="6147" name="Rectangle 5"/>
          <p:cNvSpPr>
            <a:spLocks noGrp="1" noChangeArrowheads="1"/>
          </p:cNvSpPr>
          <p:nvPr>
            <p:ph idx="1"/>
          </p:nvPr>
        </p:nvSpPr>
        <p:spPr/>
        <p:txBody>
          <a:bodyPr/>
          <a:lstStyle/>
          <a:p>
            <a:pPr eaLnBrk="1" hangingPunct="1">
              <a:defRPr/>
            </a:pPr>
            <a:r>
              <a:rPr lang="en-US" dirty="0"/>
              <a:t>Identify laboratory tests, clinical procedures, and abbreviations.</a:t>
            </a:r>
          </a:p>
          <a:p>
            <a:pPr marL="0" indent="0" eaLnBrk="1" hangingPunct="1">
              <a:buFont typeface="Arial" panose="020B0604020202020204" pitchFamily="34" charset="0"/>
              <a:buNone/>
              <a:defRPr/>
            </a:pPr>
            <a:endParaRPr lang="en-US" dirty="0"/>
          </a:p>
          <a:p>
            <a:pPr eaLnBrk="1" hangingPunct="1">
              <a:defRPr/>
            </a:pPr>
            <a:r>
              <a:rPr lang="en-US" dirty="0"/>
              <a:t>Apply your new knowledge to understanding medical terms in their proper contexts, such as medical reports and records.</a:t>
            </a:r>
          </a:p>
        </p:txBody>
      </p:sp>
    </p:spTree>
    <p:extLst>
      <p:ext uri="{BB962C8B-B14F-4D97-AF65-F5344CB8AC3E}">
        <p14:creationId xmlns:p14="http://schemas.microsoft.com/office/powerpoint/2010/main" val="991493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en-US" sz="4000" dirty="0"/>
              <a:t>Chapter 14</a:t>
            </a:r>
            <a:br>
              <a:rPr lang="en-US" altLang="en-US" sz="4000" dirty="0"/>
            </a:br>
            <a:r>
              <a:rPr lang="en-US" altLang="en-US" sz="4000" dirty="0"/>
              <a:t>Lesson 14.1</a:t>
            </a:r>
          </a:p>
        </p:txBody>
      </p:sp>
    </p:spTree>
    <p:extLst>
      <p:ext uri="{BB962C8B-B14F-4D97-AF65-F5344CB8AC3E}">
        <p14:creationId xmlns:p14="http://schemas.microsoft.com/office/powerpoint/2010/main" val="3030784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title"/>
          </p:nvPr>
        </p:nvSpPr>
        <p:spPr/>
        <p:txBody>
          <a:bodyPr/>
          <a:lstStyle/>
          <a:p>
            <a:pPr eaLnBrk="1" hangingPunct="1"/>
            <a:r>
              <a:rPr lang="en-US" altLang="en-US" dirty="0"/>
              <a:t>Introduction (Slide 1 of 2)</a:t>
            </a:r>
          </a:p>
        </p:txBody>
      </p:sp>
      <p:sp>
        <p:nvSpPr>
          <p:cNvPr id="8195" name="Rectangle 5"/>
          <p:cNvSpPr>
            <a:spLocks noGrp="1" noChangeArrowheads="1"/>
          </p:cNvSpPr>
          <p:nvPr>
            <p:ph idx="1"/>
          </p:nvPr>
        </p:nvSpPr>
        <p:spPr>
          <a:xfrm>
            <a:off x="685800" y="1641475"/>
            <a:ext cx="8153400" cy="4454525"/>
          </a:xfrm>
        </p:spPr>
        <p:txBody>
          <a:bodyPr/>
          <a:lstStyle/>
          <a:p>
            <a:pPr eaLnBrk="1" hangingPunct="1">
              <a:lnSpc>
                <a:spcPct val="90000"/>
              </a:lnSpc>
              <a:buFont typeface="Wingdings 2" panose="05020102010507070707" pitchFamily="18" charset="2"/>
              <a:buNone/>
            </a:pPr>
            <a:r>
              <a:rPr lang="en-US" altLang="en-US" sz="2800" b="1"/>
              <a:t>Lymph:</a:t>
            </a:r>
            <a:r>
              <a:rPr lang="en-US" altLang="en-US" sz="2800"/>
              <a:t> clear watery fluid that surrounds body cells and flows in a system of lymph vessels throughout the body</a:t>
            </a:r>
          </a:p>
          <a:p>
            <a:pPr eaLnBrk="1" hangingPunct="1">
              <a:lnSpc>
                <a:spcPct val="90000"/>
              </a:lnSpc>
            </a:pPr>
            <a:r>
              <a:rPr lang="en-US" altLang="en-US" sz="2800"/>
              <a:t>Originates in blood</a:t>
            </a:r>
          </a:p>
          <a:p>
            <a:pPr eaLnBrk="1" hangingPunct="1">
              <a:lnSpc>
                <a:spcPct val="90000"/>
              </a:lnSpc>
            </a:pPr>
            <a:r>
              <a:rPr lang="en-US" altLang="en-US" sz="2800"/>
              <a:t>Rich in lymphocytes and monocytes</a:t>
            </a:r>
          </a:p>
          <a:p>
            <a:pPr eaLnBrk="1" hangingPunct="1">
              <a:lnSpc>
                <a:spcPct val="90000"/>
              </a:lnSpc>
            </a:pPr>
            <a:r>
              <a:rPr lang="en-US" altLang="en-US" sz="2800"/>
              <a:t>Flows in lymph capillaries and vessels</a:t>
            </a:r>
          </a:p>
          <a:p>
            <a:pPr eaLnBrk="1" hangingPunct="1">
              <a:lnSpc>
                <a:spcPct val="90000"/>
              </a:lnSpc>
            </a:pPr>
            <a:r>
              <a:rPr lang="en-US" altLang="en-US" sz="2800"/>
              <a:t>Flows through lymph nodes and lymphatic organs (liver, spleen, thymus, and nodes)</a:t>
            </a:r>
          </a:p>
          <a:p>
            <a:pPr eaLnBrk="1" hangingPunct="1">
              <a:lnSpc>
                <a:spcPct val="90000"/>
              </a:lnSpc>
            </a:pPr>
            <a:r>
              <a:rPr lang="en-US" altLang="en-US" sz="2800"/>
              <a:t>Absorbs lipids in the intestine</a:t>
            </a:r>
          </a:p>
          <a:p>
            <a:pPr eaLnBrk="1" hangingPunct="1">
              <a:lnSpc>
                <a:spcPct val="90000"/>
              </a:lnSpc>
            </a:pPr>
            <a:endParaRPr lang="en-US" altLang="en-US" sz="2400"/>
          </a:p>
        </p:txBody>
      </p:sp>
    </p:spTree>
    <p:extLst>
      <p:ext uri="{BB962C8B-B14F-4D97-AF65-F5344CB8AC3E}">
        <p14:creationId xmlns:p14="http://schemas.microsoft.com/office/powerpoint/2010/main" val="1028911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dirty="0"/>
              <a:t>Introduction (Slide 2 of 2</a:t>
            </a:r>
            <a:r>
              <a:rPr lang="en-US" altLang="ja-JP" dirty="0"/>
              <a:t>)</a:t>
            </a:r>
            <a:endParaRPr lang="en-US" altLang="en-US" dirty="0"/>
          </a:p>
        </p:txBody>
      </p:sp>
      <p:sp>
        <p:nvSpPr>
          <p:cNvPr id="9219" name="Rectangle 3"/>
          <p:cNvSpPr>
            <a:spLocks noGrp="1" noChangeArrowheads="1"/>
          </p:cNvSpPr>
          <p:nvPr>
            <p:ph idx="1"/>
          </p:nvPr>
        </p:nvSpPr>
        <p:spPr/>
        <p:txBody>
          <a:bodyPr/>
          <a:lstStyle/>
          <a:p>
            <a:pPr marL="533400" indent="-533400" eaLnBrk="1" hangingPunct="1">
              <a:lnSpc>
                <a:spcPct val="90000"/>
              </a:lnSpc>
              <a:buFont typeface="Wingdings 2" panose="05020102010507070707" pitchFamily="18" charset="2"/>
              <a:buNone/>
            </a:pPr>
            <a:r>
              <a:rPr lang="en-US" altLang="en-US" sz="2800" b="1"/>
              <a:t>Lymphatic System Functions</a:t>
            </a:r>
          </a:p>
          <a:p>
            <a:pPr marL="533400" indent="-533400" eaLnBrk="1" hangingPunct="1">
              <a:lnSpc>
                <a:spcPct val="90000"/>
              </a:lnSpc>
              <a:buFont typeface="Arial" panose="020B0604020202020204" pitchFamily="34" charset="0"/>
              <a:buAutoNum type="arabicPeriod"/>
            </a:pPr>
            <a:r>
              <a:rPr lang="en-US" altLang="en-US" sz="2800"/>
              <a:t>Transports proteins and fluid that have leaked, back to the bloodstream</a:t>
            </a:r>
          </a:p>
          <a:p>
            <a:pPr marL="533400" indent="-533400" eaLnBrk="1" hangingPunct="1">
              <a:lnSpc>
                <a:spcPct val="90000"/>
              </a:lnSpc>
              <a:buFont typeface="Arial" panose="020B0604020202020204" pitchFamily="34" charset="0"/>
              <a:buAutoNum type="arabicPeriod"/>
            </a:pPr>
            <a:r>
              <a:rPr lang="en-US" altLang="en-US" sz="2800"/>
              <a:t>Lymphatic vessels absorb lipids from intestines and transport them to the bloodstream</a:t>
            </a:r>
          </a:p>
          <a:p>
            <a:pPr marL="533400" indent="-533400" eaLnBrk="1" hangingPunct="1">
              <a:lnSpc>
                <a:spcPct val="90000"/>
              </a:lnSpc>
              <a:buFont typeface="Arial" panose="020B0604020202020204" pitchFamily="34" charset="0"/>
              <a:buAutoNum type="arabicPeriod"/>
            </a:pPr>
            <a:r>
              <a:rPr lang="en-US" altLang="en-US" sz="2800"/>
              <a:t>Lymphocytes and monocytes protect the body by mounting a cellular attack on foreign cells and organisms.</a:t>
            </a:r>
          </a:p>
          <a:p>
            <a:pPr marL="533400" indent="-533400" eaLnBrk="1" hangingPunct="1">
              <a:lnSpc>
                <a:spcPct val="90000"/>
              </a:lnSpc>
            </a:pPr>
            <a:endParaRPr lang="en-US" altLang="en-US" sz="2400"/>
          </a:p>
        </p:txBody>
      </p:sp>
    </p:spTree>
    <p:extLst>
      <p:ext uri="{BB962C8B-B14F-4D97-AF65-F5344CB8AC3E}">
        <p14:creationId xmlns:p14="http://schemas.microsoft.com/office/powerpoint/2010/main" val="468307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p:nvPr>
        </p:nvSpPr>
        <p:spPr/>
        <p:txBody>
          <a:bodyPr/>
          <a:lstStyle/>
          <a:p>
            <a:pPr eaLnBrk="1" hangingPunct="1"/>
            <a:r>
              <a:rPr lang="en-US" altLang="en-US" dirty="0"/>
              <a:t>Interstitial Fluid and Lymph Capillaries (Slide 1 of 2)</a:t>
            </a:r>
          </a:p>
        </p:txBody>
      </p:sp>
      <p:sp>
        <p:nvSpPr>
          <p:cNvPr id="2" name="Content Placeholder 1"/>
          <p:cNvSpPr>
            <a:spLocks noGrp="1"/>
          </p:cNvSpPr>
          <p:nvPr>
            <p:ph idx="1"/>
          </p:nvPr>
        </p:nvSpPr>
        <p:spPr>
          <a:xfrm>
            <a:off x="790575" y="1905000"/>
            <a:ext cx="7562850" cy="4191000"/>
          </a:xfrm>
        </p:spPr>
        <p:txBody>
          <a:bodyPr/>
          <a:lstStyle/>
          <a:p>
            <a:r>
              <a:rPr lang="en-US" dirty="0"/>
              <a:t>Structures of interstitial fluid and lymph capillaries include:</a:t>
            </a:r>
          </a:p>
          <a:p>
            <a:pPr lvl="1">
              <a:buFont typeface="Wingdings" panose="05000000000000000000" pitchFamily="2" charset="2"/>
              <a:buChar char="Ø"/>
            </a:pPr>
            <a:r>
              <a:rPr lang="en-US" b="1" dirty="0"/>
              <a:t> Blood capillaries</a:t>
            </a:r>
          </a:p>
          <a:p>
            <a:pPr lvl="1">
              <a:buFont typeface="Wingdings" panose="05000000000000000000" pitchFamily="2" charset="2"/>
              <a:buChar char="Ø"/>
            </a:pPr>
            <a:r>
              <a:rPr lang="en-US" b="1" dirty="0"/>
              <a:t> Lymph capillaries</a:t>
            </a:r>
          </a:p>
          <a:p>
            <a:pPr lvl="1">
              <a:buFont typeface="Wingdings" panose="05000000000000000000" pitchFamily="2" charset="2"/>
              <a:buChar char="Ø"/>
            </a:pPr>
            <a:r>
              <a:rPr lang="en-US" b="1" dirty="0"/>
              <a:t> Lymph vessel</a:t>
            </a:r>
          </a:p>
          <a:p>
            <a:pPr lvl="1">
              <a:buFont typeface="Wingdings" panose="05000000000000000000" pitchFamily="2" charset="2"/>
              <a:buChar char="Ø"/>
            </a:pPr>
            <a:r>
              <a:rPr lang="en-US" b="1" dirty="0"/>
              <a:t> Interstitial fluid</a:t>
            </a:r>
          </a:p>
          <a:p>
            <a:pPr lvl="1">
              <a:buFont typeface="Wingdings" panose="05000000000000000000" pitchFamily="2" charset="2"/>
              <a:buChar char="Ø"/>
            </a:pPr>
            <a:r>
              <a:rPr lang="en-US" b="1" dirty="0"/>
              <a:t> Tissue cells</a:t>
            </a:r>
          </a:p>
          <a:p>
            <a:endParaRPr lang="es-419" dirty="0"/>
          </a:p>
        </p:txBody>
      </p:sp>
    </p:spTree>
    <p:extLst>
      <p:ext uri="{BB962C8B-B14F-4D97-AF65-F5344CB8AC3E}">
        <p14:creationId xmlns:p14="http://schemas.microsoft.com/office/powerpoint/2010/main" val="3180274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dirty="0"/>
              <a:t>Interstitial Fluid and Lymph Capillaries (Slide 2 of 2</a:t>
            </a:r>
            <a:r>
              <a:rPr lang="en-US" altLang="ja-JP" dirty="0"/>
              <a:t>)</a:t>
            </a:r>
            <a:endParaRPr lang="en-US" altLang="en-US" dirty="0"/>
          </a:p>
        </p:txBody>
      </p:sp>
      <p:pic>
        <p:nvPicPr>
          <p:cNvPr id="5" name="Picture 7" descr="Lymph originates from the blood and filters out of tiny blood capillaries into the spaces between cells. Fluid that surrounds body cells is called interstitial fluid, which passes continuously into thin-walled vessels called lymph capillaries that course through tissue spaces. Lymph passes through larger lymphatic vessels through clusters of lymph tissues, finally reaching large lymphatic vessels in the upper chest."/>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86000" y="1828799"/>
            <a:ext cx="4648200" cy="43150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171751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lstStyle/>
          <a:p>
            <a:pPr eaLnBrk="1" hangingPunct="1"/>
            <a:r>
              <a:rPr lang="en-US" altLang="en-US" dirty="0"/>
              <a:t>Blood and Lymph (Slide 1 of 2)</a:t>
            </a:r>
          </a:p>
        </p:txBody>
      </p:sp>
      <p:sp>
        <p:nvSpPr>
          <p:cNvPr id="2" name="Content Placeholder 1"/>
          <p:cNvSpPr>
            <a:spLocks noGrp="1"/>
          </p:cNvSpPr>
          <p:nvPr>
            <p:ph idx="1"/>
          </p:nvPr>
        </p:nvSpPr>
        <p:spPr>
          <a:xfrm>
            <a:off x="990600" y="1600200"/>
            <a:ext cx="6858000" cy="4525963"/>
          </a:xfrm>
        </p:spPr>
        <p:txBody>
          <a:bodyPr/>
          <a:lstStyle/>
          <a:p>
            <a:r>
              <a:rPr lang="en-US" sz="2400" dirty="0"/>
              <a:t> Lymph originates from the blood and filters out of tiny blood capillaries into the spaces between cells.</a:t>
            </a:r>
          </a:p>
          <a:p>
            <a:r>
              <a:rPr lang="en-US" sz="2400" dirty="0"/>
              <a:t> Fluid that surrounds body cells is called interstitial fluid, which passes continuously into thin-walled vessels called lymph capillaries that course through tissue spaces. </a:t>
            </a:r>
          </a:p>
          <a:p>
            <a:r>
              <a:rPr lang="en-US" sz="2400" dirty="0"/>
              <a:t> Lymph passes through larger lymphatic vessels through clusters of lymph tissues, finally reaching large lymphatic vessels in the upper chest.</a:t>
            </a:r>
          </a:p>
          <a:p>
            <a:r>
              <a:rPr lang="en-US" sz="2400" dirty="0"/>
              <a:t> Lymph enters these large lymphatic vessels, which then empty into the bloodstream.</a:t>
            </a:r>
          </a:p>
          <a:p>
            <a:endParaRPr lang="es-419" dirty="0"/>
          </a:p>
        </p:txBody>
      </p:sp>
    </p:spTree>
    <p:extLst>
      <p:ext uri="{BB962C8B-B14F-4D97-AF65-F5344CB8AC3E}">
        <p14:creationId xmlns:p14="http://schemas.microsoft.com/office/powerpoint/2010/main" val="841687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dirty="0"/>
              <a:t>Blood and Lymph (Slide 2 of 2</a:t>
            </a:r>
            <a:r>
              <a:rPr lang="en-US" altLang="ja-JP" dirty="0"/>
              <a:t>)</a:t>
            </a:r>
            <a:endParaRPr lang="en-US" altLang="en-US" dirty="0"/>
          </a:p>
        </p:txBody>
      </p:sp>
      <p:pic>
        <p:nvPicPr>
          <p:cNvPr id="5" name="Picture 7" descr="Lymph originates from the blood and filters out of tiny blood capillaries into spaces between cells. Fluid that surrounds body cells is called interstitial fluid, which passes continuously into thin-walled vessels called lymph capillaries that course through tissue spaces. Lymph passes through larger lymphatic vessels through clusters of lymph tissues, finally reaching large lymphatic vessels in the upper chest. Lymph enters these large lymphatic vessels, which then empty into the bloodstream."/>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14500" y="1743869"/>
            <a:ext cx="5715000" cy="4238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010484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p:nvPr>
        </p:nvSpPr>
        <p:spPr>
          <a:xfrm>
            <a:off x="1295400" y="152400"/>
            <a:ext cx="6705600" cy="1143000"/>
          </a:xfrm>
        </p:spPr>
        <p:txBody>
          <a:bodyPr/>
          <a:lstStyle/>
          <a:p>
            <a:pPr eaLnBrk="1" hangingPunct="1"/>
            <a:r>
              <a:rPr lang="en-US" altLang="en-US" dirty="0"/>
              <a:t>Lymphatic System Anatomy</a:t>
            </a:r>
          </a:p>
        </p:txBody>
      </p:sp>
      <p:sp>
        <p:nvSpPr>
          <p:cNvPr id="14339" name="Rectangle 5"/>
          <p:cNvSpPr>
            <a:spLocks noGrp="1" noChangeArrowheads="1"/>
          </p:cNvSpPr>
          <p:nvPr>
            <p:ph idx="1"/>
          </p:nvPr>
        </p:nvSpPr>
        <p:spPr>
          <a:xfrm>
            <a:off x="685800" y="1600200"/>
            <a:ext cx="6477000" cy="2286000"/>
          </a:xfrm>
        </p:spPr>
        <p:txBody>
          <a:bodyPr/>
          <a:lstStyle/>
          <a:p>
            <a:pPr eaLnBrk="1" hangingPunct="1"/>
            <a:r>
              <a:rPr lang="en-US" altLang="en-US"/>
              <a:t>Lymph capillaries</a:t>
            </a:r>
          </a:p>
          <a:p>
            <a:pPr eaLnBrk="1" hangingPunct="1"/>
            <a:r>
              <a:rPr lang="en-US" altLang="en-US"/>
              <a:t>Lymph vessels</a:t>
            </a:r>
          </a:p>
          <a:p>
            <a:pPr eaLnBrk="1" hangingPunct="1"/>
            <a:r>
              <a:rPr lang="en-US" altLang="en-US"/>
              <a:t>Lymph nodes</a:t>
            </a:r>
          </a:p>
          <a:p>
            <a:pPr lvl="1" eaLnBrk="1" hangingPunct="1">
              <a:buFont typeface="Wingdings" panose="05000000000000000000" pitchFamily="2" charset="2"/>
              <a:buChar char="Ø"/>
            </a:pPr>
            <a:r>
              <a:rPr lang="en-US" altLang="en-US"/>
              <a:t>Cervical (neck)</a:t>
            </a:r>
          </a:p>
          <a:p>
            <a:pPr lvl="1" eaLnBrk="1" hangingPunct="1">
              <a:buFont typeface="Wingdings" panose="05000000000000000000" pitchFamily="2" charset="2"/>
              <a:buChar char="Ø"/>
            </a:pPr>
            <a:r>
              <a:rPr lang="en-US" altLang="en-US"/>
              <a:t>Axillary (armpit)</a:t>
            </a:r>
          </a:p>
          <a:p>
            <a:pPr lvl="1" eaLnBrk="1" hangingPunct="1">
              <a:buFont typeface="Wingdings" panose="05000000000000000000" pitchFamily="2" charset="2"/>
              <a:buChar char="Ø"/>
            </a:pPr>
            <a:r>
              <a:rPr lang="en-US" altLang="en-US"/>
              <a:t>Mediastinal (chest)</a:t>
            </a:r>
          </a:p>
          <a:p>
            <a:pPr lvl="1" eaLnBrk="1" hangingPunct="1">
              <a:buFont typeface="Wingdings" panose="05000000000000000000" pitchFamily="2" charset="2"/>
              <a:buChar char="Ø"/>
            </a:pPr>
            <a:r>
              <a:rPr lang="en-US" altLang="en-US"/>
              <a:t>Mesenteric (intestinal)</a:t>
            </a:r>
          </a:p>
          <a:p>
            <a:pPr lvl="1" eaLnBrk="1" hangingPunct="1">
              <a:buFont typeface="Wingdings" panose="05000000000000000000" pitchFamily="2" charset="2"/>
              <a:buChar char="Ø"/>
            </a:pPr>
            <a:r>
              <a:rPr lang="en-US" altLang="en-US"/>
              <a:t>Paraaortic (lumbar)</a:t>
            </a:r>
          </a:p>
          <a:p>
            <a:pPr lvl="1" eaLnBrk="1" hangingPunct="1">
              <a:buFont typeface="Wingdings" panose="05000000000000000000" pitchFamily="2" charset="2"/>
              <a:buChar char="Ø"/>
            </a:pPr>
            <a:r>
              <a:rPr lang="en-US" altLang="en-US"/>
              <a:t>Inguinal (groin)</a:t>
            </a:r>
          </a:p>
        </p:txBody>
      </p:sp>
    </p:spTree>
    <p:extLst>
      <p:ext uri="{BB962C8B-B14F-4D97-AF65-F5344CB8AC3E}">
        <p14:creationId xmlns:p14="http://schemas.microsoft.com/office/powerpoint/2010/main" val="3213181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5"/>
          <p:cNvSpPr>
            <a:spLocks noGrp="1" noChangeArrowheads="1"/>
          </p:cNvSpPr>
          <p:nvPr>
            <p:ph type="title"/>
          </p:nvPr>
        </p:nvSpPr>
        <p:spPr/>
        <p:txBody>
          <a:bodyPr/>
          <a:lstStyle/>
          <a:p>
            <a:pPr eaLnBrk="1" hangingPunct="1"/>
            <a:r>
              <a:rPr lang="en-US" altLang="en-US" dirty="0"/>
              <a:t>Lymph Nodes</a:t>
            </a:r>
            <a:endParaRPr lang="en-US" altLang="en-US" sz="2000" dirty="0"/>
          </a:p>
        </p:txBody>
      </p:sp>
      <p:sp>
        <p:nvSpPr>
          <p:cNvPr id="15363" name="Rectangle 6"/>
          <p:cNvSpPr>
            <a:spLocks noGrp="1" noChangeArrowheads="1"/>
          </p:cNvSpPr>
          <p:nvPr>
            <p:ph idx="1"/>
          </p:nvPr>
        </p:nvSpPr>
        <p:spPr/>
        <p:txBody>
          <a:bodyPr/>
          <a:lstStyle/>
          <a:p>
            <a:pPr eaLnBrk="1" hangingPunct="1"/>
            <a:r>
              <a:rPr lang="en-US" altLang="en-US" b="1"/>
              <a:t>Macrophages</a:t>
            </a:r>
            <a:r>
              <a:rPr lang="en-US" altLang="en-US"/>
              <a:t> phagocytose foreign substances</a:t>
            </a:r>
          </a:p>
          <a:p>
            <a:pPr eaLnBrk="1" hangingPunct="1"/>
            <a:endParaRPr lang="en-US" altLang="en-US"/>
          </a:p>
          <a:p>
            <a:pPr eaLnBrk="1" hangingPunct="1"/>
            <a:r>
              <a:rPr lang="en-US" altLang="en-US" b="1"/>
              <a:t>B lymphocytes</a:t>
            </a:r>
            <a:r>
              <a:rPr lang="en-US" altLang="en-US"/>
              <a:t> </a:t>
            </a:r>
            <a:r>
              <a:rPr lang="en-US" altLang="en-US" b="1"/>
              <a:t>(B cells) </a:t>
            </a:r>
            <a:r>
              <a:rPr lang="en-US" altLang="en-US"/>
              <a:t>produce antibodies; mature in the bone marrow</a:t>
            </a:r>
          </a:p>
          <a:p>
            <a:pPr eaLnBrk="1" hangingPunct="1"/>
            <a:endParaRPr lang="en-US" altLang="en-US"/>
          </a:p>
          <a:p>
            <a:pPr eaLnBrk="1" hangingPunct="1"/>
            <a:r>
              <a:rPr lang="en-US" altLang="en-US" b="1"/>
              <a:t>T lymphocytes</a:t>
            </a:r>
            <a:r>
              <a:rPr lang="en-US" altLang="en-US"/>
              <a:t> </a:t>
            </a:r>
            <a:r>
              <a:rPr lang="en-US" altLang="en-US" b="1"/>
              <a:t>(T cells) </a:t>
            </a:r>
            <a:r>
              <a:rPr lang="en-US" altLang="en-US"/>
              <a:t>attack bacteria and foreign cells; originate in the thymus gland</a:t>
            </a:r>
          </a:p>
        </p:txBody>
      </p:sp>
    </p:spTree>
    <p:extLst>
      <p:ext uri="{BB962C8B-B14F-4D97-AF65-F5344CB8AC3E}">
        <p14:creationId xmlns:p14="http://schemas.microsoft.com/office/powerpoint/2010/main" val="849177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en-US" dirty="0"/>
              <a:t>Spleen</a:t>
            </a:r>
          </a:p>
        </p:txBody>
      </p:sp>
      <p:sp>
        <p:nvSpPr>
          <p:cNvPr id="2" name="Content Placeholder 1"/>
          <p:cNvSpPr>
            <a:spLocks noGrp="1"/>
          </p:cNvSpPr>
          <p:nvPr>
            <p:ph sz="half" idx="1"/>
          </p:nvPr>
        </p:nvSpPr>
        <p:spPr>
          <a:xfrm>
            <a:off x="685800" y="1828800"/>
            <a:ext cx="4038600" cy="4525963"/>
          </a:xfrm>
        </p:spPr>
        <p:txBody>
          <a:bodyPr/>
          <a:lstStyle/>
          <a:p>
            <a:pPr eaLnBrk="1" hangingPunct="1">
              <a:buFont typeface="Wingdings" panose="05000000000000000000" pitchFamily="2" charset="2"/>
              <a:buChar char="Ø"/>
            </a:pPr>
            <a:r>
              <a:rPr lang="en-US" altLang="en-US" sz="2100" dirty="0">
                <a:latin typeface="Arial" panose="020B0604020202020204" pitchFamily="34" charset="0"/>
              </a:rPr>
              <a:t>Destroys old red blood cells  </a:t>
            </a:r>
          </a:p>
          <a:p>
            <a:pPr eaLnBrk="1" hangingPunct="1">
              <a:spcBef>
                <a:spcPts val="600"/>
              </a:spcBef>
              <a:buFont typeface="Wingdings" panose="05000000000000000000" pitchFamily="2" charset="2"/>
              <a:buChar char="Ø"/>
            </a:pPr>
            <a:r>
              <a:rPr lang="en-US" altLang="en-US" sz="2000" dirty="0">
                <a:latin typeface="Arial" panose="020B0604020202020204" pitchFamily="34" charset="0"/>
              </a:rPr>
              <a:t>Filters microorganisms and other foreign material out of the blood</a:t>
            </a:r>
          </a:p>
          <a:p>
            <a:pPr eaLnBrk="1" hangingPunct="1">
              <a:spcBef>
                <a:spcPts val="600"/>
              </a:spcBef>
              <a:buFont typeface="Wingdings" panose="05000000000000000000" pitchFamily="2" charset="2"/>
              <a:buChar char="Ø"/>
            </a:pPr>
            <a:r>
              <a:rPr lang="en-US" altLang="en-US" sz="2000" dirty="0">
                <a:latin typeface="Arial" panose="020B0604020202020204" pitchFamily="34" charset="0"/>
              </a:rPr>
              <a:t> Activates lymphocytes during blood filtration (Activated B lymphocytes (B cells) produce antibodies;  </a:t>
            </a:r>
            <a:r>
              <a:rPr lang="fr-FR" altLang="en-US" sz="2000" dirty="0" err="1">
                <a:latin typeface="Arial" panose="020B0604020202020204" pitchFamily="34" charset="0"/>
              </a:rPr>
              <a:t>Activated</a:t>
            </a:r>
            <a:r>
              <a:rPr lang="fr-FR" altLang="en-US" sz="2000" dirty="0">
                <a:latin typeface="Arial" panose="020B0604020202020204" pitchFamily="34" charset="0"/>
              </a:rPr>
              <a:t> </a:t>
            </a:r>
            <a:br>
              <a:rPr lang="fr-FR" altLang="en-US" sz="2000" dirty="0">
                <a:latin typeface="Arial" panose="020B0604020202020204" pitchFamily="34" charset="0"/>
              </a:rPr>
            </a:br>
            <a:r>
              <a:rPr lang="fr-FR" altLang="en-US" sz="2000" dirty="0">
                <a:latin typeface="Arial" panose="020B0604020202020204" pitchFamily="34" charset="0"/>
              </a:rPr>
              <a:t>T lymphocytes (T </a:t>
            </a:r>
            <a:r>
              <a:rPr lang="fr-FR" altLang="en-US" sz="2000" dirty="0" err="1">
                <a:latin typeface="Arial" panose="020B0604020202020204" pitchFamily="34" charset="0"/>
              </a:rPr>
              <a:t>cells</a:t>
            </a:r>
            <a:r>
              <a:rPr lang="fr-FR" altLang="en-US" sz="2000" dirty="0">
                <a:latin typeface="Arial" panose="020B0604020202020204" pitchFamily="34" charset="0"/>
              </a:rPr>
              <a:t>) </a:t>
            </a:r>
            <a:r>
              <a:rPr lang="en-US" altLang="en-US" sz="2000" dirty="0">
                <a:latin typeface="Arial" panose="020B0604020202020204" pitchFamily="34" charset="0"/>
              </a:rPr>
              <a:t>attack foreign materials)</a:t>
            </a:r>
          </a:p>
          <a:p>
            <a:pPr eaLnBrk="1" hangingPunct="1">
              <a:spcBef>
                <a:spcPts val="600"/>
              </a:spcBef>
              <a:buFont typeface="Wingdings" panose="05000000000000000000" pitchFamily="2" charset="2"/>
              <a:buChar char="Ø"/>
            </a:pPr>
            <a:r>
              <a:rPr lang="en-US" altLang="en-US" sz="2000" dirty="0">
                <a:latin typeface="Arial" panose="020B0604020202020204" pitchFamily="34" charset="0"/>
              </a:rPr>
              <a:t> Stores blood, especially    erythrocytes (RBCs) and platelets</a:t>
            </a:r>
            <a:endParaRPr lang="es-419" sz="2000" dirty="0"/>
          </a:p>
        </p:txBody>
      </p:sp>
      <p:pic>
        <p:nvPicPr>
          <p:cNvPr id="7" name="Picture 8" descr="The spleen is located in the left upper quadrant of the abdomen, next to the stomach."/>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917440" y="2209800"/>
            <a:ext cx="3733800" cy="34413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851848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dirty="0"/>
              <a:t>Thymus Gland</a:t>
            </a:r>
          </a:p>
        </p:txBody>
      </p:sp>
      <p:sp>
        <p:nvSpPr>
          <p:cNvPr id="3" name="Content Placeholder 2"/>
          <p:cNvSpPr>
            <a:spLocks noGrp="1"/>
          </p:cNvSpPr>
          <p:nvPr>
            <p:ph sz="half" idx="1"/>
          </p:nvPr>
        </p:nvSpPr>
        <p:spPr>
          <a:xfrm>
            <a:off x="457200" y="1828800"/>
            <a:ext cx="4038600" cy="4525963"/>
          </a:xfrm>
        </p:spPr>
        <p:txBody>
          <a:bodyPr/>
          <a:lstStyle/>
          <a:p>
            <a:pPr lvl="1" indent="-365760" eaLnBrk="1" hangingPunct="1">
              <a:buSzPct val="100000"/>
              <a:buFont typeface="Arial" pitchFamily="34" charset="0"/>
              <a:buChar char="•"/>
              <a:defRPr/>
            </a:pPr>
            <a:r>
              <a:rPr lang="en-US" dirty="0"/>
              <a:t>Provides immunity in fetal life and in early years of growth </a:t>
            </a:r>
          </a:p>
          <a:p>
            <a:pPr lvl="1" indent="-365760" eaLnBrk="1" hangingPunct="1">
              <a:buSzPct val="100000"/>
              <a:buFont typeface="Arial" pitchFamily="34" charset="0"/>
              <a:buChar char="•"/>
              <a:defRPr/>
            </a:pPr>
            <a:r>
              <a:rPr lang="en-US" dirty="0"/>
              <a:t>Makes cells   immunocompetent in early life </a:t>
            </a:r>
          </a:p>
          <a:p>
            <a:pPr lvl="1" indent="-365760" eaLnBrk="1" hangingPunct="1">
              <a:buSzPct val="100000"/>
              <a:buFont typeface="Arial" pitchFamily="34" charset="0"/>
              <a:buChar char="•"/>
              <a:defRPr/>
            </a:pPr>
            <a:r>
              <a:rPr lang="en-US" dirty="0"/>
              <a:t>Early removal from an animal impairs its ability to make antibodies and produce cells to fight antigens </a:t>
            </a:r>
          </a:p>
          <a:p>
            <a:endParaRPr lang="es-419" dirty="0"/>
          </a:p>
        </p:txBody>
      </p:sp>
      <p:pic>
        <p:nvPicPr>
          <p:cNvPr id="7" name="Picture 8" descr="The spleen is a lymphatic organ located in the left upper mediastinum between the lung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48200" y="2248174"/>
            <a:ext cx="4038600" cy="32300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496562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altLang="en-US" dirty="0"/>
              <a:t>Immune System</a:t>
            </a:r>
          </a:p>
        </p:txBody>
      </p:sp>
      <p:sp>
        <p:nvSpPr>
          <p:cNvPr id="22531" name="Content Placeholder 2"/>
          <p:cNvSpPr>
            <a:spLocks noGrp="1"/>
          </p:cNvSpPr>
          <p:nvPr>
            <p:ph idx="1"/>
          </p:nvPr>
        </p:nvSpPr>
        <p:spPr/>
        <p:txBody>
          <a:bodyPr/>
          <a:lstStyle/>
          <a:p>
            <a:pPr eaLnBrk="1" hangingPunct="1">
              <a:lnSpc>
                <a:spcPct val="90000"/>
              </a:lnSpc>
            </a:pPr>
            <a:r>
              <a:rPr lang="en-US" altLang="en-US" dirty="0"/>
              <a:t>Leukocytes: neutrophils, monocytes, and macrophages</a:t>
            </a:r>
          </a:p>
          <a:p>
            <a:pPr eaLnBrk="1" hangingPunct="1">
              <a:lnSpc>
                <a:spcPct val="90000"/>
              </a:lnSpc>
            </a:pPr>
            <a:endParaRPr lang="en-US" altLang="en-US" dirty="0"/>
          </a:p>
          <a:p>
            <a:pPr eaLnBrk="1" hangingPunct="1">
              <a:lnSpc>
                <a:spcPct val="90000"/>
              </a:lnSpc>
            </a:pPr>
            <a:r>
              <a:rPr lang="en-US" altLang="en-US" dirty="0"/>
              <a:t>Lymphoid organs: lymph nodes, spleen, thymus gland, tonsils, and adenoids; produce lymphocytes and antibodies</a:t>
            </a:r>
          </a:p>
          <a:p>
            <a:pPr eaLnBrk="1" hangingPunct="1">
              <a:lnSpc>
                <a:spcPct val="90000"/>
              </a:lnSpc>
            </a:pPr>
            <a:endParaRPr lang="en-US" altLang="en-US" dirty="0"/>
          </a:p>
          <a:p>
            <a:pPr eaLnBrk="1" hangingPunct="1">
              <a:lnSpc>
                <a:spcPct val="90000"/>
              </a:lnSpc>
            </a:pPr>
            <a:r>
              <a:rPr lang="en-US" altLang="en-US" b="1" dirty="0"/>
              <a:t>Immunity:</a:t>
            </a:r>
            <a:r>
              <a:rPr lang="en-US" altLang="en-US" dirty="0"/>
              <a:t> the body’s ability to resist foreign organisms and toxins that damage tissues and organs; can be natural or adaptive</a:t>
            </a:r>
            <a:endParaRPr lang="en-US" altLang="en-US" b="1" dirty="0"/>
          </a:p>
        </p:txBody>
      </p:sp>
    </p:spTree>
    <p:extLst>
      <p:ext uri="{BB962C8B-B14F-4D97-AF65-F5344CB8AC3E}">
        <p14:creationId xmlns:p14="http://schemas.microsoft.com/office/powerpoint/2010/main" val="3073524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type="title"/>
          </p:nvPr>
        </p:nvSpPr>
        <p:spPr/>
        <p:txBody>
          <a:bodyPr/>
          <a:lstStyle/>
          <a:p>
            <a:pPr eaLnBrk="1" hangingPunct="1"/>
            <a:r>
              <a:rPr lang="en-US" altLang="en-US" dirty="0"/>
              <a:t>Natural </a:t>
            </a:r>
            <a:br>
              <a:rPr lang="en-US" altLang="en-US" dirty="0"/>
            </a:br>
            <a:r>
              <a:rPr lang="en-US" altLang="en-US" dirty="0"/>
              <a:t>Immunity</a:t>
            </a:r>
          </a:p>
        </p:txBody>
      </p:sp>
      <p:sp>
        <p:nvSpPr>
          <p:cNvPr id="23555" name="Rectangle 5"/>
          <p:cNvSpPr>
            <a:spLocks noGrp="1" noChangeArrowheads="1"/>
          </p:cNvSpPr>
          <p:nvPr>
            <p:ph idx="1"/>
          </p:nvPr>
        </p:nvSpPr>
        <p:spPr>
          <a:xfrm>
            <a:off x="685800" y="1524000"/>
            <a:ext cx="8001000" cy="4419600"/>
          </a:xfrm>
        </p:spPr>
        <p:txBody>
          <a:bodyPr/>
          <a:lstStyle/>
          <a:p>
            <a:pPr eaLnBrk="1" hangingPunct="1">
              <a:buFont typeface="Wingdings 2" panose="05020102010507070707" pitchFamily="18" charset="2"/>
              <a:buNone/>
            </a:pPr>
            <a:r>
              <a:rPr lang="en-US" altLang="en-US" b="1" dirty="0"/>
              <a:t>Natural immunity:</a:t>
            </a:r>
            <a:r>
              <a:rPr lang="en-US" altLang="en-US" dirty="0"/>
              <a:t> resistance present at birth; not dependent on prior exposure to an antigen</a:t>
            </a:r>
          </a:p>
          <a:p>
            <a:pPr eaLnBrk="1" hangingPunct="1"/>
            <a:r>
              <a:rPr lang="en-US" altLang="en-US" dirty="0" err="1"/>
              <a:t>Phagocytosis</a:t>
            </a:r>
            <a:endParaRPr lang="en-US" altLang="en-US" dirty="0"/>
          </a:p>
          <a:p>
            <a:pPr eaLnBrk="1" hangingPunct="1"/>
            <a:r>
              <a:rPr lang="en-US" altLang="en-US" dirty="0"/>
              <a:t>Macrophages</a:t>
            </a:r>
          </a:p>
          <a:p>
            <a:pPr eaLnBrk="1" hangingPunct="1"/>
            <a:r>
              <a:rPr lang="en-US" altLang="en-US" dirty="0"/>
              <a:t>Natural killer cells</a:t>
            </a:r>
          </a:p>
          <a:p>
            <a:pPr eaLnBrk="1" hangingPunct="1"/>
            <a:endParaRPr lang="en-US" altLang="en-US" dirty="0"/>
          </a:p>
          <a:p>
            <a:pPr eaLnBrk="1" hangingPunct="1"/>
            <a:endParaRPr lang="en-US" altLang="en-US" dirty="0"/>
          </a:p>
        </p:txBody>
      </p:sp>
    </p:spTree>
    <p:extLst>
      <p:ext uri="{BB962C8B-B14F-4D97-AF65-F5344CB8AC3E}">
        <p14:creationId xmlns:p14="http://schemas.microsoft.com/office/powerpoint/2010/main" val="2009293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Grp="1" noChangeArrowheads="1"/>
          </p:cNvSpPr>
          <p:nvPr>
            <p:ph type="title"/>
          </p:nvPr>
        </p:nvSpPr>
        <p:spPr/>
        <p:txBody>
          <a:bodyPr/>
          <a:lstStyle/>
          <a:p>
            <a:pPr eaLnBrk="1" hangingPunct="1"/>
            <a:r>
              <a:rPr lang="en-US" altLang="en-US" dirty="0"/>
              <a:t>Adaptive</a:t>
            </a:r>
            <a:br>
              <a:rPr lang="en-US" altLang="en-US" dirty="0"/>
            </a:br>
            <a:r>
              <a:rPr lang="en-US" altLang="en-US" dirty="0"/>
              <a:t> Immunity (slide 1 of 4)</a:t>
            </a:r>
          </a:p>
        </p:txBody>
      </p:sp>
      <p:sp>
        <p:nvSpPr>
          <p:cNvPr id="24579" name="Rectangle 5"/>
          <p:cNvSpPr>
            <a:spLocks noGrp="1" noChangeArrowheads="1"/>
          </p:cNvSpPr>
          <p:nvPr>
            <p:ph idx="1"/>
          </p:nvPr>
        </p:nvSpPr>
        <p:spPr>
          <a:xfrm>
            <a:off x="457200" y="1600200"/>
            <a:ext cx="8229600" cy="2362200"/>
          </a:xfrm>
        </p:spPr>
        <p:txBody>
          <a:bodyPr/>
          <a:lstStyle/>
          <a:p>
            <a:pPr eaLnBrk="1" hangingPunct="1">
              <a:buFont typeface="Wingdings 2" panose="05020102010507070707" pitchFamily="18" charset="2"/>
              <a:buNone/>
            </a:pPr>
            <a:r>
              <a:rPr lang="en-US" altLang="en-US" sz="2800" b="1" dirty="0"/>
              <a:t>Adaptive immunity: </a:t>
            </a:r>
            <a:r>
              <a:rPr lang="en-US" altLang="en-US" sz="2800" dirty="0"/>
              <a:t>body’s ability to recognize and remember specific antigens in an immune response:</a:t>
            </a:r>
          </a:p>
          <a:p>
            <a:pPr eaLnBrk="1" hangingPunct="1"/>
            <a:r>
              <a:rPr lang="en-US" altLang="en-US" sz="2800" dirty="0"/>
              <a:t>Lymphocytes: T and B cells</a:t>
            </a:r>
          </a:p>
          <a:p>
            <a:pPr eaLnBrk="1" hangingPunct="1"/>
            <a:r>
              <a:rPr lang="en-US" altLang="en-US" sz="2800" dirty="0"/>
              <a:t>Antibodies produced after exposure to antigen</a:t>
            </a:r>
          </a:p>
          <a:p>
            <a:pPr eaLnBrk="1" hangingPunct="1"/>
            <a:r>
              <a:rPr lang="en-US" altLang="en-US" sz="2800" dirty="0"/>
              <a:t>Memory: second exposure</a:t>
            </a:r>
          </a:p>
          <a:p>
            <a:pPr eaLnBrk="1" hangingPunct="1"/>
            <a:r>
              <a:rPr lang="en-US" altLang="en-US" sz="2800" dirty="0"/>
              <a:t>Vaccination</a:t>
            </a:r>
          </a:p>
          <a:p>
            <a:pPr eaLnBrk="1" hangingPunct="1"/>
            <a:r>
              <a:rPr lang="en-US" altLang="en-US" sz="2800" dirty="0" err="1"/>
              <a:t>Immunoglobulins</a:t>
            </a:r>
            <a:endParaRPr lang="en-US" altLang="en-US" sz="2800" dirty="0"/>
          </a:p>
          <a:p>
            <a:pPr eaLnBrk="1" hangingPunct="1"/>
            <a:r>
              <a:rPr lang="en-US" altLang="en-US" sz="2800" dirty="0"/>
              <a:t>Maternal antibodies</a:t>
            </a:r>
          </a:p>
          <a:p>
            <a:pPr eaLnBrk="1" hangingPunct="1">
              <a:buFont typeface="Wingdings 2" panose="05020102010507070707" pitchFamily="18" charset="2"/>
              <a:buNone/>
            </a:pPr>
            <a:endParaRPr lang="en-US" altLang="en-US" dirty="0"/>
          </a:p>
        </p:txBody>
      </p:sp>
    </p:spTree>
    <p:extLst>
      <p:ext uri="{BB962C8B-B14F-4D97-AF65-F5344CB8AC3E}">
        <p14:creationId xmlns:p14="http://schemas.microsoft.com/office/powerpoint/2010/main" val="338807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Grp="1" noChangeArrowheads="1"/>
          </p:cNvSpPr>
          <p:nvPr>
            <p:ph type="title"/>
          </p:nvPr>
        </p:nvSpPr>
        <p:spPr>
          <a:xfrm>
            <a:off x="914400" y="228600"/>
            <a:ext cx="7315200" cy="1219200"/>
          </a:xfrm>
        </p:spPr>
        <p:txBody>
          <a:bodyPr/>
          <a:lstStyle/>
          <a:p>
            <a:pPr eaLnBrk="1" hangingPunct="1"/>
            <a:r>
              <a:rPr lang="en-US" altLang="en-US" dirty="0"/>
              <a:t>Adaptive</a:t>
            </a:r>
            <a:br>
              <a:rPr lang="en-US" altLang="en-US" dirty="0"/>
            </a:br>
            <a:r>
              <a:rPr lang="en-US" altLang="en-US" dirty="0"/>
              <a:t> Immunity (Slide 2 of 4</a:t>
            </a:r>
            <a:r>
              <a:rPr lang="en-US" altLang="ja-JP" dirty="0"/>
              <a:t>)</a:t>
            </a:r>
            <a:endParaRPr lang="en-US" altLang="en-US" dirty="0"/>
          </a:p>
        </p:txBody>
      </p:sp>
      <p:sp>
        <p:nvSpPr>
          <p:cNvPr id="25603" name="Rectangle 5"/>
          <p:cNvSpPr>
            <a:spLocks noGrp="1" noChangeArrowheads="1"/>
          </p:cNvSpPr>
          <p:nvPr>
            <p:ph idx="1"/>
          </p:nvPr>
        </p:nvSpPr>
        <p:spPr/>
        <p:txBody>
          <a:bodyPr/>
          <a:lstStyle/>
          <a:p>
            <a:pPr marL="0" indent="0" eaLnBrk="1" hangingPunct="1">
              <a:buFont typeface="Wingdings 2" panose="05020102010507070707" pitchFamily="18" charset="2"/>
              <a:buNone/>
            </a:pPr>
            <a:r>
              <a:rPr lang="en-US" altLang="en-US" b="1"/>
              <a:t>B lymphocytes (B cells) are responsible for humoral immunity. </a:t>
            </a:r>
            <a:endParaRPr lang="en-US" altLang="en-US"/>
          </a:p>
          <a:p>
            <a:pPr marL="0" indent="0" eaLnBrk="1" hangingPunct="1"/>
            <a:r>
              <a:rPr lang="en-US" altLang="en-US"/>
              <a:t> Originate in bone marrow from stem cells</a:t>
            </a:r>
          </a:p>
          <a:p>
            <a:pPr marL="0" indent="0" eaLnBrk="1" hangingPunct="1"/>
            <a:r>
              <a:rPr lang="en-US" altLang="en-US"/>
              <a:t> B cells produce antibodies after exposure to 	specific antigens (viruses and bacteria)</a:t>
            </a:r>
          </a:p>
          <a:p>
            <a:pPr marL="0" indent="0" eaLnBrk="1" hangingPunct="1"/>
            <a:r>
              <a:rPr lang="en-US" altLang="en-US"/>
              <a:t> B cell matures into plasma cell that produces 	antibodies called immunoglobulins to 	block the effects of antigens</a:t>
            </a:r>
          </a:p>
        </p:txBody>
      </p:sp>
    </p:spTree>
    <p:extLst>
      <p:ext uri="{BB962C8B-B14F-4D97-AF65-F5344CB8AC3E}">
        <p14:creationId xmlns:p14="http://schemas.microsoft.com/office/powerpoint/2010/main" val="1049435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Grp="1" noChangeArrowheads="1"/>
          </p:cNvSpPr>
          <p:nvPr>
            <p:ph type="title"/>
          </p:nvPr>
        </p:nvSpPr>
        <p:spPr>
          <a:xfrm>
            <a:off x="685800" y="228600"/>
            <a:ext cx="8229600" cy="1219200"/>
          </a:xfrm>
        </p:spPr>
        <p:txBody>
          <a:bodyPr/>
          <a:lstStyle/>
          <a:p>
            <a:pPr eaLnBrk="1" hangingPunct="1"/>
            <a:r>
              <a:rPr lang="en-US" altLang="en-US" dirty="0"/>
              <a:t>Adaptive </a:t>
            </a:r>
            <a:br>
              <a:rPr lang="en-US" altLang="en-US" dirty="0"/>
            </a:br>
            <a:r>
              <a:rPr lang="en-US" altLang="en-US" dirty="0"/>
              <a:t>Immunity (Slide 3 of 4</a:t>
            </a:r>
            <a:r>
              <a:rPr lang="en-US" altLang="ja-JP" dirty="0"/>
              <a:t>)</a:t>
            </a:r>
            <a:endParaRPr lang="en-US" altLang="en-US" dirty="0"/>
          </a:p>
        </p:txBody>
      </p:sp>
      <p:sp>
        <p:nvSpPr>
          <p:cNvPr id="26627" name="Rectangle 5"/>
          <p:cNvSpPr>
            <a:spLocks noGrp="1" noChangeArrowheads="1"/>
          </p:cNvSpPr>
          <p:nvPr>
            <p:ph idx="1"/>
          </p:nvPr>
        </p:nvSpPr>
        <p:spPr>
          <a:xfrm>
            <a:off x="381000" y="1676400"/>
            <a:ext cx="8458200" cy="5029200"/>
          </a:xfrm>
        </p:spPr>
        <p:txBody>
          <a:bodyPr/>
          <a:lstStyle/>
          <a:p>
            <a:pPr marL="0" indent="0" eaLnBrk="1" hangingPunct="1">
              <a:lnSpc>
                <a:spcPct val="90000"/>
              </a:lnSpc>
              <a:buFont typeface="Wingdings 2" panose="05020102010507070707" pitchFamily="18" charset="2"/>
              <a:buNone/>
            </a:pPr>
            <a:r>
              <a:rPr lang="en-US" altLang="en-US" b="1" dirty="0"/>
              <a:t>T lymphocytes (T cells) are responsible for cell-mediated immunity; does not involve antibodies</a:t>
            </a:r>
            <a:endParaRPr lang="en-US" altLang="en-US" sz="2400" dirty="0"/>
          </a:p>
          <a:p>
            <a:pPr marL="0" indent="0" eaLnBrk="1" hangingPunct="1">
              <a:lnSpc>
                <a:spcPct val="90000"/>
              </a:lnSpc>
            </a:pPr>
            <a:r>
              <a:rPr lang="en-US" altLang="en-US" sz="2400" dirty="0"/>
              <a:t> </a:t>
            </a:r>
            <a:r>
              <a:rPr lang="en-US" altLang="en-US" sz="2400" dirty="0" err="1"/>
              <a:t>Cytotoxic</a:t>
            </a:r>
            <a:r>
              <a:rPr lang="en-US" altLang="en-US" sz="2400" dirty="0"/>
              <a:t> T cells (CD8+ T cells) attach to and directly kill antigens.</a:t>
            </a:r>
          </a:p>
          <a:p>
            <a:pPr marL="0" indent="0" eaLnBrk="1" hangingPunct="1">
              <a:lnSpc>
                <a:spcPct val="90000"/>
              </a:lnSpc>
            </a:pPr>
            <a:endParaRPr lang="en-US" altLang="en-US" sz="2400" dirty="0"/>
          </a:p>
          <a:p>
            <a:pPr marL="0" indent="0" eaLnBrk="1" hangingPunct="1">
              <a:lnSpc>
                <a:spcPct val="90000"/>
              </a:lnSpc>
            </a:pPr>
            <a:r>
              <a:rPr lang="en-US" altLang="en-US" sz="2400" dirty="0"/>
              <a:t> Other T cells secrete cytokines (</a:t>
            </a:r>
            <a:r>
              <a:rPr lang="en-US" altLang="en-US" sz="2400" dirty="0" err="1"/>
              <a:t>interferons</a:t>
            </a:r>
            <a:r>
              <a:rPr lang="en-US" altLang="en-US" sz="2400" dirty="0"/>
              <a:t> and interleukins) that help cells respond to antigens.</a:t>
            </a:r>
          </a:p>
          <a:p>
            <a:pPr marL="0" indent="0" eaLnBrk="1" hangingPunct="1">
              <a:lnSpc>
                <a:spcPct val="90000"/>
              </a:lnSpc>
            </a:pPr>
            <a:endParaRPr lang="en-US" altLang="en-US" sz="2400" dirty="0"/>
          </a:p>
          <a:p>
            <a:pPr marL="0" indent="0" eaLnBrk="1" hangingPunct="1">
              <a:lnSpc>
                <a:spcPct val="90000"/>
              </a:lnSpc>
            </a:pPr>
            <a:r>
              <a:rPr lang="en-US" altLang="en-US" sz="2400" dirty="0"/>
              <a:t> Helper T cells (CD4+ T cells) promote antibody synthesis by B cells and stimulate other T cells.</a:t>
            </a:r>
          </a:p>
          <a:p>
            <a:pPr marL="0" indent="0" eaLnBrk="1" hangingPunct="1">
              <a:lnSpc>
                <a:spcPct val="90000"/>
              </a:lnSpc>
            </a:pPr>
            <a:endParaRPr lang="en-US" altLang="en-US" sz="2400" dirty="0"/>
          </a:p>
          <a:p>
            <a:pPr marL="0" indent="0" eaLnBrk="1" hangingPunct="1">
              <a:lnSpc>
                <a:spcPct val="90000"/>
              </a:lnSpc>
            </a:pPr>
            <a:r>
              <a:rPr lang="en-US" altLang="en-US" sz="2400" dirty="0"/>
              <a:t> Suppressor T cells (regulatory T cell or </a:t>
            </a:r>
            <a:r>
              <a:rPr lang="en-US" altLang="en-US" sz="2400" dirty="0" err="1"/>
              <a:t>Tregs</a:t>
            </a:r>
            <a:r>
              <a:rPr lang="en-US" altLang="en-US" sz="2400" dirty="0"/>
              <a:t>) inhibit B and T cells and prevent them from attacking the body’s own good cells.</a:t>
            </a:r>
          </a:p>
        </p:txBody>
      </p:sp>
    </p:spTree>
    <p:extLst>
      <p:ext uri="{BB962C8B-B14F-4D97-AF65-F5344CB8AC3E}">
        <p14:creationId xmlns:p14="http://schemas.microsoft.com/office/powerpoint/2010/main" val="4142785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title"/>
          </p:nvPr>
        </p:nvSpPr>
        <p:spPr>
          <a:xfrm>
            <a:off x="0" y="228600"/>
            <a:ext cx="8991600" cy="1219200"/>
          </a:xfrm>
        </p:spPr>
        <p:txBody>
          <a:bodyPr/>
          <a:lstStyle/>
          <a:p>
            <a:pPr eaLnBrk="1" hangingPunct="1"/>
            <a:r>
              <a:rPr lang="en-US" altLang="en-US" dirty="0"/>
              <a:t>Adaptive </a:t>
            </a:r>
            <a:br>
              <a:rPr lang="en-US" altLang="en-US" dirty="0"/>
            </a:br>
            <a:r>
              <a:rPr lang="en-US" altLang="en-US" dirty="0"/>
              <a:t>Immunity (Slide 4 of 4)</a:t>
            </a:r>
          </a:p>
        </p:txBody>
      </p:sp>
      <p:sp>
        <p:nvSpPr>
          <p:cNvPr id="27651" name="Rectangle 5"/>
          <p:cNvSpPr>
            <a:spLocks noGrp="1" noChangeArrowheads="1"/>
          </p:cNvSpPr>
          <p:nvPr>
            <p:ph idx="1"/>
          </p:nvPr>
        </p:nvSpPr>
        <p:spPr/>
        <p:txBody>
          <a:bodyPr/>
          <a:lstStyle/>
          <a:p>
            <a:pPr marL="0" indent="0" eaLnBrk="1" hangingPunct="1">
              <a:buFont typeface="Wingdings 2" panose="05020102010507070707" pitchFamily="18" charset="2"/>
              <a:buNone/>
            </a:pPr>
            <a:r>
              <a:rPr lang="en-US" altLang="en-US" b="1"/>
              <a:t>Dendritic cells</a:t>
            </a:r>
          </a:p>
          <a:p>
            <a:pPr marL="0" indent="0" eaLnBrk="1" hangingPunct="1"/>
            <a:r>
              <a:rPr lang="en-US" altLang="en-US" sz="2400"/>
              <a:t> Dendritic cells are a macrophage derived from monocytes.</a:t>
            </a:r>
          </a:p>
          <a:p>
            <a:pPr marL="0" indent="0" eaLnBrk="1" hangingPunct="1"/>
            <a:r>
              <a:rPr lang="en-US" altLang="en-US" sz="2400"/>
              <a:t> They recognize and digest foreign antigens.</a:t>
            </a:r>
          </a:p>
          <a:p>
            <a:pPr marL="0" indent="0" eaLnBrk="1" hangingPunct="1"/>
            <a:r>
              <a:rPr lang="en-US" altLang="en-US" sz="2400"/>
              <a:t> They present antigens on the surface to stimulate B and T cells.</a:t>
            </a:r>
          </a:p>
          <a:p>
            <a:pPr marL="0" indent="0" eaLnBrk="1" hangingPunct="1"/>
            <a:r>
              <a:rPr lang="en-US" altLang="en-US" sz="2400"/>
              <a:t> They transfer immunity by exposing dendritic cells in culture; then transfuse them and get them to stimulate T and B cells.</a:t>
            </a:r>
          </a:p>
        </p:txBody>
      </p:sp>
    </p:spTree>
    <p:extLst>
      <p:ext uri="{BB962C8B-B14F-4D97-AF65-F5344CB8AC3E}">
        <p14:creationId xmlns:p14="http://schemas.microsoft.com/office/powerpoint/2010/main" val="871226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Grp="1" noChangeArrowheads="1"/>
          </p:cNvSpPr>
          <p:nvPr>
            <p:ph type="title"/>
          </p:nvPr>
        </p:nvSpPr>
        <p:spPr/>
        <p:txBody>
          <a:bodyPr/>
          <a:lstStyle/>
          <a:p>
            <a:pPr eaLnBrk="1" hangingPunct="1"/>
            <a:r>
              <a:rPr lang="en-US" altLang="en-US" dirty="0"/>
              <a:t>Immunotherapy Examples</a:t>
            </a:r>
          </a:p>
        </p:txBody>
      </p:sp>
      <p:sp>
        <p:nvSpPr>
          <p:cNvPr id="28675" name="Rectangle 5"/>
          <p:cNvSpPr>
            <a:spLocks noGrp="1" noChangeArrowheads="1"/>
          </p:cNvSpPr>
          <p:nvPr>
            <p:ph idx="1"/>
          </p:nvPr>
        </p:nvSpPr>
        <p:spPr>
          <a:xfrm>
            <a:off x="457200" y="1447800"/>
            <a:ext cx="8229600" cy="4525963"/>
          </a:xfrm>
        </p:spPr>
        <p:txBody>
          <a:bodyPr/>
          <a:lstStyle/>
          <a:p>
            <a:pPr eaLnBrk="1" hangingPunct="1">
              <a:lnSpc>
                <a:spcPct val="90000"/>
              </a:lnSpc>
            </a:pPr>
            <a:r>
              <a:rPr lang="en-US" altLang="en-US" sz="2800" b="1"/>
              <a:t>Monoclonal antibodies (MoAb):</a:t>
            </a:r>
            <a:r>
              <a:rPr lang="en-US" altLang="en-US" sz="2800"/>
              <a:t> multiple copies of cells or genes that kill tumor cells; passive immunotherapy</a:t>
            </a:r>
          </a:p>
          <a:p>
            <a:pPr eaLnBrk="1" hangingPunct="1">
              <a:lnSpc>
                <a:spcPct val="90000"/>
              </a:lnSpc>
            </a:pPr>
            <a:r>
              <a:rPr lang="en-US" altLang="en-US" sz="2800" b="1"/>
              <a:t>Vaccines: </a:t>
            </a:r>
            <a:r>
              <a:rPr lang="en-US" altLang="en-US" sz="2800"/>
              <a:t>contain antigens from the patient’s tumor cells; stimulate the patient’s own T cells to recognize and kill the cancerous cells; active immunotherapy</a:t>
            </a:r>
          </a:p>
          <a:p>
            <a:pPr eaLnBrk="1" hangingPunct="1">
              <a:lnSpc>
                <a:spcPct val="90000"/>
              </a:lnSpc>
            </a:pPr>
            <a:r>
              <a:rPr lang="en-US" altLang="en-US" sz="2800" b="1"/>
              <a:t>Transfer of immune cells:</a:t>
            </a:r>
            <a:r>
              <a:rPr lang="en-US" altLang="en-US" sz="2800"/>
              <a:t> In bone marrow transplantation, T lymphocytes from a donor can replace a patient's immune system with new cells that recognize tumor cells as foreign and kill them.</a:t>
            </a:r>
          </a:p>
        </p:txBody>
      </p:sp>
    </p:spTree>
    <p:extLst>
      <p:ext uri="{BB962C8B-B14F-4D97-AF65-F5344CB8AC3E}">
        <p14:creationId xmlns:p14="http://schemas.microsoft.com/office/powerpoint/2010/main" val="3271423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 of 30)</a:t>
            </a:r>
          </a:p>
        </p:txBody>
      </p:sp>
      <p:graphicFrame>
        <p:nvGraphicFramePr>
          <p:cNvPr id="8" name="Content Placeholder 7" descr="Group 1 of 15: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601095370"/>
              </p:ext>
            </p:extLst>
          </p:nvPr>
        </p:nvGraphicFramePr>
        <p:xfrm>
          <a:off x="3390900" y="1981200"/>
          <a:ext cx="2362200" cy="219456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adaptive immunity</a:t>
                      </a:r>
                    </a:p>
                  </a:txBody>
                  <a:tcPr/>
                </a:tc>
                <a:extLst>
                  <a:ext uri="{0D108BD9-81ED-4DB2-BD59-A6C34878D82A}">
                    <a16:rowId xmlns:a16="http://schemas.microsoft.com/office/drawing/2014/main" val="10001"/>
                  </a:ext>
                </a:extLst>
              </a:tr>
              <a:tr h="370840">
                <a:tc>
                  <a:txBody>
                    <a:bodyPr/>
                    <a:lstStyle/>
                    <a:p>
                      <a:r>
                        <a:rPr lang="en-US" altLang="en-US" sz="2400" dirty="0"/>
                        <a:t>adenoids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antibody</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81088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 of 30)</a:t>
            </a:r>
          </a:p>
        </p:txBody>
      </p:sp>
      <p:graphicFrame>
        <p:nvGraphicFramePr>
          <p:cNvPr id="8" name="Content Placeholder 7" descr="Group 1 of 15.  List of vocabulary terms  with corresponding meanings or definitions."/>
          <p:cNvGraphicFramePr>
            <a:graphicFrameLocks noGrp="1"/>
          </p:cNvGraphicFramePr>
          <p:nvPr>
            <p:ph idx="1"/>
            <p:extLst>
              <p:ext uri="{D42A27DB-BD31-4B8C-83A1-F6EECF244321}">
                <p14:modId xmlns:p14="http://schemas.microsoft.com/office/powerpoint/2010/main" val="719897694"/>
              </p:ext>
            </p:extLst>
          </p:nvPr>
        </p:nvGraphicFramePr>
        <p:xfrm>
          <a:off x="457200" y="1600200"/>
          <a:ext cx="8229600" cy="219456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adaptive immunity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Ability to recognize and remember specific antigens and mount an attack on them</a:t>
                      </a:r>
                    </a:p>
                  </a:txBody>
                  <a:tcPr/>
                </a:tc>
                <a:extLst>
                  <a:ext uri="{0D108BD9-81ED-4DB2-BD59-A6C34878D82A}">
                    <a16:rowId xmlns:a16="http://schemas.microsoft.com/office/drawing/2014/main" val="10001"/>
                  </a:ext>
                </a:extLst>
              </a:tr>
              <a:tr h="370840">
                <a:tc>
                  <a:txBody>
                    <a:bodyPr/>
                    <a:lstStyle/>
                    <a:p>
                      <a:r>
                        <a:rPr lang="en-US" altLang="en-US" sz="2400" dirty="0"/>
                        <a:t>adenoids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Mass of lymphatic tissue in the </a:t>
                      </a:r>
                      <a:r>
                        <a:rPr lang="en-US" altLang="en-US" sz="2400" dirty="0" err="1"/>
                        <a:t>nasopharynx</a:t>
                      </a:r>
                      <a:endParaRPr lang="en-US" altLang="en-US" sz="2400" dirty="0"/>
                    </a:p>
                  </a:txBody>
                  <a:tcPr/>
                </a:tc>
                <a:extLst>
                  <a:ext uri="{0D108BD9-81ED-4DB2-BD59-A6C34878D82A}">
                    <a16:rowId xmlns:a16="http://schemas.microsoft.com/office/drawing/2014/main" val="10002"/>
                  </a:ext>
                </a:extLst>
              </a:tr>
              <a:tr h="370840">
                <a:tc>
                  <a:txBody>
                    <a:bodyPr/>
                    <a:lstStyle/>
                    <a:p>
                      <a:r>
                        <a:rPr lang="en-US" altLang="en-US" sz="2400" dirty="0"/>
                        <a:t>antibody</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Protein produced by B cells to destroy antigens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80949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 of 30)</a:t>
            </a:r>
          </a:p>
        </p:txBody>
      </p:sp>
      <p:graphicFrame>
        <p:nvGraphicFramePr>
          <p:cNvPr id="8" name="Content Placeholder 7" descr="Group 2 of 15: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64676251"/>
              </p:ext>
            </p:extLst>
          </p:nvPr>
        </p:nvGraphicFramePr>
        <p:xfrm>
          <a:off x="3543300" y="1905000"/>
          <a:ext cx="2057400" cy="219456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antigen</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axillary nodes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 cell (B lymphocyte)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73780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4 of 30)</a:t>
            </a:r>
          </a:p>
        </p:txBody>
      </p:sp>
      <p:graphicFrame>
        <p:nvGraphicFramePr>
          <p:cNvPr id="8" name="Content Placeholder 7" descr="Group 2 of 15.  List of vocabulary terms  with corresponding meanings or definitions."/>
          <p:cNvGraphicFramePr>
            <a:graphicFrameLocks noGrp="1"/>
          </p:cNvGraphicFramePr>
          <p:nvPr>
            <p:ph idx="1"/>
            <p:extLst>
              <p:ext uri="{D42A27DB-BD31-4B8C-83A1-F6EECF244321}">
                <p14:modId xmlns:p14="http://schemas.microsoft.com/office/powerpoint/2010/main" val="3599392255"/>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antigen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Substance that the body recognizes as foreign; evokes an immune response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axillary nodes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 nodes in the armpit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 cell (B lymphocyte)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Lymphocyte that matures into a plasma cell to secrete antibodies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357497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5 of 30)</a:t>
            </a:r>
          </a:p>
        </p:txBody>
      </p:sp>
      <p:graphicFrame>
        <p:nvGraphicFramePr>
          <p:cNvPr id="8" name="Content Placeholder 7" descr="Group 3 of 15: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319943512"/>
              </p:ext>
            </p:extLst>
          </p:nvPr>
        </p:nvGraphicFramePr>
        <p:xfrm>
          <a:off x="2476500" y="1981200"/>
          <a:ext cx="4191000" cy="2057400"/>
        </p:xfrm>
        <a:graphic>
          <a:graphicData uri="http://schemas.openxmlformats.org/drawingml/2006/table">
            <a:tbl>
              <a:tblPr firstRow="1" bandRow="1">
                <a:tableStyleId>{5C22544A-7EE6-4342-B048-85BDC9FD1C3A}</a:tableStyleId>
              </a:tblPr>
              <a:tblGrid>
                <a:gridCol w="4191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609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cell-mediated immunity</a:t>
                      </a:r>
                    </a:p>
                  </a:txBody>
                  <a:tcPr/>
                </a:tc>
                <a:extLst>
                  <a:ext uri="{0D108BD9-81ED-4DB2-BD59-A6C34878D82A}">
                    <a16:rowId xmlns:a16="http://schemas.microsoft.com/office/drawing/2014/main" val="10001"/>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cervical nodes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complement system</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22593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6 of 30)</a:t>
            </a:r>
          </a:p>
        </p:txBody>
      </p:sp>
      <p:graphicFrame>
        <p:nvGraphicFramePr>
          <p:cNvPr id="8" name="Content Placeholder 7" descr="Group 3 of 15.  List of vocabulary terms  with corresponding meanings or definitions."/>
          <p:cNvGraphicFramePr>
            <a:graphicFrameLocks noGrp="1"/>
          </p:cNvGraphicFramePr>
          <p:nvPr>
            <p:ph idx="1"/>
            <p:extLst>
              <p:ext uri="{D42A27DB-BD31-4B8C-83A1-F6EECF244321}">
                <p14:modId xmlns:p14="http://schemas.microsoft.com/office/powerpoint/2010/main" val="3357370789"/>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cell-mediated immunity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 cells that respond to antigens and destroy them</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cervical nodes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 nodes in the neck region</a:t>
                      </a:r>
                    </a:p>
                    <a:p>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complement system</a:t>
                      </a:r>
                    </a:p>
                  </a:txBody>
                  <a:tcPr/>
                </a:tc>
                <a:tc>
                  <a:txBody>
                    <a:bodyPr/>
                    <a:lstStyle/>
                    <a:p>
                      <a:pPr marL="0" indent="0" eaLnBrk="1" hangingPunct="1">
                        <a:buFont typeface="Wingdings 2" panose="05020102010507070707" pitchFamily="18" charset="2"/>
                        <a:buNone/>
                      </a:pPr>
                      <a:r>
                        <a:rPr lang="en-US" altLang="en-US" sz="2400" dirty="0"/>
                        <a:t>Proteins in the blood that help antibodies and kill their target</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905398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7 of 30)</a:t>
            </a:r>
          </a:p>
        </p:txBody>
      </p:sp>
      <p:graphicFrame>
        <p:nvGraphicFramePr>
          <p:cNvPr id="8" name="Content Placeholder 7" descr="Group 4 of 15: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292137846"/>
              </p:ext>
            </p:extLst>
          </p:nvPr>
        </p:nvGraphicFramePr>
        <p:xfrm>
          <a:off x="2247900" y="2133600"/>
          <a:ext cx="4648200" cy="1828800"/>
        </p:xfrm>
        <a:graphic>
          <a:graphicData uri="http://schemas.openxmlformats.org/drawingml/2006/table">
            <a:tbl>
              <a:tblPr firstRow="1" bandRow="1">
                <a:tableStyleId>{5C22544A-7EE6-4342-B048-85BDC9FD1C3A}</a:tableStyleId>
              </a:tblPr>
              <a:tblGrid>
                <a:gridCol w="4648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cytokines</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cytotoxic T cell (CD8+ T cell)</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dendritic cell</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109858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8 of 30)</a:t>
            </a:r>
          </a:p>
        </p:txBody>
      </p:sp>
      <p:graphicFrame>
        <p:nvGraphicFramePr>
          <p:cNvPr id="8" name="Content Placeholder 7" descr="Group 4 of 15.  List of vocabulary terms  with corresponding meanings or definitions."/>
          <p:cNvGraphicFramePr>
            <a:graphicFrameLocks noGrp="1"/>
          </p:cNvGraphicFramePr>
          <p:nvPr>
            <p:ph idx="1"/>
            <p:extLst>
              <p:ext uri="{D42A27DB-BD31-4B8C-83A1-F6EECF244321}">
                <p14:modId xmlns:p14="http://schemas.microsoft.com/office/powerpoint/2010/main" val="1830577011"/>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cytokines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Proteins secreted by cytotoxic </a:t>
                      </a:r>
                      <a:br>
                        <a:rPr lang="en-US" altLang="en-US" sz="2400" dirty="0"/>
                      </a:br>
                      <a:r>
                        <a:rPr lang="en-US" altLang="en-US" sz="2400" dirty="0"/>
                        <a:t>T cells to aid in antigen destruction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cytotoxic T cell (CD8+ T cell)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Lymphocyte that directly kills antigens</a:t>
                      </a:r>
                    </a:p>
                    <a:p>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dendritic cell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Antigen-presenting cell; shows </a:t>
                      </a:r>
                      <a:br>
                        <a:rPr lang="en-US" altLang="en-US" sz="2400" dirty="0"/>
                      </a:br>
                      <a:r>
                        <a:rPr lang="en-US" altLang="en-US" sz="2400" dirty="0"/>
                        <a:t>T and B cells what to attack</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303537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9 of 30)</a:t>
            </a:r>
          </a:p>
        </p:txBody>
      </p:sp>
      <p:graphicFrame>
        <p:nvGraphicFramePr>
          <p:cNvPr id="8" name="Content Placeholder 7" descr="Group 5 of 15: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251271509"/>
              </p:ext>
            </p:extLst>
          </p:nvPr>
        </p:nvGraphicFramePr>
        <p:xfrm>
          <a:off x="2514600" y="2209800"/>
          <a:ext cx="4114800" cy="1828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helper T cell (CD4+ T cell)</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humoral</a:t>
                      </a:r>
                      <a:r>
                        <a:rPr lang="en-US" altLang="en-US" sz="2400" dirty="0"/>
                        <a:t> immunity</a:t>
                      </a:r>
                    </a:p>
                  </a:txBody>
                  <a:tcPr/>
                </a:tc>
                <a:extLst>
                  <a:ext uri="{0D108BD9-81ED-4DB2-BD59-A6C34878D82A}">
                    <a16:rowId xmlns:a16="http://schemas.microsoft.com/office/drawing/2014/main" val="10002"/>
                  </a:ext>
                </a:extLst>
              </a:tr>
              <a:tr h="370840">
                <a:tc>
                  <a:txBody>
                    <a:bodyPr/>
                    <a:lstStyle/>
                    <a:p>
                      <a:r>
                        <a:rPr lang="en-US" altLang="en-US" sz="2400" dirty="0"/>
                        <a:t>immunity</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071464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10 of 30)</a:t>
            </a:r>
          </a:p>
        </p:txBody>
      </p:sp>
      <p:graphicFrame>
        <p:nvGraphicFramePr>
          <p:cNvPr id="8" name="Content Placeholder 7" descr="Group 5 of 15.  List of vocabulary terms  with corresponding meanings or definitions."/>
          <p:cNvGraphicFramePr>
            <a:graphicFrameLocks noGrp="1"/>
          </p:cNvGraphicFramePr>
          <p:nvPr>
            <p:ph idx="1"/>
            <p:extLst>
              <p:ext uri="{D42A27DB-BD31-4B8C-83A1-F6EECF244321}">
                <p14:modId xmlns:p14="http://schemas.microsoft.com/office/powerpoint/2010/main" val="2991237127"/>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helper T cell (CD4+ T cell)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Lymphocyte that aids B cells and stimulates T cells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humoral</a:t>
                      </a:r>
                      <a:r>
                        <a:rPr lang="en-US" altLang="en-US" sz="2400" dirty="0"/>
                        <a:t> immunity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 cells produce antibodies after exposure to specific antigens; type of adaptive immunity</a:t>
                      </a:r>
                    </a:p>
                  </a:txBody>
                  <a:tcPr/>
                </a:tc>
                <a:extLst>
                  <a:ext uri="{0D108BD9-81ED-4DB2-BD59-A6C34878D82A}">
                    <a16:rowId xmlns:a16="http://schemas.microsoft.com/office/drawing/2014/main" val="10002"/>
                  </a:ext>
                </a:extLst>
              </a:tr>
              <a:tr h="370840">
                <a:tc>
                  <a:txBody>
                    <a:bodyPr/>
                    <a:lstStyle/>
                    <a:p>
                      <a:r>
                        <a:rPr lang="en-US" altLang="en-US" sz="2400" dirty="0"/>
                        <a:t>immunity</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Body’s ability to resist foreign organisms and toxins that damage tissues and organs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29755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11 of 30)</a:t>
            </a:r>
          </a:p>
        </p:txBody>
      </p:sp>
      <p:graphicFrame>
        <p:nvGraphicFramePr>
          <p:cNvPr id="8" name="Content Placeholder 7" descr="Group 6 of 15: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906465990"/>
              </p:ext>
            </p:extLst>
          </p:nvPr>
        </p:nvGraphicFramePr>
        <p:xfrm>
          <a:off x="3048000" y="2286000"/>
          <a:ext cx="3048000" cy="18288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err="1"/>
                        <a:t>immunoglobulins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immunotherapy</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inguinal nodes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719585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12 of 30)</a:t>
            </a:r>
          </a:p>
        </p:txBody>
      </p:sp>
      <p:graphicFrame>
        <p:nvGraphicFramePr>
          <p:cNvPr id="8" name="Content Placeholder 7" descr="Group 6 of 15.  List of vocabulary terms  with corresponding meanings or definitions."/>
          <p:cNvGraphicFramePr>
            <a:graphicFrameLocks noGrp="1"/>
          </p:cNvGraphicFramePr>
          <p:nvPr>
            <p:ph idx="1"/>
            <p:extLst>
              <p:ext uri="{D42A27DB-BD31-4B8C-83A1-F6EECF244321}">
                <p14:modId xmlns:p14="http://schemas.microsoft.com/office/powerpoint/2010/main" val="228579998"/>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err="1"/>
                        <a:t>immunoglobulins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Antibodies secreted by plasma cells in response to the presence of an antigen</a:t>
                      </a:r>
                    </a:p>
                  </a:txBody>
                  <a:tcPr/>
                </a:tc>
                <a:extLst>
                  <a:ext uri="{0D108BD9-81ED-4DB2-BD59-A6C34878D82A}">
                    <a16:rowId xmlns:a16="http://schemas.microsoft.com/office/drawing/2014/main" val="10001"/>
                  </a:ext>
                </a:extLst>
              </a:tr>
              <a:tr h="370840">
                <a:tc>
                  <a:txBody>
                    <a:bodyPr/>
                    <a:lstStyle/>
                    <a:p>
                      <a:r>
                        <a:rPr lang="en-US" altLang="en-US" sz="2400" dirty="0"/>
                        <a:t>immunotherapy</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Use of immune cells, antibodies, or vaccines to treat or prevent disease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inguinal nodes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 nodes in the groin region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654493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13 of 30)</a:t>
            </a:r>
          </a:p>
        </p:txBody>
      </p:sp>
      <p:graphicFrame>
        <p:nvGraphicFramePr>
          <p:cNvPr id="8" name="Content Placeholder 7" descr="Group 7 of 15: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96396582"/>
              </p:ext>
            </p:extLst>
          </p:nvPr>
        </p:nvGraphicFramePr>
        <p:xfrm>
          <a:off x="3390900" y="2133600"/>
          <a:ext cx="2362200" cy="18288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err="1"/>
                        <a:t>interferons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interleukins</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interstitial fluid</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491972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14 of 30)</a:t>
            </a:r>
          </a:p>
        </p:txBody>
      </p:sp>
      <p:graphicFrame>
        <p:nvGraphicFramePr>
          <p:cNvPr id="8" name="Content Placeholder 7" descr="Group 7 of 15.  List of vocabulary terms  with corresponding meanings or definitions."/>
          <p:cNvGraphicFramePr>
            <a:graphicFrameLocks noGrp="1"/>
          </p:cNvGraphicFramePr>
          <p:nvPr>
            <p:ph idx="1"/>
            <p:extLst>
              <p:ext uri="{D42A27DB-BD31-4B8C-83A1-F6EECF244321}">
                <p14:modId xmlns:p14="http://schemas.microsoft.com/office/powerpoint/2010/main" val="3656270117"/>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err="1"/>
                        <a:t>interferons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Proteins secreted by T cells and other cells to aid and regulate the immune response</a:t>
                      </a:r>
                    </a:p>
                  </a:txBody>
                  <a:tcPr/>
                </a:tc>
                <a:extLst>
                  <a:ext uri="{0D108BD9-81ED-4DB2-BD59-A6C34878D82A}">
                    <a16:rowId xmlns:a16="http://schemas.microsoft.com/office/drawing/2014/main" val="10001"/>
                  </a:ext>
                </a:extLst>
              </a:tr>
              <a:tr h="370840">
                <a:tc>
                  <a:txBody>
                    <a:bodyPr/>
                    <a:lstStyle/>
                    <a:p>
                      <a:r>
                        <a:rPr lang="en-US" altLang="en-US" sz="2400" dirty="0"/>
                        <a:t>interleukins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Proteins that stimulate the growth of B and T lymphocytes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interstitial fluid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Fluid in the spaces between cells; becomes lymph in lymph capillaries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353887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15 of 30)</a:t>
            </a:r>
          </a:p>
        </p:txBody>
      </p:sp>
      <p:graphicFrame>
        <p:nvGraphicFramePr>
          <p:cNvPr id="8" name="Content Placeholder 7" descr="Group 8 of 15: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515915691"/>
              </p:ext>
            </p:extLst>
          </p:nvPr>
        </p:nvGraphicFramePr>
        <p:xfrm>
          <a:off x="3390900" y="2133600"/>
          <a:ext cx="2362200" cy="18288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lymph</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 capillaries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lymphoid organs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548878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16 of 30)</a:t>
            </a:r>
          </a:p>
        </p:txBody>
      </p:sp>
      <p:graphicFrame>
        <p:nvGraphicFramePr>
          <p:cNvPr id="8" name="Content Placeholder 7" descr="Group 8 of 15.  List of vocabulary terms  with corresponding meanings or definitions."/>
          <p:cNvGraphicFramePr>
            <a:graphicFrameLocks noGrp="1"/>
          </p:cNvGraphicFramePr>
          <p:nvPr>
            <p:ph idx="1"/>
            <p:extLst>
              <p:ext uri="{D42A27DB-BD31-4B8C-83A1-F6EECF244321}">
                <p14:modId xmlns:p14="http://schemas.microsoft.com/office/powerpoint/2010/main" val="4108559483"/>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lymph</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Thin, watery fluid within lymphatic vessels and collected from tissues throughout the body</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 capillaries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Tiniest lymphatic vessels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lymphoid organs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 nodes, spleen, and thymus gland</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218861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17 of 30)</a:t>
            </a:r>
          </a:p>
        </p:txBody>
      </p:sp>
      <p:graphicFrame>
        <p:nvGraphicFramePr>
          <p:cNvPr id="8" name="Content Placeholder 7" descr="Group 9 of 15: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000479083"/>
              </p:ext>
            </p:extLst>
          </p:nvPr>
        </p:nvGraphicFramePr>
        <p:xfrm>
          <a:off x="3390900" y="2209800"/>
          <a:ext cx="2362200" cy="18288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 node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 vessel</a:t>
                      </a:r>
                    </a:p>
                  </a:txBody>
                  <a:tcPr/>
                </a:tc>
                <a:extLst>
                  <a:ext uri="{0D108BD9-81ED-4DB2-BD59-A6C34878D82A}">
                    <a16:rowId xmlns:a16="http://schemas.microsoft.com/office/drawing/2014/main" val="10002"/>
                  </a:ext>
                </a:extLst>
              </a:tr>
              <a:tr h="370840">
                <a:tc>
                  <a:txBody>
                    <a:bodyPr/>
                    <a:lstStyle/>
                    <a:p>
                      <a:r>
                        <a:rPr lang="en-US" altLang="en-US" sz="2400" dirty="0"/>
                        <a:t>macrophage</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01725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18 of 30)</a:t>
            </a:r>
          </a:p>
        </p:txBody>
      </p:sp>
      <p:graphicFrame>
        <p:nvGraphicFramePr>
          <p:cNvPr id="8" name="Content Placeholder 7" descr="Group 9 of 15.  List of vocabulary terms  with corresponding meanings or definitions."/>
          <p:cNvGraphicFramePr>
            <a:graphicFrameLocks noGrp="1"/>
          </p:cNvGraphicFramePr>
          <p:nvPr>
            <p:ph idx="1"/>
            <p:extLst>
              <p:ext uri="{D42A27DB-BD31-4B8C-83A1-F6EECF244321}">
                <p14:modId xmlns:p14="http://schemas.microsoft.com/office/powerpoint/2010/main" val="152054095"/>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 node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Collection of stationary solid lymphatic tissue along lymph vessels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 vessel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Carrier of lymph throughout the body</a:t>
                      </a:r>
                    </a:p>
                  </a:txBody>
                  <a:tcPr/>
                </a:tc>
                <a:extLst>
                  <a:ext uri="{0D108BD9-81ED-4DB2-BD59-A6C34878D82A}">
                    <a16:rowId xmlns:a16="http://schemas.microsoft.com/office/drawing/2014/main" val="10002"/>
                  </a:ext>
                </a:extLst>
              </a:tr>
              <a:tr h="370840">
                <a:tc>
                  <a:txBody>
                    <a:bodyPr/>
                    <a:lstStyle/>
                    <a:p>
                      <a:r>
                        <a:rPr lang="en-US" altLang="en-US" sz="2400" dirty="0"/>
                        <a:t>macrophage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Large phagocyte found in lymph nodes and other tissues of the body</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757408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19 of 30)</a:t>
            </a:r>
          </a:p>
        </p:txBody>
      </p:sp>
      <p:graphicFrame>
        <p:nvGraphicFramePr>
          <p:cNvPr id="8" name="Content Placeholder 7" descr="Group 10 of 15: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683523430"/>
              </p:ext>
            </p:extLst>
          </p:nvPr>
        </p:nvGraphicFramePr>
        <p:xfrm>
          <a:off x="2209800" y="1981200"/>
          <a:ext cx="4724400" cy="1828800"/>
        </p:xfrm>
        <a:graphic>
          <a:graphicData uri="http://schemas.openxmlformats.org/drawingml/2006/table">
            <a:tbl>
              <a:tblPr firstRow="1" bandRow="1">
                <a:tableStyleId>{5C22544A-7EE6-4342-B048-85BDC9FD1C3A}</a:tableStyleId>
              </a:tblPr>
              <a:tblGrid>
                <a:gridCol w="4724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mediastinal</a:t>
                      </a:r>
                      <a:r>
                        <a:rPr lang="en-US" altLang="en-US" sz="2400" dirty="0"/>
                        <a:t> nodes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mesenteric nodes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monoclonal antibody</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87358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20 of 30)</a:t>
            </a:r>
          </a:p>
        </p:txBody>
      </p:sp>
      <p:graphicFrame>
        <p:nvGraphicFramePr>
          <p:cNvPr id="8" name="Content Placeholder 7" descr="Group 10 of 15.  List of vocabulary terms  with corresponding meanings or definitions."/>
          <p:cNvGraphicFramePr>
            <a:graphicFrameLocks noGrp="1"/>
          </p:cNvGraphicFramePr>
          <p:nvPr>
            <p:ph idx="1"/>
            <p:extLst>
              <p:ext uri="{D42A27DB-BD31-4B8C-83A1-F6EECF244321}">
                <p14:modId xmlns:p14="http://schemas.microsoft.com/office/powerpoint/2010/main" val="2695321235"/>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mediastinal</a:t>
                      </a:r>
                      <a:r>
                        <a:rPr lang="en-US" altLang="en-US" sz="2400" dirty="0"/>
                        <a:t> nodes</a:t>
                      </a:r>
                    </a:p>
                  </a:txBody>
                  <a:tcPr/>
                </a:tc>
                <a:tc>
                  <a:txBody>
                    <a:bodyPr/>
                    <a:lstStyle/>
                    <a:p>
                      <a:pPr marL="0" indent="0" eaLnBrk="1" hangingPunct="1">
                        <a:lnSpc>
                          <a:spcPct val="90000"/>
                        </a:lnSpc>
                        <a:buFont typeface="Wingdings 2" panose="05020102010507070707" pitchFamily="18" charset="2"/>
                        <a:buNone/>
                      </a:pPr>
                      <a:r>
                        <a:rPr lang="en-US" altLang="en-US" sz="2400" dirty="0"/>
                        <a:t>Lymph nodes in the area between the lungs in the thoracic cavity</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mesenteric nodes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 nodes in the mesentery</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monoclonal antibody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 antibody produced in a laboratory to attack antigens and to destroy cells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036885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21 of 30)</a:t>
            </a:r>
          </a:p>
        </p:txBody>
      </p:sp>
      <p:graphicFrame>
        <p:nvGraphicFramePr>
          <p:cNvPr id="8" name="Content Placeholder 7" descr="Group 11 of 15: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61766217"/>
              </p:ext>
            </p:extLst>
          </p:nvPr>
        </p:nvGraphicFramePr>
        <p:xfrm>
          <a:off x="3390900" y="2286000"/>
          <a:ext cx="2362200" cy="18288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natural immunity</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paraaortic</a:t>
                      </a:r>
                      <a:r>
                        <a:rPr lang="en-US" altLang="en-US" sz="2400" dirty="0"/>
                        <a:t> nodes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plasma cell</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217809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22 of 30)</a:t>
            </a:r>
          </a:p>
        </p:txBody>
      </p:sp>
      <p:graphicFrame>
        <p:nvGraphicFramePr>
          <p:cNvPr id="8" name="Content Placeholder 7" descr="Group 11 of 15.  List of vocabulary terms  with corresponding meanings or definitions."/>
          <p:cNvGraphicFramePr>
            <a:graphicFrameLocks noGrp="1"/>
          </p:cNvGraphicFramePr>
          <p:nvPr>
            <p:ph idx="1"/>
            <p:extLst>
              <p:ext uri="{D42A27DB-BD31-4B8C-83A1-F6EECF244321}">
                <p14:modId xmlns:p14="http://schemas.microsoft.com/office/powerpoint/2010/main" val="2139932360"/>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natural immunity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Protection that an individual is born with to fight infection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paraaortic</a:t>
                      </a:r>
                      <a:r>
                        <a:rPr lang="en-US" altLang="en-US" sz="2400" dirty="0"/>
                        <a:t> nodes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 nodes near the aorta in the lumbar area of the body</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plasma cell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Lymphocyte that secretes antibodies; matures from B lymphocytes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96542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23 of 30)</a:t>
            </a:r>
          </a:p>
        </p:txBody>
      </p:sp>
      <p:graphicFrame>
        <p:nvGraphicFramePr>
          <p:cNvPr id="8" name="Content Placeholder 7" descr="Group 12 of 15: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932081221"/>
              </p:ext>
            </p:extLst>
          </p:nvPr>
        </p:nvGraphicFramePr>
        <p:xfrm>
          <a:off x="2590800" y="2590800"/>
          <a:ext cx="3962400" cy="1371600"/>
        </p:xfrm>
        <a:graphic>
          <a:graphicData uri="http://schemas.openxmlformats.org/drawingml/2006/table">
            <a:tbl>
              <a:tblPr firstRow="1" bandRow="1">
                <a:tableStyleId>{5C22544A-7EE6-4342-B048-85BDC9FD1C3A}</a:tableStyleId>
              </a:tblPr>
              <a:tblGrid>
                <a:gridCol w="3962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Right lymphatic duct</a:t>
                      </a:r>
                    </a:p>
                  </a:txBody>
                  <a:tcPr/>
                </a:tc>
                <a:extLst>
                  <a:ext uri="{0D108BD9-81ED-4DB2-BD59-A6C34878D82A}">
                    <a16:rowId xmlns:a16="http://schemas.microsoft.com/office/drawing/2014/main" val="10001"/>
                  </a:ext>
                </a:extLst>
              </a:tr>
              <a:tr h="370840">
                <a:tc>
                  <a:txBody>
                    <a:bodyPr/>
                    <a:lstStyle/>
                    <a:p>
                      <a:r>
                        <a:rPr lang="en-US" sz="2400" dirty="0">
                          <a:ea typeface="ＭＳ Ｐゴシック" charset="0"/>
                        </a:rPr>
                        <a:t>Spleen</a:t>
                      </a:r>
                      <a:endParaRPr lang="en-US" sz="24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438320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24 of 30)</a:t>
            </a:r>
          </a:p>
        </p:txBody>
      </p:sp>
      <p:graphicFrame>
        <p:nvGraphicFramePr>
          <p:cNvPr id="8" name="Content Placeholder 7" descr="Group 12 of 15.  List of vocabulary terms  with corresponding meanings or definitions."/>
          <p:cNvGraphicFramePr>
            <a:graphicFrameLocks noGrp="1"/>
          </p:cNvGraphicFramePr>
          <p:nvPr>
            <p:ph idx="1"/>
            <p:extLst>
              <p:ext uri="{D42A27DB-BD31-4B8C-83A1-F6EECF244321}">
                <p14:modId xmlns:p14="http://schemas.microsoft.com/office/powerpoint/2010/main" val="2666934496"/>
              </p:ext>
            </p:extLst>
          </p:nvPr>
        </p:nvGraphicFramePr>
        <p:xfrm>
          <a:off x="457200" y="1600200"/>
          <a:ext cx="8229600" cy="283464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Right lymphatic duct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Vessel in the chest that drains lymph from the upper right part of body; empties into large neck vein</a:t>
                      </a:r>
                    </a:p>
                  </a:txBody>
                  <a:tcPr/>
                </a:tc>
                <a:extLst>
                  <a:ext uri="{0D108BD9-81ED-4DB2-BD59-A6C34878D82A}">
                    <a16:rowId xmlns:a16="http://schemas.microsoft.com/office/drawing/2014/main" val="10001"/>
                  </a:ext>
                </a:extLst>
              </a:tr>
              <a:tr h="370840">
                <a:tc>
                  <a:txBody>
                    <a:bodyPr/>
                    <a:lstStyle/>
                    <a:p>
                      <a:r>
                        <a:rPr lang="en-US" sz="2400" dirty="0">
                          <a:ea typeface="ＭＳ Ｐゴシック" charset="0"/>
                        </a:rPr>
                        <a:t>Spleen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Organ in the left upper quadrant of the abdomen that destroys worn-out RBCs, activates lymphocytes, and stores blood</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686461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25 of 30)</a:t>
            </a:r>
          </a:p>
        </p:txBody>
      </p:sp>
      <p:graphicFrame>
        <p:nvGraphicFramePr>
          <p:cNvPr id="8" name="Content Placeholder 7" descr="Group 13 of 15: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715098220"/>
              </p:ext>
            </p:extLst>
          </p:nvPr>
        </p:nvGraphicFramePr>
        <p:xfrm>
          <a:off x="2324100" y="1828800"/>
          <a:ext cx="4495800" cy="1828800"/>
        </p:xfrm>
        <a:graphic>
          <a:graphicData uri="http://schemas.openxmlformats.org/drawingml/2006/table">
            <a:tbl>
              <a:tblPr firstRow="1" bandRow="1">
                <a:tableStyleId>{5C22544A-7EE6-4342-B048-85BDC9FD1C3A}</a:tableStyleId>
              </a:tblPr>
              <a:tblGrid>
                <a:gridCol w="44958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suppressor T cell (</a:t>
                      </a:r>
                      <a:r>
                        <a:rPr lang="en-US" altLang="en-US" sz="2400" dirty="0" err="1"/>
                        <a:t>Treg</a:t>
                      </a:r>
                      <a:r>
                        <a:rPr lang="en-US" altLang="en-US" sz="2400" dirty="0"/>
                        <a:t>)</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 cell (T lymphocyte)</a:t>
                      </a:r>
                    </a:p>
                  </a:txBody>
                  <a:tcPr/>
                </a:tc>
                <a:extLst>
                  <a:ext uri="{0D108BD9-81ED-4DB2-BD59-A6C34878D82A}">
                    <a16:rowId xmlns:a16="http://schemas.microsoft.com/office/drawing/2014/main" val="10002"/>
                  </a:ext>
                </a:extLst>
              </a:tr>
              <a:tr h="370840">
                <a:tc>
                  <a:txBody>
                    <a:bodyPr/>
                    <a:lstStyle/>
                    <a:p>
                      <a:r>
                        <a:rPr lang="en-US" altLang="en-US" sz="2400" dirty="0"/>
                        <a:t>tolerance</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591425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26 of 30)</a:t>
            </a:r>
          </a:p>
        </p:txBody>
      </p:sp>
      <p:graphicFrame>
        <p:nvGraphicFramePr>
          <p:cNvPr id="8" name="Content Placeholder 7" descr="Group 13 of 15.  List of vocabulary terms  with corresponding meanings or definitions."/>
          <p:cNvGraphicFramePr>
            <a:graphicFrameLocks noGrp="1"/>
          </p:cNvGraphicFramePr>
          <p:nvPr>
            <p:ph idx="1"/>
            <p:extLst>
              <p:ext uri="{D42A27DB-BD31-4B8C-83A1-F6EECF244321}">
                <p14:modId xmlns:p14="http://schemas.microsoft.com/office/powerpoint/2010/main" val="1383326060"/>
              </p:ext>
            </p:extLst>
          </p:nvPr>
        </p:nvGraphicFramePr>
        <p:xfrm>
          <a:off x="457200" y="1600200"/>
          <a:ext cx="8229600" cy="3657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suppressor T cell (</a:t>
                      </a:r>
                      <a:r>
                        <a:rPr lang="en-US" altLang="en-US" sz="2400" dirty="0" err="1"/>
                        <a:t>Treg</a:t>
                      </a:r>
                      <a:r>
                        <a:rPr lang="en-US" altLang="en-US" sz="2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Lymphocyte that inhibits the activity of B and T cells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 cell (T lymphocyte)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Lymphocyte that acts directly on antigens to destroy them or produces chemicals toxic to antigens</a:t>
                      </a:r>
                    </a:p>
                  </a:txBody>
                  <a:tcPr/>
                </a:tc>
                <a:extLst>
                  <a:ext uri="{0D108BD9-81ED-4DB2-BD59-A6C34878D82A}">
                    <a16:rowId xmlns:a16="http://schemas.microsoft.com/office/drawing/2014/main" val="10002"/>
                  </a:ext>
                </a:extLst>
              </a:tr>
              <a:tr h="370840">
                <a:tc>
                  <a:txBody>
                    <a:bodyPr/>
                    <a:lstStyle/>
                    <a:p>
                      <a:r>
                        <a:rPr lang="en-US" altLang="en-US" sz="2400" dirty="0"/>
                        <a:t>tolerance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Ability of T lymphocytes to recognize and accept the body’s own antigens as “self” or friendly</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096333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27 of 30)</a:t>
            </a:r>
          </a:p>
        </p:txBody>
      </p:sp>
      <p:graphicFrame>
        <p:nvGraphicFramePr>
          <p:cNvPr id="8" name="Content Placeholder 7" descr="Group 14 of 15: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652507307"/>
              </p:ext>
            </p:extLst>
          </p:nvPr>
        </p:nvGraphicFramePr>
        <p:xfrm>
          <a:off x="3390900" y="1981200"/>
          <a:ext cx="2362200" cy="18288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thoracic duct</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thymus gland</a:t>
                      </a:r>
                    </a:p>
                  </a:txBody>
                  <a:tcPr/>
                </a:tc>
                <a:extLst>
                  <a:ext uri="{0D108BD9-81ED-4DB2-BD59-A6C34878D82A}">
                    <a16:rowId xmlns:a16="http://schemas.microsoft.com/office/drawing/2014/main" val="10002"/>
                  </a:ext>
                </a:extLst>
              </a:tr>
              <a:tr h="370840">
                <a:tc>
                  <a:txBody>
                    <a:bodyPr/>
                    <a:lstStyle/>
                    <a:p>
                      <a:r>
                        <a:rPr lang="en-US" altLang="en-US" sz="2400" dirty="0"/>
                        <a:t>tonsils</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292148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28 of 30)</a:t>
            </a:r>
          </a:p>
        </p:txBody>
      </p:sp>
      <p:graphicFrame>
        <p:nvGraphicFramePr>
          <p:cNvPr id="8" name="Content Placeholder 7" descr="Group 14 of 15.  List of vocabulary terms  with corresponding meanings or definitions."/>
          <p:cNvGraphicFramePr>
            <a:graphicFrameLocks noGrp="1"/>
          </p:cNvGraphicFramePr>
          <p:nvPr>
            <p:ph idx="1"/>
            <p:extLst>
              <p:ext uri="{D42A27DB-BD31-4B8C-83A1-F6EECF244321}">
                <p14:modId xmlns:p14="http://schemas.microsoft.com/office/powerpoint/2010/main" val="967318890"/>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thoracic duct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Drains lymph from the lower and left side of body; empties into large veins in neck</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thymus gland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Lymphoid organ in the mediastinum that conditions T cells to react to foreign cells</a:t>
                      </a:r>
                    </a:p>
                  </a:txBody>
                  <a:tcPr/>
                </a:tc>
                <a:extLst>
                  <a:ext uri="{0D108BD9-81ED-4DB2-BD59-A6C34878D82A}">
                    <a16:rowId xmlns:a16="http://schemas.microsoft.com/office/drawing/2014/main" val="10002"/>
                  </a:ext>
                </a:extLst>
              </a:tr>
              <a:tr h="370840">
                <a:tc>
                  <a:txBody>
                    <a:bodyPr/>
                    <a:lstStyle/>
                    <a:p>
                      <a:r>
                        <a:rPr lang="en-US" altLang="en-US" sz="2400" dirty="0"/>
                        <a:t>tonsils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Masses of lymphatic tissue in back of the oropharynx</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742997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29 of 30)</a:t>
            </a:r>
          </a:p>
        </p:txBody>
      </p:sp>
      <p:graphicFrame>
        <p:nvGraphicFramePr>
          <p:cNvPr id="8" name="Content Placeholder 7" descr="Group 15 of 15: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362035790"/>
              </p:ext>
            </p:extLst>
          </p:nvPr>
        </p:nvGraphicFramePr>
        <p:xfrm>
          <a:off x="3390900" y="2057400"/>
          <a:ext cx="2362200" cy="18288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45720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toxin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vaccination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vaccine</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852636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30 of 30)</a:t>
            </a:r>
          </a:p>
        </p:txBody>
      </p:sp>
      <p:graphicFrame>
        <p:nvGraphicFramePr>
          <p:cNvPr id="8" name="Content Placeholder 7" descr="Group 15 of 15.  List of vocabulary terms  with corresponding meanings or definitions."/>
          <p:cNvGraphicFramePr>
            <a:graphicFrameLocks noGrp="1"/>
          </p:cNvGraphicFramePr>
          <p:nvPr>
            <p:ph idx="1"/>
            <p:extLst>
              <p:ext uri="{D42A27DB-BD31-4B8C-83A1-F6EECF244321}">
                <p14:modId xmlns:p14="http://schemas.microsoft.com/office/powerpoint/2010/main" val="4104574021"/>
              </p:ext>
            </p:extLst>
          </p:nvPr>
        </p:nvGraphicFramePr>
        <p:xfrm>
          <a:off x="457200" y="1600200"/>
          <a:ext cx="8229600" cy="402336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45720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toxin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Poison; a protein produced by certain bacteria, animals, or plants</a:t>
                      </a:r>
                    </a:p>
                  </a:txBody>
                  <a:tcPr/>
                </a:tc>
                <a:extLst>
                  <a:ext uri="{0D108BD9-81ED-4DB2-BD59-A6C34878D82A}">
                    <a16:rowId xmlns:a16="http://schemas.microsoft.com/office/drawing/2014/main" val="10001"/>
                  </a:ext>
                </a:extLst>
              </a:tr>
              <a:tr h="370840">
                <a:tc>
                  <a:txBody>
                    <a:bodyPr/>
                    <a:lstStyle/>
                    <a:p>
                      <a:r>
                        <a:rPr lang="en-US" altLang="en-US" sz="2400" dirty="0"/>
                        <a:t>vaccination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Exposure of an individual to an antigen that provokes an immune response that will destroy any cell with the antigen and will protect against infection</a:t>
                      </a:r>
                    </a:p>
                  </a:txBody>
                  <a:tcPr/>
                </a:tc>
                <a:extLst>
                  <a:ext uri="{0D108BD9-81ED-4DB2-BD59-A6C34878D82A}">
                    <a16:rowId xmlns:a16="http://schemas.microsoft.com/office/drawing/2014/main" val="10002"/>
                  </a:ext>
                </a:extLst>
              </a:tr>
              <a:tr h="370840">
                <a:tc>
                  <a:txBody>
                    <a:bodyPr/>
                    <a:lstStyle/>
                    <a:p>
                      <a:r>
                        <a:rPr lang="en-US" altLang="en-US" sz="2400" dirty="0"/>
                        <a:t>vaccine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Weakened or killed microorganisms, toxins, or other proteins given to induce immunity to infection or disease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804991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ltLang="en-US" dirty="0"/>
              <a:t>      QUICK QUIZ (Slide 1 of 5) 	</a:t>
            </a:r>
          </a:p>
        </p:txBody>
      </p:sp>
      <p:sp>
        <p:nvSpPr>
          <p:cNvPr id="60419" name="Rectangle 3"/>
          <p:cNvSpPr>
            <a:spLocks noGrp="1" noChangeArrowheads="1"/>
          </p:cNvSpPr>
          <p:nvPr>
            <p:ph idx="1"/>
          </p:nvPr>
        </p:nvSpPr>
        <p:spPr>
          <a:xfrm>
            <a:off x="685800" y="1600200"/>
            <a:ext cx="8153400" cy="4495800"/>
          </a:xfrm>
        </p:spPr>
        <p:txBody>
          <a:bodyPr/>
          <a:lstStyle/>
          <a:p>
            <a:pPr marL="533400" indent="-533400" eaLnBrk="1" hangingPunct="1">
              <a:buFont typeface="Arial" panose="020B0604020202020204" pitchFamily="34" charset="0"/>
              <a:buAutoNum type="arabicPeriod"/>
            </a:pPr>
            <a:r>
              <a:rPr lang="en-US" altLang="en-US" b="1" dirty="0"/>
              <a:t>Which lymphocyte originates in the bone marrow and transforms into a plasma cell to secrete antibodies?</a:t>
            </a:r>
          </a:p>
          <a:p>
            <a:pPr marL="914400" lvl="1" indent="-457200" eaLnBrk="1" hangingPunct="1">
              <a:buFont typeface="Arial" panose="020B0604020202020204" pitchFamily="34" charset="0"/>
              <a:buAutoNum type="alphaUcPeriod"/>
            </a:pPr>
            <a:r>
              <a:rPr lang="en-US" altLang="en-US" sz="3200" dirty="0" err="1">
                <a:ea typeface="MS PGothic" panose="020B0600070205080204" pitchFamily="34" charset="-128"/>
              </a:rPr>
              <a:t>Dendritic</a:t>
            </a:r>
            <a:r>
              <a:rPr lang="en-US" altLang="en-US" sz="3200" dirty="0">
                <a:ea typeface="MS PGothic" panose="020B0600070205080204" pitchFamily="34" charset="-128"/>
              </a:rPr>
              <a:t> cell</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Helper T cell</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B cell</a:t>
            </a:r>
          </a:p>
          <a:p>
            <a:pPr marL="914400" lvl="1" indent="-457200" eaLnBrk="1" hangingPunct="1">
              <a:buFont typeface="Arial" panose="020B0604020202020204" pitchFamily="34" charset="0"/>
              <a:buAutoNum type="alphaUcPeriod"/>
            </a:pPr>
            <a:r>
              <a:rPr lang="en-US" altLang="en-US" sz="3200" dirty="0" err="1">
                <a:ea typeface="MS PGothic" panose="020B0600070205080204" pitchFamily="34" charset="-128"/>
              </a:rPr>
              <a:t>Cytotoxic</a:t>
            </a:r>
            <a:r>
              <a:rPr lang="en-US" altLang="en-US" sz="3200" dirty="0">
                <a:ea typeface="MS PGothic" panose="020B0600070205080204" pitchFamily="34" charset="-128"/>
              </a:rPr>
              <a:t> T cell</a:t>
            </a:r>
            <a:endParaRPr lang="en-US" altLang="en-US" dirty="0">
              <a:ea typeface="MS PGothic" panose="020B0600070205080204" pitchFamily="34" charset="-128"/>
            </a:endParaRPr>
          </a:p>
        </p:txBody>
      </p:sp>
    </p:spTree>
    <p:extLst>
      <p:ext uri="{BB962C8B-B14F-4D97-AF65-F5344CB8AC3E}">
        <p14:creationId xmlns:p14="http://schemas.microsoft.com/office/powerpoint/2010/main" val="27644042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title"/>
          </p:nvPr>
        </p:nvSpPr>
        <p:spPr>
          <a:xfrm>
            <a:off x="1143000" y="228600"/>
            <a:ext cx="6781800" cy="1219200"/>
          </a:xfrm>
        </p:spPr>
        <p:txBody>
          <a:bodyPr/>
          <a:lstStyle/>
          <a:p>
            <a:pPr eaLnBrk="1" hangingPunct="1"/>
            <a:r>
              <a:rPr lang="en-US" altLang="en-US" dirty="0"/>
              <a:t> QUICK QUIZ</a:t>
            </a:r>
            <a:r>
              <a:rPr lang="en-US" altLang="en-US" dirty="0">
                <a:sym typeface="Wingdings" panose="05000000000000000000" pitchFamily="2" charset="2"/>
              </a:rPr>
              <a:t>  (Slide 2 of 5)</a:t>
            </a:r>
            <a:r>
              <a:rPr lang="en-US" altLang="ja-JP" dirty="0"/>
              <a:t>	</a:t>
            </a:r>
            <a:endParaRPr lang="en-US" altLang="en-US" dirty="0"/>
          </a:p>
        </p:txBody>
      </p:sp>
      <p:sp>
        <p:nvSpPr>
          <p:cNvPr id="61443" name="Rectangle 3"/>
          <p:cNvSpPr>
            <a:spLocks noGrp="1" noChangeArrowheads="1"/>
          </p:cNvSpPr>
          <p:nvPr>
            <p:ph idx="1"/>
          </p:nvPr>
        </p:nvSpPr>
        <p:spPr>
          <a:xfrm>
            <a:off x="685800" y="1600200"/>
            <a:ext cx="6934200" cy="4495800"/>
          </a:xfrm>
        </p:spPr>
        <p:txBody>
          <a:bodyPr/>
          <a:lstStyle/>
          <a:p>
            <a:pPr marL="533400" indent="-533400" eaLnBrk="1" hangingPunct="1">
              <a:buFont typeface="Webdings" panose="05030102010509060703" pitchFamily="18" charset="2"/>
              <a:buNone/>
            </a:pPr>
            <a:r>
              <a:rPr lang="en-US" altLang="en-US" b="1"/>
              <a:t>2.  The formation of antibodies and lymphocytes after exposure to an antigen is:</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cell-mediated immunity</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humoral immunity</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natural immunity</a:t>
            </a:r>
            <a:endParaRPr lang="en-US" altLang="en-US">
              <a:ea typeface="MS PGothic" panose="020B0600070205080204" pitchFamily="34" charset="-128"/>
            </a:endParaRPr>
          </a:p>
        </p:txBody>
      </p:sp>
    </p:spTree>
    <p:extLst>
      <p:ext uri="{BB962C8B-B14F-4D97-AF65-F5344CB8AC3E}">
        <p14:creationId xmlns:p14="http://schemas.microsoft.com/office/powerpoint/2010/main" val="10501018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Combining Forms, Prefixes, and Terminology (Slide 1 of 2)</a:t>
            </a:r>
          </a:p>
        </p:txBody>
      </p:sp>
      <p:graphicFrame>
        <p:nvGraphicFramePr>
          <p:cNvPr id="8" name="Content Placeholder 7" descr="Group 1 of 2 lists combining forms from the Combining Forms, Prefixes and Terminology section of the textbook  with corresponding meanings or definitions. "/>
          <p:cNvGraphicFramePr>
            <a:graphicFrameLocks noGrp="1"/>
          </p:cNvGraphicFramePr>
          <p:nvPr>
            <p:ph idx="1"/>
            <p:extLst>
              <p:ext uri="{D42A27DB-BD31-4B8C-83A1-F6EECF244321}">
                <p14:modId xmlns:p14="http://schemas.microsoft.com/office/powerpoint/2010/main" val="4036498343"/>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45720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immun</a:t>
                      </a:r>
                      <a:r>
                        <a:rPr lang="en-US" altLang="en-US" sz="2400" b="1" dirty="0"/>
                        <a:t>/o</a:t>
                      </a:r>
                      <a:endParaRPr lang="en-US" sz="2400" dirty="0"/>
                    </a:p>
                  </a:txBody>
                  <a:tcPr/>
                </a:tc>
                <a:tc>
                  <a:txBody>
                    <a:bodyPr/>
                    <a:lstStyle/>
                    <a:p>
                      <a:r>
                        <a:rPr lang="en-US" altLang="en-US" sz="2400" dirty="0"/>
                        <a:t>protection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lymph/o</a:t>
                      </a:r>
                      <a:endParaRPr lang="en-US" sz="2400" dirty="0"/>
                    </a:p>
                  </a:txBody>
                  <a:tcPr/>
                </a:tc>
                <a:tc>
                  <a:txBody>
                    <a:bodyPr/>
                    <a:lstStyle/>
                    <a:p>
                      <a:r>
                        <a:rPr lang="en-US" altLang="en-US" sz="2400" dirty="0"/>
                        <a:t>lymph</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lymphaden</a:t>
                      </a:r>
                      <a:r>
                        <a:rPr lang="en-US" altLang="en-US" sz="2400" b="1" dirty="0"/>
                        <a:t>/o</a:t>
                      </a:r>
                      <a:endParaRPr lang="en-US" sz="2400" dirty="0"/>
                    </a:p>
                  </a:txBody>
                  <a:tcPr/>
                </a:tc>
                <a:tc>
                  <a:txBody>
                    <a:bodyPr/>
                    <a:lstStyle/>
                    <a:p>
                      <a:r>
                        <a:rPr lang="en-US" altLang="en-US" sz="2400" dirty="0"/>
                        <a:t>lymph node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splen</a:t>
                      </a:r>
                      <a:r>
                        <a:rPr lang="en-US" altLang="en-US" sz="2400" b="1" dirty="0"/>
                        <a:t>/o</a:t>
                      </a:r>
                      <a:endParaRPr lang="en-US" sz="2400" dirty="0"/>
                    </a:p>
                  </a:txBody>
                  <a:tcPr/>
                </a:tc>
                <a:tc>
                  <a:txBody>
                    <a:bodyPr/>
                    <a:lstStyle/>
                    <a:p>
                      <a:r>
                        <a:rPr lang="en-US" altLang="en-US" sz="2400" dirty="0"/>
                        <a:t>spleen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thym</a:t>
                      </a:r>
                      <a:r>
                        <a:rPr lang="en-US" altLang="en-US" sz="2400" b="1" dirty="0"/>
                        <a:t>/o</a:t>
                      </a:r>
                      <a:endParaRPr lang="en-US" sz="2400" dirty="0"/>
                    </a:p>
                  </a:txBody>
                  <a:tcPr/>
                </a:tc>
                <a:tc>
                  <a:txBody>
                    <a:bodyPr/>
                    <a:lstStyle/>
                    <a:p>
                      <a:r>
                        <a:rPr lang="en-US" altLang="en-US" sz="2400" dirty="0"/>
                        <a:t>thymus gland</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tox</a:t>
                      </a:r>
                      <a:r>
                        <a:rPr lang="en-US" altLang="en-US" sz="2400" b="1" dirty="0"/>
                        <a:t>/o</a:t>
                      </a:r>
                      <a:endParaRPr lang="en-US" sz="2400" dirty="0"/>
                    </a:p>
                  </a:txBody>
                  <a:tcPr/>
                </a:tc>
                <a:tc>
                  <a:txBody>
                    <a:bodyPr/>
                    <a:lstStyle/>
                    <a:p>
                      <a:r>
                        <a:rPr lang="en-US" altLang="en-US" sz="2400" dirty="0"/>
                        <a:t>poison</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272520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Combining Forms, Prefixes, and Terminology (Slide 2 of 2)</a:t>
            </a:r>
          </a:p>
        </p:txBody>
      </p:sp>
      <p:graphicFrame>
        <p:nvGraphicFramePr>
          <p:cNvPr id="8" name="Content Placeholder 7" descr="Group 1 of 2 lists prefixes from the Combining Forms, Prefixes and Terminology section of the textbook  with corresponding meanings or definitions. "/>
          <p:cNvGraphicFramePr>
            <a:graphicFrameLocks noGrp="1"/>
          </p:cNvGraphicFramePr>
          <p:nvPr>
            <p:ph idx="1"/>
            <p:extLst>
              <p:ext uri="{D42A27DB-BD31-4B8C-83A1-F6EECF244321}">
                <p14:modId xmlns:p14="http://schemas.microsoft.com/office/powerpoint/2010/main" val="1262200097"/>
              </p:ext>
            </p:extLst>
          </p:nvPr>
        </p:nvGraphicFramePr>
        <p:xfrm>
          <a:off x="457200" y="1600200"/>
          <a:ext cx="8229600" cy="1371600"/>
        </p:xfrm>
        <a:graphic>
          <a:graphicData uri="http://schemas.openxmlformats.org/drawingml/2006/table">
            <a:tbl>
              <a:tblPr firstRow="1" bandRow="1">
                <a:tableStyleId>{68D230F3-CF80-4859-8CE7-A43EE81993B5}</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45720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ana</a:t>
                      </a:r>
                      <a:r>
                        <a:rPr lang="en-US" altLang="en-US" sz="2400" b="1" dirty="0"/>
                        <a:t>-</a:t>
                      </a:r>
                      <a:endParaRPr lang="en-US" sz="2400" dirty="0"/>
                    </a:p>
                  </a:txBody>
                  <a:tcPr/>
                </a:tc>
                <a:tc>
                  <a:txBody>
                    <a:bodyPr/>
                    <a:lstStyle/>
                    <a:p>
                      <a:r>
                        <a:rPr lang="en-US" altLang="en-US" sz="2400" dirty="0"/>
                        <a:t>again, anew</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inter-</a:t>
                      </a:r>
                      <a:endParaRPr lang="en-US" sz="2400" dirty="0"/>
                    </a:p>
                  </a:txBody>
                  <a:tcPr/>
                </a:tc>
                <a:tc>
                  <a:txBody>
                    <a:bodyPr/>
                    <a:lstStyle/>
                    <a:p>
                      <a:r>
                        <a:rPr lang="en-US" altLang="en-US" sz="2400" dirty="0"/>
                        <a:t>between</a:t>
                      </a:r>
                      <a:endParaRPr lang="en-US" sz="24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2344117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altLang="en-US" sz="4000" dirty="0"/>
              <a:t>Chapter 14</a:t>
            </a:r>
            <a:br>
              <a:rPr lang="en-US" altLang="en-US" sz="4000" dirty="0"/>
            </a:br>
            <a:r>
              <a:rPr lang="en-US" altLang="en-US" sz="4000" dirty="0"/>
              <a:t>Lesson 14.2</a:t>
            </a:r>
          </a:p>
        </p:txBody>
      </p:sp>
    </p:spTree>
    <p:extLst>
      <p:ext uri="{BB962C8B-B14F-4D97-AF65-F5344CB8AC3E}">
        <p14:creationId xmlns:p14="http://schemas.microsoft.com/office/powerpoint/2010/main" val="31164150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
          <p:cNvSpPr>
            <a:spLocks noGrp="1" noChangeArrowheads="1"/>
          </p:cNvSpPr>
          <p:nvPr>
            <p:ph type="title"/>
          </p:nvPr>
        </p:nvSpPr>
        <p:spPr/>
        <p:txBody>
          <a:bodyPr/>
          <a:lstStyle/>
          <a:p>
            <a:pPr eaLnBrk="1" hangingPunct="1"/>
            <a:r>
              <a:rPr lang="en-US" altLang="en-US" dirty="0"/>
              <a:t>Disorders of the Lymphatic and Immune Systems</a:t>
            </a:r>
          </a:p>
        </p:txBody>
      </p:sp>
      <p:sp>
        <p:nvSpPr>
          <p:cNvPr id="65539" name="Rectangle 5"/>
          <p:cNvSpPr>
            <a:spLocks noGrp="1" noChangeArrowheads="1"/>
          </p:cNvSpPr>
          <p:nvPr>
            <p:ph idx="1"/>
          </p:nvPr>
        </p:nvSpPr>
        <p:spPr>
          <a:xfrm>
            <a:off x="685800" y="1600200"/>
            <a:ext cx="7162800" cy="4114800"/>
          </a:xfrm>
        </p:spPr>
        <p:txBody>
          <a:bodyPr/>
          <a:lstStyle/>
          <a:p>
            <a:pPr eaLnBrk="1" hangingPunct="1">
              <a:buFont typeface="Wingdings 2" panose="05020102010507070707" pitchFamily="18" charset="2"/>
              <a:buNone/>
            </a:pPr>
            <a:r>
              <a:rPr lang="en-US" altLang="en-US" b="1"/>
              <a:t>Immunodeficiency</a:t>
            </a:r>
            <a:endParaRPr lang="en-US" altLang="en-US"/>
          </a:p>
          <a:p>
            <a:pPr eaLnBrk="1" hangingPunct="1"/>
            <a:r>
              <a:rPr lang="en-US" altLang="en-US"/>
              <a:t>Acquired immunodeficiency syndrome (AIDS)</a:t>
            </a:r>
          </a:p>
          <a:p>
            <a:pPr lvl="1" eaLnBrk="1" hangingPunct="1">
              <a:buFont typeface="Wingdings" panose="05000000000000000000" pitchFamily="2" charset="2"/>
              <a:buChar char="Ø"/>
            </a:pPr>
            <a:r>
              <a:rPr lang="en-US" altLang="en-US">
                <a:ea typeface="MS PGothic" panose="020B0600070205080204" pitchFamily="34" charset="-128"/>
              </a:rPr>
              <a:t>Destroys T helper cells (CD4+ cells)</a:t>
            </a:r>
          </a:p>
          <a:p>
            <a:pPr lvl="1" eaLnBrk="1" hangingPunct="1">
              <a:buFont typeface="Wingdings" panose="05000000000000000000" pitchFamily="2" charset="2"/>
              <a:buChar char="Ø"/>
            </a:pPr>
            <a:r>
              <a:rPr lang="en-US" altLang="en-US">
                <a:ea typeface="MS PGothic" panose="020B0600070205080204" pitchFamily="34" charset="-128"/>
              </a:rPr>
              <a:t>Opportunistic infections</a:t>
            </a:r>
          </a:p>
          <a:p>
            <a:pPr lvl="1" eaLnBrk="1" hangingPunct="1">
              <a:buFont typeface="Wingdings" panose="05000000000000000000" pitchFamily="2" charset="2"/>
              <a:buChar char="Ø"/>
            </a:pPr>
            <a:r>
              <a:rPr lang="en-US" altLang="en-US">
                <a:ea typeface="MS PGothic" panose="020B0600070205080204" pitchFamily="34" charset="-128"/>
              </a:rPr>
              <a:t>Malignancies </a:t>
            </a:r>
          </a:p>
          <a:p>
            <a:pPr lvl="1" eaLnBrk="1" hangingPunct="1">
              <a:buFont typeface="Wingdings" panose="05000000000000000000" pitchFamily="2" charset="2"/>
              <a:buNone/>
            </a:pPr>
            <a:r>
              <a:rPr lang="en-US" altLang="en-US">
                <a:ea typeface="MS PGothic" panose="020B0600070205080204" pitchFamily="34" charset="-128"/>
              </a:rPr>
              <a:t>	(Kaposi sarcoma, wasting syndrome)</a:t>
            </a:r>
          </a:p>
          <a:p>
            <a:pPr lvl="1" eaLnBrk="1" hangingPunct="1">
              <a:buFont typeface="Wingdings" panose="05000000000000000000" pitchFamily="2" charset="2"/>
              <a:buNone/>
            </a:pPr>
            <a:endParaRPr lang="en-US" altLang="en-US">
              <a:ea typeface="MS PGothic" panose="020B0600070205080204" pitchFamily="34" charset="-128"/>
            </a:endParaRPr>
          </a:p>
        </p:txBody>
      </p:sp>
    </p:spTree>
    <p:extLst>
      <p:ext uri="{BB962C8B-B14F-4D97-AF65-F5344CB8AC3E}">
        <p14:creationId xmlns:p14="http://schemas.microsoft.com/office/powerpoint/2010/main" val="2346312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5"/>
          <p:cNvSpPr>
            <a:spLocks noGrp="1" noChangeArrowheads="1"/>
          </p:cNvSpPr>
          <p:nvPr>
            <p:ph type="title"/>
          </p:nvPr>
        </p:nvSpPr>
        <p:spPr>
          <a:xfrm>
            <a:off x="457200" y="533400"/>
            <a:ext cx="8153400" cy="533400"/>
          </a:xfrm>
        </p:spPr>
        <p:txBody>
          <a:bodyPr/>
          <a:lstStyle/>
          <a:p>
            <a:pPr eaLnBrk="1" hangingPunct="1"/>
            <a:r>
              <a:rPr lang="en-US" altLang="en-US" dirty="0"/>
              <a:t>Opportunistic Infections with AIDS </a:t>
            </a:r>
          </a:p>
        </p:txBody>
      </p:sp>
      <p:sp>
        <p:nvSpPr>
          <p:cNvPr id="66563" name="Rectangle 6"/>
          <p:cNvSpPr>
            <a:spLocks noGrp="1" noChangeArrowheads="1"/>
          </p:cNvSpPr>
          <p:nvPr>
            <p:ph sz="half" idx="1"/>
          </p:nvPr>
        </p:nvSpPr>
        <p:spPr>
          <a:xfrm>
            <a:off x="685800" y="1600200"/>
            <a:ext cx="7010400" cy="2438400"/>
          </a:xfrm>
        </p:spPr>
        <p:txBody>
          <a:bodyPr/>
          <a:lstStyle/>
          <a:p>
            <a:pPr eaLnBrk="1" hangingPunct="1"/>
            <a:r>
              <a:rPr lang="en-US" altLang="en-US" sz="2400"/>
              <a:t>Candidiasis</a:t>
            </a:r>
          </a:p>
          <a:p>
            <a:pPr eaLnBrk="1" hangingPunct="1"/>
            <a:r>
              <a:rPr lang="en-US" altLang="en-US" sz="2400"/>
              <a:t>Cryptococcus (Crypto)</a:t>
            </a:r>
          </a:p>
          <a:p>
            <a:pPr eaLnBrk="1" hangingPunct="1"/>
            <a:r>
              <a:rPr lang="en-US" altLang="en-US" sz="2400"/>
              <a:t>Cryptosporidiosis </a:t>
            </a:r>
          </a:p>
          <a:p>
            <a:pPr eaLnBrk="1" hangingPunct="1"/>
            <a:r>
              <a:rPr lang="en-US" altLang="en-US" sz="2400"/>
              <a:t>Cytomegalovirus (CMV) infection</a:t>
            </a:r>
          </a:p>
          <a:p>
            <a:pPr eaLnBrk="1" hangingPunct="1"/>
            <a:r>
              <a:rPr lang="en-US" altLang="en-US" sz="2400"/>
              <a:t>Herpes simplex</a:t>
            </a:r>
          </a:p>
          <a:p>
            <a:pPr eaLnBrk="1" hangingPunct="1"/>
            <a:endParaRPr lang="en-US" altLang="en-US" sz="2400"/>
          </a:p>
        </p:txBody>
      </p:sp>
      <p:sp>
        <p:nvSpPr>
          <p:cNvPr id="66564" name="Rectangle 7"/>
          <p:cNvSpPr>
            <a:spLocks noGrp="1" noChangeArrowheads="1"/>
          </p:cNvSpPr>
          <p:nvPr>
            <p:ph sz="half" idx="2"/>
          </p:nvPr>
        </p:nvSpPr>
        <p:spPr>
          <a:xfrm>
            <a:off x="685800" y="3810000"/>
            <a:ext cx="7391400" cy="2057400"/>
          </a:xfrm>
        </p:spPr>
        <p:txBody>
          <a:bodyPr/>
          <a:lstStyle/>
          <a:p>
            <a:pPr eaLnBrk="1" hangingPunct="1">
              <a:lnSpc>
                <a:spcPct val="90000"/>
              </a:lnSpc>
            </a:pPr>
            <a:r>
              <a:rPr lang="en-US" altLang="en-US" sz="2400"/>
              <a:t>Histoplasmosis (Histo)</a:t>
            </a:r>
          </a:p>
          <a:p>
            <a:pPr eaLnBrk="1" hangingPunct="1">
              <a:lnSpc>
                <a:spcPct val="90000"/>
              </a:lnSpc>
            </a:pPr>
            <a:r>
              <a:rPr lang="en-US" altLang="en-US" sz="2400" i="1"/>
              <a:t>Mycobacterium avium-intracellulare (MAI) infection</a:t>
            </a:r>
          </a:p>
          <a:p>
            <a:pPr eaLnBrk="1" hangingPunct="1">
              <a:lnSpc>
                <a:spcPct val="90000"/>
              </a:lnSpc>
            </a:pPr>
            <a:r>
              <a:rPr lang="en-US" altLang="en-US" sz="2400"/>
              <a:t>Pneumocystis pneumonia (PCP)</a:t>
            </a:r>
          </a:p>
          <a:p>
            <a:pPr eaLnBrk="1" hangingPunct="1">
              <a:lnSpc>
                <a:spcPct val="90000"/>
              </a:lnSpc>
            </a:pPr>
            <a:r>
              <a:rPr lang="en-US" altLang="en-US" sz="2400"/>
              <a:t>Toxoplasmosis (Toxo)</a:t>
            </a:r>
          </a:p>
          <a:p>
            <a:pPr eaLnBrk="1" hangingPunct="1">
              <a:lnSpc>
                <a:spcPct val="90000"/>
              </a:lnSpc>
            </a:pPr>
            <a:r>
              <a:rPr lang="en-US" altLang="en-US" sz="2400"/>
              <a:t>Tuberculosis (TB)</a:t>
            </a:r>
          </a:p>
        </p:txBody>
      </p:sp>
    </p:spTree>
    <p:extLst>
      <p:ext uri="{BB962C8B-B14F-4D97-AF65-F5344CB8AC3E}">
        <p14:creationId xmlns:p14="http://schemas.microsoft.com/office/powerpoint/2010/main" val="37395031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C942B-0214-4296-953C-F297BDA25640}"/>
              </a:ext>
            </a:extLst>
          </p:cNvPr>
          <p:cNvSpPr>
            <a:spLocks noGrp="1"/>
          </p:cNvSpPr>
          <p:nvPr>
            <p:ph type="title"/>
          </p:nvPr>
        </p:nvSpPr>
        <p:spPr/>
        <p:txBody>
          <a:bodyPr/>
          <a:lstStyle/>
          <a:p>
            <a:r>
              <a:rPr lang="en-US" dirty="0"/>
              <a:t>Drugs to Treat AIDS</a:t>
            </a:r>
          </a:p>
        </p:txBody>
      </p:sp>
      <p:sp>
        <p:nvSpPr>
          <p:cNvPr id="67587" name="Rectangle 13"/>
          <p:cNvSpPr>
            <a:spLocks noGrp="1" noChangeArrowheads="1"/>
          </p:cNvSpPr>
          <p:nvPr>
            <p:ph idx="1"/>
          </p:nvPr>
        </p:nvSpPr>
        <p:spPr/>
        <p:txBody>
          <a:bodyPr/>
          <a:lstStyle/>
          <a:p>
            <a:pPr eaLnBrk="1" hangingPunct="1"/>
            <a:r>
              <a:rPr lang="en-US" altLang="en-US" b="1"/>
              <a:t>Reverse transcriptase inhibitors (RTI)</a:t>
            </a:r>
            <a:r>
              <a:rPr lang="en-US" altLang="en-US"/>
              <a:t> inhibit viral enzyme called reverse transcriptase. </a:t>
            </a:r>
          </a:p>
          <a:p>
            <a:pPr eaLnBrk="1" hangingPunct="1"/>
            <a:r>
              <a:rPr lang="en-US" altLang="en-US" b="1"/>
              <a:t>Protease inhibitors</a:t>
            </a:r>
            <a:r>
              <a:rPr lang="en-US" altLang="en-US"/>
              <a:t> inhibit viral proteolytic enzyme.</a:t>
            </a:r>
          </a:p>
          <a:p>
            <a:pPr eaLnBrk="1" hangingPunct="1"/>
            <a:r>
              <a:rPr lang="en-US" altLang="en-US"/>
              <a:t>Combiniation of RTI and protease inhibitors is </a:t>
            </a:r>
            <a:r>
              <a:rPr lang="en-US" altLang="en-US" b="1"/>
              <a:t>HAART</a:t>
            </a:r>
            <a:r>
              <a:rPr lang="en-US" altLang="en-US"/>
              <a:t> (highly active anti-retroviral therapy).</a:t>
            </a:r>
          </a:p>
        </p:txBody>
      </p:sp>
    </p:spTree>
    <p:extLst>
      <p:ext uri="{BB962C8B-B14F-4D97-AF65-F5344CB8AC3E}">
        <p14:creationId xmlns:p14="http://schemas.microsoft.com/office/powerpoint/2010/main" val="30099627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title"/>
          </p:nvPr>
        </p:nvSpPr>
        <p:spPr>
          <a:xfrm>
            <a:off x="1295400" y="228600"/>
            <a:ext cx="6477000" cy="1143000"/>
          </a:xfrm>
        </p:spPr>
        <p:txBody>
          <a:bodyPr/>
          <a:lstStyle/>
          <a:p>
            <a:pPr eaLnBrk="1" hangingPunct="1"/>
            <a:r>
              <a:rPr lang="en-US" altLang="en-US" dirty="0"/>
              <a:t>Hypersensitivity</a:t>
            </a:r>
          </a:p>
        </p:txBody>
      </p:sp>
      <p:sp>
        <p:nvSpPr>
          <p:cNvPr id="68611" name="Rectangle 8"/>
          <p:cNvSpPr>
            <a:spLocks noGrp="1" noChangeArrowheads="1"/>
          </p:cNvSpPr>
          <p:nvPr>
            <p:ph idx="1"/>
          </p:nvPr>
        </p:nvSpPr>
        <p:spPr>
          <a:xfrm>
            <a:off x="685800" y="1600200"/>
            <a:ext cx="6477000" cy="4114800"/>
          </a:xfrm>
        </p:spPr>
        <p:txBody>
          <a:bodyPr/>
          <a:lstStyle/>
          <a:p>
            <a:pPr eaLnBrk="1" hangingPunct="1"/>
            <a:r>
              <a:rPr lang="en-US" altLang="en-US" b="1"/>
              <a:t>Allergy:</a:t>
            </a:r>
            <a:r>
              <a:rPr lang="en-US" altLang="en-US"/>
              <a:t> abnormal sensitivity acquired by exposure to antigen</a:t>
            </a:r>
          </a:p>
          <a:p>
            <a:pPr lvl="1" eaLnBrk="1" hangingPunct="1">
              <a:buFont typeface="Wingdings" panose="05000000000000000000" pitchFamily="2" charset="2"/>
              <a:buChar char="Ø"/>
            </a:pPr>
            <a:r>
              <a:rPr lang="en-US" altLang="en-US">
                <a:ea typeface="MS PGothic" panose="020B0600070205080204" pitchFamily="34" charset="-128"/>
              </a:rPr>
              <a:t>Ranges from</a:t>
            </a:r>
          </a:p>
          <a:p>
            <a:pPr lvl="2" eaLnBrk="1" hangingPunct="1"/>
            <a:r>
              <a:rPr lang="en-US" altLang="en-US">
                <a:ea typeface="MS PGothic" panose="020B0600070205080204" pitchFamily="34" charset="-128"/>
              </a:rPr>
              <a:t>Allergic rhinitis or hay fever to anaphylaxis</a:t>
            </a:r>
          </a:p>
          <a:p>
            <a:pPr lvl="1" eaLnBrk="1" hangingPunct="1">
              <a:buFont typeface="Wingdings" panose="05000000000000000000" pitchFamily="2" charset="2"/>
              <a:buChar char="Ø"/>
            </a:pPr>
            <a:r>
              <a:rPr lang="en-US" altLang="en-US">
                <a:ea typeface="MS PGothic" panose="020B0600070205080204" pitchFamily="34" charset="-128"/>
              </a:rPr>
              <a:t>Other allergies:</a:t>
            </a:r>
          </a:p>
          <a:p>
            <a:pPr lvl="2" eaLnBrk="1" hangingPunct="1"/>
            <a:r>
              <a:rPr lang="en-US" altLang="en-US">
                <a:ea typeface="MS PGothic" panose="020B0600070205080204" pitchFamily="34" charset="-128"/>
              </a:rPr>
              <a:t>Atopic dermatitis</a:t>
            </a:r>
          </a:p>
          <a:p>
            <a:pPr lvl="2" eaLnBrk="1" hangingPunct="1"/>
            <a:r>
              <a:rPr lang="en-US" altLang="en-US">
                <a:ea typeface="MS PGothic" panose="020B0600070205080204" pitchFamily="34" charset="-128"/>
              </a:rPr>
              <a:t>Asthma</a:t>
            </a:r>
          </a:p>
          <a:p>
            <a:pPr lvl="2" eaLnBrk="1" hangingPunct="1"/>
            <a:r>
              <a:rPr lang="en-US" altLang="en-US">
                <a:ea typeface="MS PGothic" panose="020B0600070205080204" pitchFamily="34" charset="-128"/>
              </a:rPr>
              <a:t>Urticaria (hives)</a:t>
            </a:r>
            <a:endParaRPr lang="en-US" altLang="en-US" sz="1800">
              <a:ea typeface="MS PGothic" panose="020B0600070205080204" pitchFamily="34" charset="-128"/>
            </a:endParaRPr>
          </a:p>
        </p:txBody>
      </p:sp>
    </p:spTree>
    <p:extLst>
      <p:ext uri="{BB962C8B-B14F-4D97-AF65-F5344CB8AC3E}">
        <p14:creationId xmlns:p14="http://schemas.microsoft.com/office/powerpoint/2010/main" val="30816437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6"/>
          <p:cNvSpPr>
            <a:spLocks noGrp="1" noChangeArrowheads="1"/>
          </p:cNvSpPr>
          <p:nvPr>
            <p:ph type="title"/>
          </p:nvPr>
        </p:nvSpPr>
        <p:spPr>
          <a:xfrm>
            <a:off x="1371600" y="0"/>
            <a:ext cx="6477000" cy="1143000"/>
          </a:xfrm>
        </p:spPr>
        <p:txBody>
          <a:bodyPr/>
          <a:lstStyle/>
          <a:p>
            <a:pPr eaLnBrk="1" hangingPunct="1"/>
            <a:r>
              <a:rPr lang="en-US" altLang="en-US" dirty="0"/>
              <a:t>Tumors</a:t>
            </a:r>
          </a:p>
        </p:txBody>
      </p:sp>
      <p:sp>
        <p:nvSpPr>
          <p:cNvPr id="69635" name="Rectangle 7"/>
          <p:cNvSpPr>
            <a:spLocks noGrp="1" noChangeArrowheads="1"/>
          </p:cNvSpPr>
          <p:nvPr>
            <p:ph idx="1"/>
          </p:nvPr>
        </p:nvSpPr>
        <p:spPr>
          <a:xfrm>
            <a:off x="228600" y="1066800"/>
            <a:ext cx="8610600" cy="4114800"/>
          </a:xfrm>
        </p:spPr>
        <p:txBody>
          <a:bodyPr/>
          <a:lstStyle/>
          <a:p>
            <a:pPr eaLnBrk="1" hangingPunct="1">
              <a:lnSpc>
                <a:spcPct val="90000"/>
              </a:lnSpc>
            </a:pPr>
            <a:r>
              <a:rPr lang="en-US" altLang="en-US" b="1" dirty="0"/>
              <a:t>Lymphoma:</a:t>
            </a:r>
            <a:r>
              <a:rPr lang="en-US" altLang="en-US" dirty="0"/>
              <a:t> malignant tumor of lymph nodes and lymph tissue</a:t>
            </a:r>
          </a:p>
          <a:p>
            <a:pPr lvl="1" eaLnBrk="1" hangingPunct="1">
              <a:lnSpc>
                <a:spcPct val="90000"/>
              </a:lnSpc>
              <a:buFont typeface="Wingdings" panose="05000000000000000000" pitchFamily="2" charset="2"/>
              <a:buChar char="Ø"/>
            </a:pPr>
            <a:r>
              <a:rPr lang="en-US" altLang="en-US" dirty="0"/>
              <a:t>Hodgkin lymphoma (Reed-Sternberg cell)</a:t>
            </a:r>
          </a:p>
          <a:p>
            <a:pPr lvl="1" eaLnBrk="1" hangingPunct="1">
              <a:lnSpc>
                <a:spcPct val="90000"/>
              </a:lnSpc>
              <a:buFont typeface="Wingdings" panose="05000000000000000000" pitchFamily="2" charset="2"/>
              <a:buChar char="Ø"/>
            </a:pPr>
            <a:r>
              <a:rPr lang="en-US" altLang="en-US" dirty="0"/>
              <a:t>Non-Hodgkin lymphoma (follicular lymphoma, large cell lymphoma)</a:t>
            </a:r>
          </a:p>
          <a:p>
            <a:pPr lvl="1" eaLnBrk="1" hangingPunct="1">
              <a:lnSpc>
                <a:spcPct val="90000"/>
              </a:lnSpc>
            </a:pPr>
            <a:endParaRPr lang="en-US" altLang="en-US" sz="1000" dirty="0"/>
          </a:p>
          <a:p>
            <a:pPr eaLnBrk="1" hangingPunct="1">
              <a:lnSpc>
                <a:spcPct val="90000"/>
              </a:lnSpc>
            </a:pPr>
            <a:r>
              <a:rPr lang="en-US" altLang="en-US" b="1" dirty="0"/>
              <a:t>Multiple myeloma:</a:t>
            </a:r>
            <a:r>
              <a:rPr lang="en-US" altLang="en-US" dirty="0"/>
              <a:t> malignant tumor of bone marrow cells</a:t>
            </a:r>
          </a:p>
          <a:p>
            <a:pPr eaLnBrk="1" hangingPunct="1">
              <a:lnSpc>
                <a:spcPct val="90000"/>
              </a:lnSpc>
            </a:pPr>
            <a:endParaRPr lang="en-US" altLang="en-US" sz="1200" dirty="0"/>
          </a:p>
          <a:p>
            <a:pPr eaLnBrk="1" hangingPunct="1">
              <a:lnSpc>
                <a:spcPct val="90000"/>
              </a:lnSpc>
            </a:pPr>
            <a:r>
              <a:rPr lang="en-US" altLang="en-US" b="1" dirty="0" err="1"/>
              <a:t>Thymoma</a:t>
            </a:r>
            <a:r>
              <a:rPr lang="en-US" altLang="en-US" b="1" dirty="0"/>
              <a:t>:</a:t>
            </a:r>
            <a:r>
              <a:rPr lang="en-US" altLang="en-US" dirty="0"/>
              <a:t> tumor of the thymus gland</a:t>
            </a:r>
          </a:p>
          <a:p>
            <a:pPr lvl="1" eaLnBrk="1" hangingPunct="1">
              <a:lnSpc>
                <a:spcPct val="90000"/>
              </a:lnSpc>
              <a:buFont typeface="Wingdings" panose="05000000000000000000" pitchFamily="2" charset="2"/>
              <a:buChar char="Ø"/>
            </a:pPr>
            <a:r>
              <a:rPr lang="en-US" altLang="en-US" dirty="0"/>
              <a:t>Associated with myasthenia gravis</a:t>
            </a:r>
          </a:p>
          <a:p>
            <a:pPr lvl="1" eaLnBrk="1" hangingPunct="1">
              <a:lnSpc>
                <a:spcPct val="90000"/>
              </a:lnSpc>
              <a:buFont typeface="Wingdings" panose="05000000000000000000" pitchFamily="2" charset="2"/>
              <a:buChar char="Ø"/>
            </a:pPr>
            <a:r>
              <a:rPr lang="en-US" altLang="en-US" dirty="0"/>
              <a:t>Patients may have other autoimmune disorders such as lupus erythematosus and rheumatoid arthritis</a:t>
            </a:r>
          </a:p>
        </p:txBody>
      </p:sp>
    </p:spTree>
    <p:extLst>
      <p:ext uri="{BB962C8B-B14F-4D97-AF65-F5344CB8AC3E}">
        <p14:creationId xmlns:p14="http://schemas.microsoft.com/office/powerpoint/2010/main" val="2235715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altLang="en-US" dirty="0"/>
              <a:t>Staging of Hodgkin Lymphoma</a:t>
            </a:r>
          </a:p>
        </p:txBody>
      </p:sp>
      <p:pic>
        <p:nvPicPr>
          <p:cNvPr id="5" name="Picture 9" descr="Staging of Hodgkin lymphoma involves assessing the extent of spread of disease. Stage I: involvement of single lymph node or group of nodes. Stage II: involvement of 2 or more sites on same side of diaphragm; often involves the mediastinum. Stage III: disease on both sides of diaphragm; may include spleen. Stage IV: widespread extralymphatic involvement (live, bone marrow, lung, skin)."/>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10744" y="1752600"/>
            <a:ext cx="6122511" cy="41428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8709162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altLang="en-US" dirty="0"/>
              <a:t>      QUICK QUIZ (Slide 3 of 5)</a:t>
            </a:r>
          </a:p>
        </p:txBody>
      </p:sp>
      <p:sp>
        <p:nvSpPr>
          <p:cNvPr id="71683" name="Rectangle 3"/>
          <p:cNvSpPr>
            <a:spLocks noGrp="1" noChangeArrowheads="1"/>
          </p:cNvSpPr>
          <p:nvPr>
            <p:ph idx="1"/>
          </p:nvPr>
        </p:nvSpPr>
        <p:spPr>
          <a:xfrm>
            <a:off x="685800" y="1600200"/>
            <a:ext cx="6934200" cy="4495800"/>
          </a:xfrm>
        </p:spPr>
        <p:txBody>
          <a:bodyPr/>
          <a:lstStyle/>
          <a:p>
            <a:pPr marL="533400" indent="-533400" eaLnBrk="1" hangingPunct="1">
              <a:buFont typeface="Wingdings 2" panose="05020102010507070707" pitchFamily="18" charset="2"/>
              <a:buNone/>
            </a:pPr>
            <a:r>
              <a:rPr lang="en-US" altLang="en-US" b="1"/>
              <a:t>3.  What is a malignant condition associated with AIDS?</a:t>
            </a:r>
          </a:p>
          <a:p>
            <a:pPr marL="533400" indent="-533400" eaLnBrk="1" hangingPunct="1">
              <a:buFont typeface="Wingdings 2" panose="05020102010507070707" pitchFamily="18" charset="2"/>
              <a:buNone/>
            </a:pPr>
            <a:r>
              <a:rPr lang="en-US" altLang="en-US" sz="900"/>
              <a:t>	</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Anaphylaxis</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Non-Hodgkin lymphoma</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Kaposi sarcoma</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Hodgkin disease</a:t>
            </a:r>
            <a:endParaRPr lang="en-US" altLang="en-US">
              <a:ea typeface="MS PGothic" panose="020B0600070205080204" pitchFamily="34" charset="-128"/>
            </a:endParaRPr>
          </a:p>
        </p:txBody>
      </p:sp>
    </p:spTree>
    <p:extLst>
      <p:ext uri="{BB962C8B-B14F-4D97-AF65-F5344CB8AC3E}">
        <p14:creationId xmlns:p14="http://schemas.microsoft.com/office/powerpoint/2010/main" val="40391234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4"/>
          <p:cNvSpPr>
            <a:spLocks noGrp="1" noChangeArrowheads="1"/>
          </p:cNvSpPr>
          <p:nvPr>
            <p:ph type="title"/>
          </p:nvPr>
        </p:nvSpPr>
        <p:spPr>
          <a:xfrm>
            <a:off x="1371600" y="228600"/>
            <a:ext cx="6477000" cy="1143000"/>
          </a:xfrm>
        </p:spPr>
        <p:txBody>
          <a:bodyPr/>
          <a:lstStyle/>
          <a:p>
            <a:pPr eaLnBrk="1" hangingPunct="1"/>
            <a:r>
              <a:rPr lang="en-US" altLang="en-US" dirty="0"/>
              <a:t>Laboratory Tests</a:t>
            </a:r>
          </a:p>
        </p:txBody>
      </p:sp>
      <p:sp>
        <p:nvSpPr>
          <p:cNvPr id="72707" name="Rectangle 5"/>
          <p:cNvSpPr>
            <a:spLocks noGrp="1" noChangeArrowheads="1"/>
          </p:cNvSpPr>
          <p:nvPr>
            <p:ph idx="1"/>
          </p:nvPr>
        </p:nvSpPr>
        <p:spPr>
          <a:xfrm>
            <a:off x="685800" y="1295400"/>
            <a:ext cx="7848600" cy="4572000"/>
          </a:xfrm>
        </p:spPr>
        <p:txBody>
          <a:bodyPr/>
          <a:lstStyle/>
          <a:p>
            <a:pPr eaLnBrk="1" hangingPunct="1">
              <a:lnSpc>
                <a:spcPct val="90000"/>
              </a:lnSpc>
            </a:pPr>
            <a:r>
              <a:rPr lang="en-US" altLang="en-US" b="1"/>
              <a:t>CD4+ cell count: </a:t>
            </a:r>
            <a:r>
              <a:rPr lang="en-US" altLang="en-US"/>
              <a:t>measures the number of CD4+ T cells (helper T cells) in the bloodstream with patients with AIDS</a:t>
            </a:r>
          </a:p>
          <a:p>
            <a:pPr eaLnBrk="1" hangingPunct="1">
              <a:lnSpc>
                <a:spcPct val="90000"/>
              </a:lnSpc>
            </a:pPr>
            <a:endParaRPr lang="en-US" altLang="en-US" sz="1200" b="1"/>
          </a:p>
          <a:p>
            <a:pPr eaLnBrk="1" hangingPunct="1">
              <a:lnSpc>
                <a:spcPct val="90000"/>
              </a:lnSpc>
            </a:pPr>
            <a:r>
              <a:rPr lang="en-US" altLang="en-US" b="1"/>
              <a:t>ELISA test:</a:t>
            </a:r>
            <a:r>
              <a:rPr lang="en-US" altLang="en-US"/>
              <a:t> detects anti-HIV antibodies; Western blot given as follow-up</a:t>
            </a:r>
          </a:p>
          <a:p>
            <a:pPr eaLnBrk="1" hangingPunct="1">
              <a:lnSpc>
                <a:spcPct val="90000"/>
              </a:lnSpc>
            </a:pPr>
            <a:endParaRPr lang="en-US" altLang="en-US" sz="1200" b="1"/>
          </a:p>
          <a:p>
            <a:pPr eaLnBrk="1" hangingPunct="1">
              <a:lnSpc>
                <a:spcPct val="90000"/>
              </a:lnSpc>
            </a:pPr>
            <a:r>
              <a:rPr lang="en-US" altLang="en-US" b="1"/>
              <a:t>Immunoelectrophoresis:</a:t>
            </a:r>
            <a:r>
              <a:rPr lang="en-US" altLang="en-US"/>
              <a:t> separates immunoglobulins (IgG, IgM, IgE, IgA, IgD)</a:t>
            </a:r>
          </a:p>
          <a:p>
            <a:pPr eaLnBrk="1" hangingPunct="1">
              <a:lnSpc>
                <a:spcPct val="90000"/>
              </a:lnSpc>
            </a:pPr>
            <a:r>
              <a:rPr lang="en-US" altLang="en-US" b="1"/>
              <a:t>Viral load test:  </a:t>
            </a:r>
            <a:r>
              <a:rPr lang="en-US" altLang="en-US"/>
              <a:t>measures the amount of AIDS virus (HIV) in the bloodstream.</a:t>
            </a:r>
          </a:p>
          <a:p>
            <a:pPr eaLnBrk="1" hangingPunct="1">
              <a:lnSpc>
                <a:spcPct val="90000"/>
              </a:lnSpc>
            </a:pPr>
            <a:endParaRPr lang="en-US" altLang="en-US" sz="1200" b="1"/>
          </a:p>
        </p:txBody>
      </p:sp>
    </p:spTree>
    <p:extLst>
      <p:ext uri="{BB962C8B-B14F-4D97-AF65-F5344CB8AC3E}">
        <p14:creationId xmlns:p14="http://schemas.microsoft.com/office/powerpoint/2010/main" val="9940683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295400" y="228600"/>
            <a:ext cx="6477000" cy="1143000"/>
          </a:xfrm>
        </p:spPr>
        <p:txBody>
          <a:bodyPr/>
          <a:lstStyle/>
          <a:p>
            <a:pPr eaLnBrk="1" hangingPunct="1"/>
            <a:r>
              <a:rPr lang="en-US" altLang="en-US" dirty="0"/>
              <a:t>Clinical Procedure</a:t>
            </a:r>
          </a:p>
        </p:txBody>
      </p:sp>
      <p:sp>
        <p:nvSpPr>
          <p:cNvPr id="114691" name="Rectangle 3"/>
          <p:cNvSpPr>
            <a:spLocks noGrp="1" noChangeArrowheads="1"/>
          </p:cNvSpPr>
          <p:nvPr>
            <p:ph idx="1"/>
          </p:nvPr>
        </p:nvSpPr>
        <p:spPr/>
        <p:txBody>
          <a:bodyPr/>
          <a:lstStyle/>
          <a:p>
            <a:pPr eaLnBrk="1" hangingPunct="1">
              <a:defRPr/>
            </a:pPr>
            <a:r>
              <a:rPr lang="en-US" altLang="en-US" b="1" dirty="0"/>
              <a:t>Computed tomography (CT) scan</a:t>
            </a:r>
            <a:endParaRPr lang="en-US" altLang="en-US" dirty="0"/>
          </a:p>
          <a:p>
            <a:pPr eaLnBrk="1" hangingPunct="1">
              <a:defRPr/>
            </a:pPr>
            <a:endParaRPr lang="en-US" altLang="en-US" sz="1000" dirty="0"/>
          </a:p>
          <a:p>
            <a:pPr marL="0" indent="0" eaLnBrk="1" hangingPunct="1">
              <a:spcBef>
                <a:spcPts val="0"/>
              </a:spcBef>
              <a:buFont typeface="Wingdings 2" pitchFamily="18" charset="2"/>
              <a:buNone/>
              <a:defRPr/>
            </a:pPr>
            <a:r>
              <a:rPr lang="en-US" altLang="en-US" dirty="0"/>
              <a:t>X-ray imaging produces cross-sectional and other views of anatomic structures.  These x-ray views show abnormalities of lymphoid organs, such as lymph nodes, spleen, and thymus gland.</a:t>
            </a:r>
          </a:p>
        </p:txBody>
      </p:sp>
    </p:spTree>
    <p:extLst>
      <p:ext uri="{BB962C8B-B14F-4D97-AF65-F5344CB8AC3E}">
        <p14:creationId xmlns:p14="http://schemas.microsoft.com/office/powerpoint/2010/main" val="26737750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1 of 3)</a:t>
            </a:r>
          </a:p>
        </p:txBody>
      </p:sp>
      <p:graphicFrame>
        <p:nvGraphicFramePr>
          <p:cNvPr id="8" name="Content Placeholder 7" descr="Group 1of 3 Abbreviations with corresponding meanings."/>
          <p:cNvGraphicFramePr>
            <a:graphicFrameLocks noGrp="1"/>
          </p:cNvGraphicFramePr>
          <p:nvPr>
            <p:ph idx="1"/>
            <p:extLst>
              <p:ext uri="{D42A27DB-BD31-4B8C-83A1-F6EECF244321}">
                <p14:modId xmlns:p14="http://schemas.microsoft.com/office/powerpoint/2010/main" val="948404723"/>
              </p:ext>
            </p:extLst>
          </p:nvPr>
        </p:nvGraphicFramePr>
        <p:xfrm>
          <a:off x="457200" y="1371600"/>
          <a:ext cx="8229600" cy="4937760"/>
        </p:xfrm>
        <a:graphic>
          <a:graphicData uri="http://schemas.openxmlformats.org/drawingml/2006/table">
            <a:tbl>
              <a:tblPr firstRow="1" bandRow="1">
                <a:tableStyleId>{C083E6E3-FA7D-4D7B-A595-EF9225AFEA82}</a:tableStyleId>
              </a:tblPr>
              <a:tblGrid>
                <a:gridCol w="19050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dirty="0"/>
                        <a:t>AIDS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Acquired immunodeficiency syndrome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CD4+ cell</a:t>
                      </a:r>
                      <a:endParaRPr lang="en-US" sz="2400" dirty="0">
                        <a:ea typeface="ＭＳ Ｐゴシック"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Helper T cell</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CD8+ cell</a:t>
                      </a:r>
                      <a:endParaRPr lang="en-US" sz="2400" dirty="0">
                        <a:ea typeface="ＭＳ Ｐゴシック"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Cytotoxic T cell</a:t>
                      </a:r>
                    </a:p>
                  </a:txBody>
                  <a:tcPr/>
                </a:tc>
                <a:extLst>
                  <a:ext uri="{0D108BD9-81ED-4DB2-BD59-A6C34878D82A}">
                    <a16:rowId xmlns:a16="http://schemas.microsoft.com/office/drawing/2014/main" val="10003"/>
                  </a:ext>
                </a:extLst>
              </a:tr>
              <a:tr h="370840">
                <a:tc>
                  <a:txBody>
                    <a:bodyPr/>
                    <a:lstStyle/>
                    <a:p>
                      <a:r>
                        <a:rPr lang="en-US" sz="2400" dirty="0"/>
                        <a:t>CMV</a:t>
                      </a:r>
                    </a:p>
                  </a:txBody>
                  <a:tcPr/>
                </a:tc>
                <a:tc>
                  <a:txBody>
                    <a:bodyPr/>
                    <a:lstStyle/>
                    <a:p>
                      <a:r>
                        <a:rPr lang="en-US" altLang="en-US" sz="2400" dirty="0"/>
                        <a:t>Cytomegalovirus</a:t>
                      </a:r>
                      <a:endParaRPr lang="en-US" sz="2400" dirty="0"/>
                    </a:p>
                  </a:txBody>
                  <a:tcPr/>
                </a:tc>
                <a:extLst>
                  <a:ext uri="{0D108BD9-81ED-4DB2-BD59-A6C34878D82A}">
                    <a16:rowId xmlns:a16="http://schemas.microsoft.com/office/drawing/2014/main" val="10004"/>
                  </a:ext>
                </a:extLst>
              </a:tr>
              <a:tr h="370840">
                <a:tc>
                  <a:txBody>
                    <a:bodyPr/>
                    <a:lstStyle/>
                    <a:p>
                      <a:r>
                        <a:rPr lang="en-US" sz="2400" dirty="0"/>
                        <a:t>Crypto</a:t>
                      </a:r>
                    </a:p>
                  </a:txBody>
                  <a:tcPr/>
                </a:tc>
                <a:tc>
                  <a:txBody>
                    <a:bodyPr/>
                    <a:lstStyle/>
                    <a:p>
                      <a:r>
                        <a:rPr lang="en-US" altLang="en-US" sz="2400" dirty="0"/>
                        <a:t>Cryptococcus</a:t>
                      </a:r>
                      <a:endParaRPr lang="en-US" sz="2400" dirty="0"/>
                    </a:p>
                  </a:txBody>
                  <a:tcPr/>
                </a:tc>
                <a:extLst>
                  <a:ext uri="{0D108BD9-81ED-4DB2-BD59-A6C34878D82A}">
                    <a16:rowId xmlns:a16="http://schemas.microsoft.com/office/drawing/2014/main" val="10005"/>
                  </a:ext>
                </a:extLst>
              </a:tr>
              <a:tr h="370840">
                <a:tc>
                  <a:txBody>
                    <a:bodyPr/>
                    <a:lstStyle/>
                    <a:p>
                      <a:r>
                        <a:rPr lang="en-US" sz="2400" dirty="0"/>
                        <a:t>ELISA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Enzyme-linked </a:t>
                      </a:r>
                      <a:r>
                        <a:rPr lang="en-US" altLang="en-US" sz="2400" dirty="0" err="1"/>
                        <a:t>immunosorbent</a:t>
                      </a:r>
                      <a:r>
                        <a:rPr lang="en-US" altLang="en-US" sz="2400" dirty="0"/>
                        <a:t> assay</a:t>
                      </a:r>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G-CSF</a:t>
                      </a:r>
                      <a:endParaRPr lang="en-US" sz="2400" dirty="0">
                        <a:ea typeface="ＭＳ Ｐゴシック"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Granulocyte colony-stimulating factor</a:t>
                      </a:r>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GM-CSF</a:t>
                      </a:r>
                      <a:endParaRPr lang="en-US" sz="2400" dirty="0">
                        <a:ea typeface="ＭＳ Ｐゴシック"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Granulocyte-macrophage colony-stimulating factor</a:t>
                      </a:r>
                    </a:p>
                  </a:txBody>
                  <a:tcPr/>
                </a:tc>
                <a:extLst>
                  <a:ext uri="{0D108BD9-81ED-4DB2-BD59-A6C34878D82A}">
                    <a16:rowId xmlns:a16="http://schemas.microsoft.com/office/drawing/2014/main" val="10008"/>
                  </a:ext>
                </a:extLst>
              </a:tr>
              <a:tr h="370840">
                <a:tc>
                  <a:txBody>
                    <a:bodyPr/>
                    <a:lstStyle/>
                    <a:p>
                      <a:r>
                        <a:rPr lang="en-US" sz="2400" dirty="0"/>
                        <a:t>HAART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Highly active antiretroviral therapy</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1744336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2 of 3)</a:t>
            </a:r>
          </a:p>
        </p:txBody>
      </p:sp>
      <p:graphicFrame>
        <p:nvGraphicFramePr>
          <p:cNvPr id="8" name="Content Placeholder 7" descr="Group 2 of 3 Abbreviations with corresponding meanings."/>
          <p:cNvGraphicFramePr>
            <a:graphicFrameLocks noGrp="1"/>
          </p:cNvGraphicFramePr>
          <p:nvPr>
            <p:ph idx="1"/>
            <p:extLst>
              <p:ext uri="{D42A27DB-BD31-4B8C-83A1-F6EECF244321}">
                <p14:modId xmlns:p14="http://schemas.microsoft.com/office/powerpoint/2010/main" val="208822293"/>
              </p:ext>
            </p:extLst>
          </p:nvPr>
        </p:nvGraphicFramePr>
        <p:xfrm>
          <a:off x="457200" y="1295400"/>
          <a:ext cx="8229600" cy="4480560"/>
        </p:xfrm>
        <a:graphic>
          <a:graphicData uri="http://schemas.openxmlformats.org/drawingml/2006/table">
            <a:tbl>
              <a:tblPr firstRow="1" bandRow="1">
                <a:tableStyleId>{C083E6E3-FA7D-4D7B-A595-EF9225AFEA82}</a:tableStyleId>
              </a:tblPr>
              <a:tblGrid>
                <a:gridCol w="2895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dirty="0" err="1"/>
                        <a:t>Histo</a:t>
                      </a:r>
                      <a:endParaRPr lang="en-US" sz="2400" dirty="0"/>
                    </a:p>
                  </a:txBody>
                  <a:tcPr/>
                </a:tc>
                <a:tc>
                  <a:txBody>
                    <a:bodyPr/>
                    <a:lstStyle/>
                    <a:p>
                      <a:r>
                        <a:rPr lang="en-US" altLang="en-US" sz="2400" dirty="0" err="1"/>
                        <a:t>Histoplasmosis</a:t>
                      </a:r>
                      <a:endParaRPr lang="en-US" sz="2400" dirty="0"/>
                    </a:p>
                  </a:txBody>
                  <a:tcPr/>
                </a:tc>
                <a:extLst>
                  <a:ext uri="{0D108BD9-81ED-4DB2-BD59-A6C34878D82A}">
                    <a16:rowId xmlns:a16="http://schemas.microsoft.com/office/drawing/2014/main" val="10001"/>
                  </a:ext>
                </a:extLst>
              </a:tr>
              <a:tr h="370840">
                <a:tc>
                  <a:txBody>
                    <a:bodyPr/>
                    <a:lstStyle/>
                    <a:p>
                      <a:r>
                        <a:rPr lang="en-US" sz="2400" dirty="0"/>
                        <a:t>HIV</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Human immunodeficiency virus</a:t>
                      </a:r>
                    </a:p>
                  </a:txBody>
                  <a:tcPr/>
                </a:tc>
                <a:extLst>
                  <a:ext uri="{0D108BD9-81ED-4DB2-BD59-A6C34878D82A}">
                    <a16:rowId xmlns:a16="http://schemas.microsoft.com/office/drawing/2014/main" val="10002"/>
                  </a:ext>
                </a:extLst>
              </a:tr>
              <a:tr h="370840">
                <a:tc>
                  <a:txBody>
                    <a:bodyPr/>
                    <a:lstStyle/>
                    <a:p>
                      <a:r>
                        <a:rPr lang="en-US" sz="2400" dirty="0"/>
                        <a:t>HSV</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Herpes simplex virus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IgA, </a:t>
                      </a:r>
                      <a:r>
                        <a:rPr lang="en-US" sz="2400" dirty="0" err="1"/>
                        <a:t>IgD</a:t>
                      </a:r>
                      <a:r>
                        <a:rPr lang="en-US" sz="2400" dirty="0"/>
                        <a:t>, </a:t>
                      </a:r>
                      <a:r>
                        <a:rPr lang="en-US" sz="2400" dirty="0" err="1"/>
                        <a:t>IgE</a:t>
                      </a:r>
                      <a:r>
                        <a:rPr lang="en-US" sz="2400" dirty="0"/>
                        <a:t>, </a:t>
                      </a:r>
                      <a:r>
                        <a:rPr lang="en-US" sz="2400" dirty="0" err="1"/>
                        <a:t>IgG</a:t>
                      </a:r>
                      <a:r>
                        <a:rPr lang="en-US" sz="2400" dirty="0"/>
                        <a:t>, </a:t>
                      </a:r>
                      <a:r>
                        <a:rPr lang="en-US" sz="2400" dirty="0" err="1"/>
                        <a:t>IgM</a:t>
                      </a:r>
                      <a:endParaRPr lang="en-US" sz="2400" dirty="0">
                        <a:ea typeface="ＭＳ Ｐゴシック" charset="0"/>
                      </a:endParaRPr>
                    </a:p>
                  </a:txBody>
                  <a:tcPr/>
                </a:tc>
                <a:tc>
                  <a:txBody>
                    <a:bodyPr/>
                    <a:lstStyle/>
                    <a:p>
                      <a:r>
                        <a:rPr lang="en-US" altLang="en-US" sz="2400" dirty="0" err="1"/>
                        <a:t>Immunoglobulins</a:t>
                      </a:r>
                      <a:endParaRPr lang="en-US" sz="2400" dirty="0"/>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IL38 to IL5</a:t>
                      </a:r>
                      <a:endParaRPr lang="en-US" sz="2000" dirty="0">
                        <a:ea typeface="ＭＳ Ｐゴシック" charset="0"/>
                      </a:endParaRPr>
                    </a:p>
                  </a:txBody>
                  <a:tcPr/>
                </a:tc>
                <a:tc>
                  <a:txBody>
                    <a:bodyPr/>
                    <a:lstStyle/>
                    <a:p>
                      <a:r>
                        <a:rPr lang="en-US" altLang="en-US" sz="2400" dirty="0"/>
                        <a:t>Interleukins</a:t>
                      </a:r>
                      <a:endParaRPr lang="en-US" sz="2400" dirty="0"/>
                    </a:p>
                  </a:txBody>
                  <a:tcPr/>
                </a:tc>
                <a:extLst>
                  <a:ext uri="{0D108BD9-81ED-4DB2-BD59-A6C34878D82A}">
                    <a16:rowId xmlns:a16="http://schemas.microsoft.com/office/drawing/2014/main" val="10005"/>
                  </a:ext>
                </a:extLst>
              </a:tr>
              <a:tr h="370840">
                <a:tc>
                  <a:txBody>
                    <a:bodyPr/>
                    <a:lstStyle/>
                    <a:p>
                      <a:r>
                        <a:rPr lang="en-US" sz="2400" dirty="0"/>
                        <a:t>KS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Kaposi sarcoma</a:t>
                      </a:r>
                    </a:p>
                  </a:txBody>
                  <a:tcPr/>
                </a:tc>
                <a:extLst>
                  <a:ext uri="{0D108BD9-81ED-4DB2-BD59-A6C34878D82A}">
                    <a16:rowId xmlns:a16="http://schemas.microsoft.com/office/drawing/2014/main" val="10006"/>
                  </a:ext>
                </a:extLst>
              </a:tr>
              <a:tr h="370840">
                <a:tc>
                  <a:txBody>
                    <a:bodyPr/>
                    <a:lstStyle/>
                    <a:p>
                      <a:r>
                        <a:rPr lang="en-US" sz="2400" dirty="0"/>
                        <a:t>MAI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Mycobacterium </a:t>
                      </a:r>
                      <a:r>
                        <a:rPr lang="en-US" altLang="en-US" sz="2400" dirty="0" err="1"/>
                        <a:t>avium-intracellulare</a:t>
                      </a:r>
                      <a:r>
                        <a:rPr lang="en-US" altLang="en-US" sz="2400" dirty="0"/>
                        <a:t> (MAI) complex</a:t>
                      </a:r>
                      <a:endParaRPr lang="en-US" altLang="en-US" sz="2400" i="1" dirty="0"/>
                    </a:p>
                  </a:txBody>
                  <a:tcPr/>
                </a:tc>
                <a:extLst>
                  <a:ext uri="{0D108BD9-81ED-4DB2-BD59-A6C34878D82A}">
                    <a16:rowId xmlns:a16="http://schemas.microsoft.com/office/drawing/2014/main" val="10007"/>
                  </a:ext>
                </a:extLst>
              </a:tr>
              <a:tr h="370840">
                <a:tc>
                  <a:txBody>
                    <a:bodyPr/>
                    <a:lstStyle/>
                    <a:p>
                      <a:r>
                        <a:rPr lang="en-US" sz="2400" dirty="0" err="1"/>
                        <a:t>MoAb</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Monoclonal antibody</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1762444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3 of 3)</a:t>
            </a:r>
          </a:p>
        </p:txBody>
      </p:sp>
      <p:graphicFrame>
        <p:nvGraphicFramePr>
          <p:cNvPr id="8" name="Content Placeholder 7" descr="Group 3 of 3 Abbreviations with corresponding meanings."/>
          <p:cNvGraphicFramePr>
            <a:graphicFrameLocks noGrp="1"/>
          </p:cNvGraphicFramePr>
          <p:nvPr>
            <p:ph idx="1"/>
            <p:extLst>
              <p:ext uri="{D42A27DB-BD31-4B8C-83A1-F6EECF244321}">
                <p14:modId xmlns:p14="http://schemas.microsoft.com/office/powerpoint/2010/main" val="3087902495"/>
              </p:ext>
            </p:extLst>
          </p:nvPr>
        </p:nvGraphicFramePr>
        <p:xfrm>
          <a:off x="457200" y="1600200"/>
          <a:ext cx="8229600" cy="3657600"/>
        </p:xfrm>
        <a:graphic>
          <a:graphicData uri="http://schemas.openxmlformats.org/drawingml/2006/table">
            <a:tbl>
              <a:tblPr firstRow="1" bandRow="1">
                <a:tableStyleId>{C083E6E3-FA7D-4D7B-A595-EF9225AFEA82}</a:tableStyleId>
              </a:tblPr>
              <a:tblGrid>
                <a:gridCol w="19050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dirty="0"/>
                        <a:t>NHL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Non-Hodgkin lymphoma</a:t>
                      </a:r>
                    </a:p>
                  </a:txBody>
                  <a:tcPr/>
                </a:tc>
                <a:extLst>
                  <a:ext uri="{0D108BD9-81ED-4DB2-BD59-A6C34878D82A}">
                    <a16:rowId xmlns:a16="http://schemas.microsoft.com/office/drawing/2014/main" val="10001"/>
                  </a:ext>
                </a:extLst>
              </a:tr>
              <a:tr h="370840">
                <a:tc>
                  <a:txBody>
                    <a:bodyPr/>
                    <a:lstStyle/>
                    <a:p>
                      <a:r>
                        <a:rPr lang="en-US" sz="2400" dirty="0"/>
                        <a:t>PCP</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Pneumocystis pneumonia</a:t>
                      </a:r>
                    </a:p>
                  </a:txBody>
                  <a:tcPr/>
                </a:tc>
                <a:extLst>
                  <a:ext uri="{0D108BD9-81ED-4DB2-BD59-A6C34878D82A}">
                    <a16:rowId xmlns:a16="http://schemas.microsoft.com/office/drawing/2014/main" val="10002"/>
                  </a:ext>
                </a:extLst>
              </a:tr>
              <a:tr h="370840">
                <a:tc>
                  <a:txBody>
                    <a:bodyPr/>
                    <a:lstStyle/>
                    <a:p>
                      <a:r>
                        <a:rPr lang="en-US" sz="2400" dirty="0"/>
                        <a:t>PI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Protease inhibitor</a:t>
                      </a:r>
                    </a:p>
                  </a:txBody>
                  <a:tcPr/>
                </a:tc>
                <a:extLst>
                  <a:ext uri="{0D108BD9-81ED-4DB2-BD59-A6C34878D82A}">
                    <a16:rowId xmlns:a16="http://schemas.microsoft.com/office/drawing/2014/main" val="10003"/>
                  </a:ext>
                </a:extLst>
              </a:tr>
              <a:tr h="370840">
                <a:tc>
                  <a:txBody>
                    <a:bodyPr/>
                    <a:lstStyle/>
                    <a:p>
                      <a:r>
                        <a:rPr lang="en-US" sz="2400" dirty="0"/>
                        <a:t>RTI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Reverse transcriptase inhibitor</a:t>
                      </a:r>
                    </a:p>
                  </a:txBody>
                  <a:tcPr/>
                </a:tc>
                <a:extLst>
                  <a:ext uri="{0D108BD9-81ED-4DB2-BD59-A6C34878D82A}">
                    <a16:rowId xmlns:a16="http://schemas.microsoft.com/office/drawing/2014/main" val="10004"/>
                  </a:ext>
                </a:extLst>
              </a:tr>
              <a:tr h="370840">
                <a:tc>
                  <a:txBody>
                    <a:bodyPr/>
                    <a:lstStyle/>
                    <a:p>
                      <a:r>
                        <a:rPr lang="en-US" sz="2400" dirty="0"/>
                        <a:t>SCID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Severe combined immunodeficiency disease</a:t>
                      </a:r>
                    </a:p>
                  </a:txBody>
                  <a:tcPr/>
                </a:tc>
                <a:extLst>
                  <a:ext uri="{0D108BD9-81ED-4DB2-BD59-A6C34878D82A}">
                    <a16:rowId xmlns:a16="http://schemas.microsoft.com/office/drawing/2014/main" val="10005"/>
                  </a:ext>
                </a:extLst>
              </a:tr>
              <a:tr h="370840">
                <a:tc>
                  <a:txBody>
                    <a:bodyPr/>
                    <a:lstStyle/>
                    <a:p>
                      <a:r>
                        <a:rPr lang="en-US" sz="2400" dirty="0" err="1"/>
                        <a:t>Treg</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Regulatory T cell (suppressor T cell)</a:t>
                      </a:r>
                    </a:p>
                  </a:txBody>
                  <a:tcPr/>
                </a:tc>
                <a:extLst>
                  <a:ext uri="{0D108BD9-81ED-4DB2-BD59-A6C34878D82A}">
                    <a16:rowId xmlns:a16="http://schemas.microsoft.com/office/drawing/2014/main" val="10006"/>
                  </a:ext>
                </a:extLst>
              </a:tr>
              <a:tr h="370840">
                <a:tc>
                  <a:txBody>
                    <a:bodyPr/>
                    <a:lstStyle/>
                    <a:p>
                      <a:r>
                        <a:rPr lang="en-US" sz="2400" dirty="0" err="1"/>
                        <a:t>Toxo</a:t>
                      </a:r>
                      <a:endParaRPr lang="en-US" sz="2400" dirty="0"/>
                    </a:p>
                  </a:txBody>
                  <a:tcPr/>
                </a:tc>
                <a:tc>
                  <a:txBody>
                    <a:bodyPr/>
                    <a:lstStyle/>
                    <a:p>
                      <a:r>
                        <a:rPr lang="en-US" altLang="en-US" sz="2400" dirty="0"/>
                        <a:t>toxoplasmosis</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1386945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Combining Forms (Slide 1 of 4)</a:t>
            </a:r>
          </a:p>
        </p:txBody>
      </p:sp>
      <p:graphicFrame>
        <p:nvGraphicFramePr>
          <p:cNvPr id="7" name="Content Placeholder 6" descr="Group 1 of 2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407358162"/>
              </p:ext>
            </p:extLst>
          </p:nvPr>
        </p:nvGraphicFramePr>
        <p:xfrm>
          <a:off x="3352800" y="1981200"/>
          <a:ext cx="2438400" cy="3200400"/>
        </p:xfrm>
        <a:graphic>
          <a:graphicData uri="http://schemas.openxmlformats.org/drawingml/2006/table">
            <a:tbl>
              <a:tblPr firstRow="1" bandRow="1">
                <a:tableStyleId>{21E4AEA4-8DFA-4A89-87EB-49C32662AFE0}</a:tableStyleId>
              </a:tblPr>
              <a:tblGrid>
                <a:gridCol w="24384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axill</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cervic</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immun</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inguin</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lymph/o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lymphaden</a:t>
                      </a:r>
                      <a:r>
                        <a:rPr lang="en-US" alt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838686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Combining Forms (Slide 2 of 4)</a:t>
            </a:r>
          </a:p>
        </p:txBody>
      </p:sp>
      <p:graphicFrame>
        <p:nvGraphicFramePr>
          <p:cNvPr id="7" name="Content Placeholder 6" descr="Group 1 of 2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271791976"/>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axill</a:t>
                      </a:r>
                      <a:r>
                        <a:rPr lang="en-US" altLang="en-US" sz="2400" b="1" dirty="0"/>
                        <a:t>/o</a:t>
                      </a:r>
                      <a:endParaRPr lang="en-US" sz="2400" dirty="0"/>
                    </a:p>
                  </a:txBody>
                  <a:tcPr/>
                </a:tc>
                <a:tc>
                  <a:txBody>
                    <a:bodyPr/>
                    <a:lstStyle/>
                    <a:p>
                      <a:r>
                        <a:rPr lang="en-US" altLang="en-US" sz="2400" dirty="0"/>
                        <a:t>armpit</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cervic</a:t>
                      </a:r>
                      <a:r>
                        <a:rPr lang="en-US" alt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neck; cervix (neck of uterus)</a:t>
                      </a:r>
                    </a:p>
                  </a:txBody>
                  <a:tcPr/>
                </a:tc>
                <a:extLst>
                  <a:ext uri="{0D108BD9-81ED-4DB2-BD59-A6C34878D82A}">
                    <a16:rowId xmlns:a16="http://schemas.microsoft.com/office/drawing/2014/main" val="10002"/>
                  </a:ext>
                </a:extLst>
              </a:tr>
              <a:tr h="370840">
                <a:tc>
                  <a:txBody>
                    <a:bodyPr/>
                    <a:lstStyle/>
                    <a:p>
                      <a:r>
                        <a:rPr lang="en-US" altLang="en-US" sz="2400" b="1" dirty="0" err="1"/>
                        <a:t>immun</a:t>
                      </a:r>
                      <a:r>
                        <a:rPr lang="en-US" altLang="en-US" sz="2400" b="1" dirty="0"/>
                        <a:t>/o</a:t>
                      </a:r>
                      <a:endParaRPr lang="en-US" sz="2400" dirty="0"/>
                    </a:p>
                  </a:txBody>
                  <a:tcPr/>
                </a:tc>
                <a:tc>
                  <a:txBody>
                    <a:bodyPr/>
                    <a:lstStyle/>
                    <a:p>
                      <a:r>
                        <a:rPr lang="en-US" altLang="en-US" sz="2400" dirty="0"/>
                        <a:t>immune; protection; safe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inguin</a:t>
                      </a:r>
                      <a:r>
                        <a:rPr lang="en-US" altLang="en-US" sz="2400" b="1" dirty="0"/>
                        <a:t>/o</a:t>
                      </a:r>
                      <a:endParaRPr lang="en-US" sz="2400" dirty="0"/>
                    </a:p>
                  </a:txBody>
                  <a:tcPr/>
                </a:tc>
                <a:tc>
                  <a:txBody>
                    <a:bodyPr/>
                    <a:lstStyle/>
                    <a:p>
                      <a:r>
                        <a:rPr lang="en-US" altLang="en-US" sz="2400" dirty="0"/>
                        <a:t>groin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lymph/o</a:t>
                      </a:r>
                      <a:endParaRPr lang="en-US" sz="2400" dirty="0"/>
                    </a:p>
                  </a:txBody>
                  <a:tcPr/>
                </a:tc>
                <a:tc>
                  <a:txBody>
                    <a:bodyPr/>
                    <a:lstStyle/>
                    <a:p>
                      <a:r>
                        <a:rPr lang="en-US" altLang="en-US" sz="2400" dirty="0"/>
                        <a:t>lymph</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lymphaden</a:t>
                      </a:r>
                      <a:r>
                        <a:rPr lang="en-US" alt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 gland (node)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092286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Combining Forms (Slide 3 of 4)</a:t>
            </a:r>
          </a:p>
        </p:txBody>
      </p:sp>
      <p:graphicFrame>
        <p:nvGraphicFramePr>
          <p:cNvPr id="7" name="Content Placeholder 6" descr="Group 2 of 2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959256536"/>
              </p:ext>
            </p:extLst>
          </p:nvPr>
        </p:nvGraphicFramePr>
        <p:xfrm>
          <a:off x="3352800" y="2514600"/>
          <a:ext cx="2438400" cy="1828800"/>
        </p:xfrm>
        <a:graphic>
          <a:graphicData uri="http://schemas.openxmlformats.org/drawingml/2006/table">
            <a:tbl>
              <a:tblPr firstRow="1" bandRow="1">
                <a:tableStyleId>{21E4AEA4-8DFA-4A89-87EB-49C32662AFE0}</a:tableStyleId>
              </a:tblPr>
              <a:tblGrid>
                <a:gridCol w="24384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splen</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thym</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tox</a:t>
                      </a:r>
                      <a:r>
                        <a:rPr lang="en-US" altLang="en-US" sz="2400" b="1" dirty="0"/>
                        <a:t>/o</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637682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Combining Forms (Slide 4 of 4)</a:t>
            </a:r>
          </a:p>
        </p:txBody>
      </p:sp>
      <p:graphicFrame>
        <p:nvGraphicFramePr>
          <p:cNvPr id="7" name="Content Placeholder 6" descr="Group 2 of 2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415881759"/>
              </p:ext>
            </p:extLst>
          </p:nvPr>
        </p:nvGraphicFramePr>
        <p:xfrm>
          <a:off x="655608" y="1828800"/>
          <a:ext cx="8229600" cy="1828800"/>
        </p:xfrm>
        <a:graphic>
          <a:graphicData uri="http://schemas.openxmlformats.org/drawingml/2006/table">
            <a:tbl>
              <a:tblPr firstRow="1" bandRow="1">
                <a:tableStyleId>{21E4AEA4-8DFA-4A89-87EB-49C32662AFE0}</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splen</a:t>
                      </a:r>
                      <a:r>
                        <a:rPr lang="en-US" altLang="en-US" sz="2400" b="1" dirty="0"/>
                        <a:t>/o</a:t>
                      </a:r>
                      <a:endParaRPr lang="en-US" sz="2400" dirty="0"/>
                    </a:p>
                  </a:txBody>
                  <a:tcPr/>
                </a:tc>
                <a:tc>
                  <a:txBody>
                    <a:bodyPr/>
                    <a:lstStyle/>
                    <a:p>
                      <a:r>
                        <a:rPr lang="en-US" altLang="en-US" sz="2400" dirty="0"/>
                        <a:t>spleen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thym</a:t>
                      </a:r>
                      <a:r>
                        <a:rPr lang="en-US" altLang="en-US" sz="2400" b="1" dirty="0"/>
                        <a:t>/o</a:t>
                      </a:r>
                      <a:endParaRPr lang="en-US" sz="2400" dirty="0"/>
                    </a:p>
                  </a:txBody>
                  <a:tcPr/>
                </a:tc>
                <a:tc>
                  <a:txBody>
                    <a:bodyPr/>
                    <a:lstStyle/>
                    <a:p>
                      <a:r>
                        <a:rPr lang="en-US" altLang="en-US" sz="2400" dirty="0"/>
                        <a:t>thymus gland</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tox</a:t>
                      </a:r>
                      <a:r>
                        <a:rPr lang="en-US" altLang="en-US" sz="2400" b="1" dirty="0"/>
                        <a:t>/o</a:t>
                      </a:r>
                      <a:endParaRPr lang="en-US" sz="2400" dirty="0"/>
                    </a:p>
                  </a:txBody>
                  <a:tcPr/>
                </a:tc>
                <a:tc>
                  <a:txBody>
                    <a:bodyPr/>
                    <a:lstStyle/>
                    <a:p>
                      <a:r>
                        <a:rPr lang="en-US" altLang="en-US" sz="2400" dirty="0"/>
                        <a:t>poison</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241492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Suffixes</a:t>
            </a:r>
            <a:br>
              <a:rPr lang="en-US" dirty="0"/>
            </a:br>
            <a:r>
              <a:rPr lang="en-US" dirty="0"/>
              <a:t> (Slide 1 of 4)</a:t>
            </a:r>
          </a:p>
        </p:txBody>
      </p:sp>
      <p:graphicFrame>
        <p:nvGraphicFramePr>
          <p:cNvPr id="7" name="Content Placeholder 6" descr="Group 1 of 2  Suffixes from the Review Sheet of the text.  The following slide lists these same suffixes with corresponding meanings."/>
          <p:cNvGraphicFramePr>
            <a:graphicFrameLocks noGrp="1"/>
          </p:cNvGraphicFramePr>
          <p:nvPr>
            <p:ph idx="1"/>
            <p:extLst>
              <p:ext uri="{D42A27DB-BD31-4B8C-83A1-F6EECF244321}">
                <p14:modId xmlns:p14="http://schemas.microsoft.com/office/powerpoint/2010/main" val="1059324732"/>
              </p:ext>
            </p:extLst>
          </p:nvPr>
        </p:nvGraphicFramePr>
        <p:xfrm>
          <a:off x="3352800" y="2057400"/>
          <a:ext cx="2438400" cy="3200400"/>
        </p:xfrm>
        <a:graphic>
          <a:graphicData uri="http://schemas.openxmlformats.org/drawingml/2006/table">
            <a:tbl>
              <a:tblPr firstRow="1" bandRow="1">
                <a:tableStyleId>{21E4AEA4-8DFA-4A89-87EB-49C32662AFE0}</a:tableStyleId>
              </a:tblPr>
              <a:tblGrid>
                <a:gridCol w="24384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cytosis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-edema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-globulin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megaly</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oid</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a:t>
                      </a:r>
                      <a:r>
                        <a:rPr lang="en-US" altLang="en-US" sz="2400" b="1" dirty="0" err="1"/>
                        <a:t>pathy</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1872232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Suffixes</a:t>
            </a:r>
            <a:br>
              <a:rPr lang="en-US" dirty="0"/>
            </a:br>
            <a:r>
              <a:rPr lang="en-US" dirty="0"/>
              <a:t> (Slide 2 of 4)</a:t>
            </a:r>
          </a:p>
        </p:txBody>
      </p:sp>
      <p:graphicFrame>
        <p:nvGraphicFramePr>
          <p:cNvPr id="7" name="Content Placeholder 6" descr="Group 1 of 2 suffixes from the Review Sheet of the text with their corresponding meanings."/>
          <p:cNvGraphicFramePr>
            <a:graphicFrameLocks noGrp="1"/>
          </p:cNvGraphicFramePr>
          <p:nvPr>
            <p:ph idx="1"/>
            <p:extLst>
              <p:ext uri="{D42A27DB-BD31-4B8C-83A1-F6EECF244321}">
                <p14:modId xmlns:p14="http://schemas.microsoft.com/office/powerpoint/2010/main" val="3025466931"/>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cytosis</a:t>
                      </a:r>
                      <a:endParaRPr lang="en-US" sz="2400" dirty="0"/>
                    </a:p>
                  </a:txBody>
                  <a:tcPr/>
                </a:tc>
                <a:tc>
                  <a:txBody>
                    <a:bodyPr/>
                    <a:lstStyle/>
                    <a:p>
                      <a:r>
                        <a:rPr lang="en-US" altLang="en-US" sz="2400" dirty="0"/>
                        <a:t>condition of cells; slight increase in numbers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-edema</a:t>
                      </a:r>
                      <a:endParaRPr lang="en-US" sz="2400" dirty="0"/>
                    </a:p>
                  </a:txBody>
                  <a:tcPr/>
                </a:tc>
                <a:tc>
                  <a:txBody>
                    <a:bodyPr/>
                    <a:lstStyle/>
                    <a:p>
                      <a:r>
                        <a:rPr lang="en-US" altLang="en-US" sz="2400" dirty="0"/>
                        <a:t>swelling</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-globulin</a:t>
                      </a:r>
                      <a:endParaRPr lang="en-US" sz="2400" dirty="0"/>
                    </a:p>
                  </a:txBody>
                  <a:tcPr/>
                </a:tc>
                <a:tc>
                  <a:txBody>
                    <a:bodyPr/>
                    <a:lstStyle/>
                    <a:p>
                      <a:r>
                        <a:rPr lang="en-US" altLang="en-US" sz="2400" dirty="0"/>
                        <a:t>protein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megaly</a:t>
                      </a:r>
                      <a:endParaRPr lang="en-US" sz="2400" dirty="0"/>
                    </a:p>
                  </a:txBody>
                  <a:tcPr/>
                </a:tc>
                <a:tc>
                  <a:txBody>
                    <a:bodyPr/>
                    <a:lstStyle/>
                    <a:p>
                      <a:r>
                        <a:rPr lang="en-US" altLang="en-US" sz="2400" dirty="0"/>
                        <a:t>enlargement</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oid</a:t>
                      </a:r>
                      <a:endParaRPr lang="en-US" sz="2400" dirty="0"/>
                    </a:p>
                  </a:txBody>
                  <a:tcPr/>
                </a:tc>
                <a:tc>
                  <a:txBody>
                    <a:bodyPr/>
                    <a:lstStyle/>
                    <a:p>
                      <a:r>
                        <a:rPr lang="en-US" altLang="en-US" sz="2400" dirty="0"/>
                        <a:t>resembling</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a:t>
                      </a:r>
                      <a:r>
                        <a:rPr lang="en-US" altLang="en-US" sz="2400" b="1" dirty="0" err="1"/>
                        <a:t>pathy</a:t>
                      </a:r>
                      <a:endParaRPr lang="en-US" sz="2400" dirty="0"/>
                    </a:p>
                  </a:txBody>
                  <a:tcPr/>
                </a:tc>
                <a:tc>
                  <a:txBody>
                    <a:bodyPr/>
                    <a:lstStyle/>
                    <a:p>
                      <a:r>
                        <a:rPr lang="en-US" altLang="en-US" sz="2400" dirty="0"/>
                        <a:t>disease; emotion</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156427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Suffixes</a:t>
            </a:r>
            <a:br>
              <a:rPr lang="en-US" dirty="0"/>
            </a:br>
            <a:r>
              <a:rPr lang="en-US" dirty="0"/>
              <a:t> (Slide 3 of 4)</a:t>
            </a:r>
          </a:p>
        </p:txBody>
      </p:sp>
      <p:graphicFrame>
        <p:nvGraphicFramePr>
          <p:cNvPr id="7" name="Content Placeholder 6" descr="Group 2 of 2  Suffixes from the Review Sheet of the text.  The following slide lists these same suffixes with corresponding meanings."/>
          <p:cNvGraphicFramePr>
            <a:graphicFrameLocks noGrp="1"/>
          </p:cNvGraphicFramePr>
          <p:nvPr>
            <p:ph idx="1"/>
            <p:extLst>
              <p:ext uri="{D42A27DB-BD31-4B8C-83A1-F6EECF244321}">
                <p14:modId xmlns:p14="http://schemas.microsoft.com/office/powerpoint/2010/main" val="653339042"/>
              </p:ext>
            </p:extLst>
          </p:nvPr>
        </p:nvGraphicFramePr>
        <p:xfrm>
          <a:off x="3352800" y="2057400"/>
          <a:ext cx="2438400" cy="2743200"/>
        </p:xfrm>
        <a:graphic>
          <a:graphicData uri="http://schemas.openxmlformats.org/drawingml/2006/table">
            <a:tbl>
              <a:tblPr firstRow="1" bandRow="1">
                <a:tableStyleId>{21E4AEA4-8DFA-4A89-87EB-49C32662AFE0}</a:tableStyleId>
              </a:tblPr>
              <a:tblGrid>
                <a:gridCol w="24384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penia</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phylaxis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poiesis</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stitial</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-suppression</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9328326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Suffixes</a:t>
            </a:r>
            <a:br>
              <a:rPr lang="en-US" dirty="0"/>
            </a:br>
            <a:r>
              <a:rPr lang="en-US" dirty="0"/>
              <a:t>(Slide 4 of 4)</a:t>
            </a:r>
          </a:p>
        </p:txBody>
      </p:sp>
      <p:graphicFrame>
        <p:nvGraphicFramePr>
          <p:cNvPr id="7" name="Content Placeholder 6" descr="Group 2 of 2 suffixes from the Review Sheet of the text with their corresponding meanings."/>
          <p:cNvGraphicFramePr>
            <a:graphicFrameLocks noGrp="1"/>
          </p:cNvGraphicFramePr>
          <p:nvPr>
            <p:ph idx="1"/>
            <p:extLst>
              <p:ext uri="{D42A27DB-BD31-4B8C-83A1-F6EECF244321}">
                <p14:modId xmlns:p14="http://schemas.microsoft.com/office/powerpoint/2010/main" val="712701304"/>
              </p:ext>
            </p:extLst>
          </p:nvPr>
        </p:nvGraphicFramePr>
        <p:xfrm>
          <a:off x="457200" y="1600200"/>
          <a:ext cx="8229600" cy="2743200"/>
        </p:xfrm>
        <a:graphic>
          <a:graphicData uri="http://schemas.openxmlformats.org/drawingml/2006/table">
            <a:tbl>
              <a:tblPr firstRow="1" bandRow="1">
                <a:tableStyleId>{21E4AEA4-8DFA-4A89-87EB-49C32662AFE0}</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penia</a:t>
                      </a:r>
                      <a:endParaRPr lang="en-US" sz="2400" dirty="0"/>
                    </a:p>
                  </a:txBody>
                  <a:tcPr/>
                </a:tc>
                <a:tc>
                  <a:txBody>
                    <a:bodyPr/>
                    <a:lstStyle/>
                    <a:p>
                      <a:r>
                        <a:rPr lang="en-US" altLang="en-US" sz="2400" dirty="0"/>
                        <a:t>deficiency</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phylaxis</a:t>
                      </a:r>
                      <a:endParaRPr lang="en-US" sz="2400" dirty="0"/>
                    </a:p>
                  </a:txBody>
                  <a:tcPr/>
                </a:tc>
                <a:tc>
                  <a:txBody>
                    <a:bodyPr/>
                    <a:lstStyle/>
                    <a:p>
                      <a:r>
                        <a:rPr lang="en-US" altLang="en-US" sz="2400" dirty="0"/>
                        <a:t>protection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poiesis</a:t>
                      </a:r>
                      <a:endParaRPr lang="en-US" sz="2400" dirty="0"/>
                    </a:p>
                  </a:txBody>
                  <a:tcPr/>
                </a:tc>
                <a:tc>
                  <a:txBody>
                    <a:bodyPr/>
                    <a:lstStyle/>
                    <a:p>
                      <a:r>
                        <a:rPr lang="en-US" altLang="en-US" sz="2400" dirty="0"/>
                        <a:t>formation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stitial</a:t>
                      </a:r>
                      <a:endParaRPr lang="en-US" sz="2400" dirty="0"/>
                    </a:p>
                  </a:txBody>
                  <a:tcPr/>
                </a:tc>
                <a:tc>
                  <a:txBody>
                    <a:bodyPr/>
                    <a:lstStyle/>
                    <a:p>
                      <a:r>
                        <a:rPr lang="en-US" altLang="en-US" sz="2400" dirty="0"/>
                        <a:t>to set; pertaining to standing or positioned</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-suppression</a:t>
                      </a:r>
                      <a:endParaRPr lang="en-US" sz="2400" dirty="0"/>
                    </a:p>
                  </a:txBody>
                  <a:tcPr/>
                </a:tc>
                <a:tc>
                  <a:txBody>
                    <a:bodyPr/>
                    <a:lstStyle/>
                    <a:p>
                      <a:r>
                        <a:rPr lang="en-US" altLang="en-US" sz="2400" dirty="0"/>
                        <a:t>to stop</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028933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Prefixes</a:t>
            </a:r>
            <a:br>
              <a:rPr lang="en-US" dirty="0"/>
            </a:br>
            <a:r>
              <a:rPr lang="en-US" dirty="0"/>
              <a:t> (Slide 1 of 2)</a:t>
            </a:r>
          </a:p>
        </p:txBody>
      </p:sp>
      <p:graphicFrame>
        <p:nvGraphicFramePr>
          <p:cNvPr id="7" name="Content Placeholder 6" descr="Lists Prefixes from the Review Sheet of the text.  The following slide lists these same prefixes with corresponding meanings."/>
          <p:cNvGraphicFramePr>
            <a:graphicFrameLocks noGrp="1"/>
          </p:cNvGraphicFramePr>
          <p:nvPr>
            <p:ph idx="1"/>
            <p:extLst>
              <p:ext uri="{D42A27DB-BD31-4B8C-83A1-F6EECF244321}">
                <p14:modId xmlns:p14="http://schemas.microsoft.com/office/powerpoint/2010/main" val="442335057"/>
              </p:ext>
            </p:extLst>
          </p:nvPr>
        </p:nvGraphicFramePr>
        <p:xfrm>
          <a:off x="3352800" y="2133600"/>
          <a:ext cx="2438400" cy="2743200"/>
        </p:xfrm>
        <a:graphic>
          <a:graphicData uri="http://schemas.openxmlformats.org/drawingml/2006/table">
            <a:tbl>
              <a:tblPr firstRow="1" bandRow="1">
                <a:tableStyleId>{21E4AEA4-8DFA-4A89-87EB-49C32662AFE0}</a:tableStyleId>
              </a:tblPr>
              <a:tblGrid>
                <a:gridCol w="2438400">
                  <a:extLst>
                    <a:ext uri="{9D8B030D-6E8A-4147-A177-3AD203B41FA5}">
                      <a16:colId xmlns:a16="http://schemas.microsoft.com/office/drawing/2014/main" val="20000"/>
                    </a:ext>
                  </a:extLst>
                </a:gridCol>
              </a:tblGrid>
              <a:tr h="370840">
                <a:tc>
                  <a:txBody>
                    <a:bodyPr/>
                    <a:lstStyle/>
                    <a:p>
                      <a:r>
                        <a:rPr lang="en-US" sz="2400" dirty="0"/>
                        <a:t>Prefix</a:t>
                      </a:r>
                    </a:p>
                  </a:txBody>
                  <a:tcPr/>
                </a:tc>
                <a:extLst>
                  <a:ext uri="{0D108BD9-81ED-4DB2-BD59-A6C34878D82A}">
                    <a16:rowId xmlns:a16="http://schemas.microsoft.com/office/drawing/2014/main" val="10000"/>
                  </a:ext>
                </a:extLst>
              </a:tr>
              <a:tr h="370840">
                <a:tc>
                  <a:txBody>
                    <a:bodyPr/>
                    <a:lstStyle/>
                    <a:p>
                      <a:r>
                        <a:rPr lang="en-US" altLang="en-US" sz="2400" b="1" dirty="0" err="1"/>
                        <a:t>ana</a:t>
                      </a:r>
                      <a:r>
                        <a:rPr lang="en-US" altLang="en-US" sz="2400" b="1" dirty="0"/>
                        <a:t>-</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auto-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hyper-</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inter-</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retro-</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393467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Prefixes</a:t>
            </a:r>
            <a:br>
              <a:rPr lang="en-US" dirty="0"/>
            </a:br>
            <a:r>
              <a:rPr lang="en-US" dirty="0"/>
              <a:t>(Slide 2 of 2)</a:t>
            </a:r>
          </a:p>
        </p:txBody>
      </p:sp>
      <p:graphicFrame>
        <p:nvGraphicFramePr>
          <p:cNvPr id="7" name="Content Placeholder 6" descr="Lists Prefixes from the Review Sheet of the text with their corresponding meanings."/>
          <p:cNvGraphicFramePr>
            <a:graphicFrameLocks noGrp="1"/>
          </p:cNvGraphicFramePr>
          <p:nvPr>
            <p:ph idx="1"/>
            <p:extLst>
              <p:ext uri="{D42A27DB-BD31-4B8C-83A1-F6EECF244321}">
                <p14:modId xmlns:p14="http://schemas.microsoft.com/office/powerpoint/2010/main" val="1833822018"/>
              </p:ext>
            </p:extLst>
          </p:nvPr>
        </p:nvGraphicFramePr>
        <p:xfrm>
          <a:off x="457200" y="1600200"/>
          <a:ext cx="8229600" cy="2743200"/>
        </p:xfrm>
        <a:graphic>
          <a:graphicData uri="http://schemas.openxmlformats.org/drawingml/2006/table">
            <a:tbl>
              <a:tblPr firstRow="1" bandRow="1">
                <a:tableStyleId>{21E4AEA4-8DFA-4A89-87EB-49C32662AFE0}</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ana</a:t>
                      </a:r>
                      <a:r>
                        <a:rPr lang="en-US" altLang="en-US" sz="2400" b="1" dirty="0"/>
                        <a:t>-</a:t>
                      </a:r>
                      <a:endParaRPr lang="en-US" sz="2400" dirty="0"/>
                    </a:p>
                  </a:txBody>
                  <a:tcPr/>
                </a:tc>
                <a:tc>
                  <a:txBody>
                    <a:bodyPr/>
                    <a:lstStyle/>
                    <a:p>
                      <a:r>
                        <a:rPr lang="en-US" altLang="en-US" sz="2400" dirty="0"/>
                        <a:t>up; apart; backward; again; anew</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auto-</a:t>
                      </a:r>
                      <a:endParaRPr lang="en-US" sz="2400" dirty="0"/>
                    </a:p>
                  </a:txBody>
                  <a:tcPr/>
                </a:tc>
                <a:tc>
                  <a:txBody>
                    <a:bodyPr/>
                    <a:lstStyle/>
                    <a:p>
                      <a:r>
                        <a:rPr lang="en-US" altLang="en-US" sz="2400" dirty="0"/>
                        <a:t>self; own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hyper-</a:t>
                      </a:r>
                      <a:endParaRPr lang="en-US" sz="2400" dirty="0"/>
                    </a:p>
                  </a:txBody>
                  <a:tcPr/>
                </a:tc>
                <a:tc>
                  <a:txBody>
                    <a:bodyPr/>
                    <a:lstStyle/>
                    <a:p>
                      <a:r>
                        <a:rPr lang="en-US" altLang="en-US" sz="2400" dirty="0"/>
                        <a:t>above; excessive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inter-</a:t>
                      </a:r>
                      <a:endParaRPr lang="en-US" sz="2400" dirty="0"/>
                    </a:p>
                  </a:txBody>
                  <a:tcPr/>
                </a:tc>
                <a:tc>
                  <a:txBody>
                    <a:bodyPr/>
                    <a:lstStyle/>
                    <a:p>
                      <a:r>
                        <a:rPr lang="en-US" altLang="en-US" sz="2400" dirty="0"/>
                        <a:t>between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retro-</a:t>
                      </a:r>
                      <a:endParaRPr lang="en-US" sz="2400" dirty="0"/>
                    </a:p>
                  </a:txBody>
                  <a:tcPr/>
                </a:tc>
                <a:tc>
                  <a:txBody>
                    <a:bodyPr/>
                    <a:lstStyle/>
                    <a:p>
                      <a:r>
                        <a:rPr lang="en-US" altLang="en-US" sz="2400" dirty="0"/>
                        <a:t>behind; back; backward</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749434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altLang="en-US" dirty="0"/>
              <a:t>QUICK QUIZ (Slide 4 of 5)</a:t>
            </a:r>
            <a:endParaRPr lang="en-US" altLang="en-US" sz="4800" dirty="0"/>
          </a:p>
        </p:txBody>
      </p:sp>
      <p:sp>
        <p:nvSpPr>
          <p:cNvPr id="91139" name="Rectangle 3"/>
          <p:cNvSpPr>
            <a:spLocks noGrp="1" noChangeArrowheads="1"/>
          </p:cNvSpPr>
          <p:nvPr>
            <p:ph idx="1"/>
          </p:nvPr>
        </p:nvSpPr>
        <p:spPr>
          <a:xfrm>
            <a:off x="685800" y="1600200"/>
            <a:ext cx="6934200" cy="4495800"/>
          </a:xfrm>
        </p:spPr>
        <p:txBody>
          <a:bodyPr/>
          <a:lstStyle/>
          <a:p>
            <a:pPr marL="533400" indent="-533400" eaLnBrk="1" hangingPunct="1">
              <a:buFont typeface="Wingdings 2" panose="05020102010507070707" pitchFamily="18" charset="2"/>
              <a:buNone/>
            </a:pPr>
            <a:r>
              <a:rPr lang="en-US" altLang="en-US" b="1"/>
              <a:t>4.  What is the name of the fluid that lies between cells throughout the body?</a:t>
            </a:r>
          </a:p>
          <a:p>
            <a:pPr marL="533400" indent="-533400" eaLnBrk="1" hangingPunct="1">
              <a:buFont typeface="Wingdings 2" panose="05020102010507070707" pitchFamily="18" charset="2"/>
              <a:buNone/>
            </a:pPr>
            <a:r>
              <a:rPr lang="en-US" altLang="en-US" sz="900"/>
              <a:t>	</a:t>
            </a:r>
          </a:p>
          <a:p>
            <a:pPr marL="533400" indent="-533400" eaLnBrk="1" hangingPunct="1">
              <a:buFont typeface="Arial" panose="020B0604020202020204" pitchFamily="34" charset="0"/>
              <a:buAutoNum type="alphaUcPeriod"/>
            </a:pPr>
            <a:r>
              <a:rPr lang="en-US" altLang="en-US"/>
              <a:t>Atopy</a:t>
            </a:r>
            <a:endParaRPr lang="en-US" altLang="en-US" sz="2400"/>
          </a:p>
          <a:p>
            <a:pPr marL="533400" indent="-533400" eaLnBrk="1" hangingPunct="1">
              <a:lnSpc>
                <a:spcPct val="65000"/>
              </a:lnSpc>
              <a:buFont typeface="Arial" panose="020B0604020202020204" pitchFamily="34" charset="0"/>
              <a:buAutoNum type="alphaUcPeriod"/>
            </a:pPr>
            <a:endParaRPr lang="en-US" altLang="en-US" sz="1100"/>
          </a:p>
          <a:p>
            <a:pPr marL="533400" indent="-533400" eaLnBrk="1" hangingPunct="1">
              <a:lnSpc>
                <a:spcPct val="65000"/>
              </a:lnSpc>
              <a:buFont typeface="Arial" panose="020B0604020202020204" pitchFamily="34" charset="0"/>
              <a:buAutoNum type="alphaUcPeriod"/>
            </a:pPr>
            <a:r>
              <a:rPr lang="en-US" altLang="en-US"/>
              <a:t>Lymphadema</a:t>
            </a:r>
          </a:p>
          <a:p>
            <a:pPr marL="533400" indent="-533400" eaLnBrk="1" hangingPunct="1">
              <a:lnSpc>
                <a:spcPct val="65000"/>
              </a:lnSpc>
              <a:buFont typeface="Arial" panose="020B0604020202020204" pitchFamily="34" charset="0"/>
              <a:buAutoNum type="alphaUcPeriod"/>
            </a:pPr>
            <a:endParaRPr lang="en-US" altLang="en-US" sz="1100" b="1"/>
          </a:p>
          <a:p>
            <a:pPr marL="533400" indent="-533400" eaLnBrk="1" hangingPunct="1">
              <a:lnSpc>
                <a:spcPct val="65000"/>
              </a:lnSpc>
              <a:buFont typeface="Arial" panose="020B0604020202020204" pitchFamily="34" charset="0"/>
              <a:buAutoNum type="alphaUcPeriod"/>
            </a:pPr>
            <a:r>
              <a:rPr lang="en-US" altLang="en-US"/>
              <a:t>Interstitial</a:t>
            </a:r>
          </a:p>
          <a:p>
            <a:pPr marL="533400" indent="-533400" eaLnBrk="1" hangingPunct="1">
              <a:lnSpc>
                <a:spcPct val="65000"/>
              </a:lnSpc>
              <a:buFont typeface="Arial" panose="020B0604020202020204" pitchFamily="34" charset="0"/>
              <a:buAutoNum type="alphaUcPeriod"/>
            </a:pPr>
            <a:endParaRPr lang="en-US" altLang="en-US" sz="900" b="1"/>
          </a:p>
          <a:p>
            <a:pPr marL="533400" indent="-533400" eaLnBrk="1" hangingPunct="1">
              <a:lnSpc>
                <a:spcPct val="65000"/>
              </a:lnSpc>
              <a:buFont typeface="Arial" panose="020B0604020202020204" pitchFamily="34" charset="0"/>
              <a:buAutoNum type="alphaUcPeriod"/>
            </a:pPr>
            <a:r>
              <a:rPr lang="en-US" altLang="en-US"/>
              <a:t>Lymphopoiesis</a:t>
            </a:r>
          </a:p>
        </p:txBody>
      </p:sp>
    </p:spTree>
    <p:extLst>
      <p:ext uri="{BB962C8B-B14F-4D97-AF65-F5344CB8AC3E}">
        <p14:creationId xmlns:p14="http://schemas.microsoft.com/office/powerpoint/2010/main" val="6556241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1409700" y="458372"/>
            <a:ext cx="6324600" cy="1143000"/>
          </a:xfrm>
        </p:spPr>
        <p:txBody>
          <a:bodyPr/>
          <a:lstStyle/>
          <a:p>
            <a:pPr eaLnBrk="1" hangingPunct="1"/>
            <a:r>
              <a:rPr lang="en-US" altLang="en-US" dirty="0"/>
              <a:t>QUICK QUIZ (Slide 5 of 5)</a:t>
            </a:r>
            <a:endParaRPr lang="en-US" altLang="en-US" sz="5400" dirty="0"/>
          </a:p>
        </p:txBody>
      </p:sp>
      <p:sp>
        <p:nvSpPr>
          <p:cNvPr id="92163" name="Rectangle 3"/>
          <p:cNvSpPr>
            <a:spLocks noGrp="1" noChangeArrowheads="1"/>
          </p:cNvSpPr>
          <p:nvPr>
            <p:ph idx="1"/>
          </p:nvPr>
        </p:nvSpPr>
        <p:spPr>
          <a:xfrm>
            <a:off x="685800" y="1600200"/>
            <a:ext cx="7772400" cy="4495800"/>
          </a:xfrm>
        </p:spPr>
        <p:txBody>
          <a:bodyPr/>
          <a:lstStyle/>
          <a:p>
            <a:pPr marL="533400" indent="-533400" eaLnBrk="1" hangingPunct="1">
              <a:buFont typeface="Wingdings 2" panose="05020102010507070707" pitchFamily="18" charset="2"/>
              <a:buNone/>
            </a:pPr>
            <a:r>
              <a:rPr lang="en-US" altLang="en-US" b="1" dirty="0"/>
              <a:t>5.  Malignant tumor of the lymph nodes and spleen marked by the presence of Reed-Sternberg cells in lymph nodes:</a:t>
            </a:r>
            <a:r>
              <a:rPr lang="en-US" altLang="en-US" sz="900" dirty="0"/>
              <a:t>	</a:t>
            </a:r>
          </a:p>
          <a:p>
            <a:pPr marL="533400" indent="-533400" eaLnBrk="1" hangingPunct="1">
              <a:buFont typeface="Arial" panose="020B0604020202020204" pitchFamily="34" charset="0"/>
              <a:buAutoNum type="alphaUcPeriod"/>
            </a:pPr>
            <a:r>
              <a:rPr lang="en-US" altLang="en-US" dirty="0"/>
              <a:t>HIV</a:t>
            </a:r>
          </a:p>
          <a:p>
            <a:pPr marL="533400" indent="-533400" eaLnBrk="1" hangingPunct="1">
              <a:buFont typeface="Arial" panose="020B0604020202020204" pitchFamily="34" charset="0"/>
              <a:buAutoNum type="alphaUcPeriod"/>
            </a:pPr>
            <a:r>
              <a:rPr lang="en-US" altLang="en-US" dirty="0"/>
              <a:t>Kaposi sarcoma</a:t>
            </a:r>
          </a:p>
          <a:p>
            <a:pPr marL="533400" indent="-533400" eaLnBrk="1" hangingPunct="1">
              <a:buFont typeface="Arial" panose="020B0604020202020204" pitchFamily="34" charset="0"/>
              <a:buAutoNum type="alphaUcPeriod"/>
            </a:pPr>
            <a:r>
              <a:rPr lang="en-US" altLang="en-US" dirty="0"/>
              <a:t>Hodgkin lymphoma</a:t>
            </a:r>
          </a:p>
          <a:p>
            <a:pPr marL="533400" indent="-533400" eaLnBrk="1" hangingPunct="1">
              <a:buFont typeface="Arial" panose="020B0604020202020204" pitchFamily="34" charset="0"/>
              <a:buAutoNum type="alphaUcPeriod"/>
            </a:pPr>
            <a:r>
              <a:rPr lang="en-US" altLang="en-US" dirty="0"/>
              <a:t>Hodgkin disease</a:t>
            </a:r>
          </a:p>
        </p:txBody>
      </p:sp>
    </p:spTree>
    <p:extLst>
      <p:ext uri="{BB962C8B-B14F-4D97-AF65-F5344CB8AC3E}">
        <p14:creationId xmlns:p14="http://schemas.microsoft.com/office/powerpoint/2010/main" val="931764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6912</TotalTime>
  <Words>3620</Words>
  <Application>Microsoft Office PowerPoint</Application>
  <PresentationFormat>On-screen Show (4:3)</PresentationFormat>
  <Paragraphs>672</Paragraphs>
  <Slides>81</Slides>
  <Notes>34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81</vt:i4>
      </vt:variant>
    </vt:vector>
  </HeadingPairs>
  <TitlesOfParts>
    <vt:vector size="89" baseType="lpstr">
      <vt:lpstr>ＭＳ Ｐゴシック</vt:lpstr>
      <vt:lpstr>Arial</vt:lpstr>
      <vt:lpstr>Calibri</vt:lpstr>
      <vt:lpstr>Times New Roman</vt:lpstr>
      <vt:lpstr>Webdings</vt:lpstr>
      <vt:lpstr>Wingdings</vt:lpstr>
      <vt:lpstr>Wingdings 2</vt:lpstr>
      <vt:lpstr>Office Theme</vt:lpstr>
      <vt:lpstr>The Language of Medicine 13th edition</vt:lpstr>
      <vt:lpstr>Chapter 14 Lymphatic and Immune System</vt:lpstr>
      <vt:lpstr>Chapter Goals (Slide 1 of 2)</vt:lpstr>
      <vt:lpstr>Chapter Goals (Slide 2 of 2)</vt:lpstr>
      <vt:lpstr>Chapter 14 Lesson 14.1</vt:lpstr>
      <vt:lpstr>Introduction (Slide 1 of 2)</vt:lpstr>
      <vt:lpstr>Introduction (Slide 2 of 2)</vt:lpstr>
      <vt:lpstr>Interstitial Fluid and Lymph Capillaries (Slide 1 of 2)</vt:lpstr>
      <vt:lpstr>Interstitial Fluid and Lymph Capillaries (Slide 2 of 2)</vt:lpstr>
      <vt:lpstr>Blood and Lymph (Slide 1 of 2)</vt:lpstr>
      <vt:lpstr>Blood and Lymph (Slide 2 of 2)</vt:lpstr>
      <vt:lpstr>Lymphatic System Anatomy</vt:lpstr>
      <vt:lpstr>Lymph Nodes</vt:lpstr>
      <vt:lpstr>Spleen</vt:lpstr>
      <vt:lpstr>Thymus Gland</vt:lpstr>
      <vt:lpstr>Immune System</vt:lpstr>
      <vt:lpstr>Natural  Immunity</vt:lpstr>
      <vt:lpstr>Adaptive  Immunity (slide 1 of 4)</vt:lpstr>
      <vt:lpstr>Adaptive  Immunity (Slide 2 of 4)</vt:lpstr>
      <vt:lpstr>Adaptive  Immunity (Slide 3 of 4)</vt:lpstr>
      <vt:lpstr>Adaptive  Immunity (Slide 4 of 4)</vt:lpstr>
      <vt:lpstr>Immunotherapy Examples</vt:lpstr>
      <vt:lpstr>Vocabulary (Slide 1 of 30)</vt:lpstr>
      <vt:lpstr>Vocabulary (Slide 2 of 30)</vt:lpstr>
      <vt:lpstr>Vocabulary (Slide 3 of 30)</vt:lpstr>
      <vt:lpstr>Vocabulary (Slide 4 of 30)</vt:lpstr>
      <vt:lpstr>Vocabulary (Slide 5 of 30)</vt:lpstr>
      <vt:lpstr>Vocabulary (Slide 6 of 30)</vt:lpstr>
      <vt:lpstr>Vocabulary (Slide 7 of 30)</vt:lpstr>
      <vt:lpstr>Vocabulary (Slide 8 of 30)</vt:lpstr>
      <vt:lpstr>Vocabulary (Slide 9 of 30)</vt:lpstr>
      <vt:lpstr>Vocabulary (Slide 10 of 30)</vt:lpstr>
      <vt:lpstr>Vocabulary (Slide 11 of 30)</vt:lpstr>
      <vt:lpstr>Vocabulary (Slide 12 of 30)</vt:lpstr>
      <vt:lpstr>Vocabulary (Slide 13 of 30)</vt:lpstr>
      <vt:lpstr>Vocabulary (Slide 14 of 30)</vt:lpstr>
      <vt:lpstr>Vocabulary (Slide 15 of 30)</vt:lpstr>
      <vt:lpstr>Vocabulary (Slide 16 of 30)</vt:lpstr>
      <vt:lpstr>Vocabulary (Slide 17 of 30)</vt:lpstr>
      <vt:lpstr>Vocabulary (Slide 18 of 30)</vt:lpstr>
      <vt:lpstr>Vocabulary (Slide 19 of 30)</vt:lpstr>
      <vt:lpstr>Vocabulary (Slide 20 of 30)</vt:lpstr>
      <vt:lpstr>Vocabulary (Slide 21 of 30)</vt:lpstr>
      <vt:lpstr>Vocabulary (Slide 22 of 30)</vt:lpstr>
      <vt:lpstr>Vocabulary (Slide 23 of 30)</vt:lpstr>
      <vt:lpstr>Vocabulary (Slide 24 of 30)</vt:lpstr>
      <vt:lpstr>Vocabulary (Slide 25 of 30)</vt:lpstr>
      <vt:lpstr>Vocabulary (Slide 26 of 30)</vt:lpstr>
      <vt:lpstr>Vocabulary (Slide 27 of 30)</vt:lpstr>
      <vt:lpstr>Vocabulary (Slide 28 of 30)</vt:lpstr>
      <vt:lpstr>Vocabulary (Slide 29 of 30)</vt:lpstr>
      <vt:lpstr>Vocabulary (Slide 30 of 30)</vt:lpstr>
      <vt:lpstr>      QUICK QUIZ (Slide 1 of 5)  </vt:lpstr>
      <vt:lpstr> QUICK QUIZ  (Slide 2 of 5) </vt:lpstr>
      <vt:lpstr>Combining Forms, Prefixes, and Terminology (Slide 1 of 2)</vt:lpstr>
      <vt:lpstr>Combining Forms, Prefixes, and Terminology (Slide 2 of 2)</vt:lpstr>
      <vt:lpstr>Chapter 14 Lesson 14.2</vt:lpstr>
      <vt:lpstr>Disorders of the Lymphatic and Immune Systems</vt:lpstr>
      <vt:lpstr>Opportunistic Infections with AIDS </vt:lpstr>
      <vt:lpstr>Drugs to Treat AIDS</vt:lpstr>
      <vt:lpstr>Hypersensitivity</vt:lpstr>
      <vt:lpstr>Tumors</vt:lpstr>
      <vt:lpstr>Staging of Hodgkin Lymphoma</vt:lpstr>
      <vt:lpstr>      QUICK QUIZ (Slide 3 of 5)</vt:lpstr>
      <vt:lpstr>Laboratory Tests</vt:lpstr>
      <vt:lpstr>Clinical Procedure</vt:lpstr>
      <vt:lpstr>Abbreviations (Slide 1 of 3)</vt:lpstr>
      <vt:lpstr>Abbreviations (Slide 2 of 3)</vt:lpstr>
      <vt:lpstr>Abbreviations (Slide 3 of 3)</vt:lpstr>
      <vt:lpstr>Review Sheet:  Combining Forms (Slide 1 of 4)</vt:lpstr>
      <vt:lpstr>Review Sheet: Combining Forms (Slide 2 of 4)</vt:lpstr>
      <vt:lpstr>Review Sheet:  Combining Forms (Slide 3 of 4)</vt:lpstr>
      <vt:lpstr>Review Sheet: Combining Forms (Slide 4 of 4)</vt:lpstr>
      <vt:lpstr>Review Sheet:  Suffixes  (Slide 1 of 4)</vt:lpstr>
      <vt:lpstr>Review Sheet:  Suffixes  (Slide 2 of 4)</vt:lpstr>
      <vt:lpstr>Review Sheet: Suffixes  (Slide 3 of 4)</vt:lpstr>
      <vt:lpstr>Review Sheet:  Suffixes (Slide 4 of 4)</vt:lpstr>
      <vt:lpstr>Review Sheet:  Prefixes  (Slide 1 of 2)</vt:lpstr>
      <vt:lpstr>Review Sheet:  Prefixes (Slide 2 of 2)</vt:lpstr>
      <vt:lpstr>QUICK QUIZ (Slide 4 of 5)</vt:lpstr>
      <vt:lpstr>QUICK QUIZ (Slide 5 of 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dc:creator>
  <cp:lastModifiedBy>Jyoti Tyagi (IL-IN)</cp:lastModifiedBy>
  <cp:revision>299</cp:revision>
  <cp:lastPrinted>2007-04-13T22:20:09Z</cp:lastPrinted>
  <dcterms:created xsi:type="dcterms:W3CDTF">2004-11-01T16:15:23Z</dcterms:created>
  <dcterms:modified xsi:type="dcterms:W3CDTF">2023-12-07T04:25:50Z</dcterms:modified>
</cp:coreProperties>
</file>