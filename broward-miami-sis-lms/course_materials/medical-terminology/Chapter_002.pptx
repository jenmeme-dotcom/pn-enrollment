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61"/>
  </p:notesMasterIdLst>
  <p:handoutMasterIdLst>
    <p:handoutMasterId r:id="rId62"/>
  </p:handoutMasterIdLst>
  <p:sldIdLst>
    <p:sldId id="373" r:id="rId2"/>
    <p:sldId id="375" r:id="rId3"/>
    <p:sldId id="258" r:id="rId4"/>
    <p:sldId id="268" r:id="rId5"/>
    <p:sldId id="376" r:id="rId6"/>
    <p:sldId id="301" r:id="rId7"/>
    <p:sldId id="297" r:id="rId8"/>
    <p:sldId id="380" r:id="rId9"/>
    <p:sldId id="298" r:id="rId10"/>
    <p:sldId id="299" r:id="rId11"/>
    <p:sldId id="381" r:id="rId12"/>
    <p:sldId id="263" r:id="rId13"/>
    <p:sldId id="259" r:id="rId14"/>
    <p:sldId id="303" r:id="rId15"/>
    <p:sldId id="304" r:id="rId16"/>
    <p:sldId id="382" r:id="rId17"/>
    <p:sldId id="352" r:id="rId18"/>
    <p:sldId id="306" r:id="rId19"/>
    <p:sldId id="308" r:id="rId20"/>
    <p:sldId id="383" r:id="rId21"/>
    <p:sldId id="384" r:id="rId22"/>
    <p:sldId id="311" r:id="rId23"/>
    <p:sldId id="307" r:id="rId24"/>
    <p:sldId id="385" r:id="rId25"/>
    <p:sldId id="273" r:id="rId26"/>
    <p:sldId id="386" r:id="rId27"/>
    <p:sldId id="377" r:id="rId28"/>
    <p:sldId id="274" r:id="rId29"/>
    <p:sldId id="387" r:id="rId30"/>
    <p:sldId id="339" r:id="rId31"/>
    <p:sldId id="340" r:id="rId32"/>
    <p:sldId id="313" r:id="rId33"/>
    <p:sldId id="314" r:id="rId34"/>
    <p:sldId id="275" r:id="rId35"/>
    <p:sldId id="379" r:id="rId36"/>
    <p:sldId id="319" r:id="rId37"/>
    <p:sldId id="378" r:id="rId38"/>
    <p:sldId id="341" r:id="rId39"/>
    <p:sldId id="353" r:id="rId40"/>
    <p:sldId id="363" r:id="rId41"/>
    <p:sldId id="354" r:id="rId42"/>
    <p:sldId id="364" r:id="rId43"/>
    <p:sldId id="355" r:id="rId44"/>
    <p:sldId id="365" r:id="rId45"/>
    <p:sldId id="356" r:id="rId46"/>
    <p:sldId id="366" r:id="rId47"/>
    <p:sldId id="357" r:id="rId48"/>
    <p:sldId id="367" r:id="rId49"/>
    <p:sldId id="358" r:id="rId50"/>
    <p:sldId id="368" r:id="rId51"/>
    <p:sldId id="359" r:id="rId52"/>
    <p:sldId id="369" r:id="rId53"/>
    <p:sldId id="360" r:id="rId54"/>
    <p:sldId id="370" r:id="rId55"/>
    <p:sldId id="361" r:id="rId56"/>
    <p:sldId id="371" r:id="rId57"/>
    <p:sldId id="362" r:id="rId58"/>
    <p:sldId id="372" r:id="rId59"/>
    <p:sldId id="337" r:id="rId60"/>
  </p:sldIdLst>
  <p:sldSz cx="9144000" cy="6858000" type="screen4x3"/>
  <p:notesSz cx="7010400" cy="9236075"/>
  <p:defaultTextStyle>
    <a:defPPr>
      <a:defRPr lang="en-US"/>
    </a:defPPr>
    <a:lvl1pPr algn="l" rtl="0" eaLnBrk="0" fontAlgn="base" hangingPunct="0">
      <a:spcBef>
        <a:spcPct val="0"/>
      </a:spcBef>
      <a:spcAft>
        <a:spcPct val="0"/>
      </a:spcAft>
      <a:defRPr sz="4000" b="1"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4000" b="1"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4000" b="1"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4000" b="1"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4000" b="1"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4000" b="1"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4000" b="1"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4000" b="1"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4000" b="1"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mela Luu"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03" autoAdjust="0"/>
    <p:restoredTop sz="83140" autoAdjust="0"/>
  </p:normalViewPr>
  <p:slideViewPr>
    <p:cSldViewPr>
      <p:cViewPr varScale="1">
        <p:scale>
          <a:sx n="52" d="100"/>
          <a:sy n="52" d="100"/>
        </p:scale>
        <p:origin x="1436" y="24"/>
      </p:cViewPr>
      <p:guideLst>
        <p:guide orient="horz" pos="1008"/>
        <p:guide pos="4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1280" y="272"/>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CE171CD0-68D3-43EC-A6A3-C3415F130258}"/>
    <pc:docChg chg="custSel modSld modMainMaster">
      <pc:chgData name="Ben Pfeifer" userId="fb68dd40a6c6cee7" providerId="LiveId" clId="{CE171CD0-68D3-43EC-A6A3-C3415F130258}" dt="2023-09-26T07:43:24.440" v="41" actId="12385"/>
      <pc:docMkLst>
        <pc:docMk/>
      </pc:docMkLst>
      <pc:sldChg chg="modSp mod">
        <pc:chgData name="Ben Pfeifer" userId="fb68dd40a6c6cee7" providerId="LiveId" clId="{CE171CD0-68D3-43EC-A6A3-C3415F130258}" dt="2023-09-26T07:42:30.744" v="21" actId="12385"/>
        <pc:sldMkLst>
          <pc:docMk/>
          <pc:sldMk cId="2011585372" sldId="352"/>
        </pc:sldMkLst>
        <pc:graphicFrameChg chg="modGraphic">
          <ac:chgData name="Ben Pfeifer" userId="fb68dd40a6c6cee7" providerId="LiveId" clId="{CE171CD0-68D3-43EC-A6A3-C3415F130258}" dt="2023-09-26T07:42:30.744" v="21" actId="12385"/>
          <ac:graphicFrameMkLst>
            <pc:docMk/>
            <pc:sldMk cId="2011585372" sldId="352"/>
            <ac:graphicFrameMk id="8" creationId="{00000000-0000-0000-0000-000000000000}"/>
          </ac:graphicFrameMkLst>
        </pc:graphicFrameChg>
      </pc:sldChg>
      <pc:sldChg chg="modSp mod">
        <pc:chgData name="Ben Pfeifer" userId="fb68dd40a6c6cee7" providerId="LiveId" clId="{CE171CD0-68D3-43EC-A6A3-C3415F130258}" dt="2023-09-26T07:42:33.464" v="22" actId="12385"/>
        <pc:sldMkLst>
          <pc:docMk/>
          <pc:sldMk cId="919197897" sldId="353"/>
        </pc:sldMkLst>
        <pc:graphicFrameChg chg="modGraphic">
          <ac:chgData name="Ben Pfeifer" userId="fb68dd40a6c6cee7" providerId="LiveId" clId="{CE171CD0-68D3-43EC-A6A3-C3415F130258}" dt="2023-09-26T07:42:33.464" v="22" actId="12385"/>
          <ac:graphicFrameMkLst>
            <pc:docMk/>
            <pc:sldMk cId="919197897" sldId="353"/>
            <ac:graphicFrameMk id="7" creationId="{00000000-0000-0000-0000-000000000000}"/>
          </ac:graphicFrameMkLst>
        </pc:graphicFrameChg>
      </pc:sldChg>
      <pc:sldChg chg="modSp mod">
        <pc:chgData name="Ben Pfeifer" userId="fb68dd40a6c6cee7" providerId="LiveId" clId="{CE171CD0-68D3-43EC-A6A3-C3415F130258}" dt="2023-09-26T07:42:38.588" v="24" actId="12385"/>
        <pc:sldMkLst>
          <pc:docMk/>
          <pc:sldMk cId="2917350806" sldId="354"/>
        </pc:sldMkLst>
        <pc:graphicFrameChg chg="modGraphic">
          <ac:chgData name="Ben Pfeifer" userId="fb68dd40a6c6cee7" providerId="LiveId" clId="{CE171CD0-68D3-43EC-A6A3-C3415F130258}" dt="2023-09-26T07:42:38.588" v="24" actId="12385"/>
          <ac:graphicFrameMkLst>
            <pc:docMk/>
            <pc:sldMk cId="2917350806" sldId="354"/>
            <ac:graphicFrameMk id="7" creationId="{00000000-0000-0000-0000-000000000000}"/>
          </ac:graphicFrameMkLst>
        </pc:graphicFrameChg>
      </pc:sldChg>
      <pc:sldChg chg="modSp mod">
        <pc:chgData name="Ben Pfeifer" userId="fb68dd40a6c6cee7" providerId="LiveId" clId="{CE171CD0-68D3-43EC-A6A3-C3415F130258}" dt="2023-09-26T07:42:43.015" v="26" actId="12385"/>
        <pc:sldMkLst>
          <pc:docMk/>
          <pc:sldMk cId="1028525215" sldId="355"/>
        </pc:sldMkLst>
        <pc:graphicFrameChg chg="modGraphic">
          <ac:chgData name="Ben Pfeifer" userId="fb68dd40a6c6cee7" providerId="LiveId" clId="{CE171CD0-68D3-43EC-A6A3-C3415F130258}" dt="2023-09-26T07:42:43.015" v="26" actId="12385"/>
          <ac:graphicFrameMkLst>
            <pc:docMk/>
            <pc:sldMk cId="1028525215" sldId="355"/>
            <ac:graphicFrameMk id="7" creationId="{00000000-0000-0000-0000-000000000000}"/>
          </ac:graphicFrameMkLst>
        </pc:graphicFrameChg>
      </pc:sldChg>
      <pc:sldChg chg="modSp mod">
        <pc:chgData name="Ben Pfeifer" userId="fb68dd40a6c6cee7" providerId="LiveId" clId="{CE171CD0-68D3-43EC-A6A3-C3415F130258}" dt="2023-09-26T07:42:47.847" v="28" actId="12385"/>
        <pc:sldMkLst>
          <pc:docMk/>
          <pc:sldMk cId="3623918565" sldId="356"/>
        </pc:sldMkLst>
        <pc:graphicFrameChg chg="modGraphic">
          <ac:chgData name="Ben Pfeifer" userId="fb68dd40a6c6cee7" providerId="LiveId" clId="{CE171CD0-68D3-43EC-A6A3-C3415F130258}" dt="2023-09-26T07:42:47.847" v="28" actId="12385"/>
          <ac:graphicFrameMkLst>
            <pc:docMk/>
            <pc:sldMk cId="3623918565" sldId="356"/>
            <ac:graphicFrameMk id="7" creationId="{00000000-0000-0000-0000-000000000000}"/>
          </ac:graphicFrameMkLst>
        </pc:graphicFrameChg>
      </pc:sldChg>
      <pc:sldChg chg="modSp mod">
        <pc:chgData name="Ben Pfeifer" userId="fb68dd40a6c6cee7" providerId="LiveId" clId="{CE171CD0-68D3-43EC-A6A3-C3415F130258}" dt="2023-09-26T07:42:52.254" v="30" actId="12385"/>
        <pc:sldMkLst>
          <pc:docMk/>
          <pc:sldMk cId="3310513262" sldId="357"/>
        </pc:sldMkLst>
        <pc:graphicFrameChg chg="modGraphic">
          <ac:chgData name="Ben Pfeifer" userId="fb68dd40a6c6cee7" providerId="LiveId" clId="{CE171CD0-68D3-43EC-A6A3-C3415F130258}" dt="2023-09-26T07:42:52.254" v="30" actId="12385"/>
          <ac:graphicFrameMkLst>
            <pc:docMk/>
            <pc:sldMk cId="3310513262" sldId="357"/>
            <ac:graphicFrameMk id="7" creationId="{00000000-0000-0000-0000-000000000000}"/>
          </ac:graphicFrameMkLst>
        </pc:graphicFrameChg>
      </pc:sldChg>
      <pc:sldChg chg="modSp mod">
        <pc:chgData name="Ben Pfeifer" userId="fb68dd40a6c6cee7" providerId="LiveId" clId="{CE171CD0-68D3-43EC-A6A3-C3415F130258}" dt="2023-09-26T07:42:57.656" v="32" actId="12385"/>
        <pc:sldMkLst>
          <pc:docMk/>
          <pc:sldMk cId="1038401179" sldId="358"/>
        </pc:sldMkLst>
        <pc:graphicFrameChg chg="modGraphic">
          <ac:chgData name="Ben Pfeifer" userId="fb68dd40a6c6cee7" providerId="LiveId" clId="{CE171CD0-68D3-43EC-A6A3-C3415F130258}" dt="2023-09-26T07:42:57.656" v="32" actId="12385"/>
          <ac:graphicFrameMkLst>
            <pc:docMk/>
            <pc:sldMk cId="1038401179" sldId="358"/>
            <ac:graphicFrameMk id="7" creationId="{00000000-0000-0000-0000-000000000000}"/>
          </ac:graphicFrameMkLst>
        </pc:graphicFrameChg>
      </pc:sldChg>
      <pc:sldChg chg="modSp mod">
        <pc:chgData name="Ben Pfeifer" userId="fb68dd40a6c6cee7" providerId="LiveId" clId="{CE171CD0-68D3-43EC-A6A3-C3415F130258}" dt="2023-09-26T07:43:03.894" v="34" actId="12385"/>
        <pc:sldMkLst>
          <pc:docMk/>
          <pc:sldMk cId="2800522120" sldId="359"/>
        </pc:sldMkLst>
        <pc:graphicFrameChg chg="modGraphic">
          <ac:chgData name="Ben Pfeifer" userId="fb68dd40a6c6cee7" providerId="LiveId" clId="{CE171CD0-68D3-43EC-A6A3-C3415F130258}" dt="2023-09-26T07:43:03.894" v="34" actId="12385"/>
          <ac:graphicFrameMkLst>
            <pc:docMk/>
            <pc:sldMk cId="2800522120" sldId="359"/>
            <ac:graphicFrameMk id="7" creationId="{00000000-0000-0000-0000-000000000000}"/>
          </ac:graphicFrameMkLst>
        </pc:graphicFrameChg>
      </pc:sldChg>
      <pc:sldChg chg="modSp mod">
        <pc:chgData name="Ben Pfeifer" userId="fb68dd40a6c6cee7" providerId="LiveId" clId="{CE171CD0-68D3-43EC-A6A3-C3415F130258}" dt="2023-09-26T07:43:08.773" v="36" actId="12385"/>
        <pc:sldMkLst>
          <pc:docMk/>
          <pc:sldMk cId="1223446068" sldId="360"/>
        </pc:sldMkLst>
        <pc:graphicFrameChg chg="modGraphic">
          <ac:chgData name="Ben Pfeifer" userId="fb68dd40a6c6cee7" providerId="LiveId" clId="{CE171CD0-68D3-43EC-A6A3-C3415F130258}" dt="2023-09-26T07:43:08.773" v="36" actId="12385"/>
          <ac:graphicFrameMkLst>
            <pc:docMk/>
            <pc:sldMk cId="1223446068" sldId="360"/>
            <ac:graphicFrameMk id="7" creationId="{00000000-0000-0000-0000-000000000000}"/>
          </ac:graphicFrameMkLst>
        </pc:graphicFrameChg>
      </pc:sldChg>
      <pc:sldChg chg="modSp mod">
        <pc:chgData name="Ben Pfeifer" userId="fb68dd40a6c6cee7" providerId="LiveId" clId="{CE171CD0-68D3-43EC-A6A3-C3415F130258}" dt="2023-09-26T07:43:17.924" v="38" actId="12385"/>
        <pc:sldMkLst>
          <pc:docMk/>
          <pc:sldMk cId="4019972672" sldId="361"/>
        </pc:sldMkLst>
        <pc:graphicFrameChg chg="modGraphic">
          <ac:chgData name="Ben Pfeifer" userId="fb68dd40a6c6cee7" providerId="LiveId" clId="{CE171CD0-68D3-43EC-A6A3-C3415F130258}" dt="2023-09-26T07:43:17.924" v="38" actId="12385"/>
          <ac:graphicFrameMkLst>
            <pc:docMk/>
            <pc:sldMk cId="4019972672" sldId="361"/>
            <ac:graphicFrameMk id="7" creationId="{00000000-0000-0000-0000-000000000000}"/>
          </ac:graphicFrameMkLst>
        </pc:graphicFrameChg>
      </pc:sldChg>
      <pc:sldChg chg="modSp mod">
        <pc:chgData name="Ben Pfeifer" userId="fb68dd40a6c6cee7" providerId="LiveId" clId="{CE171CD0-68D3-43EC-A6A3-C3415F130258}" dt="2023-09-26T07:43:22.288" v="40" actId="12385"/>
        <pc:sldMkLst>
          <pc:docMk/>
          <pc:sldMk cId="2789572415" sldId="362"/>
        </pc:sldMkLst>
        <pc:graphicFrameChg chg="modGraphic">
          <ac:chgData name="Ben Pfeifer" userId="fb68dd40a6c6cee7" providerId="LiveId" clId="{CE171CD0-68D3-43EC-A6A3-C3415F130258}" dt="2023-09-26T07:43:22.288" v="40" actId="12385"/>
          <ac:graphicFrameMkLst>
            <pc:docMk/>
            <pc:sldMk cId="2789572415" sldId="362"/>
            <ac:graphicFrameMk id="7" creationId="{00000000-0000-0000-0000-000000000000}"/>
          </ac:graphicFrameMkLst>
        </pc:graphicFrameChg>
      </pc:sldChg>
      <pc:sldChg chg="modSp mod">
        <pc:chgData name="Ben Pfeifer" userId="fb68dd40a6c6cee7" providerId="LiveId" clId="{CE171CD0-68D3-43EC-A6A3-C3415F130258}" dt="2023-09-26T07:42:35.995" v="23" actId="12385"/>
        <pc:sldMkLst>
          <pc:docMk/>
          <pc:sldMk cId="2582706745" sldId="363"/>
        </pc:sldMkLst>
        <pc:graphicFrameChg chg="modGraphic">
          <ac:chgData name="Ben Pfeifer" userId="fb68dd40a6c6cee7" providerId="LiveId" clId="{CE171CD0-68D3-43EC-A6A3-C3415F130258}" dt="2023-09-26T07:42:35.995" v="23" actId="12385"/>
          <ac:graphicFrameMkLst>
            <pc:docMk/>
            <pc:sldMk cId="2582706745" sldId="363"/>
            <ac:graphicFrameMk id="7" creationId="{00000000-0000-0000-0000-000000000000}"/>
          </ac:graphicFrameMkLst>
        </pc:graphicFrameChg>
      </pc:sldChg>
      <pc:sldChg chg="modSp mod">
        <pc:chgData name="Ben Pfeifer" userId="fb68dd40a6c6cee7" providerId="LiveId" clId="{CE171CD0-68D3-43EC-A6A3-C3415F130258}" dt="2023-09-26T07:42:40.823" v="25" actId="12385"/>
        <pc:sldMkLst>
          <pc:docMk/>
          <pc:sldMk cId="2272269541" sldId="364"/>
        </pc:sldMkLst>
        <pc:graphicFrameChg chg="modGraphic">
          <ac:chgData name="Ben Pfeifer" userId="fb68dd40a6c6cee7" providerId="LiveId" clId="{CE171CD0-68D3-43EC-A6A3-C3415F130258}" dt="2023-09-26T07:42:40.823" v="25" actId="12385"/>
          <ac:graphicFrameMkLst>
            <pc:docMk/>
            <pc:sldMk cId="2272269541" sldId="364"/>
            <ac:graphicFrameMk id="7" creationId="{00000000-0000-0000-0000-000000000000}"/>
          </ac:graphicFrameMkLst>
        </pc:graphicFrameChg>
      </pc:sldChg>
      <pc:sldChg chg="modSp mod">
        <pc:chgData name="Ben Pfeifer" userId="fb68dd40a6c6cee7" providerId="LiveId" clId="{CE171CD0-68D3-43EC-A6A3-C3415F130258}" dt="2023-09-26T07:42:45.612" v="27" actId="12385"/>
        <pc:sldMkLst>
          <pc:docMk/>
          <pc:sldMk cId="1228518120" sldId="365"/>
        </pc:sldMkLst>
        <pc:graphicFrameChg chg="modGraphic">
          <ac:chgData name="Ben Pfeifer" userId="fb68dd40a6c6cee7" providerId="LiveId" clId="{CE171CD0-68D3-43EC-A6A3-C3415F130258}" dt="2023-09-26T07:42:45.612" v="27" actId="12385"/>
          <ac:graphicFrameMkLst>
            <pc:docMk/>
            <pc:sldMk cId="1228518120" sldId="365"/>
            <ac:graphicFrameMk id="7" creationId="{00000000-0000-0000-0000-000000000000}"/>
          </ac:graphicFrameMkLst>
        </pc:graphicFrameChg>
      </pc:sldChg>
      <pc:sldChg chg="modSp mod">
        <pc:chgData name="Ben Pfeifer" userId="fb68dd40a6c6cee7" providerId="LiveId" clId="{CE171CD0-68D3-43EC-A6A3-C3415F130258}" dt="2023-09-26T07:42:49.973" v="29" actId="12385"/>
        <pc:sldMkLst>
          <pc:docMk/>
          <pc:sldMk cId="2278008579" sldId="366"/>
        </pc:sldMkLst>
        <pc:graphicFrameChg chg="modGraphic">
          <ac:chgData name="Ben Pfeifer" userId="fb68dd40a6c6cee7" providerId="LiveId" clId="{CE171CD0-68D3-43EC-A6A3-C3415F130258}" dt="2023-09-26T07:42:49.973" v="29" actId="12385"/>
          <ac:graphicFrameMkLst>
            <pc:docMk/>
            <pc:sldMk cId="2278008579" sldId="366"/>
            <ac:graphicFrameMk id="7" creationId="{00000000-0000-0000-0000-000000000000}"/>
          </ac:graphicFrameMkLst>
        </pc:graphicFrameChg>
      </pc:sldChg>
      <pc:sldChg chg="modSp mod">
        <pc:chgData name="Ben Pfeifer" userId="fb68dd40a6c6cee7" providerId="LiveId" clId="{CE171CD0-68D3-43EC-A6A3-C3415F130258}" dt="2023-09-26T07:42:54.908" v="31" actId="12385"/>
        <pc:sldMkLst>
          <pc:docMk/>
          <pc:sldMk cId="1801103423" sldId="367"/>
        </pc:sldMkLst>
        <pc:graphicFrameChg chg="modGraphic">
          <ac:chgData name="Ben Pfeifer" userId="fb68dd40a6c6cee7" providerId="LiveId" clId="{CE171CD0-68D3-43EC-A6A3-C3415F130258}" dt="2023-09-26T07:42:54.908" v="31" actId="12385"/>
          <ac:graphicFrameMkLst>
            <pc:docMk/>
            <pc:sldMk cId="1801103423" sldId="367"/>
            <ac:graphicFrameMk id="7" creationId="{00000000-0000-0000-0000-000000000000}"/>
          </ac:graphicFrameMkLst>
        </pc:graphicFrameChg>
      </pc:sldChg>
      <pc:sldChg chg="modSp mod">
        <pc:chgData name="Ben Pfeifer" userId="fb68dd40a6c6cee7" providerId="LiveId" clId="{CE171CD0-68D3-43EC-A6A3-C3415F130258}" dt="2023-09-26T07:43:01.798" v="33" actId="12385"/>
        <pc:sldMkLst>
          <pc:docMk/>
          <pc:sldMk cId="2512979459" sldId="368"/>
        </pc:sldMkLst>
        <pc:graphicFrameChg chg="modGraphic">
          <ac:chgData name="Ben Pfeifer" userId="fb68dd40a6c6cee7" providerId="LiveId" clId="{CE171CD0-68D3-43EC-A6A3-C3415F130258}" dt="2023-09-26T07:43:01.798" v="33" actId="12385"/>
          <ac:graphicFrameMkLst>
            <pc:docMk/>
            <pc:sldMk cId="2512979459" sldId="368"/>
            <ac:graphicFrameMk id="7" creationId="{00000000-0000-0000-0000-000000000000}"/>
          </ac:graphicFrameMkLst>
        </pc:graphicFrameChg>
      </pc:sldChg>
      <pc:sldChg chg="modSp mod">
        <pc:chgData name="Ben Pfeifer" userId="fb68dd40a6c6cee7" providerId="LiveId" clId="{CE171CD0-68D3-43EC-A6A3-C3415F130258}" dt="2023-09-26T07:43:05.992" v="35" actId="12385"/>
        <pc:sldMkLst>
          <pc:docMk/>
          <pc:sldMk cId="4110305817" sldId="369"/>
        </pc:sldMkLst>
        <pc:graphicFrameChg chg="modGraphic">
          <ac:chgData name="Ben Pfeifer" userId="fb68dd40a6c6cee7" providerId="LiveId" clId="{CE171CD0-68D3-43EC-A6A3-C3415F130258}" dt="2023-09-26T07:43:05.992" v="35" actId="12385"/>
          <ac:graphicFrameMkLst>
            <pc:docMk/>
            <pc:sldMk cId="4110305817" sldId="369"/>
            <ac:graphicFrameMk id="7" creationId="{00000000-0000-0000-0000-000000000000}"/>
          </ac:graphicFrameMkLst>
        </pc:graphicFrameChg>
      </pc:sldChg>
      <pc:sldChg chg="modSp mod">
        <pc:chgData name="Ben Pfeifer" userId="fb68dd40a6c6cee7" providerId="LiveId" clId="{CE171CD0-68D3-43EC-A6A3-C3415F130258}" dt="2023-09-26T07:43:11.094" v="37" actId="12385"/>
        <pc:sldMkLst>
          <pc:docMk/>
          <pc:sldMk cId="2434361981" sldId="370"/>
        </pc:sldMkLst>
        <pc:graphicFrameChg chg="modGraphic">
          <ac:chgData name="Ben Pfeifer" userId="fb68dd40a6c6cee7" providerId="LiveId" clId="{CE171CD0-68D3-43EC-A6A3-C3415F130258}" dt="2023-09-26T07:43:11.094" v="37" actId="12385"/>
          <ac:graphicFrameMkLst>
            <pc:docMk/>
            <pc:sldMk cId="2434361981" sldId="370"/>
            <ac:graphicFrameMk id="7" creationId="{00000000-0000-0000-0000-000000000000}"/>
          </ac:graphicFrameMkLst>
        </pc:graphicFrameChg>
      </pc:sldChg>
      <pc:sldChg chg="modSp mod">
        <pc:chgData name="Ben Pfeifer" userId="fb68dd40a6c6cee7" providerId="LiveId" clId="{CE171CD0-68D3-43EC-A6A3-C3415F130258}" dt="2023-09-26T07:43:20.181" v="39" actId="12385"/>
        <pc:sldMkLst>
          <pc:docMk/>
          <pc:sldMk cId="88183092" sldId="371"/>
        </pc:sldMkLst>
        <pc:graphicFrameChg chg="modGraphic">
          <ac:chgData name="Ben Pfeifer" userId="fb68dd40a6c6cee7" providerId="LiveId" clId="{CE171CD0-68D3-43EC-A6A3-C3415F130258}" dt="2023-09-26T07:43:20.181" v="39" actId="12385"/>
          <ac:graphicFrameMkLst>
            <pc:docMk/>
            <pc:sldMk cId="88183092" sldId="371"/>
            <ac:graphicFrameMk id="7" creationId="{00000000-0000-0000-0000-000000000000}"/>
          </ac:graphicFrameMkLst>
        </pc:graphicFrameChg>
      </pc:sldChg>
      <pc:sldChg chg="modSp mod">
        <pc:chgData name="Ben Pfeifer" userId="fb68dd40a6c6cee7" providerId="LiveId" clId="{CE171CD0-68D3-43EC-A6A3-C3415F130258}" dt="2023-09-26T07:43:24.440" v="41" actId="12385"/>
        <pc:sldMkLst>
          <pc:docMk/>
          <pc:sldMk cId="3673342562" sldId="372"/>
        </pc:sldMkLst>
        <pc:graphicFrameChg chg="modGraphic">
          <ac:chgData name="Ben Pfeifer" userId="fb68dd40a6c6cee7" providerId="LiveId" clId="{CE171CD0-68D3-43EC-A6A3-C3415F130258}" dt="2023-09-26T07:43:24.440" v="41" actId="12385"/>
          <ac:graphicFrameMkLst>
            <pc:docMk/>
            <pc:sldMk cId="3673342562" sldId="372"/>
            <ac:graphicFrameMk id="7" creationId="{00000000-0000-0000-0000-000000000000}"/>
          </ac:graphicFrameMkLst>
        </pc:graphicFrameChg>
      </pc:sldChg>
      <pc:sldChg chg="modSp mod">
        <pc:chgData name="Ben Pfeifer" userId="fb68dd40a6c6cee7" providerId="LiveId" clId="{CE171CD0-68D3-43EC-A6A3-C3415F130258}" dt="2023-09-26T06:49:04.012" v="1" actId="20577"/>
        <pc:sldMkLst>
          <pc:docMk/>
          <pc:sldMk cId="2637947805" sldId="373"/>
        </pc:sldMkLst>
        <pc:spChg chg="mod">
          <ac:chgData name="Ben Pfeifer" userId="fb68dd40a6c6cee7" providerId="LiveId" clId="{CE171CD0-68D3-43EC-A6A3-C3415F130258}" dt="2023-09-26T06:49:04.012" v="1" actId="20577"/>
          <ac:spMkLst>
            <pc:docMk/>
            <pc:sldMk cId="2637947805" sldId="373"/>
            <ac:spMk id="2" creationId="{00000000-0000-0000-0000-000000000000}"/>
          </ac:spMkLst>
        </pc:spChg>
      </pc:sldChg>
      <pc:sldChg chg="delSp mod">
        <pc:chgData name="Ben Pfeifer" userId="fb68dd40a6c6cee7" providerId="LiveId" clId="{CE171CD0-68D3-43EC-A6A3-C3415F130258}" dt="2023-09-26T06:51:11.575" v="7" actId="478"/>
        <pc:sldMkLst>
          <pc:docMk/>
          <pc:sldMk cId="4024245958" sldId="375"/>
        </pc:sldMkLst>
        <pc:spChg chg="del">
          <ac:chgData name="Ben Pfeifer" userId="fb68dd40a6c6cee7" providerId="LiveId" clId="{CE171CD0-68D3-43EC-A6A3-C3415F130258}" dt="2023-09-26T06:51:11.575" v="7" actId="478"/>
          <ac:spMkLst>
            <pc:docMk/>
            <pc:sldMk cId="4024245958" sldId="375"/>
            <ac:spMk id="3" creationId="{00000000-0000-0000-0000-000000000000}"/>
          </ac:spMkLst>
        </pc:spChg>
      </pc:sldChg>
      <pc:sldChg chg="delSp mod">
        <pc:chgData name="Ben Pfeifer" userId="fb68dd40a6c6cee7" providerId="LiveId" clId="{CE171CD0-68D3-43EC-A6A3-C3415F130258}" dt="2023-09-26T06:53:01.175" v="13" actId="478"/>
        <pc:sldMkLst>
          <pc:docMk/>
          <pc:sldMk cId="576797032" sldId="377"/>
        </pc:sldMkLst>
        <pc:spChg chg="del">
          <ac:chgData name="Ben Pfeifer" userId="fb68dd40a6c6cee7" providerId="LiveId" clId="{CE171CD0-68D3-43EC-A6A3-C3415F130258}" dt="2023-09-26T06:53:01.175" v="13" actId="478"/>
          <ac:spMkLst>
            <pc:docMk/>
            <pc:sldMk cId="576797032" sldId="377"/>
            <ac:spMk id="4" creationId="{00000000-0000-0000-0000-000000000000}"/>
          </ac:spMkLst>
        </pc:spChg>
      </pc:sldChg>
      <pc:sldChg chg="modSp mod">
        <pc:chgData name="Ben Pfeifer" userId="fb68dd40a6c6cee7" providerId="LiveId" clId="{CE171CD0-68D3-43EC-A6A3-C3415F130258}" dt="2023-09-26T07:42:18.641" v="20" actId="14100"/>
        <pc:sldMkLst>
          <pc:docMk/>
          <pc:sldMk cId="2783367959" sldId="379"/>
        </pc:sldMkLst>
        <pc:spChg chg="mod">
          <ac:chgData name="Ben Pfeifer" userId="fb68dd40a6c6cee7" providerId="LiveId" clId="{CE171CD0-68D3-43EC-A6A3-C3415F130258}" dt="2023-09-26T07:42:18.641" v="20" actId="14100"/>
          <ac:spMkLst>
            <pc:docMk/>
            <pc:sldMk cId="2783367959" sldId="379"/>
            <ac:spMk id="2" creationId="{00000000-0000-0000-0000-000000000000}"/>
          </ac:spMkLst>
        </pc:spChg>
        <pc:spChg chg="mod ord">
          <ac:chgData name="Ben Pfeifer" userId="fb68dd40a6c6cee7" providerId="LiveId" clId="{CE171CD0-68D3-43EC-A6A3-C3415F130258}" dt="2023-09-26T07:41:55.252" v="18" actId="14100"/>
          <ac:spMkLst>
            <pc:docMk/>
            <pc:sldMk cId="2783367959" sldId="379"/>
            <ac:spMk id="4" creationId="{00000000-0000-0000-0000-000000000000}"/>
          </ac:spMkLst>
        </pc:spChg>
        <pc:spChg chg="ord">
          <ac:chgData name="Ben Pfeifer" userId="fb68dd40a6c6cee7" providerId="LiveId" clId="{CE171CD0-68D3-43EC-A6A3-C3415F130258}" dt="2023-09-26T07:41:07.768" v="14" actId="13244"/>
          <ac:spMkLst>
            <pc:docMk/>
            <pc:sldMk cId="2783367959" sldId="379"/>
            <ac:spMk id="5" creationId="{00000000-0000-0000-0000-000000000000}"/>
          </ac:spMkLst>
        </pc:spChg>
        <pc:picChg chg="ord">
          <ac:chgData name="Ben Pfeifer" userId="fb68dd40a6c6cee7" providerId="LiveId" clId="{CE171CD0-68D3-43EC-A6A3-C3415F130258}" dt="2023-09-26T07:42:09.069" v="19" actId="13244"/>
          <ac:picMkLst>
            <pc:docMk/>
            <pc:sldMk cId="2783367959" sldId="379"/>
            <ac:picMk id="6" creationId="{00000000-0000-0000-0000-000000000000}"/>
          </ac:picMkLst>
        </pc:picChg>
      </pc:sldChg>
      <pc:sldChg chg="delSp mod">
        <pc:chgData name="Ben Pfeifer" userId="fb68dd40a6c6cee7" providerId="LiveId" clId="{CE171CD0-68D3-43EC-A6A3-C3415F130258}" dt="2023-09-26T06:51:46.808" v="8" actId="478"/>
        <pc:sldMkLst>
          <pc:docMk/>
          <pc:sldMk cId="1916961157" sldId="380"/>
        </pc:sldMkLst>
        <pc:spChg chg="del">
          <ac:chgData name="Ben Pfeifer" userId="fb68dd40a6c6cee7" providerId="LiveId" clId="{CE171CD0-68D3-43EC-A6A3-C3415F130258}" dt="2023-09-26T06:51:46.808" v="8" actId="478"/>
          <ac:spMkLst>
            <pc:docMk/>
            <pc:sldMk cId="1916961157" sldId="380"/>
            <ac:spMk id="5" creationId="{00000000-0000-0000-0000-000000000000}"/>
          </ac:spMkLst>
        </pc:spChg>
      </pc:sldChg>
      <pc:sldChg chg="delSp mod">
        <pc:chgData name="Ben Pfeifer" userId="fb68dd40a6c6cee7" providerId="LiveId" clId="{CE171CD0-68D3-43EC-A6A3-C3415F130258}" dt="2023-09-26T06:51:57.671" v="9" actId="478"/>
        <pc:sldMkLst>
          <pc:docMk/>
          <pc:sldMk cId="308903125" sldId="381"/>
        </pc:sldMkLst>
        <pc:spChg chg="del">
          <ac:chgData name="Ben Pfeifer" userId="fb68dd40a6c6cee7" providerId="LiveId" clId="{CE171CD0-68D3-43EC-A6A3-C3415F130258}" dt="2023-09-26T06:51:57.671" v="9" actId="478"/>
          <ac:spMkLst>
            <pc:docMk/>
            <pc:sldMk cId="308903125" sldId="381"/>
            <ac:spMk id="5" creationId="{00000000-0000-0000-0000-000000000000}"/>
          </ac:spMkLst>
        </pc:spChg>
      </pc:sldChg>
      <pc:sldChg chg="delSp mod">
        <pc:chgData name="Ben Pfeifer" userId="fb68dd40a6c6cee7" providerId="LiveId" clId="{CE171CD0-68D3-43EC-A6A3-C3415F130258}" dt="2023-09-26T06:52:12.826" v="10" actId="478"/>
        <pc:sldMkLst>
          <pc:docMk/>
          <pc:sldMk cId="1195364535" sldId="382"/>
        </pc:sldMkLst>
        <pc:spChg chg="del">
          <ac:chgData name="Ben Pfeifer" userId="fb68dd40a6c6cee7" providerId="LiveId" clId="{CE171CD0-68D3-43EC-A6A3-C3415F130258}" dt="2023-09-26T06:52:12.826" v="10" actId="478"/>
          <ac:spMkLst>
            <pc:docMk/>
            <pc:sldMk cId="1195364535" sldId="382"/>
            <ac:spMk id="5" creationId="{00000000-0000-0000-0000-000000000000}"/>
          </ac:spMkLst>
        </pc:spChg>
      </pc:sldChg>
      <pc:sldChg chg="delSp mod">
        <pc:chgData name="Ben Pfeifer" userId="fb68dd40a6c6cee7" providerId="LiveId" clId="{CE171CD0-68D3-43EC-A6A3-C3415F130258}" dt="2023-09-26T06:52:41.692" v="11" actId="478"/>
        <pc:sldMkLst>
          <pc:docMk/>
          <pc:sldMk cId="3127447534" sldId="385"/>
        </pc:sldMkLst>
        <pc:spChg chg="del">
          <ac:chgData name="Ben Pfeifer" userId="fb68dd40a6c6cee7" providerId="LiveId" clId="{CE171CD0-68D3-43EC-A6A3-C3415F130258}" dt="2023-09-26T06:52:41.692" v="11" actId="478"/>
          <ac:spMkLst>
            <pc:docMk/>
            <pc:sldMk cId="3127447534" sldId="385"/>
            <ac:spMk id="4" creationId="{00000000-0000-0000-0000-000000000000}"/>
          </ac:spMkLst>
        </pc:spChg>
      </pc:sldChg>
      <pc:sldChg chg="delSp mod">
        <pc:chgData name="Ben Pfeifer" userId="fb68dd40a6c6cee7" providerId="LiveId" clId="{CE171CD0-68D3-43EC-A6A3-C3415F130258}" dt="2023-09-26T06:52:50.422" v="12" actId="478"/>
        <pc:sldMkLst>
          <pc:docMk/>
          <pc:sldMk cId="998588928" sldId="386"/>
        </pc:sldMkLst>
        <pc:spChg chg="del">
          <ac:chgData name="Ben Pfeifer" userId="fb68dd40a6c6cee7" providerId="LiveId" clId="{CE171CD0-68D3-43EC-A6A3-C3415F130258}" dt="2023-09-26T06:52:50.422" v="12" actId="478"/>
          <ac:spMkLst>
            <pc:docMk/>
            <pc:sldMk cId="998588928" sldId="386"/>
            <ac:spMk id="4" creationId="{00000000-0000-0000-0000-000000000000}"/>
          </ac:spMkLst>
        </pc:spChg>
      </pc:sldChg>
      <pc:sldMasterChg chg="modSp mod modSldLayout">
        <pc:chgData name="Ben Pfeifer" userId="fb68dd40a6c6cee7" providerId="LiveId" clId="{CE171CD0-68D3-43EC-A6A3-C3415F130258}" dt="2023-09-26T06:50:45.546" v="6" actId="20577"/>
        <pc:sldMasterMkLst>
          <pc:docMk/>
          <pc:sldMasterMk cId="0" sldId="2147483770"/>
        </pc:sldMasterMkLst>
        <pc:spChg chg="mod">
          <ac:chgData name="Ben Pfeifer" userId="fb68dd40a6c6cee7" providerId="LiveId" clId="{CE171CD0-68D3-43EC-A6A3-C3415F130258}" dt="2023-09-26T06:50:45.546" v="6" actId="20577"/>
          <ac:spMkLst>
            <pc:docMk/>
            <pc:sldMasterMk cId="0" sldId="2147483770"/>
            <ac:spMk id="1031" creationId="{00000000-0000-0000-0000-000000000000}"/>
          </ac:spMkLst>
        </pc:spChg>
        <pc:sldLayoutChg chg="modSp mod">
          <pc:chgData name="Ben Pfeifer" userId="fb68dd40a6c6cee7" providerId="LiveId" clId="{CE171CD0-68D3-43EC-A6A3-C3415F130258}" dt="2023-09-26T06:49:56.743" v="2" actId="1076"/>
          <pc:sldLayoutMkLst>
            <pc:docMk/>
            <pc:sldMasterMk cId="0" sldId="2147483770"/>
            <pc:sldLayoutMk cId="2374376880" sldId="2147484105"/>
          </pc:sldLayoutMkLst>
          <pc:spChg chg="mod">
            <ac:chgData name="Ben Pfeifer" userId="fb68dd40a6c6cee7" providerId="LiveId" clId="{CE171CD0-68D3-43EC-A6A3-C3415F130258}" dt="2023-09-26T06:49:56.743" v="2" actId="1076"/>
            <ac:spMkLst>
              <pc:docMk/>
              <pc:sldMasterMk cId="0" sldId="2147483770"/>
              <pc:sldLayoutMk cId="2374376880" sldId="2147484105"/>
              <ac:spMk id="4"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9442" name="Rectangle 2"/>
          <p:cNvSpPr>
            <a:spLocks noGrp="1" noChangeArrowheads="1"/>
          </p:cNvSpPr>
          <p:nvPr>
            <p:ph type="hdr" sz="quarter"/>
          </p:nvPr>
        </p:nvSpPr>
        <p:spPr bwMode="auto">
          <a:xfrm>
            <a:off x="0" y="0"/>
            <a:ext cx="3038475" cy="461963"/>
          </a:xfrm>
          <a:prstGeom prst="rect">
            <a:avLst/>
          </a:prstGeom>
          <a:noFill/>
          <a:ln w="12700" cap="sq">
            <a:noFill/>
            <a:miter lim="800000"/>
            <a:headEnd type="none" w="sm" len="sm"/>
            <a:tailEnd type="none" w="sm" len="sm"/>
          </a:ln>
          <a:effectLst/>
        </p:spPr>
        <p:txBody>
          <a:bodyPr vert="horz" wrap="none" lIns="92830" tIns="46415" rIns="92830" bIns="46415" numCol="1" anchor="t" anchorCtr="0" compatLnSpc="1">
            <a:prstTxWarp prst="textNoShape">
              <a:avLst/>
            </a:prstTxWarp>
          </a:bodyPr>
          <a:lstStyle>
            <a:lvl1pPr eaLnBrk="1" hangingPunct="1">
              <a:defRPr sz="1200" b="0">
                <a:latin typeface="Times New Roman" pitchFamily="80" charset="0"/>
                <a:ea typeface="+mn-ea"/>
                <a:cs typeface="+mn-cs"/>
              </a:defRPr>
            </a:lvl1pPr>
          </a:lstStyle>
          <a:p>
            <a:pPr>
              <a:defRPr/>
            </a:pPr>
            <a:endParaRPr lang="en-US"/>
          </a:p>
        </p:txBody>
      </p:sp>
      <p:sp>
        <p:nvSpPr>
          <p:cNvPr id="189443" name="Rectangle 3"/>
          <p:cNvSpPr>
            <a:spLocks noGrp="1" noChangeArrowheads="1"/>
          </p:cNvSpPr>
          <p:nvPr>
            <p:ph type="dt" sz="quarter" idx="1"/>
          </p:nvPr>
        </p:nvSpPr>
        <p:spPr bwMode="auto">
          <a:xfrm>
            <a:off x="3971925" y="0"/>
            <a:ext cx="3038475" cy="461963"/>
          </a:xfrm>
          <a:prstGeom prst="rect">
            <a:avLst/>
          </a:prstGeom>
          <a:noFill/>
          <a:ln w="12700" cap="sq">
            <a:noFill/>
            <a:miter lim="800000"/>
            <a:headEnd type="none" w="sm" len="sm"/>
            <a:tailEnd type="none" w="sm" len="sm"/>
          </a:ln>
          <a:effectLst/>
        </p:spPr>
        <p:txBody>
          <a:bodyPr vert="horz" wrap="none" lIns="92830" tIns="46415" rIns="92830" bIns="46415" numCol="1" anchor="t" anchorCtr="0" compatLnSpc="1">
            <a:prstTxWarp prst="textNoShape">
              <a:avLst/>
            </a:prstTxWarp>
          </a:bodyPr>
          <a:lstStyle>
            <a:lvl1pPr algn="r" eaLnBrk="1" hangingPunct="1">
              <a:defRPr sz="1200" b="0">
                <a:latin typeface="Times New Roman" pitchFamily="80" charset="0"/>
                <a:ea typeface="+mn-ea"/>
                <a:cs typeface="+mn-cs"/>
              </a:defRPr>
            </a:lvl1pPr>
          </a:lstStyle>
          <a:p>
            <a:pPr>
              <a:defRPr/>
            </a:pPr>
            <a:endParaRPr lang="en-US"/>
          </a:p>
        </p:txBody>
      </p:sp>
      <p:sp>
        <p:nvSpPr>
          <p:cNvPr id="189444" name="Rectangle 4"/>
          <p:cNvSpPr>
            <a:spLocks noGrp="1" noChangeArrowheads="1"/>
          </p:cNvSpPr>
          <p:nvPr>
            <p:ph type="ftr" sz="quarter" idx="2"/>
          </p:nvPr>
        </p:nvSpPr>
        <p:spPr bwMode="auto">
          <a:xfrm>
            <a:off x="0" y="8774113"/>
            <a:ext cx="3038475" cy="461962"/>
          </a:xfrm>
          <a:prstGeom prst="rect">
            <a:avLst/>
          </a:prstGeom>
          <a:noFill/>
          <a:ln w="12700" cap="sq">
            <a:noFill/>
            <a:miter lim="800000"/>
            <a:headEnd type="none" w="sm" len="sm"/>
            <a:tailEnd type="none" w="sm" len="sm"/>
          </a:ln>
          <a:effectLst/>
        </p:spPr>
        <p:txBody>
          <a:bodyPr vert="horz" wrap="none" lIns="92830" tIns="46415" rIns="92830" bIns="46415" numCol="1" anchor="b" anchorCtr="0" compatLnSpc="1">
            <a:prstTxWarp prst="textNoShape">
              <a:avLst/>
            </a:prstTxWarp>
          </a:bodyPr>
          <a:lstStyle>
            <a:lvl1pPr eaLnBrk="1" hangingPunct="1">
              <a:defRPr sz="1200" b="0">
                <a:latin typeface="Times New Roman" pitchFamily="80" charset="0"/>
                <a:ea typeface="+mn-ea"/>
                <a:cs typeface="+mn-cs"/>
              </a:defRPr>
            </a:lvl1pPr>
          </a:lstStyle>
          <a:p>
            <a:pPr>
              <a:defRPr/>
            </a:pPr>
            <a:endParaRPr lang="en-US"/>
          </a:p>
        </p:txBody>
      </p:sp>
      <p:sp>
        <p:nvSpPr>
          <p:cNvPr id="189445" name="Rectangle 5"/>
          <p:cNvSpPr>
            <a:spLocks noGrp="1" noChangeArrowheads="1"/>
          </p:cNvSpPr>
          <p:nvPr>
            <p:ph type="sldNum" sz="quarter" idx="3"/>
          </p:nvPr>
        </p:nvSpPr>
        <p:spPr bwMode="auto">
          <a:xfrm>
            <a:off x="3971925" y="8774113"/>
            <a:ext cx="3038475" cy="461962"/>
          </a:xfrm>
          <a:prstGeom prst="rect">
            <a:avLst/>
          </a:prstGeom>
          <a:noFill/>
          <a:ln w="12700" cap="sq">
            <a:noFill/>
            <a:miter lim="800000"/>
            <a:headEnd type="none" w="sm" len="sm"/>
            <a:tailEnd type="none" w="sm" len="sm"/>
          </a:ln>
          <a:effectLst/>
        </p:spPr>
        <p:txBody>
          <a:bodyPr vert="horz" wrap="none" lIns="92830" tIns="46415" rIns="92830" bIns="46415" numCol="1" anchor="b" anchorCtr="0" compatLnSpc="1">
            <a:prstTxWarp prst="textNoShape">
              <a:avLst/>
            </a:prstTxWarp>
          </a:bodyPr>
          <a:lstStyle>
            <a:lvl1pPr algn="r" eaLnBrk="1" hangingPunct="1">
              <a:defRPr sz="1200" b="0"/>
            </a:lvl1pPr>
          </a:lstStyle>
          <a:p>
            <a:fld id="{3C50F081-623A-4E91-B6FB-FCC4C7491CCB}" type="slidenum">
              <a:rPr lang="en-US" altLang="en-US"/>
              <a:pPr/>
              <a:t>‹#›</a:t>
            </a:fld>
            <a:endParaRPr lang="en-US" altLang="en-US"/>
          </a:p>
        </p:txBody>
      </p:sp>
    </p:spTree>
    <p:extLst>
      <p:ext uri="{BB962C8B-B14F-4D97-AF65-F5344CB8AC3E}">
        <p14:creationId xmlns:p14="http://schemas.microsoft.com/office/powerpoint/2010/main" val="9828564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lvl1pPr eaLnBrk="1" hangingPunct="1">
              <a:defRPr sz="1200" b="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70338" y="0"/>
            <a:ext cx="3038475" cy="461963"/>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lvl1pPr algn="r" eaLnBrk="1" hangingPunct="1">
              <a:defRPr sz="1200" b="0">
                <a:latin typeface="Arial" charset="0"/>
                <a:ea typeface="+mn-ea"/>
                <a:cs typeface="+mn-cs"/>
              </a:defRPr>
            </a:lvl1pPr>
          </a:lstStyle>
          <a:p>
            <a:pPr>
              <a:defRPr/>
            </a:pPr>
            <a:endParaRPr lang="en-US"/>
          </a:p>
        </p:txBody>
      </p:sp>
      <p:sp>
        <p:nvSpPr>
          <p:cNvPr id="73732" name="Rectangle 4"/>
          <p:cNvSpPr>
            <a:spLocks noGrp="1" noRot="1" noChangeAspect="1" noChangeArrowheads="1" noTextEdit="1"/>
          </p:cNvSpPr>
          <p:nvPr>
            <p:ph type="sldImg" idx="2"/>
          </p:nvPr>
        </p:nvSpPr>
        <p:spPr bwMode="auto">
          <a:xfrm>
            <a:off x="1195388" y="692150"/>
            <a:ext cx="4619625" cy="3463925"/>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1675" y="4387850"/>
            <a:ext cx="5607050" cy="4156075"/>
          </a:xfrm>
          <a:prstGeom prst="rect">
            <a:avLst/>
          </a:prstGeom>
          <a:noFill/>
          <a:ln w="9525">
            <a:noFill/>
            <a:miter lim="800000"/>
            <a:headEnd/>
            <a:tailEnd/>
          </a:ln>
          <a:effectLst/>
        </p:spPr>
        <p:txBody>
          <a:bodyPr vert="horz" wrap="square" lIns="92830" tIns="46415" rIns="92830" bIns="4641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772525"/>
            <a:ext cx="3038475" cy="461963"/>
          </a:xfrm>
          <a:prstGeom prst="rect">
            <a:avLst/>
          </a:prstGeom>
          <a:noFill/>
          <a:ln w="9525">
            <a:noFill/>
            <a:miter lim="800000"/>
            <a:headEnd/>
            <a:tailEnd/>
          </a:ln>
          <a:effectLst/>
        </p:spPr>
        <p:txBody>
          <a:bodyPr vert="horz" wrap="square" lIns="92830" tIns="46415" rIns="92830" bIns="46415" numCol="1" anchor="b" anchorCtr="0" compatLnSpc="1">
            <a:prstTxWarp prst="textNoShape">
              <a:avLst/>
            </a:prstTxWarp>
          </a:bodyPr>
          <a:lstStyle>
            <a:lvl1pPr eaLnBrk="1" hangingPunct="1">
              <a:defRPr sz="1200" b="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70338" y="8772525"/>
            <a:ext cx="3038475" cy="461963"/>
          </a:xfrm>
          <a:prstGeom prst="rect">
            <a:avLst/>
          </a:prstGeom>
          <a:noFill/>
          <a:ln w="9525">
            <a:noFill/>
            <a:miter lim="800000"/>
            <a:headEnd/>
            <a:tailEnd/>
          </a:ln>
          <a:effectLst/>
        </p:spPr>
        <p:txBody>
          <a:bodyPr vert="horz" wrap="square" lIns="92830" tIns="46415" rIns="92830" bIns="46415" numCol="1" anchor="b" anchorCtr="0" compatLnSpc="1">
            <a:prstTxWarp prst="textNoShape">
              <a:avLst/>
            </a:prstTxWarp>
          </a:bodyPr>
          <a:lstStyle>
            <a:lvl1pPr algn="r" eaLnBrk="1" hangingPunct="1">
              <a:defRPr sz="1200" b="0">
                <a:latin typeface="Arial" panose="020B0604020202020204" pitchFamily="34" charset="0"/>
              </a:defRPr>
            </a:lvl1pPr>
          </a:lstStyle>
          <a:p>
            <a:fld id="{3D64DA5C-C784-4DD8-9978-B3A86BB08776}" type="slidenum">
              <a:rPr lang="en-US" altLang="en-US"/>
              <a:pPr/>
              <a:t>‹#›</a:t>
            </a:fld>
            <a:endParaRPr lang="en-US" altLang="en-US"/>
          </a:p>
        </p:txBody>
      </p:sp>
    </p:spTree>
    <p:extLst>
      <p:ext uri="{BB962C8B-B14F-4D97-AF65-F5344CB8AC3E}">
        <p14:creationId xmlns:p14="http://schemas.microsoft.com/office/powerpoint/2010/main" val="4284113687"/>
      </p:ext>
    </p:extLst>
  </p:cSld>
  <p:clrMap bg1="lt1" tx1="dk1" bg2="lt2" tx2="dk2" accent1="accent1" accent2="accent2" accent3="accent3" accent4="accent4" accent5="accent5" accent6="accent6" hlink="hlink" folHlink="folHlink"/>
  <p:notesStyle>
    <a:lvl1pPr marL="111125" indent="-111125" algn="l" rtl="0" eaLnBrk="0" fontAlgn="base" hangingPunct="0">
      <a:spcBef>
        <a:spcPct val="30000"/>
      </a:spcBef>
      <a:spcAft>
        <a:spcPct val="0"/>
      </a:spcAft>
      <a:buFont typeface="Times" panose="02020603050405020304" pitchFamily="18" charset="0"/>
      <a:buChar char="•"/>
      <a:defRPr sz="1200" kern="1200">
        <a:solidFill>
          <a:schemeClr val="tx1"/>
        </a:solidFill>
        <a:latin typeface="Times New Roman" pitchFamily="80" charset="0"/>
        <a:ea typeface="MS PGothic" pitchFamily="34" charset="-128"/>
        <a:cs typeface="ＭＳ Ｐゴシック" charset="0"/>
      </a:defRPr>
    </a:lvl1pPr>
    <a:lvl2pPr marL="571500" indent="-114300" algn="l" rtl="0" eaLnBrk="0" fontAlgn="base" hangingPunct="0">
      <a:spcBef>
        <a:spcPct val="30000"/>
      </a:spcBef>
      <a:spcAft>
        <a:spcPct val="0"/>
      </a:spcAft>
      <a:buFont typeface="Times" panose="02020603050405020304" pitchFamily="18" charset="0"/>
      <a:buChar char="•"/>
      <a:defRPr sz="1200" kern="1200">
        <a:solidFill>
          <a:schemeClr val="tx1"/>
        </a:solidFill>
        <a:latin typeface="Times New Roman" pitchFamily="80" charset="0"/>
        <a:ea typeface="MS PGothic" pitchFamily="34" charset="-128"/>
        <a:cs typeface="+mn-cs"/>
      </a:defRPr>
    </a:lvl2pPr>
    <a:lvl3pPr marL="1033463" indent="-119063" algn="l" rtl="0" eaLnBrk="0" fontAlgn="base" hangingPunct="0">
      <a:spcBef>
        <a:spcPct val="30000"/>
      </a:spcBef>
      <a:spcAft>
        <a:spcPct val="0"/>
      </a:spcAft>
      <a:buFont typeface="Times" panose="02020603050405020304" pitchFamily="18" charset="0"/>
      <a:buChar char="•"/>
      <a:defRPr sz="1200" kern="1200">
        <a:solidFill>
          <a:schemeClr val="tx1"/>
        </a:solidFill>
        <a:latin typeface="Times New Roman" pitchFamily="80" charset="0"/>
        <a:ea typeface="MS PGothic" pitchFamily="34" charset="-128"/>
        <a:cs typeface="+mn-cs"/>
      </a:defRPr>
    </a:lvl3pPr>
    <a:lvl4pPr marL="1479550" indent="-107950" algn="l" rtl="0" eaLnBrk="0" fontAlgn="base" hangingPunct="0">
      <a:spcBef>
        <a:spcPct val="30000"/>
      </a:spcBef>
      <a:spcAft>
        <a:spcPct val="0"/>
      </a:spcAft>
      <a:buFont typeface="Times" panose="02020603050405020304" pitchFamily="18" charset="0"/>
      <a:buChar char="•"/>
      <a:defRPr sz="1200" kern="1200">
        <a:solidFill>
          <a:schemeClr val="tx1"/>
        </a:solidFill>
        <a:latin typeface="Times New Roman" pitchFamily="80" charset="0"/>
        <a:ea typeface="MS PGothic" pitchFamily="34" charset="-128"/>
        <a:cs typeface="+mn-cs"/>
      </a:defRPr>
    </a:lvl4pPr>
    <a:lvl5pPr marL="1939925" indent="-111125" algn="l" rtl="0" eaLnBrk="0" fontAlgn="base" hangingPunct="0">
      <a:spcBef>
        <a:spcPct val="30000"/>
      </a:spcBef>
      <a:spcAft>
        <a:spcPct val="0"/>
      </a:spcAft>
      <a:buFont typeface="Times" panose="02020603050405020304" pitchFamily="18" charset="0"/>
      <a:buChar char="•"/>
      <a:defRPr sz="1200" kern="1200">
        <a:solidFill>
          <a:schemeClr val="tx1"/>
        </a:solidFill>
        <a:latin typeface="Times New Roman" pitchFamily="80"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7D6B1646-B596-46DC-A8B5-1E50AC55A8D3}" type="slidenum">
              <a:rPr lang="en-US" altLang="en-US" sz="1200" b="0">
                <a:latin typeface="Arial" panose="020B0604020202020204" pitchFamily="34" charset="0"/>
              </a:rPr>
              <a:pPr/>
              <a:t>3</a:t>
            </a:fld>
            <a:endParaRPr lang="en-US" altLang="en-US" sz="1200" b="0">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lvl="1"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406642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8D39C27-EF92-4EF4-851A-10B4955081EE}" type="slidenum">
              <a:rPr lang="en-US" altLang="en-US" sz="1200" b="0">
                <a:latin typeface="Arial" panose="020B0604020202020204" pitchFamily="34" charset="0"/>
              </a:rPr>
              <a:pPr/>
              <a:t>4</a:t>
            </a:fld>
            <a:endParaRPr lang="en-US" altLang="en-US" sz="1200" b="0">
              <a:latin typeface="Arial" panose="020B0604020202020204"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41222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E6F40AE2-4C67-4ACF-BC79-B34F86CF8048}" type="slidenum">
              <a:rPr lang="en-US" altLang="en-US" sz="1200" b="0">
                <a:latin typeface="Arial" panose="020B0604020202020204" pitchFamily="34" charset="0"/>
              </a:rPr>
              <a:pPr/>
              <a:t>6</a:t>
            </a:fld>
            <a:endParaRPr lang="en-US" altLang="en-US" sz="1200" b="0">
              <a:latin typeface="Arial" panose="020B0604020202020204"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771001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93DD1104-3014-4EFF-AD4A-E28C930F57F3}" type="slidenum">
              <a:rPr lang="en-US" altLang="en-US" sz="1200" b="0">
                <a:latin typeface="Arial" panose="020B0604020202020204" pitchFamily="34" charset="0"/>
              </a:rPr>
              <a:pPr/>
              <a:t>7</a:t>
            </a:fld>
            <a:endParaRPr lang="en-US" altLang="en-US" sz="1200" b="0">
              <a:latin typeface="Arial" panose="020B060402020202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What is karyotyping and when is it used? (</a:t>
            </a:r>
            <a:r>
              <a:rPr lang="en-US" altLang="en-US" i="1">
                <a:latin typeface="Times New Roman" panose="02020603050405020304" pitchFamily="18" charset="0"/>
              </a:rPr>
              <a:t>Chromosomes are analyzed to determine if they are normal in number and structure. Obstetricians often recommend an amniocentesis for a pregnant woman</a:t>
            </a:r>
            <a:r>
              <a:rPr lang="en-US" altLang="en-US">
                <a:latin typeface="Times New Roman" panose="02020603050405020304" pitchFamily="18" charset="0"/>
              </a:rPr>
              <a:t>.)</a:t>
            </a:r>
          </a:p>
          <a:p>
            <a:pPr eaLnBrk="1" hangingPunct="1"/>
            <a:r>
              <a:rPr lang="en-US" altLang="en-US">
                <a:latin typeface="Times New Roman" panose="02020603050405020304" pitchFamily="18" charset="0"/>
              </a:rPr>
              <a:t>Have students identify parts of the cell.  </a:t>
            </a:r>
            <a:r>
              <a:rPr lang="en-US" altLang="en-US" i="1">
                <a:latin typeface="Times New Roman" panose="02020603050405020304" pitchFamily="18" charset="0"/>
              </a:rPr>
              <a:t>Answers appear on the following slide.</a:t>
            </a:r>
          </a:p>
          <a:p>
            <a:pPr eaLnBrk="1" hangingPunct="1"/>
            <a:r>
              <a:rPr lang="en-US" altLang="en-US">
                <a:latin typeface="Times New Roman" panose="02020603050405020304" pitchFamily="18" charset="0"/>
              </a:rPr>
              <a:t>What is cytoplasm? (</a:t>
            </a:r>
            <a:r>
              <a:rPr lang="en-US" altLang="en-US" i="1">
                <a:latin typeface="Times New Roman" panose="02020603050405020304" pitchFamily="18" charset="0"/>
              </a:rPr>
              <a:t>It includes all material outside the nucleus</a:t>
            </a:r>
            <a:r>
              <a:rPr lang="en-US" altLang="en-US">
                <a:latin typeface="Times New Roman" panose="02020603050405020304" pitchFamily="18" charset="0"/>
              </a:rPr>
              <a:t>.)</a:t>
            </a:r>
          </a:p>
          <a:p>
            <a:pPr eaLnBrk="1" hangingPunct="1"/>
            <a:r>
              <a:rPr lang="en-US" altLang="en-US">
                <a:latin typeface="Times New Roman" panose="02020603050405020304" pitchFamily="18" charset="0"/>
              </a:rPr>
              <a:t>What are mitochondria? (</a:t>
            </a:r>
            <a:r>
              <a:rPr lang="en-US" altLang="en-US" i="1">
                <a:latin typeface="Times New Roman" panose="02020603050405020304" pitchFamily="18" charset="0"/>
              </a:rPr>
              <a:t>Small, sausage-shaped bodies that produce energy by burning food</a:t>
            </a:r>
            <a:r>
              <a:rPr lang="en-US" altLang="en-US">
                <a:latin typeface="Times New Roman" panose="02020603050405020304" pitchFamily="18" charset="0"/>
              </a:rPr>
              <a:t>)</a:t>
            </a:r>
          </a:p>
        </p:txBody>
      </p:sp>
    </p:spTree>
    <p:extLst>
      <p:ext uri="{BB962C8B-B14F-4D97-AF65-F5344CB8AC3E}">
        <p14:creationId xmlns:p14="http://schemas.microsoft.com/office/powerpoint/2010/main" val="2913956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What is karyotyping and when is it used? (</a:t>
            </a:r>
            <a:r>
              <a:rPr lang="en-US" altLang="en-US" i="1" dirty="0">
                <a:latin typeface="Times New Roman" panose="02020603050405020304" pitchFamily="18" charset="0"/>
              </a:rPr>
              <a:t>Chromosomes are analyzed to determine if they are normal in number and structure. Obstetricians often recommend an amniocentesis for a pregnant woman</a:t>
            </a:r>
            <a:r>
              <a:rPr lang="en-US" altLang="en-US" dirty="0">
                <a:latin typeface="Times New Roman" panose="02020603050405020304" pitchFamily="18" charset="0"/>
              </a:rPr>
              <a:t>.)</a:t>
            </a:r>
          </a:p>
          <a:p>
            <a:pPr eaLnBrk="1" hangingPunct="1"/>
            <a:r>
              <a:rPr lang="en-US" altLang="en-US" dirty="0">
                <a:latin typeface="Times New Roman" panose="02020603050405020304" pitchFamily="18" charset="0"/>
              </a:rPr>
              <a:t>What is cytoplasm? (</a:t>
            </a:r>
            <a:r>
              <a:rPr lang="en-US" altLang="en-US" i="1" dirty="0">
                <a:latin typeface="Times New Roman" panose="02020603050405020304" pitchFamily="18" charset="0"/>
              </a:rPr>
              <a:t>It includes all material outside the nucleus</a:t>
            </a:r>
            <a:r>
              <a:rPr lang="en-US" altLang="en-US" dirty="0">
                <a:latin typeface="Times New Roman" panose="02020603050405020304" pitchFamily="18" charset="0"/>
              </a:rPr>
              <a:t>.)</a:t>
            </a:r>
          </a:p>
          <a:p>
            <a:pPr eaLnBrk="1" hangingPunct="1"/>
            <a:r>
              <a:rPr lang="en-US" altLang="en-US" dirty="0">
                <a:latin typeface="Times New Roman" panose="02020603050405020304" pitchFamily="18" charset="0"/>
              </a:rPr>
              <a:t>What are mitochondria? (</a:t>
            </a:r>
            <a:r>
              <a:rPr lang="en-US" altLang="en-US" i="1" dirty="0">
                <a:latin typeface="Times New Roman" panose="02020603050405020304" pitchFamily="18" charset="0"/>
              </a:rPr>
              <a:t>Small, sausage-shaped bodies that produce energy by burning food</a:t>
            </a:r>
            <a:r>
              <a:rPr lang="en-US" altLang="en-US" dirty="0">
                <a:latin typeface="Times New Roman" panose="02020603050405020304" pitchFamily="18" charset="0"/>
              </a:rPr>
              <a:t>)</a:t>
            </a:r>
          </a:p>
          <a:p>
            <a:endParaRPr lang="es-419" dirty="0"/>
          </a:p>
        </p:txBody>
      </p:sp>
      <p:sp>
        <p:nvSpPr>
          <p:cNvPr id="4" name="Slide Number Placeholder 3"/>
          <p:cNvSpPr>
            <a:spLocks noGrp="1"/>
          </p:cNvSpPr>
          <p:nvPr>
            <p:ph type="sldNum" sz="quarter" idx="10"/>
          </p:nvPr>
        </p:nvSpPr>
        <p:spPr/>
        <p:txBody>
          <a:bodyPr/>
          <a:lstStyle/>
          <a:p>
            <a:fld id="{3D64DA5C-C784-4DD8-9978-B3A86BB08776}" type="slidenum">
              <a:rPr lang="en-US" altLang="en-US" smtClean="0"/>
              <a:pPr/>
              <a:t>8</a:t>
            </a:fld>
            <a:endParaRPr lang="en-US" altLang="en-US"/>
          </a:p>
        </p:txBody>
      </p:sp>
    </p:spTree>
    <p:extLst>
      <p:ext uri="{BB962C8B-B14F-4D97-AF65-F5344CB8AC3E}">
        <p14:creationId xmlns:p14="http://schemas.microsoft.com/office/powerpoint/2010/main" val="4117179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01947D02-AD34-4065-8E94-F4B888D107AF}" type="slidenum">
              <a:rPr lang="en-US" altLang="en-US" sz="1200" b="0">
                <a:latin typeface="Arial" panose="020B0604020202020204" pitchFamily="34" charset="0"/>
              </a:rPr>
              <a:pPr/>
              <a:t>9</a:t>
            </a:fld>
            <a:endParaRPr lang="en-US" altLang="en-US" sz="1200" b="0">
              <a:latin typeface="Arial" panose="020B060402020202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947793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BFE7B172-35CF-4113-933F-48BEDF975D6A}" type="slidenum">
              <a:rPr lang="en-US" altLang="en-US" sz="1200" b="0">
                <a:latin typeface="Arial" panose="020B0604020202020204" pitchFamily="34" charset="0"/>
              </a:rPr>
              <a:pPr/>
              <a:t>10</a:t>
            </a:fld>
            <a:endParaRPr lang="en-US" altLang="en-US" sz="1200" b="0">
              <a:latin typeface="Arial" panose="020B060402020202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01939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5B0379B-650E-4C90-BA0D-72EA293CDC96}" type="slidenum">
              <a:rPr lang="en-US" altLang="en-US" sz="1200" b="0">
                <a:latin typeface="Arial" panose="020B0604020202020204" pitchFamily="34" charset="0"/>
              </a:rPr>
              <a:pPr/>
              <a:t>12</a:t>
            </a:fld>
            <a:endParaRPr lang="en-US" altLang="en-US" sz="1200" b="0">
              <a:latin typeface="Arial" panose="020B0604020202020204"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What is the term for a scientist who specializes in the study of tissue? </a:t>
            </a:r>
            <a:r>
              <a:rPr lang="en-US" altLang="en-US" i="1" dirty="0">
                <a:latin typeface="Times New Roman" panose="02020603050405020304" pitchFamily="18" charset="0"/>
              </a:rPr>
              <a:t>(Histologist)</a:t>
            </a:r>
          </a:p>
          <a:p>
            <a:pPr eaLnBrk="1" hangingPunct="1"/>
            <a:r>
              <a:rPr lang="en-US" altLang="en-US" dirty="0">
                <a:latin typeface="Times New Roman" panose="02020603050405020304" pitchFamily="18" charset="0"/>
              </a:rPr>
              <a:t>Which tissue conducts impulses all over the body? </a:t>
            </a:r>
            <a:r>
              <a:rPr lang="en-US" altLang="en-US" i="1" dirty="0">
                <a:latin typeface="Times New Roman" panose="02020603050405020304" pitchFamily="18" charset="0"/>
              </a:rPr>
              <a:t>(Nerve)</a:t>
            </a:r>
            <a:r>
              <a:rPr lang="en-US" altLang="en-US" dirty="0">
                <a:latin typeface="Times New Roman" panose="02020603050405020304" pitchFamily="18" charset="0"/>
              </a:rPr>
              <a:t> </a:t>
            </a:r>
          </a:p>
          <a:p>
            <a:pPr eaLnBrk="1" hangingPunct="1"/>
            <a:r>
              <a:rPr lang="en-US" altLang="en-US" dirty="0">
                <a:latin typeface="Times New Roman" panose="02020603050405020304" pitchFamily="18" charset="0"/>
              </a:rPr>
              <a:t>Examples of what type of tissue include fat and cartilage? </a:t>
            </a:r>
            <a:r>
              <a:rPr lang="en-US" altLang="en-US" i="1" dirty="0">
                <a:latin typeface="Times New Roman" panose="02020603050405020304" pitchFamily="18" charset="0"/>
              </a:rPr>
              <a:t>(Connective)</a:t>
            </a:r>
          </a:p>
          <a:p>
            <a:pPr eaLnBrk="1" hangingPunct="1"/>
            <a:r>
              <a:rPr lang="en-US" altLang="en-US" dirty="0">
                <a:latin typeface="Times New Roman" panose="02020603050405020304" pitchFamily="18" charset="0"/>
              </a:rPr>
              <a:t>What tissue forms the linings of internal organs and the outer surface of the skin? </a:t>
            </a:r>
            <a:r>
              <a:rPr lang="en-US" altLang="en-US" i="1" dirty="0">
                <a:latin typeface="Times New Roman" panose="02020603050405020304" pitchFamily="18" charset="0"/>
              </a:rPr>
              <a:t>(Epithelial)</a:t>
            </a:r>
            <a:r>
              <a:rPr lang="en-US" altLang="en-US" dirty="0">
                <a:latin typeface="Times New Roman" panose="02020603050405020304" pitchFamily="18" charset="0"/>
              </a:rPr>
              <a:t> </a:t>
            </a:r>
          </a:p>
          <a:p>
            <a:pPr eaLnBrk="1" hangingPunct="1"/>
            <a:r>
              <a:rPr lang="en-US" altLang="en-US" dirty="0">
                <a:latin typeface="Times New Roman" panose="02020603050405020304" pitchFamily="18" charset="0"/>
              </a:rPr>
              <a:t>What defines a system?</a:t>
            </a:r>
            <a:r>
              <a:rPr lang="en-US" altLang="en-US" i="1" dirty="0">
                <a:latin typeface="Times New Roman" panose="02020603050405020304" pitchFamily="18" charset="0"/>
              </a:rPr>
              <a:t> (Group of organs working together to perform complex functions)</a:t>
            </a:r>
          </a:p>
          <a:p>
            <a:pPr eaLnBrk="1" hangingPunct="1"/>
            <a:r>
              <a:rPr lang="en-US" altLang="en-US" dirty="0">
                <a:latin typeface="Times New Roman" panose="02020603050405020304" pitchFamily="18" charset="0"/>
              </a:rPr>
              <a:t>Name the system in which these organs are found:</a:t>
            </a:r>
          </a:p>
          <a:p>
            <a:pPr lvl="1" eaLnBrk="1" hangingPunct="1"/>
            <a:r>
              <a:rPr lang="en-US" altLang="en-US" dirty="0">
                <a:latin typeface="Times New Roman" panose="02020603050405020304" pitchFamily="18" charset="0"/>
              </a:rPr>
              <a:t>Thyroid gland and pituitary gland </a:t>
            </a:r>
            <a:r>
              <a:rPr lang="en-US" altLang="en-US" i="1" dirty="0">
                <a:latin typeface="Times New Roman" panose="02020603050405020304" pitchFamily="18" charset="0"/>
              </a:rPr>
              <a:t>(endocrine)</a:t>
            </a:r>
          </a:p>
          <a:p>
            <a:pPr lvl="1" eaLnBrk="1" hangingPunct="1"/>
            <a:r>
              <a:rPr lang="en-US" altLang="en-US" dirty="0">
                <a:latin typeface="Times New Roman" panose="02020603050405020304" pitchFamily="18" charset="0"/>
              </a:rPr>
              <a:t>Kidneys, ureters, urinary bladder urethra </a:t>
            </a:r>
            <a:r>
              <a:rPr lang="en-US" altLang="en-US" i="1" dirty="0">
                <a:latin typeface="Times New Roman" panose="02020603050405020304" pitchFamily="18" charset="0"/>
              </a:rPr>
              <a:t>(urinary or excretory)</a:t>
            </a:r>
          </a:p>
          <a:p>
            <a:pPr lvl="1" eaLnBrk="1" hangingPunct="1"/>
            <a:r>
              <a:rPr lang="en-US" altLang="en-US" dirty="0">
                <a:latin typeface="Times New Roman" panose="02020603050405020304" pitchFamily="18" charset="0"/>
              </a:rPr>
              <a:t>Skin, hair, nails, sweat glands </a:t>
            </a:r>
            <a:r>
              <a:rPr lang="en-US" altLang="en-US" i="1" dirty="0">
                <a:latin typeface="Times New Roman" panose="02020603050405020304" pitchFamily="18" charset="0"/>
              </a:rPr>
              <a:t>(skin and sense organs)</a:t>
            </a:r>
          </a:p>
          <a:p>
            <a:pPr eaLnBrk="1" hangingPunct="1"/>
            <a:endParaRPr lang="en-US" altLang="en-US" i="1" dirty="0">
              <a:latin typeface="Times New Roman" panose="02020603050405020304" pitchFamily="18" charset="0"/>
            </a:endParaRPr>
          </a:p>
          <a:p>
            <a:pPr eaLnBrk="1" hangingPunct="1"/>
            <a:endParaRPr lang="en-US" altLang="en-US" i="1" dirty="0">
              <a:latin typeface="Times New Roman" panose="02020603050405020304" pitchFamily="18" charset="0"/>
            </a:endParaRPr>
          </a:p>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44483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3191B1E9-F8A7-462E-8748-6E6A5A2C713A}" type="slidenum">
              <a:rPr lang="en-US" altLang="en-US" sz="1200" b="0">
                <a:latin typeface="Arial" panose="020B0604020202020204" pitchFamily="34" charset="0"/>
              </a:rPr>
              <a:pPr/>
              <a:t>13</a:t>
            </a:fld>
            <a:endParaRPr lang="en-US" altLang="en-US" sz="1200" b="0">
              <a:latin typeface="Arial" panose="020B060402020202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01076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FAC09EB4-1469-4F8F-AFEA-8C12327F0103}" type="slidenum">
              <a:rPr lang="en-US" altLang="en-US" sz="1200" b="0">
                <a:latin typeface="Arial" panose="020B0604020202020204" pitchFamily="34" charset="0"/>
              </a:rPr>
              <a:pPr/>
              <a:t>14</a:t>
            </a:fld>
            <a:endParaRPr lang="en-US" altLang="en-US" sz="1200" b="0">
              <a:latin typeface="Arial" panose="020B060402020202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706778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5CEB0EF-E9E1-427B-B894-8DCB7A24E1D5}" type="slidenum">
              <a:rPr lang="en-US" altLang="en-US" sz="1200" b="0">
                <a:latin typeface="Arial" panose="020B0604020202020204" pitchFamily="34" charset="0"/>
              </a:rPr>
              <a:pPr/>
              <a:t>15</a:t>
            </a:fld>
            <a:endParaRPr lang="en-US" altLang="en-US" sz="1200" b="0">
              <a:latin typeface="Arial" panose="020B060402020202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Which cavities are dorsal and which are ventral?  </a:t>
            </a:r>
            <a:r>
              <a:rPr lang="en-US" altLang="en-US" i="1">
                <a:latin typeface="Times New Roman" panose="02020603050405020304" pitchFamily="18" charset="0"/>
              </a:rPr>
              <a:t>(Cranial and spinal are dorsal; thoracic, abdominal, and pelvic are ventral.)</a:t>
            </a:r>
          </a:p>
        </p:txBody>
      </p:sp>
    </p:spTree>
    <p:extLst>
      <p:ext uri="{BB962C8B-B14F-4D97-AF65-F5344CB8AC3E}">
        <p14:creationId xmlns:p14="http://schemas.microsoft.com/office/powerpoint/2010/main" val="3159174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7AF366F7-BEB6-4A65-965E-1690827DB6E8}" type="slidenum">
              <a:rPr lang="en-US" altLang="en-US" sz="1200" b="0">
                <a:latin typeface="Arial" panose="020B0604020202020204" pitchFamily="34" charset="0"/>
              </a:rPr>
              <a:pPr/>
              <a:t>18</a:t>
            </a:fld>
            <a:endParaRPr lang="en-US" altLang="en-US" sz="1200" b="0">
              <a:latin typeface="Arial" panose="020B060402020202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D: the thoracic cavity contains the pleural cavity and the mediastinum.</a:t>
            </a:r>
          </a:p>
        </p:txBody>
      </p:sp>
    </p:spTree>
    <p:extLst>
      <p:ext uri="{BB962C8B-B14F-4D97-AF65-F5344CB8AC3E}">
        <p14:creationId xmlns:p14="http://schemas.microsoft.com/office/powerpoint/2010/main" val="3482949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016B47C5-A760-499E-A200-ADDA1ABB4C90}" type="slidenum">
              <a:rPr lang="en-US" altLang="en-US" sz="1200" b="0">
                <a:latin typeface="Arial" panose="020B0604020202020204" pitchFamily="34" charset="0"/>
              </a:rPr>
              <a:pPr/>
              <a:t>19</a:t>
            </a:fld>
            <a:endParaRPr lang="en-US" altLang="en-US" sz="1200" b="0">
              <a:latin typeface="Arial" panose="020B0604020202020204"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The correct answer is A: the abdominal cavity contains the peritoneum. </a:t>
            </a:r>
          </a:p>
        </p:txBody>
      </p:sp>
    </p:spTree>
    <p:extLst>
      <p:ext uri="{BB962C8B-B14F-4D97-AF65-F5344CB8AC3E}">
        <p14:creationId xmlns:p14="http://schemas.microsoft.com/office/powerpoint/2010/main" val="3123546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3DB66358-BA30-46B5-A515-FB7DDE6B65D7}" type="slidenum">
              <a:rPr lang="en-US" altLang="en-US" sz="1200" b="0">
                <a:latin typeface="Arial" panose="020B0604020202020204" pitchFamily="34" charset="0"/>
              </a:rPr>
              <a:pPr/>
              <a:t>22</a:t>
            </a:fld>
            <a:endParaRPr lang="en-US" altLang="en-US" sz="1200" b="0">
              <a:latin typeface="Arial" panose="020B0604020202020204" pitchFamily="34"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26671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C97ADB8-74FB-4CE3-8F35-E61FF46F9E38}" type="slidenum">
              <a:rPr lang="en-US" altLang="en-US" sz="1200" b="0">
                <a:latin typeface="Arial" panose="020B0604020202020204" pitchFamily="34" charset="0"/>
              </a:rPr>
              <a:pPr/>
              <a:t>23</a:t>
            </a:fld>
            <a:endParaRPr lang="en-US" altLang="en-US" sz="1200" b="0">
              <a:latin typeface="Arial" panose="020B060402020202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011312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1125" marR="0" lvl="0" indent="-111125" algn="l" defTabSz="914400" rtl="0" eaLnBrk="0" fontAlgn="base" latinLnBrk="0" hangingPunct="0">
              <a:lnSpc>
                <a:spcPct val="100000"/>
              </a:lnSpc>
              <a:spcBef>
                <a:spcPct val="30000"/>
              </a:spcBef>
              <a:spcAft>
                <a:spcPct val="0"/>
              </a:spcAft>
              <a:buClrTx/>
              <a:buSzTx/>
              <a:buFont typeface="Times" panose="02020603050405020304" pitchFamily="18" charset="0"/>
              <a:buChar char="•"/>
              <a:tabLst/>
              <a:defRPr/>
            </a:pPr>
            <a:r>
              <a:rPr lang="en-US" altLang="en-US" dirty="0">
                <a:latin typeface="Times New Roman" panose="02020603050405020304" pitchFamily="18" charset="0"/>
              </a:rPr>
              <a:t>Have students verbally label the regions of the abdominopelvic cavity. </a:t>
            </a:r>
          </a:p>
          <a:p>
            <a:endParaRPr lang="es-419" dirty="0"/>
          </a:p>
        </p:txBody>
      </p:sp>
      <p:sp>
        <p:nvSpPr>
          <p:cNvPr id="4" name="Slide Number Placeholder 3"/>
          <p:cNvSpPr>
            <a:spLocks noGrp="1"/>
          </p:cNvSpPr>
          <p:nvPr>
            <p:ph type="sldNum" sz="quarter" idx="10"/>
          </p:nvPr>
        </p:nvSpPr>
        <p:spPr/>
        <p:txBody>
          <a:bodyPr/>
          <a:lstStyle/>
          <a:p>
            <a:fld id="{3D64DA5C-C784-4DD8-9978-B3A86BB08776}" type="slidenum">
              <a:rPr lang="en-US" altLang="en-US" smtClean="0"/>
              <a:pPr/>
              <a:t>24</a:t>
            </a:fld>
            <a:endParaRPr lang="en-US" altLang="en-US"/>
          </a:p>
        </p:txBody>
      </p:sp>
    </p:spTree>
    <p:extLst>
      <p:ext uri="{BB962C8B-B14F-4D97-AF65-F5344CB8AC3E}">
        <p14:creationId xmlns:p14="http://schemas.microsoft.com/office/powerpoint/2010/main" val="1320153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6C5AECEF-3FFB-4A4E-9019-62F79228F05D}" type="slidenum">
              <a:rPr lang="en-US" altLang="en-US" sz="1200" b="0">
                <a:latin typeface="Arial" panose="020B0604020202020204" pitchFamily="34" charset="0"/>
              </a:rPr>
              <a:pPr/>
              <a:t>25</a:t>
            </a:fld>
            <a:endParaRPr lang="en-US" altLang="en-US" sz="1200" b="0" dirty="0">
              <a:latin typeface="Arial" panose="020B0604020202020204" pitchFamily="34"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Discuss the organs in each quadrant.</a:t>
            </a:r>
          </a:p>
        </p:txBody>
      </p:sp>
    </p:spTree>
    <p:extLst>
      <p:ext uri="{BB962C8B-B14F-4D97-AF65-F5344CB8AC3E}">
        <p14:creationId xmlns:p14="http://schemas.microsoft.com/office/powerpoint/2010/main" val="563424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Where is the appendix located?</a:t>
            </a:r>
          </a:p>
          <a:p>
            <a:pPr eaLnBrk="1" hangingPunct="1"/>
            <a:r>
              <a:rPr lang="en-US" altLang="en-US" dirty="0">
                <a:latin typeface="Times New Roman" panose="02020603050405020304" pitchFamily="18" charset="0"/>
              </a:rPr>
              <a:t>In which quadrant does the liver lie?</a:t>
            </a:r>
          </a:p>
          <a:p>
            <a:endParaRPr lang="es-419" dirty="0"/>
          </a:p>
        </p:txBody>
      </p:sp>
      <p:sp>
        <p:nvSpPr>
          <p:cNvPr id="4" name="Slide Number Placeholder 3"/>
          <p:cNvSpPr>
            <a:spLocks noGrp="1"/>
          </p:cNvSpPr>
          <p:nvPr>
            <p:ph type="sldNum" sz="quarter" idx="10"/>
          </p:nvPr>
        </p:nvSpPr>
        <p:spPr/>
        <p:txBody>
          <a:bodyPr/>
          <a:lstStyle/>
          <a:p>
            <a:fld id="{3D64DA5C-C784-4DD8-9978-B3A86BB08776}" type="slidenum">
              <a:rPr lang="en-US" altLang="en-US" smtClean="0"/>
              <a:pPr/>
              <a:t>26</a:t>
            </a:fld>
            <a:endParaRPr lang="en-US" altLang="en-US"/>
          </a:p>
        </p:txBody>
      </p:sp>
    </p:spTree>
    <p:extLst>
      <p:ext uri="{BB962C8B-B14F-4D97-AF65-F5344CB8AC3E}">
        <p14:creationId xmlns:p14="http://schemas.microsoft.com/office/powerpoint/2010/main" val="6308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6FE10F7E-B0FE-4905-A989-B1754E368C30}" type="slidenum">
              <a:rPr lang="en-US" altLang="en-US" sz="1200" b="0">
                <a:latin typeface="Arial" panose="020B0604020202020204" pitchFamily="34" charset="0"/>
              </a:rPr>
              <a:pPr/>
              <a:t>28</a:t>
            </a:fld>
            <a:endParaRPr lang="en-US" altLang="en-US" sz="1200" b="0" dirty="0">
              <a:latin typeface="Arial" panose="020B0604020202020204" pitchFamily="34"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What is cervical? </a:t>
            </a:r>
            <a:r>
              <a:rPr lang="en-US" altLang="en-US" i="1" dirty="0">
                <a:latin typeface="Times New Roman" panose="02020603050405020304" pitchFamily="18" charset="0"/>
              </a:rPr>
              <a:t>(The neck region)</a:t>
            </a:r>
          </a:p>
          <a:p>
            <a:pPr eaLnBrk="1" hangingPunct="1"/>
            <a:r>
              <a:rPr lang="en-US" altLang="en-US" dirty="0">
                <a:latin typeface="Times New Roman" panose="02020603050405020304" pitchFamily="18" charset="0"/>
              </a:rPr>
              <a:t>What is thoracic? </a:t>
            </a:r>
            <a:r>
              <a:rPr lang="en-US" altLang="en-US" i="1" dirty="0">
                <a:latin typeface="Times New Roman" panose="02020603050405020304" pitchFamily="18" charset="0"/>
              </a:rPr>
              <a:t>(The chest region)</a:t>
            </a:r>
          </a:p>
          <a:p>
            <a:pPr eaLnBrk="1" hangingPunct="1"/>
            <a:r>
              <a:rPr lang="en-US" altLang="en-US" dirty="0">
                <a:latin typeface="Times New Roman" panose="02020603050405020304" pitchFamily="18" charset="0"/>
              </a:rPr>
              <a:t>What is lumbar? </a:t>
            </a:r>
            <a:r>
              <a:rPr lang="en-US" altLang="en-US" i="1" dirty="0">
                <a:latin typeface="Times New Roman" panose="02020603050405020304" pitchFamily="18" charset="0"/>
              </a:rPr>
              <a:t>(Waist or flank region)</a:t>
            </a:r>
          </a:p>
          <a:p>
            <a:pPr eaLnBrk="1" hangingPunct="1"/>
            <a:r>
              <a:rPr lang="en-US" altLang="en-US" dirty="0">
                <a:latin typeface="Times New Roman" panose="02020603050405020304" pitchFamily="18" charset="0"/>
              </a:rPr>
              <a:t>What is sacral? </a:t>
            </a:r>
            <a:r>
              <a:rPr lang="en-US" altLang="en-US" i="1" dirty="0">
                <a:latin typeface="Times New Roman" panose="02020603050405020304" pitchFamily="18" charset="0"/>
              </a:rPr>
              <a:t>(Five bones are fused to form the sacrum</a:t>
            </a:r>
            <a:r>
              <a:rPr lang="en-US" altLang="en-US" dirty="0">
                <a:latin typeface="Times New Roman" panose="02020603050405020304" pitchFamily="18" charset="0"/>
              </a:rPr>
              <a:t>.</a:t>
            </a:r>
            <a:r>
              <a:rPr lang="en-US" altLang="en-US" i="1" dirty="0">
                <a:latin typeface="Times New Roman" panose="02020603050405020304" pitchFamily="18" charset="0"/>
              </a:rPr>
              <a:t>)</a:t>
            </a:r>
          </a:p>
          <a:p>
            <a:pPr eaLnBrk="1" hangingPunct="1"/>
            <a:r>
              <a:rPr lang="en-US" altLang="en-US" dirty="0">
                <a:latin typeface="Times New Roman" panose="02020603050405020304" pitchFamily="18" charset="0"/>
              </a:rPr>
              <a:t>What is coccygeal?</a:t>
            </a:r>
            <a:r>
              <a:rPr lang="en-US" altLang="en-US" i="1" dirty="0">
                <a:latin typeface="Times New Roman" panose="02020603050405020304" pitchFamily="18" charset="0"/>
              </a:rPr>
              <a:t> (The tailbone is composed of four fused pieces.)</a:t>
            </a:r>
          </a:p>
        </p:txBody>
      </p:sp>
    </p:spTree>
    <p:extLst>
      <p:ext uri="{BB962C8B-B14F-4D97-AF65-F5344CB8AC3E}">
        <p14:creationId xmlns:p14="http://schemas.microsoft.com/office/powerpoint/2010/main" val="35881613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1125" marR="0" lvl="0" indent="-111125" algn="l" defTabSz="914400" rtl="0" eaLnBrk="0" fontAlgn="base" latinLnBrk="0" hangingPunct="0">
              <a:lnSpc>
                <a:spcPct val="100000"/>
              </a:lnSpc>
              <a:spcBef>
                <a:spcPct val="30000"/>
              </a:spcBef>
              <a:spcAft>
                <a:spcPct val="0"/>
              </a:spcAft>
              <a:buClrTx/>
              <a:buSzTx/>
              <a:buFont typeface="Times" panose="02020603050405020304" pitchFamily="18" charset="0"/>
              <a:buChar char="•"/>
              <a:tabLst/>
              <a:defRPr/>
            </a:pPr>
            <a:r>
              <a:rPr lang="en-US" altLang="en-US" dirty="0">
                <a:latin typeface="Times New Roman" panose="02020603050405020304" pitchFamily="18" charset="0"/>
              </a:rPr>
              <a:t>What is a disc? </a:t>
            </a:r>
            <a:r>
              <a:rPr lang="en-US" altLang="en-US" i="1" dirty="0">
                <a:latin typeface="Times New Roman" panose="02020603050405020304" pitchFamily="18" charset="0"/>
              </a:rPr>
              <a:t>(A small pad of cartilage between the vertebrae)</a:t>
            </a:r>
          </a:p>
          <a:p>
            <a:endParaRPr lang="es-419" dirty="0"/>
          </a:p>
        </p:txBody>
      </p:sp>
      <p:sp>
        <p:nvSpPr>
          <p:cNvPr id="4" name="Slide Number Placeholder 3"/>
          <p:cNvSpPr>
            <a:spLocks noGrp="1"/>
          </p:cNvSpPr>
          <p:nvPr>
            <p:ph type="sldNum" sz="quarter" idx="10"/>
          </p:nvPr>
        </p:nvSpPr>
        <p:spPr/>
        <p:txBody>
          <a:bodyPr/>
          <a:lstStyle/>
          <a:p>
            <a:fld id="{3D64DA5C-C784-4DD8-9978-B3A86BB08776}" type="slidenum">
              <a:rPr lang="en-US" altLang="en-US" smtClean="0"/>
              <a:pPr/>
              <a:t>29</a:t>
            </a:fld>
            <a:endParaRPr lang="en-US" altLang="en-US"/>
          </a:p>
        </p:txBody>
      </p:sp>
    </p:spTree>
    <p:extLst>
      <p:ext uri="{BB962C8B-B14F-4D97-AF65-F5344CB8AC3E}">
        <p14:creationId xmlns:p14="http://schemas.microsoft.com/office/powerpoint/2010/main" val="3377228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107524"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2F90BF9-E389-4C28-86BF-03CEAE13CA45}" type="slidenum">
              <a:rPr lang="en-US" altLang="en-US" sz="1200" b="0">
                <a:latin typeface="Arial" panose="020B0604020202020204" pitchFamily="34" charset="0"/>
              </a:rPr>
              <a:pPr/>
              <a:t>30</a:t>
            </a:fld>
            <a:endParaRPr lang="en-US" altLang="en-US" sz="1200" b="0" dirty="0">
              <a:latin typeface="Arial" panose="020B0604020202020204" pitchFamily="34" charset="0"/>
            </a:endParaRPr>
          </a:p>
        </p:txBody>
      </p:sp>
    </p:spTree>
    <p:extLst>
      <p:ext uri="{BB962C8B-B14F-4D97-AF65-F5344CB8AC3E}">
        <p14:creationId xmlns:p14="http://schemas.microsoft.com/office/powerpoint/2010/main" val="4012331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21DDC46A-6799-472E-B5EF-6C419F62C805}" type="slidenum">
              <a:rPr lang="en-US" altLang="en-US" sz="1200" b="0">
                <a:latin typeface="Arial" panose="020B0604020202020204" pitchFamily="34" charset="0"/>
              </a:rPr>
              <a:pPr/>
              <a:t>32</a:t>
            </a:fld>
            <a:endParaRPr lang="en-US" altLang="en-US" sz="1200" b="0" dirty="0">
              <a:latin typeface="Arial" panose="020B0604020202020204"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The correct answer is B: umbilical.</a:t>
            </a:r>
          </a:p>
        </p:txBody>
      </p:sp>
    </p:spTree>
    <p:extLst>
      <p:ext uri="{BB962C8B-B14F-4D97-AF65-F5344CB8AC3E}">
        <p14:creationId xmlns:p14="http://schemas.microsoft.com/office/powerpoint/2010/main" val="3911268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3799CECA-79C1-4C8B-BD7D-75CE29CDCC15}" type="slidenum">
              <a:rPr lang="en-US" altLang="en-US" sz="1200" b="0">
                <a:latin typeface="Arial" panose="020B0604020202020204" pitchFamily="34" charset="0"/>
              </a:rPr>
              <a:pPr/>
              <a:t>33</a:t>
            </a:fld>
            <a:endParaRPr lang="en-US" altLang="en-US" sz="1200" b="0" dirty="0">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The correct answer is D: hypogastric.</a:t>
            </a:r>
          </a:p>
        </p:txBody>
      </p:sp>
    </p:spTree>
    <p:extLst>
      <p:ext uri="{BB962C8B-B14F-4D97-AF65-F5344CB8AC3E}">
        <p14:creationId xmlns:p14="http://schemas.microsoft.com/office/powerpoint/2010/main" val="2569245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5E772FEB-012C-4503-A1B9-5AEF053C396B}" type="slidenum">
              <a:rPr lang="en-US" altLang="en-US" sz="1200" b="0">
                <a:latin typeface="Arial" panose="020B0604020202020204" pitchFamily="34" charset="0"/>
              </a:rPr>
              <a:pPr/>
              <a:t>34</a:t>
            </a:fld>
            <a:endParaRPr lang="en-US" altLang="en-US" sz="1200" b="0" dirty="0">
              <a:latin typeface="Arial" panose="020B0604020202020204" pitchFamily="34"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Match the definition to one of these terms:</a:t>
            </a:r>
          </a:p>
          <a:p>
            <a:pPr lvl="1" eaLnBrk="1" hangingPunct="1"/>
            <a:r>
              <a:rPr lang="en-US" altLang="en-US" dirty="0">
                <a:latin typeface="Times New Roman" panose="02020603050405020304" pitchFamily="18" charset="0"/>
              </a:rPr>
              <a:t>The front side of the body </a:t>
            </a:r>
            <a:r>
              <a:rPr lang="en-US" altLang="en-US" i="1" dirty="0">
                <a:latin typeface="Times New Roman" panose="02020603050405020304" pitchFamily="18" charset="0"/>
              </a:rPr>
              <a:t>(anterior)</a:t>
            </a:r>
          </a:p>
          <a:p>
            <a:pPr lvl="1" eaLnBrk="1" hangingPunct="1"/>
            <a:r>
              <a:rPr lang="en-US" altLang="en-US" dirty="0">
                <a:latin typeface="Times New Roman" panose="02020603050405020304" pitchFamily="18" charset="0"/>
              </a:rPr>
              <a:t>The back side of the body </a:t>
            </a:r>
            <a:r>
              <a:rPr lang="en-US" altLang="en-US" i="1" dirty="0">
                <a:latin typeface="Times New Roman" panose="02020603050405020304" pitchFamily="18" charset="0"/>
              </a:rPr>
              <a:t>(posterior)</a:t>
            </a:r>
          </a:p>
          <a:p>
            <a:pPr lvl="1" eaLnBrk="1" hangingPunct="1"/>
            <a:r>
              <a:rPr lang="en-US" altLang="en-US" dirty="0">
                <a:latin typeface="Times New Roman" panose="02020603050405020304" pitchFamily="18" charset="0"/>
              </a:rPr>
              <a:t>Away from the surface </a:t>
            </a:r>
            <a:r>
              <a:rPr lang="en-US" altLang="en-US" i="1" dirty="0">
                <a:latin typeface="Times New Roman" panose="02020603050405020304" pitchFamily="18" charset="0"/>
              </a:rPr>
              <a:t>(deep)</a:t>
            </a:r>
          </a:p>
          <a:p>
            <a:pPr lvl="1" eaLnBrk="1" hangingPunct="1"/>
            <a:r>
              <a:rPr lang="en-US" altLang="en-US" dirty="0">
                <a:latin typeface="Times New Roman" panose="02020603050405020304" pitchFamily="18" charset="0"/>
              </a:rPr>
              <a:t>On the surface </a:t>
            </a:r>
            <a:r>
              <a:rPr lang="en-US" altLang="en-US" i="1" dirty="0">
                <a:latin typeface="Times New Roman" panose="02020603050405020304" pitchFamily="18" charset="0"/>
              </a:rPr>
              <a:t>(superficial)</a:t>
            </a:r>
          </a:p>
          <a:p>
            <a:pPr lvl="1" eaLnBrk="1" hangingPunct="1"/>
            <a:r>
              <a:rPr lang="en-US" altLang="en-US" dirty="0">
                <a:latin typeface="Times New Roman" panose="02020603050405020304" pitchFamily="18" charset="0"/>
              </a:rPr>
              <a:t>Near the point of attachment to the trunk or near the beginning of a structure </a:t>
            </a:r>
            <a:r>
              <a:rPr lang="en-US" altLang="en-US" i="1" dirty="0">
                <a:latin typeface="Times New Roman" panose="02020603050405020304" pitchFamily="18" charset="0"/>
              </a:rPr>
              <a:t>(proximal)</a:t>
            </a:r>
          </a:p>
          <a:p>
            <a:pPr lvl="1" eaLnBrk="1" hangingPunct="1"/>
            <a:r>
              <a:rPr lang="en-US" altLang="en-US" dirty="0">
                <a:latin typeface="Times New Roman" panose="02020603050405020304" pitchFamily="18" charset="0"/>
              </a:rPr>
              <a:t>Far from the point of attachment to the trunk or far from the beginning of a structure</a:t>
            </a:r>
            <a:r>
              <a:rPr lang="en-US" altLang="en-US" i="1" dirty="0">
                <a:latin typeface="Times New Roman" panose="02020603050405020304" pitchFamily="18" charset="0"/>
              </a:rPr>
              <a:t> (distal)</a:t>
            </a:r>
          </a:p>
          <a:p>
            <a:pPr lvl="1" eaLnBrk="1" hangingPunct="1"/>
            <a:r>
              <a:rPr lang="en-US" altLang="en-US" dirty="0">
                <a:latin typeface="Times New Roman" panose="02020603050405020304" pitchFamily="18" charset="0"/>
              </a:rPr>
              <a:t>Below another structure </a:t>
            </a:r>
            <a:r>
              <a:rPr lang="en-US" altLang="en-US" i="1" dirty="0">
                <a:latin typeface="Times New Roman" panose="02020603050405020304" pitchFamily="18" charset="0"/>
              </a:rPr>
              <a:t>(inferior)</a:t>
            </a:r>
            <a:r>
              <a:rPr lang="en-US" altLang="en-US" dirty="0">
                <a:latin typeface="Times New Roman" panose="02020603050405020304" pitchFamily="18" charset="0"/>
              </a:rPr>
              <a:t> </a:t>
            </a:r>
          </a:p>
          <a:p>
            <a:pPr lvl="1" eaLnBrk="1" hangingPunct="1"/>
            <a:r>
              <a:rPr lang="en-US" altLang="en-US" dirty="0">
                <a:latin typeface="Times New Roman" panose="02020603050405020304" pitchFamily="18" charset="0"/>
              </a:rPr>
              <a:t>above another structure </a:t>
            </a:r>
            <a:r>
              <a:rPr lang="en-US" altLang="en-US" i="1" dirty="0">
                <a:latin typeface="Times New Roman" panose="02020603050405020304" pitchFamily="18" charset="0"/>
              </a:rPr>
              <a:t>(superior)</a:t>
            </a:r>
          </a:p>
        </p:txBody>
      </p:sp>
    </p:spTree>
    <p:extLst>
      <p:ext uri="{BB962C8B-B14F-4D97-AF65-F5344CB8AC3E}">
        <p14:creationId xmlns:p14="http://schemas.microsoft.com/office/powerpoint/2010/main" val="2341386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How could the following conditions be identified?</a:t>
            </a:r>
          </a:p>
          <a:p>
            <a:pPr lvl="1" eaLnBrk="1" hangingPunct="1"/>
            <a:r>
              <a:rPr lang="en-US" altLang="en-US" dirty="0">
                <a:latin typeface="Times New Roman" panose="02020603050405020304" pitchFamily="18" charset="0"/>
              </a:rPr>
              <a:t>A bruise on the forehead </a:t>
            </a:r>
            <a:r>
              <a:rPr lang="en-US" altLang="en-US" i="1" dirty="0">
                <a:latin typeface="Times New Roman" panose="02020603050405020304" pitchFamily="18" charset="0"/>
              </a:rPr>
              <a:t>(anterior; superficial)</a:t>
            </a:r>
          </a:p>
          <a:p>
            <a:pPr lvl="1" eaLnBrk="1" hangingPunct="1"/>
            <a:r>
              <a:rPr lang="en-US" altLang="en-US" dirty="0">
                <a:latin typeface="Times New Roman" panose="02020603050405020304" pitchFamily="18" charset="0"/>
              </a:rPr>
              <a:t>A cramp in the left ovary </a:t>
            </a:r>
            <a:r>
              <a:rPr lang="en-US" altLang="en-US" i="1" dirty="0">
                <a:latin typeface="Times New Roman" panose="02020603050405020304" pitchFamily="18" charset="0"/>
              </a:rPr>
              <a:t>(lateral; deep)</a:t>
            </a:r>
          </a:p>
          <a:p>
            <a:pPr lvl="1" eaLnBrk="1" hangingPunct="1"/>
            <a:r>
              <a:rPr lang="en-US" altLang="en-US" dirty="0">
                <a:latin typeface="Times New Roman" panose="02020603050405020304" pitchFamily="18" charset="0"/>
              </a:rPr>
              <a:t>A callus on the ball of the foot </a:t>
            </a:r>
            <a:r>
              <a:rPr lang="en-US" altLang="en-US" i="1" dirty="0">
                <a:latin typeface="Times New Roman" panose="02020603050405020304" pitchFamily="18" charset="0"/>
              </a:rPr>
              <a:t>(inferior)</a:t>
            </a:r>
          </a:p>
          <a:p>
            <a:endParaRPr lang="es-419" dirty="0"/>
          </a:p>
        </p:txBody>
      </p:sp>
      <p:sp>
        <p:nvSpPr>
          <p:cNvPr id="4" name="Slide Number Placeholder 3"/>
          <p:cNvSpPr>
            <a:spLocks noGrp="1"/>
          </p:cNvSpPr>
          <p:nvPr>
            <p:ph type="sldNum" sz="quarter" idx="10"/>
          </p:nvPr>
        </p:nvSpPr>
        <p:spPr/>
        <p:txBody>
          <a:bodyPr/>
          <a:lstStyle/>
          <a:p>
            <a:fld id="{3D64DA5C-C784-4DD8-9978-B3A86BB08776}" type="slidenum">
              <a:rPr lang="en-US" altLang="en-US" smtClean="0"/>
              <a:pPr/>
              <a:t>35</a:t>
            </a:fld>
            <a:endParaRPr lang="en-US" altLang="en-US"/>
          </a:p>
        </p:txBody>
      </p:sp>
    </p:spTree>
    <p:extLst>
      <p:ext uri="{BB962C8B-B14F-4D97-AF65-F5344CB8AC3E}">
        <p14:creationId xmlns:p14="http://schemas.microsoft.com/office/powerpoint/2010/main" val="1406412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E2CE1502-A12F-48DA-9164-365C2F8CDCE5}" type="slidenum">
              <a:rPr lang="en-US" altLang="en-US" sz="1200" b="0">
                <a:latin typeface="Arial" panose="020B0604020202020204" pitchFamily="34" charset="0"/>
              </a:rPr>
              <a:pPr/>
              <a:t>36</a:t>
            </a:fld>
            <a:endParaRPr lang="en-US" altLang="en-US" sz="1200" b="0" dirty="0">
              <a:latin typeface="Arial" panose="020B0604020202020204" pitchFamily="34"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A plane running across the body parallel to the ground </a:t>
            </a:r>
            <a:r>
              <a:rPr lang="en-US" altLang="en-US" i="1" dirty="0">
                <a:latin typeface="Times New Roman" panose="02020603050405020304" pitchFamily="18" charset="0"/>
              </a:rPr>
              <a:t>(transverse)</a:t>
            </a:r>
          </a:p>
          <a:p>
            <a:pPr eaLnBrk="1" hangingPunct="1"/>
            <a:r>
              <a:rPr lang="en-US" altLang="en-US" dirty="0">
                <a:latin typeface="Times New Roman" panose="02020603050405020304" pitchFamily="18" charset="0"/>
              </a:rPr>
              <a:t>A vertical plane dividing the body into anterior and posterior portions </a:t>
            </a:r>
            <a:r>
              <a:rPr lang="en-US" altLang="en-US" i="1" dirty="0">
                <a:latin typeface="Times New Roman" panose="02020603050405020304" pitchFamily="18" charset="0"/>
              </a:rPr>
              <a:t>(frontal)</a:t>
            </a:r>
          </a:p>
          <a:p>
            <a:pPr eaLnBrk="1" hangingPunct="1"/>
            <a:r>
              <a:rPr lang="en-US" altLang="en-US" dirty="0">
                <a:latin typeface="Times New Roman" panose="02020603050405020304" pitchFamily="18" charset="0"/>
              </a:rPr>
              <a:t>A lengthwise vertical plane dividing the body into right and left sides </a:t>
            </a:r>
            <a:r>
              <a:rPr lang="en-US" altLang="en-US" i="1" dirty="0">
                <a:latin typeface="Times New Roman" panose="02020603050405020304" pitchFamily="18" charset="0"/>
              </a:rPr>
              <a:t>(sagittal)</a:t>
            </a:r>
          </a:p>
          <a:p>
            <a:pPr eaLnBrk="1" hangingPunct="1"/>
            <a:endParaRPr lang="en-US" altLang="en-US" dirty="0">
              <a:latin typeface="Times New Roman" panose="02020603050405020304" pitchFamily="18" charset="0"/>
            </a:endParaRPr>
          </a:p>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2768063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fld id="{0FCCEA7E-D5F9-4047-AAA7-EE661365DBE9}" type="slidenum">
              <a:rPr lang="en-US" altLang="en-US" sz="1200" b="0">
                <a:latin typeface="Arial" panose="020B0604020202020204" pitchFamily="34" charset="0"/>
              </a:rPr>
              <a:pPr/>
              <a:t>59</a:t>
            </a:fld>
            <a:endParaRPr lang="en-US" altLang="en-US" sz="1200" b="0" dirty="0">
              <a:latin typeface="Arial" panose="020B0604020202020204" pitchFamily="3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The correct answer is B: craniotomy.</a:t>
            </a:r>
          </a:p>
        </p:txBody>
      </p:sp>
    </p:spTree>
    <p:extLst>
      <p:ext uri="{BB962C8B-B14F-4D97-AF65-F5344CB8AC3E}">
        <p14:creationId xmlns:p14="http://schemas.microsoft.com/office/powerpoint/2010/main" val="485715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8"/>
          <p:cNvSpPr txBox="1">
            <a:spLocks noGrp="1" noChangeArrowheads="1"/>
          </p:cNvSpPr>
          <p:nvPr userDrawn="1"/>
        </p:nvSpPr>
        <p:spPr bwMode="auto">
          <a:xfrm>
            <a:off x="685800" y="6705600"/>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4000" b="1">
                <a:solidFill>
                  <a:schemeClr val="tx1"/>
                </a:solidFill>
                <a:latin typeface="Times New Roman" pitchFamily="18" charset="0"/>
                <a:ea typeface="MS PGothic" pitchFamily="34" charset="-128"/>
              </a:defRPr>
            </a:lvl1pPr>
            <a:lvl2pPr marL="742950" indent="-285750" eaLnBrk="0" hangingPunct="0">
              <a:defRPr sz="4000" b="1">
                <a:solidFill>
                  <a:schemeClr val="tx1"/>
                </a:solidFill>
                <a:latin typeface="Times New Roman" pitchFamily="18" charset="0"/>
                <a:ea typeface="MS PGothic" pitchFamily="34" charset="-128"/>
              </a:defRPr>
            </a:lvl2pPr>
            <a:lvl3pPr marL="1143000" indent="-228600" eaLnBrk="0" hangingPunct="0">
              <a:defRPr sz="4000" b="1">
                <a:solidFill>
                  <a:schemeClr val="tx1"/>
                </a:solidFill>
                <a:latin typeface="Times New Roman" pitchFamily="18" charset="0"/>
                <a:ea typeface="MS PGothic" pitchFamily="34" charset="-128"/>
              </a:defRPr>
            </a:lvl3pPr>
            <a:lvl4pPr marL="1600200" indent="-228600" eaLnBrk="0" hangingPunct="0">
              <a:defRPr sz="4000" b="1">
                <a:solidFill>
                  <a:schemeClr val="tx1"/>
                </a:solidFill>
                <a:latin typeface="Times New Roman" pitchFamily="18" charset="0"/>
                <a:ea typeface="MS PGothic" pitchFamily="34" charset="-128"/>
              </a:defRPr>
            </a:lvl4pPr>
            <a:lvl5pPr marL="2057400" indent="-228600" eaLnBrk="0" hangingPunct="0">
              <a:defRPr sz="4000" b="1">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4000" b="1">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4000" b="1">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4000" b="1">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4000" b="1">
                <a:solidFill>
                  <a:schemeClr val="tx1"/>
                </a:solidFill>
                <a:latin typeface="Times New Roman" pitchFamily="18" charset="0"/>
                <a:ea typeface="MS PGothic" pitchFamily="34" charset="-128"/>
              </a:defRPr>
            </a:lvl9pPr>
          </a:lstStyle>
          <a:p>
            <a:pPr algn="ctr" eaLnBrk="1" hangingPunct="1">
              <a:defRPr/>
            </a:pPr>
            <a:r>
              <a:rPr lang="en-US" sz="1000" b="0" dirty="0">
                <a:latin typeface="Arial" pitchFamily="34" charset="0"/>
              </a:rPr>
              <a:t>.</a:t>
            </a:r>
            <a:endParaRPr lang="en-US" sz="2400" b="0" dirty="0"/>
          </a:p>
        </p:txBody>
      </p:sp>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9CF8A20-83A3-4F0D-BAB4-67E17C0ABFC1}" type="slidenum">
              <a:rPr lang="en-US" altLang="en-US" sz="1000" b="0">
                <a:latin typeface="Arial" panose="020B0604020202020204" pitchFamily="34" charset="0"/>
                <a:cs typeface="Arial" panose="020B0604020202020204" pitchFamily="34" charset="0"/>
              </a:rPr>
              <a:pPr algn="r" eaLnBrk="1" hangingPunct="1">
                <a:spcBef>
                  <a:spcPct val="50000"/>
                </a:spcBef>
              </a:pPr>
              <a:t>‹#›</a:t>
            </a:fld>
            <a:endParaRPr lang="en-US" altLang="en-US" sz="1000" b="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fld id="{6C1E9479-805B-4208-9A76-D3A2E3987720}" type="datetimeFigureOut">
              <a:rPr lang="en-US"/>
              <a:pPr>
                <a:defRPr/>
              </a:pPr>
              <a:t>12/7/2023</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dirty="0"/>
          </a:p>
        </p:txBody>
      </p:sp>
      <p:sp>
        <p:nvSpPr>
          <p:cNvPr id="8" name="Slide Number Placeholder 5"/>
          <p:cNvSpPr>
            <a:spLocks noGrp="1"/>
          </p:cNvSpPr>
          <p:nvPr>
            <p:ph type="sldNum" sz="quarter" idx="12"/>
          </p:nvPr>
        </p:nvSpPr>
        <p:spPr/>
        <p:txBody>
          <a:bodyPr/>
          <a:lstStyle>
            <a:lvl1pPr>
              <a:defRPr/>
            </a:lvl1pPr>
          </a:lstStyle>
          <a:p>
            <a:fld id="{400303F0-C164-43C5-B6E5-67D2115D0343}" type="slidenum">
              <a:rPr lang="en-US" altLang="en-US"/>
              <a:pPr/>
              <a:t>‹#›</a:t>
            </a:fld>
            <a:endParaRPr lang="en-US" altLang="en-US"/>
          </a:p>
        </p:txBody>
      </p:sp>
    </p:spTree>
    <p:extLst>
      <p:ext uri="{BB962C8B-B14F-4D97-AF65-F5344CB8AC3E}">
        <p14:creationId xmlns:p14="http://schemas.microsoft.com/office/powerpoint/2010/main" val="2374376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AEC032-331F-4285-BE5F-8EB1303CDB73}"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FE27081-07F8-4C5B-A703-E1AC313818A2}" type="slidenum">
              <a:rPr lang="en-US" altLang="en-US"/>
              <a:pPr/>
              <a:t>‹#›</a:t>
            </a:fld>
            <a:endParaRPr lang="en-US" altLang="en-US"/>
          </a:p>
        </p:txBody>
      </p:sp>
    </p:spTree>
    <p:extLst>
      <p:ext uri="{BB962C8B-B14F-4D97-AF65-F5344CB8AC3E}">
        <p14:creationId xmlns:p14="http://schemas.microsoft.com/office/powerpoint/2010/main" val="327438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AAADF10-EFA3-47F3-86D0-6B22CC2052CC}"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1B10702-87A4-4227-98F4-27C915E78ED0}" type="slidenum">
              <a:rPr lang="en-US" altLang="en-US"/>
              <a:pPr/>
              <a:t>‹#›</a:t>
            </a:fld>
            <a:endParaRPr lang="en-US" altLang="en-US"/>
          </a:p>
        </p:txBody>
      </p:sp>
    </p:spTree>
    <p:extLst>
      <p:ext uri="{BB962C8B-B14F-4D97-AF65-F5344CB8AC3E}">
        <p14:creationId xmlns:p14="http://schemas.microsoft.com/office/powerpoint/2010/main" val="4178163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7E0AD4F-0F51-49AD-B000-D9E80488C12D}"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D0DF3FA-774D-43DD-B9A3-D3B7D3E9E572}" type="slidenum">
              <a:rPr lang="en-US" altLang="en-US"/>
              <a:pPr/>
              <a:t>‹#›</a:t>
            </a:fld>
            <a:endParaRPr lang="en-US" altLang="en-US"/>
          </a:p>
        </p:txBody>
      </p:sp>
    </p:spTree>
    <p:extLst>
      <p:ext uri="{BB962C8B-B14F-4D97-AF65-F5344CB8AC3E}">
        <p14:creationId xmlns:p14="http://schemas.microsoft.com/office/powerpoint/2010/main" val="385013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8678805-9111-44CC-84F9-24F305ABC33D}" type="datetimeFigureOut">
              <a:rPr lang="en-US"/>
              <a:pPr>
                <a:defRPr/>
              </a:pPr>
              <a:t>12/7/2023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819D7C1E-00F2-4221-B648-1BAB57FB2B5C}" type="slidenum">
              <a:rPr lang="en-US" altLang="en-US"/>
              <a:pPr/>
              <a:t>‹#›</a:t>
            </a:fld>
            <a:endParaRPr lang="en-US" altLang="en-US"/>
          </a:p>
        </p:txBody>
      </p:sp>
    </p:spTree>
    <p:extLst>
      <p:ext uri="{BB962C8B-B14F-4D97-AF65-F5344CB8AC3E}">
        <p14:creationId xmlns:p14="http://schemas.microsoft.com/office/powerpoint/2010/main" val="3976079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AD39118-7566-4960-B02E-E65094459793}" type="datetimeFigureOut">
              <a:rPr lang="en-US"/>
              <a:pPr>
                <a:defRPr/>
              </a:pPr>
              <a:t>12/7/2023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C8DAD8FB-DDAC-4BDA-8AD8-586A4DCF641D}" type="slidenum">
              <a:rPr lang="en-US" altLang="en-US"/>
              <a:pPr/>
              <a:t>‹#›</a:t>
            </a:fld>
            <a:endParaRPr lang="en-US" altLang="en-US"/>
          </a:p>
        </p:txBody>
      </p:sp>
    </p:spTree>
    <p:extLst>
      <p:ext uri="{BB962C8B-B14F-4D97-AF65-F5344CB8AC3E}">
        <p14:creationId xmlns:p14="http://schemas.microsoft.com/office/powerpoint/2010/main" val="3346620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C9C723B-65A1-4814-924F-D17DB5053CE5}" type="datetimeFigureOut">
              <a:rPr lang="en-US"/>
              <a:pPr>
                <a:defRPr/>
              </a:pPr>
              <a:t>12/7/2023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C153341F-7362-47B7-A17C-FFD0CC740661}" type="slidenum">
              <a:rPr lang="en-US" altLang="en-US"/>
              <a:pPr/>
              <a:t>‹#›</a:t>
            </a:fld>
            <a:endParaRPr lang="en-US" altLang="en-US"/>
          </a:p>
        </p:txBody>
      </p:sp>
    </p:spTree>
    <p:extLst>
      <p:ext uri="{BB962C8B-B14F-4D97-AF65-F5344CB8AC3E}">
        <p14:creationId xmlns:p14="http://schemas.microsoft.com/office/powerpoint/2010/main" val="910285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4791B27-5E09-4A3A-9915-A2D078F1D4EF}"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6D5F2D1-B957-4BDD-99EC-124DE1871614}" type="slidenum">
              <a:rPr lang="en-US" altLang="en-US"/>
              <a:pPr/>
              <a:t>‹#›</a:t>
            </a:fld>
            <a:endParaRPr lang="en-US" altLang="en-US"/>
          </a:p>
        </p:txBody>
      </p:sp>
    </p:spTree>
    <p:extLst>
      <p:ext uri="{BB962C8B-B14F-4D97-AF65-F5344CB8AC3E}">
        <p14:creationId xmlns:p14="http://schemas.microsoft.com/office/powerpoint/2010/main" val="2004257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CEA19B3-A333-49E1-8366-8A06BB4A6885}"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F6D1367-E4FA-4B29-AB23-C9DAD2F22603}" type="slidenum">
              <a:rPr lang="en-US" altLang="en-US"/>
              <a:pPr/>
              <a:t>‹#›</a:t>
            </a:fld>
            <a:endParaRPr lang="en-US" altLang="en-US"/>
          </a:p>
        </p:txBody>
      </p:sp>
    </p:spTree>
    <p:extLst>
      <p:ext uri="{BB962C8B-B14F-4D97-AF65-F5344CB8AC3E}">
        <p14:creationId xmlns:p14="http://schemas.microsoft.com/office/powerpoint/2010/main" val="124579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8488EDC-317F-414B-A170-FBDF84038B59}"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94875FA-F9EA-482D-AA8B-2A61993F7040}" type="slidenum">
              <a:rPr lang="en-US" altLang="en-US"/>
              <a:pPr/>
              <a:t>‹#›</a:t>
            </a:fld>
            <a:endParaRPr lang="en-US" altLang="en-US"/>
          </a:p>
        </p:txBody>
      </p:sp>
    </p:spTree>
    <p:extLst>
      <p:ext uri="{BB962C8B-B14F-4D97-AF65-F5344CB8AC3E}">
        <p14:creationId xmlns:p14="http://schemas.microsoft.com/office/powerpoint/2010/main" val="2425493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C9E718F-2C8D-48BC-AECB-70F20314AE7C}"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6CF00D9-2EC8-4007-8B3C-A8D41E288F63}" type="slidenum">
              <a:rPr lang="en-US" altLang="en-US"/>
              <a:pPr/>
              <a:t>‹#›</a:t>
            </a:fld>
            <a:endParaRPr lang="en-US" altLang="en-US"/>
          </a:p>
        </p:txBody>
      </p:sp>
    </p:spTree>
    <p:extLst>
      <p:ext uri="{BB962C8B-B14F-4D97-AF65-F5344CB8AC3E}">
        <p14:creationId xmlns:p14="http://schemas.microsoft.com/office/powerpoint/2010/main" val="367927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8009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8C6BD715-5385-4565-BE46-79771FFD5216}" type="datetimeFigureOut">
              <a:rPr lang="en-US"/>
              <a:pPr>
                <a:defRPr/>
              </a:pPr>
              <a:t>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5CF17B31-6359-4D97-86C9-17F86D2EBFD9}"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4000" b="1">
                <a:solidFill>
                  <a:schemeClr val="tx1"/>
                </a:solidFill>
                <a:latin typeface="Times New Roman" panose="02020603050405020304" pitchFamily="18" charset="0"/>
                <a:ea typeface="MS PGothic" panose="020B0600070205080204" pitchFamily="34" charset="-128"/>
              </a:defRPr>
            </a:lvl1pPr>
            <a:lvl2pPr marL="742950" indent="-285750">
              <a:defRPr sz="4000" b="1">
                <a:solidFill>
                  <a:schemeClr val="tx1"/>
                </a:solidFill>
                <a:latin typeface="Times New Roman" panose="02020603050405020304" pitchFamily="18" charset="0"/>
                <a:ea typeface="MS PGothic" panose="020B0600070205080204" pitchFamily="34" charset="-128"/>
              </a:defRPr>
            </a:lvl2pPr>
            <a:lvl3pPr marL="1143000" indent="-228600">
              <a:defRPr sz="4000" b="1">
                <a:solidFill>
                  <a:schemeClr val="tx1"/>
                </a:solidFill>
                <a:latin typeface="Times New Roman" panose="02020603050405020304" pitchFamily="18" charset="0"/>
                <a:ea typeface="MS PGothic" panose="020B0600070205080204" pitchFamily="34" charset="-128"/>
              </a:defRPr>
            </a:lvl3pPr>
            <a:lvl4pPr marL="1600200" indent="-228600">
              <a:defRPr sz="4000" b="1">
                <a:solidFill>
                  <a:schemeClr val="tx1"/>
                </a:solidFill>
                <a:latin typeface="Times New Roman" panose="02020603050405020304" pitchFamily="18" charset="0"/>
                <a:ea typeface="MS PGothic" panose="020B0600070205080204" pitchFamily="34" charset="-128"/>
              </a:defRPr>
            </a:lvl4pPr>
            <a:lvl5pPr marL="2057400" indent="-228600">
              <a:defRPr sz="4000" b="1">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b="1">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58C6D591-F14C-4B75-BAB5-981DA4A29820}" type="slidenum">
              <a:rPr lang="en-US" altLang="en-US" sz="1000" b="0">
                <a:latin typeface="Arial" panose="020B0604020202020204" pitchFamily="34" charset="0"/>
                <a:cs typeface="Arial" panose="020B0604020202020204" pitchFamily="34" charset="0"/>
              </a:rPr>
              <a:pPr algn="r" eaLnBrk="1" hangingPunct="1">
                <a:spcBef>
                  <a:spcPct val="50000"/>
                </a:spcBef>
              </a:pPr>
              <a:t>‹#›</a:t>
            </a:fld>
            <a:endParaRPr lang="en-US" altLang="en-US" sz="1000" b="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0C4FF2FD-C51B-4754-7933-B01111BD986D}"/>
              </a:ext>
            </a:extLst>
          </p:cNvPr>
          <p:cNvPicPr>
            <a:picLocks noChangeAspect="1"/>
          </p:cNvPicPr>
          <p:nvPr userDrawn="1"/>
        </p:nvPicPr>
        <p:blipFill>
          <a:blip r:embed="rId14"/>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4105"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 id="2147484106" r:id="rId12"/>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263794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28700"/>
            <a:ext cx="8229600" cy="1143000"/>
          </a:xfrm>
        </p:spPr>
        <p:txBody>
          <a:bodyPr/>
          <a:lstStyle/>
          <a:p>
            <a:r>
              <a:rPr lang="en-US" dirty="0"/>
              <a:t>Chapter 2</a:t>
            </a:r>
            <a:br>
              <a:rPr lang="en-US" dirty="0"/>
            </a:br>
            <a:r>
              <a:rPr lang="en-US" dirty="0"/>
              <a:t>Terms Pertaining to the Body as a Whole</a:t>
            </a:r>
            <a:endParaRPr lang="es-419" dirty="0"/>
          </a:p>
        </p:txBody>
      </p:sp>
    </p:spTree>
    <p:extLst>
      <p:ext uri="{BB962C8B-B14F-4D97-AF65-F5344CB8AC3E}">
        <p14:creationId xmlns:p14="http://schemas.microsoft.com/office/powerpoint/2010/main" val="4024245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dirty="0"/>
              <a:t>Chapter Goals (Slide 1 of 2)</a:t>
            </a:r>
          </a:p>
        </p:txBody>
      </p:sp>
      <p:sp>
        <p:nvSpPr>
          <p:cNvPr id="8195" name="Rectangle 5"/>
          <p:cNvSpPr>
            <a:spLocks noGrp="1" noChangeArrowheads="1"/>
          </p:cNvSpPr>
          <p:nvPr>
            <p:ph idx="1"/>
          </p:nvPr>
        </p:nvSpPr>
        <p:spPr/>
        <p:txBody>
          <a:bodyPr/>
          <a:lstStyle/>
          <a:p>
            <a:pPr eaLnBrk="1" hangingPunct="1"/>
            <a:r>
              <a:rPr lang="en-US" altLang="en-US"/>
              <a:t>Define terms that apply to the structural organization of the body.</a:t>
            </a:r>
          </a:p>
          <a:p>
            <a:pPr eaLnBrk="1" hangingPunct="1"/>
            <a:r>
              <a:rPr lang="en-US" altLang="en-US"/>
              <a:t>Identify the body cavities and recognize the organs contained within those cavities.</a:t>
            </a:r>
          </a:p>
          <a:p>
            <a:pPr eaLnBrk="1" hangingPunct="1"/>
            <a:r>
              <a:rPr lang="en-US" altLang="en-US"/>
              <a:t>Locate and identify the anatomical and clinical divisions of the abdomen.</a:t>
            </a:r>
          </a:p>
          <a:p>
            <a:pPr eaLnBrk="1" hangingPunct="1"/>
            <a:r>
              <a:rPr lang="en-US" altLang="en-US"/>
              <a:t>Locate and name the anatomical divisions of the back.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p:txBody>
          <a:bodyPr/>
          <a:lstStyle/>
          <a:p>
            <a:pPr eaLnBrk="1" hangingPunct="1"/>
            <a:r>
              <a:rPr lang="en-US" altLang="en-US" dirty="0"/>
              <a:t>Chapter Goals </a:t>
            </a:r>
            <a:r>
              <a:rPr lang="en-US" altLang="en-US" dirty="0">
                <a:sym typeface="Wingdings" panose="05000000000000000000" pitchFamily="2" charset="2"/>
              </a:rPr>
              <a:t>(Slide 2 of 2</a:t>
            </a:r>
            <a:r>
              <a:rPr lang="en-US" altLang="ja-JP" dirty="0">
                <a:sym typeface="Wingdings" panose="05000000000000000000" pitchFamily="2" charset="2"/>
              </a:rPr>
              <a:t>)</a:t>
            </a:r>
            <a:endParaRPr lang="en-US" altLang="en-US" dirty="0"/>
          </a:p>
        </p:txBody>
      </p:sp>
      <p:sp>
        <p:nvSpPr>
          <p:cNvPr id="9219" name="Rectangle 5"/>
          <p:cNvSpPr>
            <a:spLocks noGrp="1" noChangeArrowheads="1"/>
          </p:cNvSpPr>
          <p:nvPr>
            <p:ph idx="1"/>
          </p:nvPr>
        </p:nvSpPr>
        <p:spPr/>
        <p:txBody>
          <a:bodyPr/>
          <a:lstStyle/>
          <a:p>
            <a:pPr eaLnBrk="1" hangingPunct="1"/>
            <a:r>
              <a:rPr lang="en-US" altLang="en-US"/>
              <a:t>Become acquainted with terms that describe positions, directions, and planes of the body.</a:t>
            </a:r>
          </a:p>
          <a:p>
            <a:pPr eaLnBrk="1" hangingPunct="1"/>
            <a:r>
              <a:rPr lang="en-US" altLang="en-US"/>
              <a:t>Identify the meanings for new word elements and use them to understand medical terms.</a:t>
            </a:r>
          </a:p>
          <a:p>
            <a:pPr eaLnBrk="1" hangingPunct="1"/>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2 </a:t>
            </a:r>
            <a:br>
              <a:rPr lang="en-US" dirty="0"/>
            </a:br>
            <a:r>
              <a:rPr lang="en-US" dirty="0"/>
              <a:t>Lesson 2.1</a:t>
            </a:r>
            <a:endParaRPr lang="es-419" dirty="0"/>
          </a:p>
        </p:txBody>
      </p:sp>
      <p:sp>
        <p:nvSpPr>
          <p:cNvPr id="3" name="Content Placeholder 2"/>
          <p:cNvSpPr>
            <a:spLocks noGrp="1"/>
          </p:cNvSpPr>
          <p:nvPr>
            <p:ph idx="1"/>
          </p:nvPr>
        </p:nvSpPr>
        <p:spPr/>
        <p:txBody>
          <a:bodyPr/>
          <a:lstStyle/>
          <a:p>
            <a:pPr marL="0" indent="0">
              <a:buNone/>
            </a:pPr>
            <a:r>
              <a:rPr lang="en-US" sz="3600" b="1" dirty="0"/>
              <a:t>Structural Organization and Body Cavities</a:t>
            </a:r>
          </a:p>
          <a:p>
            <a:pPr lvl="1">
              <a:buFont typeface="Wingdings" panose="05000000000000000000" pitchFamily="2" charset="2"/>
              <a:buChar char="Ø"/>
            </a:pPr>
            <a:r>
              <a:rPr lang="en-US" dirty="0"/>
              <a:t>Define terms that apply to the structural organization of the body.</a:t>
            </a:r>
          </a:p>
          <a:p>
            <a:pPr lvl="1">
              <a:buFont typeface="Wingdings" panose="05000000000000000000" pitchFamily="2" charset="2"/>
              <a:buChar char="Ø"/>
            </a:pPr>
            <a:r>
              <a:rPr lang="en-US" dirty="0"/>
              <a:t>Identify the body cavities and recognize the organs contained within those cavities.</a:t>
            </a:r>
          </a:p>
          <a:p>
            <a:pPr lvl="1">
              <a:buFont typeface="Wingdings" panose="05000000000000000000" pitchFamily="2" charset="2"/>
              <a:buChar char="Ø"/>
            </a:pPr>
            <a:r>
              <a:rPr lang="en-US" dirty="0"/>
              <a:t>Locate and identify the anatomic and clinical divisions of the abdomen</a:t>
            </a:r>
            <a:endParaRPr lang="es-419" dirty="0"/>
          </a:p>
        </p:txBody>
      </p:sp>
    </p:spTree>
    <p:extLst>
      <p:ext uri="{BB962C8B-B14F-4D97-AF65-F5344CB8AC3E}">
        <p14:creationId xmlns:p14="http://schemas.microsoft.com/office/powerpoint/2010/main" val="1056005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28600"/>
            <a:ext cx="8458200" cy="1219200"/>
          </a:xfrm>
        </p:spPr>
        <p:txBody>
          <a:bodyPr/>
          <a:lstStyle/>
          <a:p>
            <a:pPr eaLnBrk="1" hangingPunct="1"/>
            <a:r>
              <a:rPr lang="en-US" altLang="en-US" dirty="0"/>
              <a:t>Structural Organization of the Body</a:t>
            </a:r>
            <a:br>
              <a:rPr lang="en-US" altLang="en-US" dirty="0"/>
            </a:br>
            <a:r>
              <a:rPr lang="en-US" altLang="en-US" dirty="0"/>
              <a:t>(Slide 1 of 7)</a:t>
            </a:r>
          </a:p>
        </p:txBody>
      </p:sp>
      <p:sp>
        <p:nvSpPr>
          <p:cNvPr id="11267" name="Rectangle 3"/>
          <p:cNvSpPr>
            <a:spLocks noGrp="1" noChangeArrowheads="1"/>
          </p:cNvSpPr>
          <p:nvPr>
            <p:ph idx="1"/>
          </p:nvPr>
        </p:nvSpPr>
        <p:spPr/>
        <p:txBody>
          <a:bodyPr/>
          <a:lstStyle/>
          <a:p>
            <a:pPr eaLnBrk="1" hangingPunct="1"/>
            <a:r>
              <a:rPr lang="en-US" altLang="en-US" sz="3600" b="1"/>
              <a:t>CELLS</a:t>
            </a:r>
          </a:p>
          <a:p>
            <a:pPr eaLnBrk="1" hangingPunct="1"/>
            <a:r>
              <a:rPr lang="en-US" altLang="en-US" sz="3600" b="1"/>
              <a:t>TISSUES</a:t>
            </a:r>
          </a:p>
          <a:p>
            <a:pPr eaLnBrk="1" hangingPunct="1"/>
            <a:r>
              <a:rPr lang="en-US" altLang="en-US" sz="3600" b="1"/>
              <a:t>ORGANS</a:t>
            </a:r>
          </a:p>
          <a:p>
            <a:pPr eaLnBrk="1" hangingPunct="1"/>
            <a:r>
              <a:rPr lang="en-US" altLang="en-US" sz="3600" b="1"/>
              <a:t>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52400"/>
            <a:ext cx="9144000" cy="1219200"/>
          </a:xfrm>
        </p:spPr>
        <p:txBody>
          <a:bodyPr/>
          <a:lstStyle/>
          <a:p>
            <a:pPr eaLnBrk="1" hangingPunct="1"/>
            <a:r>
              <a:rPr lang="en-US" altLang="en-US" dirty="0"/>
              <a:t>Structural Organization of the Body</a:t>
            </a:r>
            <a:br>
              <a:rPr lang="en-US" altLang="en-US" dirty="0"/>
            </a:br>
            <a:r>
              <a:rPr lang="en-US" altLang="en-US" dirty="0"/>
              <a:t>(Slide 2 of 7)</a:t>
            </a:r>
          </a:p>
        </p:txBody>
      </p:sp>
      <p:sp>
        <p:nvSpPr>
          <p:cNvPr id="12291" name="Rectangle 3"/>
          <p:cNvSpPr>
            <a:spLocks noGrp="1" noChangeArrowheads="1"/>
          </p:cNvSpPr>
          <p:nvPr>
            <p:ph type="body" sz="half" idx="1"/>
          </p:nvPr>
        </p:nvSpPr>
        <p:spPr>
          <a:xfrm>
            <a:off x="685800" y="1600200"/>
            <a:ext cx="6172200" cy="4114800"/>
          </a:xfrm>
        </p:spPr>
        <p:txBody>
          <a:bodyPr/>
          <a:lstStyle/>
          <a:p>
            <a:pPr eaLnBrk="1" hangingPunct="1">
              <a:buFont typeface="Wingdings 2" panose="05020102010507070707" pitchFamily="18" charset="2"/>
              <a:buNone/>
            </a:pPr>
            <a:r>
              <a:rPr lang="en-US" altLang="en-US" b="1" dirty="0"/>
              <a:t>Cells—The fundamental unit of all living things </a:t>
            </a:r>
          </a:p>
          <a:p>
            <a:pPr eaLnBrk="1" hangingPunct="1"/>
            <a:r>
              <a:rPr lang="en-US" altLang="en-US" sz="2400" dirty="0"/>
              <a:t>Major parts of a cell include:</a:t>
            </a:r>
          </a:p>
          <a:p>
            <a:pPr lvl="1" eaLnBrk="1" hangingPunct="1"/>
            <a:r>
              <a:rPr lang="en-US" altLang="en-US" sz="2000" dirty="0"/>
              <a:t> Chromosomes</a:t>
            </a:r>
          </a:p>
          <a:p>
            <a:pPr lvl="1" eaLnBrk="1" hangingPunct="1"/>
            <a:r>
              <a:rPr lang="en-US" altLang="en-US" sz="2000" dirty="0"/>
              <a:t> Nucleus</a:t>
            </a:r>
          </a:p>
          <a:p>
            <a:pPr lvl="1" eaLnBrk="1" hangingPunct="1"/>
            <a:r>
              <a:rPr lang="en-US" altLang="en-US" sz="2000" dirty="0"/>
              <a:t> Cell membrane</a:t>
            </a:r>
          </a:p>
          <a:p>
            <a:pPr lvl="1" eaLnBrk="1" hangingPunct="1"/>
            <a:r>
              <a:rPr lang="en-US" altLang="en-US" sz="2000" dirty="0"/>
              <a:t> Cytoplasm</a:t>
            </a:r>
          </a:p>
          <a:p>
            <a:pPr lvl="1" eaLnBrk="1" hangingPunct="1"/>
            <a:r>
              <a:rPr lang="en-US" altLang="en-US" sz="2000" dirty="0"/>
              <a:t>Mitochondria</a:t>
            </a:r>
          </a:p>
          <a:p>
            <a:pPr lvl="1" eaLnBrk="1" hangingPunct="1"/>
            <a:r>
              <a:rPr lang="en-US" altLang="en-US" sz="2000" dirty="0"/>
              <a:t>Endoplasmic reticulum</a:t>
            </a:r>
          </a:p>
          <a:p>
            <a:pPr lvl="1" eaLnBrk="1" hangingPunct="1"/>
            <a:endParaRPr lang="en-US"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Structural Organization of the Body</a:t>
            </a:r>
            <a:br>
              <a:rPr lang="en-US" altLang="en-US" dirty="0"/>
            </a:br>
            <a:r>
              <a:rPr lang="en-US" altLang="en-US" dirty="0"/>
              <a:t>(Slide 3 of 7)</a:t>
            </a:r>
            <a:endParaRPr lang="es-419" dirty="0"/>
          </a:p>
        </p:txBody>
      </p:sp>
      <p:sp>
        <p:nvSpPr>
          <p:cNvPr id="3" name="Content Placeholder 2"/>
          <p:cNvSpPr>
            <a:spLocks noGrp="1"/>
          </p:cNvSpPr>
          <p:nvPr>
            <p:ph sz="half" idx="1"/>
          </p:nvPr>
        </p:nvSpPr>
        <p:spPr>
          <a:xfrm>
            <a:off x="723900" y="1874838"/>
            <a:ext cx="7543800" cy="547751"/>
          </a:xfrm>
        </p:spPr>
        <p:txBody>
          <a:bodyPr/>
          <a:lstStyle/>
          <a:p>
            <a:r>
              <a:rPr lang="en-US" altLang="en-US" b="1" dirty="0"/>
              <a:t>CELL—The fundamental unit of all living things</a:t>
            </a:r>
          </a:p>
          <a:p>
            <a:endParaRPr lang="es-419" dirty="0"/>
          </a:p>
        </p:txBody>
      </p:sp>
      <p:pic>
        <p:nvPicPr>
          <p:cNvPr id="6" name="Picture 11" descr="Major parts of the cell include the cell membrane, nucleus, chromosomes, cytoplasm, endoplasmic reticulum, ribosomes, and mitochondri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362200" y="2453069"/>
            <a:ext cx="4411980" cy="34634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6961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1000" y="228600"/>
            <a:ext cx="7772400" cy="1219200"/>
          </a:xfrm>
        </p:spPr>
        <p:txBody>
          <a:bodyPr/>
          <a:lstStyle/>
          <a:p>
            <a:pPr eaLnBrk="1" hangingPunct="1"/>
            <a:r>
              <a:rPr lang="en-US" altLang="en-US" dirty="0"/>
              <a:t>Study Section 1</a:t>
            </a:r>
          </a:p>
        </p:txBody>
      </p:sp>
      <p:sp>
        <p:nvSpPr>
          <p:cNvPr id="14339" name="Rectangle 3"/>
          <p:cNvSpPr>
            <a:spLocks noGrp="1" noChangeArrowheads="1"/>
          </p:cNvSpPr>
          <p:nvPr>
            <p:ph sz="half" idx="1"/>
          </p:nvPr>
        </p:nvSpPr>
        <p:spPr>
          <a:xfrm>
            <a:off x="685800" y="1641475"/>
            <a:ext cx="3806825" cy="4073525"/>
          </a:xfrm>
        </p:spPr>
        <p:txBody>
          <a:bodyPr/>
          <a:lstStyle/>
          <a:p>
            <a:pPr eaLnBrk="1" hangingPunct="1"/>
            <a:r>
              <a:rPr lang="en-US" altLang="en-US"/>
              <a:t>Anabolism</a:t>
            </a:r>
            <a:endParaRPr lang="en-US" altLang="en-US" sz="2400"/>
          </a:p>
          <a:p>
            <a:pPr eaLnBrk="1" hangingPunct="1"/>
            <a:r>
              <a:rPr lang="en-US" altLang="en-US"/>
              <a:t>Catabolism</a:t>
            </a:r>
          </a:p>
          <a:p>
            <a:pPr eaLnBrk="1" hangingPunct="1"/>
            <a:r>
              <a:rPr lang="en-US" altLang="en-US"/>
              <a:t>Cell membrane</a:t>
            </a:r>
          </a:p>
          <a:p>
            <a:pPr eaLnBrk="1" hangingPunct="1"/>
            <a:r>
              <a:rPr lang="en-US" altLang="en-US"/>
              <a:t>Chromosomes</a:t>
            </a:r>
          </a:p>
          <a:p>
            <a:pPr eaLnBrk="1" hangingPunct="1"/>
            <a:r>
              <a:rPr lang="en-US" altLang="en-US"/>
              <a:t>Cytoplasm</a:t>
            </a:r>
          </a:p>
          <a:p>
            <a:pPr eaLnBrk="1" hangingPunct="1"/>
            <a:r>
              <a:rPr lang="en-US" altLang="en-US"/>
              <a:t>DNA</a:t>
            </a:r>
          </a:p>
        </p:txBody>
      </p:sp>
      <p:sp>
        <p:nvSpPr>
          <p:cNvPr id="14340" name="Rectangle 4"/>
          <p:cNvSpPr>
            <a:spLocks noGrp="1" noChangeArrowheads="1"/>
          </p:cNvSpPr>
          <p:nvPr>
            <p:ph sz="half" idx="2"/>
          </p:nvPr>
        </p:nvSpPr>
        <p:spPr>
          <a:xfrm>
            <a:off x="4419600" y="1600200"/>
            <a:ext cx="4191000" cy="4114800"/>
          </a:xfrm>
        </p:spPr>
        <p:txBody>
          <a:bodyPr/>
          <a:lstStyle/>
          <a:p>
            <a:pPr eaLnBrk="1" hangingPunct="1"/>
            <a:r>
              <a:rPr lang="en-US" altLang="en-US"/>
              <a:t>Endoplasmic reticulum</a:t>
            </a:r>
          </a:p>
          <a:p>
            <a:pPr eaLnBrk="1" hangingPunct="1"/>
            <a:r>
              <a:rPr lang="en-US" altLang="en-US"/>
              <a:t>Genes</a:t>
            </a:r>
          </a:p>
          <a:p>
            <a:pPr eaLnBrk="1" hangingPunct="1"/>
            <a:r>
              <a:rPr lang="en-US" altLang="en-US"/>
              <a:t>Karyotype</a:t>
            </a:r>
          </a:p>
          <a:p>
            <a:pPr eaLnBrk="1" hangingPunct="1"/>
            <a:r>
              <a:rPr lang="en-US" altLang="en-US"/>
              <a:t>Metabolism</a:t>
            </a:r>
          </a:p>
          <a:p>
            <a:pPr eaLnBrk="1" hangingPunct="1"/>
            <a:r>
              <a:rPr lang="en-US" altLang="en-US"/>
              <a:t>Mitochondria</a:t>
            </a:r>
          </a:p>
          <a:p>
            <a:pPr eaLnBrk="1" hangingPunct="1"/>
            <a:r>
              <a:rPr lang="en-US" altLang="en-US"/>
              <a:t>Nucleus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0" y="228600"/>
            <a:ext cx="9144000" cy="1219200"/>
          </a:xfrm>
        </p:spPr>
        <p:txBody>
          <a:bodyPr/>
          <a:lstStyle/>
          <a:p>
            <a:pPr eaLnBrk="1" hangingPunct="1"/>
            <a:r>
              <a:rPr lang="en-US" altLang="en-US" dirty="0"/>
              <a:t>Structural Organization of the Body</a:t>
            </a:r>
            <a:br>
              <a:rPr lang="en-US" altLang="en-US" dirty="0"/>
            </a:br>
            <a:r>
              <a:rPr lang="en-US" altLang="en-US" dirty="0"/>
              <a:t>(Slide 4 of 7)</a:t>
            </a:r>
          </a:p>
        </p:txBody>
      </p:sp>
      <p:sp>
        <p:nvSpPr>
          <p:cNvPr id="15363" name="Rectangle 5"/>
          <p:cNvSpPr>
            <a:spLocks noGrp="1" noChangeArrowheads="1"/>
          </p:cNvSpPr>
          <p:nvPr>
            <p:ph type="body" sz="half" idx="1"/>
          </p:nvPr>
        </p:nvSpPr>
        <p:spPr>
          <a:xfrm>
            <a:off x="685800" y="1641475"/>
            <a:ext cx="6400800" cy="4454525"/>
          </a:xfrm>
        </p:spPr>
        <p:txBody>
          <a:bodyPr/>
          <a:lstStyle/>
          <a:p>
            <a:pPr eaLnBrk="1" hangingPunct="1"/>
            <a:r>
              <a:rPr lang="en-US" altLang="en-US" sz="2400" dirty="0"/>
              <a:t>Cells are specialized to carry out individual functions.</a:t>
            </a:r>
          </a:p>
          <a:p>
            <a:pPr eaLnBrk="1" hangingPunct="1"/>
            <a:r>
              <a:rPr lang="en-US" altLang="en-US" sz="2400" dirty="0"/>
              <a:t>Types of cells include:	</a:t>
            </a:r>
          </a:p>
          <a:p>
            <a:pPr lvl="1" eaLnBrk="1" hangingPunct="1"/>
            <a:r>
              <a:rPr lang="en-US" altLang="en-US" sz="2000" dirty="0"/>
              <a:t>Muscle cell</a:t>
            </a:r>
          </a:p>
          <a:p>
            <a:pPr lvl="1" eaLnBrk="1" hangingPunct="1"/>
            <a:r>
              <a:rPr lang="en-US" altLang="en-US" sz="2000" dirty="0"/>
              <a:t>Nerve cell</a:t>
            </a:r>
          </a:p>
          <a:p>
            <a:pPr lvl="1" eaLnBrk="1" hangingPunct="1"/>
            <a:r>
              <a:rPr lang="en-US" altLang="en-US" sz="2000" dirty="0"/>
              <a:t>Epithelial cell</a:t>
            </a:r>
          </a:p>
          <a:p>
            <a:pPr lvl="1" eaLnBrk="1" hangingPunct="1"/>
            <a:r>
              <a:rPr lang="en-US" altLang="en-US" sz="2000" dirty="0"/>
              <a:t>Fat cell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Organization of the Body</a:t>
            </a:r>
            <a:br>
              <a:rPr lang="en-US" dirty="0"/>
            </a:br>
            <a:r>
              <a:rPr lang="en-US" dirty="0"/>
              <a:t>(Slide 5 of 7)</a:t>
            </a:r>
            <a:endParaRPr lang="es-419" dirty="0"/>
          </a:p>
        </p:txBody>
      </p:sp>
      <p:sp>
        <p:nvSpPr>
          <p:cNvPr id="3" name="Content Placeholder 2"/>
          <p:cNvSpPr>
            <a:spLocks noGrp="1"/>
          </p:cNvSpPr>
          <p:nvPr>
            <p:ph sz="half" idx="1"/>
          </p:nvPr>
        </p:nvSpPr>
        <p:spPr>
          <a:xfrm>
            <a:off x="685800" y="1807782"/>
            <a:ext cx="4038600" cy="605283"/>
          </a:xfrm>
        </p:spPr>
        <p:txBody>
          <a:bodyPr/>
          <a:lstStyle/>
          <a:p>
            <a:r>
              <a:rPr lang="en-US" altLang="en-US" sz="3200" b="1" dirty="0"/>
              <a:t>Types of cells</a:t>
            </a:r>
          </a:p>
          <a:p>
            <a:endParaRPr lang="es-419" dirty="0"/>
          </a:p>
        </p:txBody>
      </p:sp>
      <p:pic>
        <p:nvPicPr>
          <p:cNvPr id="6" name="Picture 6" descr="types of cells include: muscle cell, nerve cell, epithelial cell, fat cell"/>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828800" y="2584704"/>
            <a:ext cx="5257800" cy="2983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90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6" name="Rectangle 8"/>
          <p:cNvSpPr>
            <a:spLocks noGrp="1" noChangeArrowheads="1"/>
          </p:cNvSpPr>
          <p:nvPr>
            <p:ph type="title"/>
          </p:nvPr>
        </p:nvSpPr>
        <p:spPr>
          <a:xfrm>
            <a:off x="457200" y="228600"/>
            <a:ext cx="8229600" cy="1219200"/>
          </a:xfrm>
        </p:spPr>
        <p:txBody>
          <a:bodyPr rtlCol="0">
            <a:normAutofit fontScale="90000"/>
          </a:bodyPr>
          <a:lstStyle/>
          <a:p>
            <a:pPr eaLnBrk="1" fontAlgn="auto" hangingPunct="1">
              <a:spcAft>
                <a:spcPts val="0"/>
              </a:spcAft>
              <a:defRPr/>
            </a:pPr>
            <a:r>
              <a:rPr lang="en-US" sz="4900" dirty="0"/>
              <a:t>Structural Organization of the Body</a:t>
            </a:r>
            <a:br>
              <a:rPr lang="en-US" dirty="0"/>
            </a:br>
            <a:r>
              <a:rPr lang="en-US" dirty="0"/>
              <a:t>(Slide 6 of 7)</a:t>
            </a:r>
          </a:p>
        </p:txBody>
      </p:sp>
      <p:sp>
        <p:nvSpPr>
          <p:cNvPr id="17411" name="Rectangle 6"/>
          <p:cNvSpPr>
            <a:spLocks noGrp="1" noChangeArrowheads="1"/>
          </p:cNvSpPr>
          <p:nvPr>
            <p:ph idx="1"/>
          </p:nvPr>
        </p:nvSpPr>
        <p:spPr>
          <a:xfrm>
            <a:off x="609600" y="1676400"/>
            <a:ext cx="8229600" cy="4525963"/>
          </a:xfrm>
        </p:spPr>
        <p:txBody>
          <a:bodyPr/>
          <a:lstStyle/>
          <a:p>
            <a:pPr marL="0" indent="0" eaLnBrk="1" hangingPunct="1">
              <a:buNone/>
            </a:pPr>
            <a:r>
              <a:rPr lang="en-US" altLang="en-US" b="1" dirty="0">
                <a:solidFill>
                  <a:schemeClr val="tx2"/>
                </a:solidFill>
              </a:rPr>
              <a:t>Tissues</a:t>
            </a:r>
            <a:r>
              <a:rPr lang="en-US" altLang="en-US" b="1" dirty="0"/>
              <a:t> </a:t>
            </a:r>
          </a:p>
          <a:p>
            <a:pPr lvl="1" eaLnBrk="1" hangingPunct="1">
              <a:buFont typeface="Wingdings" panose="05000000000000000000" pitchFamily="2" charset="2"/>
              <a:buChar char="Ø"/>
            </a:pPr>
            <a:r>
              <a:rPr lang="en-US" altLang="en-US" dirty="0"/>
              <a:t>A tissue is a group of similar cells working together to do a specific job.</a:t>
            </a:r>
            <a:r>
              <a:rPr lang="en-US" altLang="en-US" b="1" dirty="0"/>
              <a:t> </a:t>
            </a:r>
          </a:p>
          <a:p>
            <a:pPr marL="0" indent="0" eaLnBrk="1" hangingPunct="1">
              <a:buNone/>
            </a:pPr>
            <a:r>
              <a:rPr lang="en-US" altLang="en-US" b="1" dirty="0">
                <a:solidFill>
                  <a:schemeClr val="tx2"/>
                </a:solidFill>
              </a:rPr>
              <a:t>Organs</a:t>
            </a:r>
          </a:p>
          <a:p>
            <a:pPr lvl="1" eaLnBrk="1" hangingPunct="1">
              <a:buFont typeface="Wingdings" panose="05000000000000000000" pitchFamily="2" charset="2"/>
              <a:buChar char="Ø"/>
            </a:pPr>
            <a:r>
              <a:rPr lang="en-US" altLang="en-US" dirty="0"/>
              <a:t>Different types of tissue combine to form an organ</a:t>
            </a:r>
          </a:p>
          <a:p>
            <a:pPr marL="0" indent="0" eaLnBrk="1" hangingPunct="1">
              <a:buNone/>
            </a:pPr>
            <a:r>
              <a:rPr lang="en-US" altLang="en-US" b="1" dirty="0">
                <a:solidFill>
                  <a:schemeClr val="tx2"/>
                </a:solidFill>
              </a:rPr>
              <a:t>Systems</a:t>
            </a:r>
          </a:p>
          <a:p>
            <a:pPr lvl="1" eaLnBrk="1" hangingPunct="1">
              <a:buFont typeface="Wingdings" panose="05000000000000000000" pitchFamily="2" charset="2"/>
              <a:buChar char="Ø"/>
            </a:pPr>
            <a:r>
              <a:rPr lang="en-US" altLang="en-US" dirty="0"/>
              <a:t>Groups of organs working together to perform complex functions</a:t>
            </a:r>
          </a:p>
          <a:p>
            <a:pPr eaLnBrk="1" hangingPunct="1"/>
            <a:endParaRPr lang="en-US" altLang="en-US" dirty="0"/>
          </a:p>
          <a:p>
            <a:pPr eaLnBrk="1" hangingPunct="1"/>
            <a:endParaRPr lang="en-US" altLang="en-US" dirty="0"/>
          </a:p>
          <a:p>
            <a:pPr eaLnBrk="1" hangingPunct="1">
              <a:buNone/>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a:xfrm>
            <a:off x="457200" y="228600"/>
            <a:ext cx="8229600" cy="1143000"/>
          </a:xfrm>
        </p:spPr>
        <p:txBody>
          <a:bodyPr rtlCol="0">
            <a:normAutofit fontScale="90000"/>
          </a:bodyPr>
          <a:lstStyle/>
          <a:p>
            <a:pPr eaLnBrk="1" fontAlgn="auto" hangingPunct="1">
              <a:spcAft>
                <a:spcPts val="0"/>
              </a:spcAft>
              <a:defRPr/>
            </a:pPr>
            <a:r>
              <a:rPr lang="en-US" sz="4900" dirty="0"/>
              <a:t>Structural Organization of the Body</a:t>
            </a:r>
            <a:br>
              <a:rPr lang="en-US" dirty="0"/>
            </a:br>
            <a:r>
              <a:rPr lang="en-US" dirty="0"/>
              <a:t>(Slide 7 of 7)</a:t>
            </a:r>
          </a:p>
        </p:txBody>
      </p:sp>
      <p:pic>
        <p:nvPicPr>
          <p:cNvPr id="2" name="Content Placeholder 1" descr="Reviews the differences between cells, tissues, organs, and systems. Shows how similar cells form tissues; groups of tissues form organs;  groups of different organs form body systems."/>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82608" y="1600201"/>
            <a:ext cx="4803992" cy="4751104"/>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p:txBody>
          <a:bodyPr/>
          <a:lstStyle/>
          <a:p>
            <a:pPr eaLnBrk="1" hangingPunct="1"/>
            <a:r>
              <a:rPr lang="en-US" altLang="en-US" dirty="0"/>
              <a:t>Study Section 2</a:t>
            </a:r>
          </a:p>
        </p:txBody>
      </p:sp>
      <p:sp>
        <p:nvSpPr>
          <p:cNvPr id="19459" name="Rectangle 1027"/>
          <p:cNvSpPr>
            <a:spLocks noGrp="1" noChangeArrowheads="1"/>
          </p:cNvSpPr>
          <p:nvPr>
            <p:ph sz="half" idx="1"/>
          </p:nvPr>
        </p:nvSpPr>
        <p:spPr/>
        <p:txBody>
          <a:bodyPr/>
          <a:lstStyle/>
          <a:p>
            <a:pPr eaLnBrk="1" hangingPunct="1"/>
            <a:r>
              <a:rPr lang="en-US" altLang="en-US"/>
              <a:t>Adipose tissue</a:t>
            </a:r>
          </a:p>
          <a:p>
            <a:pPr eaLnBrk="1" hangingPunct="1"/>
            <a:r>
              <a:rPr lang="en-US" altLang="en-US"/>
              <a:t>Cartilage</a:t>
            </a:r>
          </a:p>
          <a:p>
            <a:pPr eaLnBrk="1" hangingPunct="1"/>
            <a:r>
              <a:rPr lang="en-US" altLang="en-US"/>
              <a:t>Epithelial cells</a:t>
            </a:r>
          </a:p>
          <a:p>
            <a:pPr eaLnBrk="1" hangingPunct="1"/>
            <a:r>
              <a:rPr lang="en-US" altLang="en-US"/>
              <a:t>Histologist</a:t>
            </a:r>
          </a:p>
          <a:p>
            <a:pPr eaLnBrk="1" hangingPunct="1"/>
            <a:r>
              <a:rPr lang="en-US" altLang="en-US"/>
              <a:t>Larynx</a:t>
            </a:r>
          </a:p>
          <a:p>
            <a:pPr eaLnBrk="1" hangingPunct="1"/>
            <a:r>
              <a:rPr lang="en-US" altLang="en-US"/>
              <a:t>Pharynx</a:t>
            </a:r>
          </a:p>
          <a:p>
            <a:pPr eaLnBrk="1" hangingPunct="1"/>
            <a:r>
              <a:rPr lang="en-US" altLang="en-US"/>
              <a:t>Pituitary gland</a:t>
            </a:r>
          </a:p>
        </p:txBody>
      </p:sp>
      <p:sp>
        <p:nvSpPr>
          <p:cNvPr id="19460" name="Rectangle 1028"/>
          <p:cNvSpPr>
            <a:spLocks noGrp="1" noChangeArrowheads="1"/>
          </p:cNvSpPr>
          <p:nvPr>
            <p:ph sz="half" idx="2"/>
          </p:nvPr>
        </p:nvSpPr>
        <p:spPr/>
        <p:txBody>
          <a:bodyPr/>
          <a:lstStyle/>
          <a:p>
            <a:pPr eaLnBrk="1" hangingPunct="1"/>
            <a:r>
              <a:rPr lang="en-US" altLang="en-US"/>
              <a:t>Thyroid gland</a:t>
            </a:r>
          </a:p>
          <a:p>
            <a:pPr eaLnBrk="1" hangingPunct="1"/>
            <a:r>
              <a:rPr lang="en-US" altLang="en-US"/>
              <a:t>Trachea</a:t>
            </a:r>
          </a:p>
          <a:p>
            <a:pPr eaLnBrk="1" hangingPunct="1"/>
            <a:r>
              <a:rPr lang="en-US" altLang="en-US"/>
              <a:t>Ureter</a:t>
            </a:r>
          </a:p>
          <a:p>
            <a:pPr eaLnBrk="1" hangingPunct="1"/>
            <a:r>
              <a:rPr lang="en-US" altLang="en-US"/>
              <a:t>Urethra</a:t>
            </a:r>
          </a:p>
          <a:p>
            <a:pPr eaLnBrk="1" hangingPunct="1"/>
            <a:r>
              <a:rPr lang="en-US" altLang="en-US"/>
              <a:t>Uterus</a:t>
            </a:r>
          </a:p>
          <a:p>
            <a:pPr eaLnBrk="1" hangingPunct="1"/>
            <a:r>
              <a:rPr lang="en-US" altLang="en-US"/>
              <a:t>Viscera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title"/>
          </p:nvPr>
        </p:nvSpPr>
        <p:spPr/>
        <p:txBody>
          <a:bodyPr/>
          <a:lstStyle/>
          <a:p>
            <a:pPr eaLnBrk="1" hangingPunct="1"/>
            <a:r>
              <a:rPr lang="en-US" altLang="en-US" dirty="0"/>
              <a:t>Body Cavities (Slide 1 of 2)</a:t>
            </a:r>
          </a:p>
        </p:txBody>
      </p:sp>
      <p:sp>
        <p:nvSpPr>
          <p:cNvPr id="21507" name="Rectangle 5"/>
          <p:cNvSpPr>
            <a:spLocks noGrp="1" noChangeArrowheads="1"/>
          </p:cNvSpPr>
          <p:nvPr>
            <p:ph type="body" sz="half" idx="1"/>
          </p:nvPr>
        </p:nvSpPr>
        <p:spPr>
          <a:xfrm>
            <a:off x="685800" y="1641475"/>
            <a:ext cx="6477000" cy="4454525"/>
          </a:xfrm>
        </p:spPr>
        <p:txBody>
          <a:bodyPr/>
          <a:lstStyle/>
          <a:p>
            <a:pPr eaLnBrk="1" hangingPunct="1"/>
            <a:r>
              <a:rPr lang="en-US" altLang="en-US" dirty="0"/>
              <a:t>Body cavities are the spaces within the body that contain internal organs (viscera) and include:</a:t>
            </a:r>
          </a:p>
          <a:p>
            <a:pPr eaLnBrk="1" hangingPunct="1"/>
            <a:r>
              <a:rPr lang="en-US" altLang="en-US" sz="2400" dirty="0"/>
              <a:t>Cranial</a:t>
            </a:r>
          </a:p>
          <a:p>
            <a:pPr eaLnBrk="1" hangingPunct="1"/>
            <a:r>
              <a:rPr lang="en-US" altLang="en-US" sz="2400" dirty="0"/>
              <a:t>Thoracic</a:t>
            </a:r>
          </a:p>
          <a:p>
            <a:pPr eaLnBrk="1" hangingPunct="1"/>
            <a:r>
              <a:rPr lang="en-US" altLang="en-US" sz="2400" dirty="0"/>
              <a:t>Abdominal Pelvic</a:t>
            </a:r>
          </a:p>
          <a:p>
            <a:pPr eaLnBrk="1" hangingPunct="1"/>
            <a:r>
              <a:rPr lang="en-US" altLang="en-US" sz="2400" dirty="0"/>
              <a:t>Spinal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Body Cavities (Slide 2 of 2)</a:t>
            </a:r>
            <a:endParaRPr lang="es-419" dirty="0"/>
          </a:p>
        </p:txBody>
      </p:sp>
      <p:sp>
        <p:nvSpPr>
          <p:cNvPr id="6" name="Content Placeholder 5"/>
          <p:cNvSpPr>
            <a:spLocks noGrp="1"/>
          </p:cNvSpPr>
          <p:nvPr>
            <p:ph sz="half" idx="1"/>
          </p:nvPr>
        </p:nvSpPr>
        <p:spPr>
          <a:xfrm>
            <a:off x="685800" y="1905000"/>
            <a:ext cx="4038600" cy="1815882"/>
          </a:xfrm>
          <a:prstGeom prst="rect">
            <a:avLst/>
          </a:prstGeom>
        </p:spPr>
        <p:txBody>
          <a:bodyPr wrap="square">
            <a:spAutoFit/>
          </a:bodyPr>
          <a:lstStyle/>
          <a:p>
            <a:pPr eaLnBrk="1" hangingPunct="1"/>
            <a:r>
              <a:rPr lang="en-US" altLang="en-US" b="1" dirty="0"/>
              <a:t>Body cavities are the spaces within the body that contain internal organs (viscera).</a:t>
            </a:r>
          </a:p>
        </p:txBody>
      </p:sp>
      <p:pic>
        <p:nvPicPr>
          <p:cNvPr id="7" name="Content Placeholder 6" descr="The drawing of a person facing sideways looking to the left, shows the cavities of the body clockwise from the top of the head (cranial cavity) to the back (spinal cavity), to the lower torso (pelvic cavity), to the abdomen (abdominal cavity), and to the chest area (thoracic cavity)."/>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709160" y="1219200"/>
            <a:ext cx="3368040" cy="51585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5364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Body Cavities and Organs</a:t>
            </a:r>
          </a:p>
        </p:txBody>
      </p:sp>
      <p:graphicFrame>
        <p:nvGraphicFramePr>
          <p:cNvPr id="8" name="Content Placeholder 7" descr="The cranial cavity contains the brain.  The thoracic cavity contains the lungs, heart, esophagus, trachea, bronchial tubes, thymus gland, and aorta.  The abdominal cavity contains the stomach, small and large intestines, spleen, pancreas, liver, and gall bladder.  The pelvic cavity contains portions of the small and large intestines, bladder, rectum, urethra, and ureters. The spinal cavity contains the nerves of the spinal cord."/>
          <p:cNvGraphicFramePr>
            <a:graphicFrameLocks noGrp="1"/>
          </p:cNvGraphicFramePr>
          <p:nvPr>
            <p:ph idx="1"/>
            <p:extLst>
              <p:ext uri="{D42A27DB-BD31-4B8C-83A1-F6EECF244321}">
                <p14:modId xmlns:p14="http://schemas.microsoft.com/office/powerpoint/2010/main" val="586083150"/>
              </p:ext>
            </p:extLst>
          </p:nvPr>
        </p:nvGraphicFramePr>
        <p:xfrm>
          <a:off x="969264" y="1765586"/>
          <a:ext cx="7696200" cy="4206240"/>
        </p:xfrm>
        <a:graphic>
          <a:graphicData uri="http://schemas.openxmlformats.org/drawingml/2006/table">
            <a:tbl>
              <a:tblPr firstRow="1" bandRow="1">
                <a:tableStyleId>{68D230F3-CF80-4859-8CE7-A43EE81993B5}</a:tableStyleId>
              </a:tblPr>
              <a:tblGrid>
                <a:gridCol w="2422878">
                  <a:extLst>
                    <a:ext uri="{9D8B030D-6E8A-4147-A177-3AD203B41FA5}">
                      <a16:colId xmlns:a16="http://schemas.microsoft.com/office/drawing/2014/main" val="20000"/>
                    </a:ext>
                  </a:extLst>
                </a:gridCol>
                <a:gridCol w="5273322">
                  <a:extLst>
                    <a:ext uri="{9D8B030D-6E8A-4147-A177-3AD203B41FA5}">
                      <a16:colId xmlns:a16="http://schemas.microsoft.com/office/drawing/2014/main" val="20001"/>
                    </a:ext>
                  </a:extLst>
                </a:gridCol>
              </a:tblGrid>
              <a:tr h="370840">
                <a:tc>
                  <a:txBody>
                    <a:bodyPr/>
                    <a:lstStyle/>
                    <a:p>
                      <a:r>
                        <a:rPr lang="en-US" sz="2400" dirty="0"/>
                        <a:t>Cavity</a:t>
                      </a:r>
                    </a:p>
                  </a:txBody>
                  <a:tcPr/>
                </a:tc>
                <a:tc>
                  <a:txBody>
                    <a:bodyPr/>
                    <a:lstStyle/>
                    <a:p>
                      <a:r>
                        <a:rPr lang="en-US" sz="2400" dirty="0"/>
                        <a:t>Organ(s)</a:t>
                      </a:r>
                    </a:p>
                  </a:txBody>
                  <a:tcPr/>
                </a:tc>
                <a:extLst>
                  <a:ext uri="{0D108BD9-81ED-4DB2-BD59-A6C34878D82A}">
                    <a16:rowId xmlns:a16="http://schemas.microsoft.com/office/drawing/2014/main" val="10000"/>
                  </a:ext>
                </a:extLst>
              </a:tr>
              <a:tr h="370840">
                <a:tc>
                  <a:txBody>
                    <a:bodyPr/>
                    <a:lstStyle/>
                    <a:p>
                      <a:r>
                        <a:rPr lang="en-US" altLang="en-US" sz="2400" b="1" dirty="0"/>
                        <a:t>Cranial</a:t>
                      </a:r>
                      <a:endParaRPr lang="en-US" sz="2400" dirty="0"/>
                    </a:p>
                  </a:txBody>
                  <a:tcPr/>
                </a:tc>
                <a:tc>
                  <a:txBody>
                    <a:bodyPr/>
                    <a:lstStyle/>
                    <a:p>
                      <a:r>
                        <a:rPr lang="en-US" altLang="en-US" sz="2400" dirty="0"/>
                        <a:t>Brain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b="1" dirty="0"/>
                        <a:t>Thoracic</a:t>
                      </a:r>
                    </a:p>
                  </a:txBody>
                  <a:tcPr/>
                </a:tc>
                <a:tc>
                  <a:txBody>
                    <a:bodyPr/>
                    <a:lstStyle/>
                    <a:p>
                      <a:r>
                        <a:rPr lang="en-US" altLang="en-US" sz="2400" dirty="0"/>
                        <a:t>Lungs, heart, esophagus, trachea, bronchial tubes, thymus gland, aorta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Abdominal</a:t>
                      </a:r>
                      <a:r>
                        <a:rPr lang="en-US" altLang="en-US" sz="2400" dirty="0"/>
                        <a:t> </a:t>
                      </a:r>
                      <a:endParaRPr lang="en-US" sz="2400" dirty="0"/>
                    </a:p>
                  </a:txBody>
                  <a:tcPr/>
                </a:tc>
                <a:tc>
                  <a:txBody>
                    <a:bodyPr/>
                    <a:lstStyle/>
                    <a:p>
                      <a:r>
                        <a:rPr lang="en-US" altLang="en-US" sz="2400" dirty="0"/>
                        <a:t>Stomach, small and large intestines, spleen, pancreas, liver, gall bladder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Pelvic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Portions of the small and large intestines, bladder, rectum, urethra, ureters; uterus and vagina in female</a:t>
                      </a:r>
                    </a:p>
                  </a:txBody>
                  <a:tcPr/>
                </a:tc>
                <a:extLst>
                  <a:ext uri="{0D108BD9-81ED-4DB2-BD59-A6C34878D82A}">
                    <a16:rowId xmlns:a16="http://schemas.microsoft.com/office/drawing/2014/main" val="10004"/>
                  </a:ext>
                </a:extLst>
              </a:tr>
              <a:tr h="370840">
                <a:tc>
                  <a:txBody>
                    <a:bodyPr/>
                    <a:lstStyle/>
                    <a:p>
                      <a:r>
                        <a:rPr lang="en-US" altLang="en-US" sz="2400" b="1" dirty="0"/>
                        <a:t>Spinal</a:t>
                      </a:r>
                      <a:endParaRPr lang="en-US" sz="2400" dirty="0"/>
                    </a:p>
                  </a:txBody>
                  <a:tcPr/>
                </a:tc>
                <a:tc>
                  <a:txBody>
                    <a:bodyPr/>
                    <a:lstStyle/>
                    <a:p>
                      <a:r>
                        <a:rPr lang="en-US" altLang="en-US" sz="2400" dirty="0"/>
                        <a:t>Nerves of the spinal cord</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11585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8600" y="152400"/>
            <a:ext cx="7772400" cy="1219200"/>
          </a:xfrm>
        </p:spPr>
        <p:txBody>
          <a:bodyPr/>
          <a:lstStyle/>
          <a:p>
            <a:pPr eaLnBrk="1" hangingPunct="1"/>
            <a:r>
              <a:rPr lang="en-US" altLang="en-US" sz="4800" dirty="0"/>
              <a:t>       </a:t>
            </a:r>
            <a:r>
              <a:rPr lang="en-US" altLang="en-US" sz="5400" b="1" dirty="0"/>
              <a:t>QUICK QUIZ </a:t>
            </a:r>
            <a:r>
              <a:rPr lang="en-US" altLang="en-US" dirty="0"/>
              <a:t>(Slide 1 of 5)</a:t>
            </a:r>
          </a:p>
        </p:txBody>
      </p:sp>
      <p:sp>
        <p:nvSpPr>
          <p:cNvPr id="23555" name="Rectangle 3"/>
          <p:cNvSpPr>
            <a:spLocks noGrp="1" noChangeArrowheads="1"/>
          </p:cNvSpPr>
          <p:nvPr>
            <p:ph idx="1"/>
          </p:nvPr>
        </p:nvSpPr>
        <p:spPr>
          <a:xfrm>
            <a:off x="1066800" y="1981200"/>
            <a:ext cx="6934200" cy="3387725"/>
          </a:xfrm>
        </p:spPr>
        <p:txBody>
          <a:bodyPr/>
          <a:lstStyle/>
          <a:p>
            <a:pPr marL="533400" indent="-533400" eaLnBrk="1" hangingPunct="1">
              <a:buFont typeface="Arial" panose="020B0604020202020204" pitchFamily="34" charset="0"/>
              <a:buAutoNum type="arabicPeriod"/>
            </a:pPr>
            <a:r>
              <a:rPr lang="en-US" altLang="en-US" b="1" dirty="0"/>
              <a:t>Which body cavity contains the pleural cavity and the mediastinum?</a:t>
            </a:r>
          </a:p>
          <a:p>
            <a:pPr marL="914400" lvl="1" indent="-457200" eaLnBrk="1" hangingPunct="1">
              <a:buFont typeface="Arial" panose="020B0604020202020204" pitchFamily="34" charset="0"/>
              <a:buAutoNum type="alphaUcPeriod"/>
            </a:pPr>
            <a:r>
              <a:rPr lang="en-US" altLang="en-US" sz="3200" dirty="0"/>
              <a:t>Cranial</a:t>
            </a:r>
          </a:p>
          <a:p>
            <a:pPr marL="914400" lvl="1" indent="-457200" eaLnBrk="1" hangingPunct="1">
              <a:buFont typeface="Arial" panose="020B0604020202020204" pitchFamily="34" charset="0"/>
              <a:buAutoNum type="alphaUcPeriod"/>
            </a:pPr>
            <a:r>
              <a:rPr lang="en-US" altLang="en-US" sz="3200" dirty="0"/>
              <a:t>Pelvic</a:t>
            </a:r>
          </a:p>
          <a:p>
            <a:pPr marL="914400" lvl="1" indent="-457200" eaLnBrk="1" hangingPunct="1">
              <a:buFont typeface="Arial" panose="020B0604020202020204" pitchFamily="34" charset="0"/>
              <a:buAutoNum type="alphaUcPeriod"/>
            </a:pPr>
            <a:r>
              <a:rPr lang="en-US" altLang="en-US" sz="3200" dirty="0"/>
              <a:t>Spinal</a:t>
            </a:r>
          </a:p>
          <a:p>
            <a:pPr marL="914400" lvl="1" indent="-457200" eaLnBrk="1" hangingPunct="1">
              <a:buFont typeface="Arial" panose="020B0604020202020204" pitchFamily="34" charset="0"/>
              <a:buAutoNum type="alphaUcPeriod"/>
            </a:pPr>
            <a:r>
              <a:rPr lang="en-US" altLang="en-US" sz="3200" dirty="0"/>
              <a:t>Thoracic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title"/>
          </p:nvPr>
        </p:nvSpPr>
        <p:spPr>
          <a:xfrm>
            <a:off x="722376" y="381000"/>
            <a:ext cx="7772400" cy="1219200"/>
          </a:xfrm>
        </p:spPr>
        <p:txBody>
          <a:bodyPr/>
          <a:lstStyle/>
          <a:p>
            <a:pPr eaLnBrk="1" hangingPunct="1"/>
            <a:r>
              <a:rPr lang="en-US" altLang="en-US" sz="4800" dirty="0"/>
              <a:t>   </a:t>
            </a:r>
            <a:r>
              <a:rPr lang="en-US" altLang="en-US" sz="5400" b="1" dirty="0"/>
              <a:t>QUICK QUIZ </a:t>
            </a:r>
            <a:r>
              <a:rPr lang="en-US" altLang="en-US" dirty="0"/>
              <a:t>(Slide 2 of 5)</a:t>
            </a:r>
          </a:p>
        </p:txBody>
      </p:sp>
      <p:sp>
        <p:nvSpPr>
          <p:cNvPr id="24579" name="Rectangle 3"/>
          <p:cNvSpPr>
            <a:spLocks noGrp="1" noChangeArrowheads="1"/>
          </p:cNvSpPr>
          <p:nvPr>
            <p:ph idx="1"/>
          </p:nvPr>
        </p:nvSpPr>
        <p:spPr>
          <a:xfrm>
            <a:off x="1293876" y="1981200"/>
            <a:ext cx="6629400" cy="3463925"/>
          </a:xfrm>
        </p:spPr>
        <p:txBody>
          <a:bodyPr/>
          <a:lstStyle/>
          <a:p>
            <a:pPr marL="533400" indent="-533400" eaLnBrk="1" hangingPunct="1">
              <a:buFont typeface="Arial" panose="020B0604020202020204" pitchFamily="34" charset="0"/>
              <a:buAutoNum type="arabicPeriod" startAt="2"/>
            </a:pPr>
            <a:r>
              <a:rPr lang="en-US" altLang="en-US" b="1" dirty="0"/>
              <a:t>Which body cavity contains the peritoneum?</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Abdominal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Pelvic</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Spinal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Thoracic</a:t>
            </a:r>
            <a:endParaRPr lang="en-US" altLang="en-US" dirty="0">
              <a:ea typeface="MS PGothic"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Organs of the</a:t>
            </a:r>
            <a:r>
              <a:rPr lang="en-US" sz="3600" dirty="0"/>
              <a:t> </a:t>
            </a:r>
            <a:r>
              <a:rPr lang="en-US" dirty="0"/>
              <a:t>Abdominopelvic </a:t>
            </a:r>
            <a:br>
              <a:rPr lang="en-US" dirty="0"/>
            </a:br>
            <a:r>
              <a:rPr lang="en-US" dirty="0"/>
              <a:t>and Thoracic Cavities (Slide 1 of 2)</a:t>
            </a:r>
            <a:endParaRPr lang="es-419" dirty="0"/>
          </a:p>
        </p:txBody>
      </p:sp>
      <p:sp>
        <p:nvSpPr>
          <p:cNvPr id="3" name="Content Placeholder 2"/>
          <p:cNvSpPr>
            <a:spLocks noGrp="1"/>
          </p:cNvSpPr>
          <p:nvPr>
            <p:ph sz="half" idx="1"/>
          </p:nvPr>
        </p:nvSpPr>
        <p:spPr>
          <a:xfrm>
            <a:off x="1417320" y="1600200"/>
            <a:ext cx="3124200" cy="4525963"/>
          </a:xfrm>
        </p:spPr>
        <p:txBody>
          <a:bodyPr/>
          <a:lstStyle/>
          <a:p>
            <a:r>
              <a:rPr lang="en-US" dirty="0"/>
              <a:t> Trachea</a:t>
            </a:r>
          </a:p>
          <a:p>
            <a:r>
              <a:rPr lang="en-US" dirty="0"/>
              <a:t> Lung</a:t>
            </a:r>
          </a:p>
          <a:p>
            <a:r>
              <a:rPr lang="en-US" dirty="0"/>
              <a:t> Diaphragm</a:t>
            </a:r>
          </a:p>
          <a:p>
            <a:r>
              <a:rPr lang="en-US" dirty="0"/>
              <a:t> Liver</a:t>
            </a:r>
          </a:p>
          <a:p>
            <a:r>
              <a:rPr lang="en-US" dirty="0"/>
              <a:t> Gallbladder</a:t>
            </a:r>
          </a:p>
          <a:p>
            <a:r>
              <a:rPr lang="en-US" dirty="0"/>
              <a:t> Pancreas</a:t>
            </a:r>
          </a:p>
          <a:p>
            <a:r>
              <a:rPr lang="en-US" dirty="0"/>
              <a:t> Colon </a:t>
            </a:r>
          </a:p>
          <a:p>
            <a:r>
              <a:rPr lang="en-US" dirty="0"/>
              <a:t> Appendix</a:t>
            </a:r>
          </a:p>
          <a:p>
            <a:r>
              <a:rPr lang="en-US" dirty="0"/>
              <a:t> Bladder</a:t>
            </a:r>
          </a:p>
          <a:p>
            <a:endParaRPr lang="es-419" dirty="0"/>
          </a:p>
        </p:txBody>
      </p:sp>
      <p:sp>
        <p:nvSpPr>
          <p:cNvPr id="4" name="Content Placeholder 3"/>
          <p:cNvSpPr>
            <a:spLocks noGrp="1"/>
          </p:cNvSpPr>
          <p:nvPr>
            <p:ph sz="half" idx="2"/>
          </p:nvPr>
        </p:nvSpPr>
        <p:spPr>
          <a:xfrm>
            <a:off x="4800600" y="1600200"/>
            <a:ext cx="3223260" cy="4191000"/>
          </a:xfrm>
        </p:spPr>
        <p:txBody>
          <a:bodyPr/>
          <a:lstStyle/>
          <a:p>
            <a:r>
              <a:rPr lang="en-US" dirty="0"/>
              <a:t>Thyroid gland</a:t>
            </a:r>
          </a:p>
          <a:p>
            <a:r>
              <a:rPr lang="en-US" dirty="0"/>
              <a:t> Aorta</a:t>
            </a:r>
          </a:p>
          <a:p>
            <a:r>
              <a:rPr lang="en-US" dirty="0"/>
              <a:t> Heart</a:t>
            </a:r>
          </a:p>
          <a:p>
            <a:r>
              <a:rPr lang="en-US" dirty="0"/>
              <a:t> Spleen</a:t>
            </a:r>
          </a:p>
          <a:p>
            <a:r>
              <a:rPr lang="en-US" dirty="0"/>
              <a:t> Stomach</a:t>
            </a:r>
          </a:p>
          <a:p>
            <a:r>
              <a:rPr lang="en-US" dirty="0"/>
              <a:t> Colon</a:t>
            </a:r>
          </a:p>
          <a:p>
            <a:r>
              <a:rPr lang="en-US" dirty="0"/>
              <a:t> Small intestine</a:t>
            </a:r>
          </a:p>
          <a:p>
            <a:r>
              <a:rPr lang="en-US" dirty="0"/>
              <a:t> Sigmoid colon</a:t>
            </a:r>
          </a:p>
          <a:p>
            <a:endParaRPr lang="es-419" dirty="0"/>
          </a:p>
        </p:txBody>
      </p:sp>
    </p:spTree>
    <p:extLst>
      <p:ext uri="{BB962C8B-B14F-4D97-AF65-F5344CB8AC3E}">
        <p14:creationId xmlns:p14="http://schemas.microsoft.com/office/powerpoint/2010/main" val="4177495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Organs of the Abdominopelvic </a:t>
            </a:r>
            <a:br>
              <a:rPr lang="en-US" dirty="0"/>
            </a:br>
            <a:r>
              <a:rPr lang="en-US" dirty="0"/>
              <a:t>and Thoracic Cavities (Slide 2 of 2)</a:t>
            </a:r>
            <a:endParaRPr lang="es-419" dirty="0"/>
          </a:p>
        </p:txBody>
      </p:sp>
      <p:pic>
        <p:nvPicPr>
          <p:cNvPr id="5" name="Picture 5" descr="Organs of the abdominopelvic and thoracic cavities include (right side, top to bottom) trachea, lung, diaphragm, liver, gallbladder, pancreas, colon, appendix, bladder; (left side, top to bottom) thyroid gland, lung, aorta, heart, spleen, stomach, colon, small intestine, sigmoid colon."/>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527" r="-5110" b="15087"/>
          <a:stretch/>
        </p:blipFill>
        <p:spPr bwMode="auto">
          <a:xfrm>
            <a:off x="2057400" y="1600200"/>
            <a:ext cx="5204843" cy="475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0213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p:txBody>
          <a:bodyPr/>
          <a:lstStyle/>
          <a:p>
            <a:pPr eaLnBrk="1" hangingPunct="1"/>
            <a:r>
              <a:rPr lang="en-US" altLang="en-US" dirty="0"/>
              <a:t>Study Section 3</a:t>
            </a:r>
          </a:p>
        </p:txBody>
      </p:sp>
      <p:sp>
        <p:nvSpPr>
          <p:cNvPr id="27651" name="Rectangle 1027"/>
          <p:cNvSpPr>
            <a:spLocks noGrp="1" noChangeArrowheads="1"/>
          </p:cNvSpPr>
          <p:nvPr>
            <p:ph sz="half" idx="1"/>
          </p:nvPr>
        </p:nvSpPr>
        <p:spPr/>
        <p:txBody>
          <a:bodyPr/>
          <a:lstStyle/>
          <a:p>
            <a:pPr eaLnBrk="1" hangingPunct="1">
              <a:lnSpc>
                <a:spcPct val="130000"/>
              </a:lnSpc>
            </a:pPr>
            <a:r>
              <a:rPr lang="en-US" altLang="en-US" dirty="0"/>
              <a:t>Abdominal cavity</a:t>
            </a:r>
          </a:p>
          <a:p>
            <a:pPr eaLnBrk="1" hangingPunct="1">
              <a:lnSpc>
                <a:spcPct val="130000"/>
              </a:lnSpc>
            </a:pPr>
            <a:r>
              <a:rPr lang="en-US" altLang="en-US" dirty="0"/>
              <a:t>Cranial cavity</a:t>
            </a:r>
          </a:p>
          <a:p>
            <a:pPr eaLnBrk="1" hangingPunct="1">
              <a:lnSpc>
                <a:spcPct val="130000"/>
              </a:lnSpc>
            </a:pPr>
            <a:r>
              <a:rPr lang="en-US" altLang="en-US" dirty="0"/>
              <a:t>Diaphragm</a:t>
            </a:r>
          </a:p>
          <a:p>
            <a:pPr eaLnBrk="1" hangingPunct="1">
              <a:lnSpc>
                <a:spcPct val="130000"/>
              </a:lnSpc>
            </a:pPr>
            <a:r>
              <a:rPr lang="en-US" altLang="en-US" dirty="0"/>
              <a:t>Dorsal (posterior)</a:t>
            </a:r>
          </a:p>
          <a:p>
            <a:pPr eaLnBrk="1" hangingPunct="1">
              <a:lnSpc>
                <a:spcPct val="130000"/>
              </a:lnSpc>
            </a:pPr>
            <a:r>
              <a:rPr lang="en-US" altLang="en-US" dirty="0"/>
              <a:t>Mediastinum</a:t>
            </a:r>
          </a:p>
          <a:p>
            <a:pPr eaLnBrk="1" hangingPunct="1">
              <a:lnSpc>
                <a:spcPct val="130000"/>
              </a:lnSpc>
            </a:pPr>
            <a:r>
              <a:rPr lang="en-US" altLang="en-US" dirty="0"/>
              <a:t>Pelvic cavity</a:t>
            </a:r>
          </a:p>
          <a:p>
            <a:pPr eaLnBrk="1" hangingPunct="1">
              <a:buFont typeface="Wingdings 2" panose="05020102010507070707" pitchFamily="18" charset="2"/>
              <a:buNone/>
            </a:pPr>
            <a:endParaRPr lang="en-US" altLang="en-US" dirty="0"/>
          </a:p>
          <a:p>
            <a:pPr eaLnBrk="1" hangingPunct="1">
              <a:buFont typeface="Wingdings 2" panose="05020102010507070707" pitchFamily="18" charset="2"/>
              <a:buNone/>
            </a:pPr>
            <a:endParaRPr lang="en-US" altLang="en-US" dirty="0"/>
          </a:p>
        </p:txBody>
      </p:sp>
      <p:sp>
        <p:nvSpPr>
          <p:cNvPr id="125956" name="Rectangle 1028"/>
          <p:cNvSpPr>
            <a:spLocks noGrp="1" noChangeArrowheads="1"/>
          </p:cNvSpPr>
          <p:nvPr>
            <p:ph sz="half" idx="2"/>
          </p:nvPr>
        </p:nvSpPr>
        <p:spPr/>
        <p:txBody>
          <a:bodyPr rtlCol="0">
            <a:normAutofit/>
          </a:bodyPr>
          <a:lstStyle/>
          <a:p>
            <a:pPr eaLnBrk="1" fontAlgn="auto" hangingPunct="1">
              <a:lnSpc>
                <a:spcPct val="130000"/>
              </a:lnSpc>
              <a:spcAft>
                <a:spcPts val="0"/>
              </a:spcAft>
              <a:defRPr/>
            </a:pPr>
            <a:r>
              <a:rPr lang="en-US" dirty="0"/>
              <a:t>Peritoneum</a:t>
            </a:r>
          </a:p>
          <a:p>
            <a:pPr eaLnBrk="1" fontAlgn="auto" hangingPunct="1">
              <a:lnSpc>
                <a:spcPct val="130000"/>
              </a:lnSpc>
              <a:spcAft>
                <a:spcPts val="0"/>
              </a:spcAft>
              <a:defRPr/>
            </a:pPr>
            <a:r>
              <a:rPr lang="en-US" dirty="0"/>
              <a:t>Pleura</a:t>
            </a:r>
          </a:p>
          <a:p>
            <a:pPr eaLnBrk="1" fontAlgn="auto" hangingPunct="1">
              <a:lnSpc>
                <a:spcPct val="130000"/>
              </a:lnSpc>
              <a:spcAft>
                <a:spcPts val="0"/>
              </a:spcAft>
              <a:defRPr/>
            </a:pPr>
            <a:r>
              <a:rPr lang="en-US" dirty="0"/>
              <a:t>Pleural cavity</a:t>
            </a:r>
          </a:p>
          <a:p>
            <a:pPr eaLnBrk="1" fontAlgn="auto" hangingPunct="1">
              <a:lnSpc>
                <a:spcPct val="130000"/>
              </a:lnSpc>
              <a:spcAft>
                <a:spcPts val="0"/>
              </a:spcAft>
              <a:defRPr/>
            </a:pPr>
            <a:r>
              <a:rPr lang="en-US" dirty="0"/>
              <a:t>Spinal cavity</a:t>
            </a:r>
          </a:p>
          <a:p>
            <a:pPr eaLnBrk="1" fontAlgn="auto" hangingPunct="1">
              <a:lnSpc>
                <a:spcPct val="130000"/>
              </a:lnSpc>
              <a:spcAft>
                <a:spcPts val="0"/>
              </a:spcAft>
              <a:defRPr/>
            </a:pPr>
            <a:r>
              <a:rPr lang="en-US" dirty="0"/>
              <a:t>Thoracic cavity</a:t>
            </a:r>
          </a:p>
          <a:p>
            <a:pPr eaLnBrk="1" fontAlgn="auto" hangingPunct="1">
              <a:lnSpc>
                <a:spcPct val="130000"/>
              </a:lnSpc>
              <a:spcAft>
                <a:spcPts val="0"/>
              </a:spcAft>
              <a:defRPr/>
            </a:pPr>
            <a:r>
              <a:rPr lang="en-US" dirty="0"/>
              <a:t>Ventral (anterior)</a:t>
            </a:r>
          </a:p>
          <a:p>
            <a:pPr marL="0" indent="0" eaLnBrk="1" fontAlgn="auto" hangingPunct="1">
              <a:spcAft>
                <a:spcPts val="0"/>
              </a:spcAft>
              <a:buFont typeface="Wingdings 2" charset="0"/>
              <a:buNone/>
              <a:defRPr/>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err="1"/>
              <a:t>Abdominopelvic</a:t>
            </a:r>
            <a:r>
              <a:rPr lang="en-US" altLang="en-US" dirty="0"/>
              <a:t> Regions</a:t>
            </a:r>
            <a:br>
              <a:rPr lang="en-US" altLang="en-US" dirty="0"/>
            </a:br>
            <a:r>
              <a:rPr lang="en-US" altLang="en-US" sz="4000" dirty="0"/>
              <a:t>(Slide 1 of 2)</a:t>
            </a:r>
          </a:p>
        </p:txBody>
      </p:sp>
      <p:sp>
        <p:nvSpPr>
          <p:cNvPr id="117763" name="Rectangle 3"/>
          <p:cNvSpPr>
            <a:spLocks noGrp="1" noChangeArrowheads="1"/>
          </p:cNvSpPr>
          <p:nvPr>
            <p:ph idx="1"/>
          </p:nvPr>
        </p:nvSpPr>
        <p:spPr/>
        <p:txBody>
          <a:bodyPr rtlCol="0">
            <a:normAutofit lnSpcReduction="10000"/>
          </a:bodyPr>
          <a:lstStyle/>
          <a:p>
            <a:pPr eaLnBrk="1" fontAlgn="auto" hangingPunct="1">
              <a:lnSpc>
                <a:spcPct val="90000"/>
              </a:lnSpc>
              <a:spcAft>
                <a:spcPts val="0"/>
              </a:spcAft>
              <a:buFont typeface="Wingdings 2" pitchFamily="18" charset="2"/>
              <a:buNone/>
              <a:defRPr/>
            </a:pPr>
            <a:r>
              <a:rPr lang="en-US" dirty="0"/>
              <a:t> </a:t>
            </a:r>
          </a:p>
          <a:p>
            <a:pPr lvl="1" eaLnBrk="1" fontAlgn="auto" hangingPunct="1">
              <a:lnSpc>
                <a:spcPct val="90000"/>
              </a:lnSpc>
              <a:spcAft>
                <a:spcPts val="0"/>
              </a:spcAft>
              <a:buFont typeface="Arial" pitchFamily="34" charset="0"/>
              <a:buChar char="•"/>
              <a:defRPr/>
            </a:pPr>
            <a:r>
              <a:rPr lang="en-US" dirty="0"/>
              <a:t>Right hypochondriac region</a:t>
            </a:r>
          </a:p>
          <a:p>
            <a:pPr lvl="1" eaLnBrk="1" fontAlgn="auto" hangingPunct="1">
              <a:lnSpc>
                <a:spcPct val="90000"/>
              </a:lnSpc>
              <a:spcAft>
                <a:spcPts val="0"/>
              </a:spcAft>
              <a:buFont typeface="Arial" pitchFamily="34" charset="0"/>
              <a:buChar char="•"/>
              <a:defRPr/>
            </a:pPr>
            <a:r>
              <a:rPr lang="en-US" dirty="0"/>
              <a:t>Left hypochondriac region </a:t>
            </a:r>
          </a:p>
          <a:p>
            <a:pPr lvl="1" eaLnBrk="1" fontAlgn="auto" hangingPunct="1">
              <a:lnSpc>
                <a:spcPct val="90000"/>
              </a:lnSpc>
              <a:spcAft>
                <a:spcPts val="0"/>
              </a:spcAft>
              <a:buFont typeface="Arial" pitchFamily="34" charset="0"/>
              <a:buChar char="•"/>
              <a:defRPr/>
            </a:pPr>
            <a:r>
              <a:rPr lang="en-US" dirty="0" err="1"/>
              <a:t>Epigastric</a:t>
            </a:r>
            <a:r>
              <a:rPr lang="en-US" dirty="0"/>
              <a:t> region </a:t>
            </a:r>
          </a:p>
          <a:p>
            <a:pPr lvl="1" eaLnBrk="1" fontAlgn="auto" hangingPunct="1">
              <a:lnSpc>
                <a:spcPct val="90000"/>
              </a:lnSpc>
              <a:spcAft>
                <a:spcPts val="0"/>
              </a:spcAft>
              <a:buFont typeface="Arial" pitchFamily="34" charset="0"/>
              <a:buChar char="•"/>
              <a:defRPr/>
            </a:pPr>
            <a:r>
              <a:rPr lang="en-US" dirty="0"/>
              <a:t>Right lumbar region</a:t>
            </a:r>
          </a:p>
          <a:p>
            <a:pPr lvl="1" eaLnBrk="1" fontAlgn="auto" hangingPunct="1">
              <a:lnSpc>
                <a:spcPct val="90000"/>
              </a:lnSpc>
              <a:spcAft>
                <a:spcPts val="0"/>
              </a:spcAft>
              <a:buFont typeface="Arial" pitchFamily="34" charset="0"/>
              <a:buChar char="•"/>
              <a:defRPr/>
            </a:pPr>
            <a:r>
              <a:rPr lang="en-US" dirty="0"/>
              <a:t>Left lumbar region </a:t>
            </a:r>
          </a:p>
          <a:p>
            <a:pPr lvl="1" eaLnBrk="1" fontAlgn="auto" hangingPunct="1">
              <a:lnSpc>
                <a:spcPct val="90000"/>
              </a:lnSpc>
              <a:spcAft>
                <a:spcPts val="0"/>
              </a:spcAft>
              <a:buFont typeface="Arial" pitchFamily="34" charset="0"/>
              <a:buChar char="•"/>
              <a:defRPr/>
            </a:pPr>
            <a:r>
              <a:rPr lang="en-US" dirty="0"/>
              <a:t>Umbilical region </a:t>
            </a:r>
          </a:p>
          <a:p>
            <a:pPr lvl="1" eaLnBrk="1" fontAlgn="auto" hangingPunct="1">
              <a:lnSpc>
                <a:spcPct val="90000"/>
              </a:lnSpc>
              <a:spcAft>
                <a:spcPts val="0"/>
              </a:spcAft>
              <a:buFont typeface="Arial" pitchFamily="34" charset="0"/>
              <a:buChar char="•"/>
              <a:defRPr/>
            </a:pPr>
            <a:r>
              <a:rPr lang="en-US" dirty="0"/>
              <a:t>Right inguinal region</a:t>
            </a:r>
          </a:p>
          <a:p>
            <a:pPr lvl="1" eaLnBrk="1" fontAlgn="auto" hangingPunct="1">
              <a:lnSpc>
                <a:spcPct val="90000"/>
              </a:lnSpc>
              <a:spcAft>
                <a:spcPts val="0"/>
              </a:spcAft>
              <a:buFont typeface="Arial" pitchFamily="34" charset="0"/>
              <a:buChar char="•"/>
              <a:defRPr/>
            </a:pPr>
            <a:r>
              <a:rPr lang="en-US" dirty="0"/>
              <a:t>Left inguinal region</a:t>
            </a:r>
          </a:p>
          <a:p>
            <a:pPr lvl="1" eaLnBrk="1" fontAlgn="auto" hangingPunct="1">
              <a:lnSpc>
                <a:spcPct val="90000"/>
              </a:lnSpc>
              <a:spcAft>
                <a:spcPts val="0"/>
              </a:spcAft>
              <a:buFont typeface="Arial" pitchFamily="34" charset="0"/>
              <a:buChar char="•"/>
              <a:defRPr/>
            </a:pPr>
            <a:r>
              <a:rPr lang="en-US" dirty="0" err="1"/>
              <a:t>Hypogastric</a:t>
            </a:r>
            <a:r>
              <a:rPr lang="en-US" dirty="0"/>
              <a:t> region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Abdominopelvic Regions</a:t>
            </a:r>
            <a:br>
              <a:rPr lang="en-US" altLang="en-US" dirty="0"/>
            </a:br>
            <a:r>
              <a:rPr lang="en-US" altLang="en-US" sz="4000" dirty="0"/>
              <a:t>(Slide 2 of 2)</a:t>
            </a:r>
            <a:endParaRPr lang="es-419" dirty="0"/>
          </a:p>
        </p:txBody>
      </p:sp>
      <p:pic>
        <p:nvPicPr>
          <p:cNvPr id="27" name="Content Placeholder 26" descr="Abdominopelvic regions are divided into nine regions: right hypochondriac region, left hypochondriac region, epigastric region, right lumbar region, left lumbar region, umbilical region, right inguinal region (also known as right iliac region), left inguinal region (also known as left iliac region), and hypogastric region."/>
          <p:cNvPicPr>
            <a:picLocks noGrp="1" noChangeAspect="1"/>
          </p:cNvPicPr>
          <p:nvPr>
            <p:ph idx="1"/>
          </p:nvPr>
        </p:nvPicPr>
        <p:blipFill>
          <a:blip r:embed="rId3"/>
          <a:stretch>
            <a:fillRect/>
          </a:stretch>
        </p:blipFill>
        <p:spPr>
          <a:xfrm>
            <a:off x="528108" y="1746165"/>
            <a:ext cx="8158692" cy="4572085"/>
          </a:xfrm>
          <a:prstGeom prst="rect">
            <a:avLst/>
          </a:prstGeom>
        </p:spPr>
      </p:pic>
    </p:spTree>
    <p:extLst>
      <p:ext uri="{BB962C8B-B14F-4D97-AF65-F5344CB8AC3E}">
        <p14:creationId xmlns:p14="http://schemas.microsoft.com/office/powerpoint/2010/main" val="3127447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US" altLang="en-US" dirty="0" err="1"/>
              <a:t>Abdominopelvic</a:t>
            </a:r>
            <a:r>
              <a:rPr lang="en-US" altLang="en-US" dirty="0"/>
              <a:t> Quadrants</a:t>
            </a:r>
            <a:br>
              <a:rPr lang="en-US" altLang="en-US" dirty="0"/>
            </a:br>
            <a:r>
              <a:rPr lang="en-US" altLang="en-US" sz="4000" dirty="0"/>
              <a:t>(Slide 1 of 2)</a:t>
            </a:r>
          </a:p>
        </p:txBody>
      </p:sp>
      <p:sp>
        <p:nvSpPr>
          <p:cNvPr id="31747" name="Rectangle 5"/>
          <p:cNvSpPr>
            <a:spLocks noGrp="1" noChangeArrowheads="1"/>
          </p:cNvSpPr>
          <p:nvPr>
            <p:ph idx="1"/>
          </p:nvPr>
        </p:nvSpPr>
        <p:spPr>
          <a:xfrm>
            <a:off x="685800" y="1828800"/>
            <a:ext cx="8229600" cy="4525963"/>
          </a:xfrm>
        </p:spPr>
        <p:txBody>
          <a:bodyPr/>
          <a:lstStyle/>
          <a:p>
            <a:pPr lvl="1" eaLnBrk="1" hangingPunct="1">
              <a:buFont typeface="Arial" pitchFamily="34" charset="0"/>
              <a:buChar char="•"/>
            </a:pPr>
            <a:r>
              <a:rPr lang="en-US" altLang="en-US" sz="2400" b="1" dirty="0"/>
              <a:t>Right upper quadrant (RUQ): </a:t>
            </a:r>
            <a:r>
              <a:rPr lang="en-US" altLang="en-US" sz="2400" dirty="0"/>
              <a:t>contains liver (right lobe), gallbladder, part of the pancreas, parts of small and large intestines </a:t>
            </a:r>
          </a:p>
          <a:p>
            <a:pPr lvl="1" eaLnBrk="1" hangingPunct="1">
              <a:buFont typeface="Arial" pitchFamily="34" charset="0"/>
              <a:buChar char="•"/>
            </a:pPr>
            <a:r>
              <a:rPr lang="en-US" altLang="en-US" sz="2400" b="1" dirty="0"/>
              <a:t>Left upper quadrant (LUQ): </a:t>
            </a:r>
            <a:r>
              <a:rPr lang="en-US" altLang="en-US" sz="2400" dirty="0"/>
              <a:t>contains liver (left lobe), stomach, spleen, part of the pancreas, parts of small and large intestines</a:t>
            </a:r>
          </a:p>
          <a:p>
            <a:pPr lvl="1" eaLnBrk="1" hangingPunct="1">
              <a:buFont typeface="Arial" pitchFamily="34" charset="0"/>
              <a:buChar char="•"/>
            </a:pPr>
            <a:r>
              <a:rPr lang="en-US" altLang="en-US" sz="2400" b="1" dirty="0"/>
              <a:t>Right lower quadrant (RLQ): </a:t>
            </a:r>
            <a:r>
              <a:rPr lang="en-US" altLang="en-US" sz="2400" dirty="0"/>
              <a:t>contains parts of small and large intestines, right ovary, right fallopian tube, appendix, right </a:t>
            </a:r>
            <a:r>
              <a:rPr lang="en-US" altLang="en-US" sz="2400" dirty="0" err="1"/>
              <a:t>ureter</a:t>
            </a:r>
            <a:r>
              <a:rPr lang="en-US" altLang="en-US" sz="2400" dirty="0"/>
              <a:t> </a:t>
            </a:r>
          </a:p>
          <a:p>
            <a:pPr lvl="1" eaLnBrk="1" hangingPunct="1">
              <a:buFont typeface="Arial" pitchFamily="34" charset="0"/>
              <a:buChar char="•"/>
            </a:pPr>
            <a:r>
              <a:rPr lang="en-US" altLang="en-US" sz="2400" b="1" dirty="0"/>
              <a:t>Left lower quadrant (LLQ): </a:t>
            </a:r>
            <a:r>
              <a:rPr lang="en-US" altLang="en-US" sz="2400" dirty="0"/>
              <a:t>contains parts of small and large intestines, left ovary, left fallopian tube, left ureter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Abdominopelvic Quadrants</a:t>
            </a:r>
            <a:br>
              <a:rPr lang="en-US" altLang="en-US" dirty="0"/>
            </a:br>
            <a:r>
              <a:rPr lang="en-US" altLang="en-US" sz="4000" dirty="0"/>
              <a:t>(Slide 2 of 2)</a:t>
            </a:r>
            <a:endParaRPr lang="es-419" dirty="0"/>
          </a:p>
        </p:txBody>
      </p:sp>
      <p:pic>
        <p:nvPicPr>
          <p:cNvPr id="5" name="Content Placeholder 4" descr="Abdominopelvic area can be divided into four quadrants by two imaginary lines, (one horizontal, one vertical), that cross at the midsection of the body. These are right upper quadrant, left upper quadrant, right lower quadrant, and left lower quadrant."/>
          <p:cNvPicPr>
            <a:picLocks noGrp="1" noChangeAspect="1"/>
          </p:cNvPicPr>
          <p:nvPr>
            <p:ph idx="1"/>
          </p:nvPr>
        </p:nvPicPr>
        <p:blipFill rotWithShape="1">
          <a:blip r:embed="rId3"/>
          <a:srcRect t="5773" b="11856"/>
          <a:stretch/>
        </p:blipFill>
        <p:spPr>
          <a:xfrm>
            <a:off x="2590800" y="1905000"/>
            <a:ext cx="3800994" cy="4186556"/>
          </a:xfrm>
          <a:prstGeom prst="rect">
            <a:avLst/>
          </a:prstGeom>
        </p:spPr>
      </p:pic>
    </p:spTree>
    <p:extLst>
      <p:ext uri="{BB962C8B-B14F-4D97-AF65-F5344CB8AC3E}">
        <p14:creationId xmlns:p14="http://schemas.microsoft.com/office/powerpoint/2010/main" val="998588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Chapter 2</a:t>
            </a:r>
            <a:br>
              <a:rPr lang="en-US" altLang="en-US" dirty="0"/>
            </a:br>
            <a:r>
              <a:rPr lang="en-US" altLang="en-US" dirty="0"/>
              <a:t>Lesson 2.2</a:t>
            </a:r>
            <a:endParaRPr lang="es-419" dirty="0"/>
          </a:p>
        </p:txBody>
      </p:sp>
      <p:sp>
        <p:nvSpPr>
          <p:cNvPr id="3" name="Content Placeholder 2"/>
          <p:cNvSpPr>
            <a:spLocks noGrp="1"/>
          </p:cNvSpPr>
          <p:nvPr>
            <p:ph idx="1"/>
          </p:nvPr>
        </p:nvSpPr>
        <p:spPr>
          <a:xfrm>
            <a:off x="685800" y="1600200"/>
            <a:ext cx="8229600" cy="4525963"/>
          </a:xfrm>
        </p:spPr>
        <p:txBody>
          <a:bodyPr/>
          <a:lstStyle/>
          <a:p>
            <a:pPr marL="0" indent="0">
              <a:buNone/>
            </a:pPr>
            <a:r>
              <a:rPr lang="en-US" b="1" dirty="0"/>
              <a:t>Positions, Directions, Planes, and Terminology</a:t>
            </a:r>
          </a:p>
          <a:p>
            <a:pPr lvl="1">
              <a:buFont typeface="Wingdings" panose="05000000000000000000" pitchFamily="2" charset="2"/>
              <a:buChar char="Ø"/>
            </a:pPr>
            <a:r>
              <a:rPr lang="en-US" dirty="0"/>
              <a:t>Locate and name the anatomic divisions of the back.</a:t>
            </a:r>
          </a:p>
          <a:p>
            <a:pPr lvl="1">
              <a:buFont typeface="Wingdings" panose="05000000000000000000" pitchFamily="2" charset="2"/>
              <a:buChar char="Ø"/>
            </a:pPr>
            <a:r>
              <a:rPr lang="en-US" dirty="0"/>
              <a:t>Become acquainted with terms that describe positions, directions, and planes of the body.</a:t>
            </a:r>
          </a:p>
          <a:p>
            <a:pPr lvl="1">
              <a:buFont typeface="Wingdings" panose="05000000000000000000" pitchFamily="2" charset="2"/>
              <a:buChar char="Ø"/>
            </a:pPr>
            <a:r>
              <a:rPr lang="en-US" dirty="0"/>
              <a:t>Identify the meaning for new word elements and use them to understand medical terms.</a:t>
            </a:r>
          </a:p>
          <a:p>
            <a:endParaRPr lang="es-419" dirty="0"/>
          </a:p>
        </p:txBody>
      </p:sp>
    </p:spTree>
    <p:extLst>
      <p:ext uri="{BB962C8B-B14F-4D97-AF65-F5344CB8AC3E}">
        <p14:creationId xmlns:p14="http://schemas.microsoft.com/office/powerpoint/2010/main" val="576797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dirty="0"/>
              <a:t>Anatomical Divisions of the Back</a:t>
            </a:r>
            <a:br>
              <a:rPr lang="en-US" altLang="en-US" dirty="0"/>
            </a:br>
            <a:r>
              <a:rPr lang="en-US" altLang="en-US" sz="4000" dirty="0"/>
              <a:t>(Slide 1 of 2) </a:t>
            </a:r>
          </a:p>
        </p:txBody>
      </p:sp>
      <p:sp>
        <p:nvSpPr>
          <p:cNvPr id="35843" name="Rectangle 3"/>
          <p:cNvSpPr>
            <a:spLocks noGrp="1" noChangeArrowheads="1"/>
          </p:cNvSpPr>
          <p:nvPr>
            <p:ph idx="1"/>
          </p:nvPr>
        </p:nvSpPr>
        <p:spPr>
          <a:xfrm>
            <a:off x="2019300" y="1905000"/>
            <a:ext cx="5105400" cy="4525963"/>
          </a:xfrm>
        </p:spPr>
        <p:txBody>
          <a:bodyPr/>
          <a:lstStyle/>
          <a:p>
            <a:pPr eaLnBrk="1" hangingPunct="1"/>
            <a:r>
              <a:rPr lang="en-US" altLang="en-US" dirty="0"/>
              <a:t>Cervical </a:t>
            </a:r>
          </a:p>
          <a:p>
            <a:pPr eaLnBrk="1" hangingPunct="1"/>
            <a:r>
              <a:rPr lang="en-US" altLang="en-US" dirty="0"/>
              <a:t>Thoracic </a:t>
            </a:r>
          </a:p>
          <a:p>
            <a:pPr eaLnBrk="1" hangingPunct="1"/>
            <a:r>
              <a:rPr lang="en-US" altLang="en-US" dirty="0"/>
              <a:t>Lumbar </a:t>
            </a:r>
          </a:p>
          <a:p>
            <a:pPr eaLnBrk="1" hangingPunct="1"/>
            <a:r>
              <a:rPr lang="en-US" altLang="en-US" dirty="0"/>
              <a:t>Sacral </a:t>
            </a:r>
          </a:p>
          <a:p>
            <a:pPr eaLnBrk="1" hangingPunct="1"/>
            <a:r>
              <a:rPr lang="en-US" altLang="en-US" dirty="0"/>
              <a:t>Coccygeal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Anatomical Divisions of the Back</a:t>
            </a:r>
            <a:br>
              <a:rPr lang="en-US" altLang="en-US" dirty="0"/>
            </a:br>
            <a:r>
              <a:rPr lang="en-US" altLang="en-US" sz="4000" dirty="0"/>
              <a:t>(Slide 2 of 2)</a:t>
            </a:r>
            <a:endParaRPr lang="es-419" dirty="0"/>
          </a:p>
        </p:txBody>
      </p:sp>
      <p:pic>
        <p:nvPicPr>
          <p:cNvPr id="5" name="Content Placeholder 4" descr="Anatomical divisions of the back (from top to bottom) are cervical, thoracic, lumbar, sacral, and coccygeal."/>
          <p:cNvPicPr>
            <a:picLocks noGrp="1" noChangeAspect="1"/>
          </p:cNvPicPr>
          <p:nvPr>
            <p:ph idx="1"/>
          </p:nvPr>
        </p:nvPicPr>
        <p:blipFill rotWithShape="1">
          <a:blip r:embed="rId3"/>
          <a:srcRect l="9752"/>
          <a:stretch/>
        </p:blipFill>
        <p:spPr>
          <a:xfrm>
            <a:off x="3505200" y="1600200"/>
            <a:ext cx="2820545" cy="4525963"/>
          </a:xfrm>
          <a:prstGeom prst="rect">
            <a:avLst/>
          </a:prstGeom>
        </p:spPr>
      </p:pic>
    </p:spTree>
    <p:extLst>
      <p:ext uri="{BB962C8B-B14F-4D97-AF65-F5344CB8AC3E}">
        <p14:creationId xmlns:p14="http://schemas.microsoft.com/office/powerpoint/2010/main" val="595806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2"/>
          <p:cNvSpPr>
            <a:spLocks noGrp="1"/>
          </p:cNvSpPr>
          <p:nvPr>
            <p:ph type="title"/>
          </p:nvPr>
        </p:nvSpPr>
        <p:spPr/>
        <p:txBody>
          <a:bodyPr/>
          <a:lstStyle/>
          <a:p>
            <a:pPr eaLnBrk="1" hangingPunct="1"/>
            <a:r>
              <a:rPr lang="en-US" altLang="en-US" dirty="0"/>
              <a:t>Study Section 4 (Slide 1 of 2)</a:t>
            </a:r>
          </a:p>
        </p:txBody>
      </p:sp>
      <p:sp>
        <p:nvSpPr>
          <p:cNvPr id="4" name="Content Placeholder 3"/>
          <p:cNvSpPr>
            <a:spLocks noGrp="1"/>
          </p:cNvSpPr>
          <p:nvPr>
            <p:ph sz="half" idx="1"/>
          </p:nvPr>
        </p:nvSpPr>
        <p:spPr/>
        <p:txBody>
          <a:bodyPr rtlCol="0">
            <a:normAutofit fontScale="92500" lnSpcReduction="20000"/>
          </a:bodyPr>
          <a:lstStyle/>
          <a:p>
            <a:pPr eaLnBrk="1" fontAlgn="auto" hangingPunct="1">
              <a:spcAft>
                <a:spcPts val="0"/>
              </a:spcAft>
              <a:defRPr/>
            </a:pPr>
            <a:r>
              <a:rPr lang="en-US" sz="3500" b="1" dirty="0">
                <a:ea typeface="ＭＳ Ｐゴシック" charset="0"/>
              </a:rPr>
              <a:t>Abdominopelvic Regions:</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Hypochondriac</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Epigastric</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Lumbar</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Umbilical</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Inguinal</a:t>
            </a:r>
          </a:p>
          <a:p>
            <a:pPr marL="857250" lvl="1" indent="-457200" eaLnBrk="1" fontAlgn="auto" hangingPunct="1">
              <a:spcAft>
                <a:spcPts val="0"/>
              </a:spcAft>
              <a:buFont typeface="Wingdings" panose="05000000000000000000" pitchFamily="2" charset="2"/>
              <a:buChar char="Ø"/>
              <a:defRPr/>
            </a:pPr>
            <a:r>
              <a:rPr lang="en-US" sz="3000" dirty="0">
                <a:ea typeface="ＭＳ Ｐゴシック" charset="0"/>
              </a:rPr>
              <a:t>Hypogastric</a:t>
            </a:r>
          </a:p>
          <a:p>
            <a:pPr marL="0" indent="0" eaLnBrk="1" fontAlgn="auto" hangingPunct="1">
              <a:spcAft>
                <a:spcPts val="0"/>
              </a:spcAft>
              <a:buFont typeface="Wingdings 2" charset="0"/>
              <a:buNone/>
              <a:defRPr/>
            </a:pPr>
            <a:r>
              <a:rPr lang="en-US" dirty="0">
                <a:ea typeface="ＭＳ Ｐゴシック" charset="0"/>
              </a:rPr>
              <a:t>	</a:t>
            </a:r>
          </a:p>
          <a:p>
            <a:pPr marL="0" indent="0" eaLnBrk="1" fontAlgn="auto" hangingPunct="1">
              <a:spcAft>
                <a:spcPts val="0"/>
              </a:spcAft>
              <a:buFont typeface="Wingdings 2" charset="0"/>
              <a:buNone/>
              <a:defRPr/>
            </a:pPr>
            <a:r>
              <a:rPr lang="en-US" sz="2400" dirty="0">
                <a:ea typeface="ＭＳ Ｐゴシック" charset="0"/>
              </a:rPr>
              <a:t>  </a:t>
            </a:r>
          </a:p>
          <a:p>
            <a:pPr marL="0" indent="0" eaLnBrk="1" fontAlgn="auto" hangingPunct="1">
              <a:spcAft>
                <a:spcPts val="0"/>
              </a:spcAft>
              <a:buFont typeface="Wingdings 2" charset="0"/>
              <a:buNone/>
              <a:defRPr/>
            </a:pPr>
            <a:endParaRPr lang="en-US" sz="2400" dirty="0">
              <a:ea typeface="ＭＳ Ｐゴシック" charset="0"/>
            </a:endParaRPr>
          </a:p>
        </p:txBody>
      </p:sp>
      <p:sp>
        <p:nvSpPr>
          <p:cNvPr id="5" name="Content Placeholder 4"/>
          <p:cNvSpPr>
            <a:spLocks noGrp="1"/>
          </p:cNvSpPr>
          <p:nvPr>
            <p:ph sz="half" idx="2"/>
          </p:nvPr>
        </p:nvSpPr>
        <p:spPr>
          <a:xfrm>
            <a:off x="4800600" y="1600200"/>
            <a:ext cx="4343400" cy="4525963"/>
          </a:xfrm>
        </p:spPr>
        <p:txBody>
          <a:bodyPr rtlCol="0">
            <a:normAutofit fontScale="92500" lnSpcReduction="20000"/>
          </a:bodyPr>
          <a:lstStyle/>
          <a:p>
            <a:pPr eaLnBrk="1" fontAlgn="auto" hangingPunct="1">
              <a:spcAft>
                <a:spcPts val="0"/>
              </a:spcAft>
              <a:defRPr/>
            </a:pPr>
            <a:r>
              <a:rPr lang="en-US" sz="3500" b="1" dirty="0"/>
              <a:t>Abdominopelvic Quadrants:</a:t>
            </a:r>
          </a:p>
          <a:p>
            <a:pPr lvl="1" eaLnBrk="1" fontAlgn="auto" hangingPunct="1">
              <a:spcAft>
                <a:spcPts val="0"/>
              </a:spcAft>
              <a:buFont typeface="Wingdings" panose="05000000000000000000" pitchFamily="2" charset="2"/>
              <a:buChar char="Ø"/>
              <a:defRPr/>
            </a:pPr>
            <a:r>
              <a:rPr lang="en-US" dirty="0"/>
              <a:t>	</a:t>
            </a:r>
            <a:r>
              <a:rPr lang="en-US" sz="3000" dirty="0"/>
              <a:t>RUQ</a:t>
            </a:r>
          </a:p>
          <a:p>
            <a:pPr lvl="1" eaLnBrk="1" fontAlgn="auto" hangingPunct="1">
              <a:spcAft>
                <a:spcPts val="0"/>
              </a:spcAft>
              <a:buFont typeface="Wingdings" panose="05000000000000000000" pitchFamily="2" charset="2"/>
              <a:buChar char="Ø"/>
              <a:defRPr/>
            </a:pPr>
            <a:r>
              <a:rPr lang="en-US" sz="3000" dirty="0"/>
              <a:t>	LUQ</a:t>
            </a:r>
          </a:p>
          <a:p>
            <a:pPr lvl="1" eaLnBrk="1" fontAlgn="auto" hangingPunct="1">
              <a:spcAft>
                <a:spcPts val="0"/>
              </a:spcAft>
              <a:buFont typeface="Wingdings" panose="05000000000000000000" pitchFamily="2" charset="2"/>
              <a:buChar char="Ø"/>
              <a:defRPr/>
            </a:pPr>
            <a:r>
              <a:rPr lang="en-US" sz="3000" dirty="0"/>
              <a:t>	RLQ</a:t>
            </a:r>
          </a:p>
          <a:p>
            <a:pPr lvl="1" eaLnBrk="1" fontAlgn="auto" hangingPunct="1">
              <a:spcAft>
                <a:spcPts val="0"/>
              </a:spcAft>
              <a:buFont typeface="Wingdings" panose="05000000000000000000" pitchFamily="2" charset="2"/>
              <a:buChar char="Ø"/>
              <a:defRPr/>
            </a:pPr>
            <a:r>
              <a:rPr lang="en-US" sz="3000" dirty="0"/>
              <a:t>	LLQ</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1600200" y="228600"/>
            <a:ext cx="6858000" cy="1219200"/>
          </a:xfrm>
        </p:spPr>
        <p:txBody>
          <a:bodyPr/>
          <a:lstStyle/>
          <a:p>
            <a:pPr eaLnBrk="1" hangingPunct="1"/>
            <a:r>
              <a:rPr lang="en-US" altLang="en-US" dirty="0"/>
              <a:t>Study Section 4 (Slide 2 of 2)</a:t>
            </a:r>
          </a:p>
        </p:txBody>
      </p:sp>
      <p:sp>
        <p:nvSpPr>
          <p:cNvPr id="39939" name="Content Placeholder 2"/>
          <p:cNvSpPr>
            <a:spLocks noGrp="1"/>
          </p:cNvSpPr>
          <p:nvPr>
            <p:ph sz="half" idx="1"/>
          </p:nvPr>
        </p:nvSpPr>
        <p:spPr/>
        <p:txBody>
          <a:bodyPr/>
          <a:lstStyle/>
          <a:p>
            <a:pPr eaLnBrk="1" hangingPunct="1"/>
            <a:r>
              <a:rPr lang="en-US" altLang="en-US" dirty="0"/>
              <a:t>Divisions of the Back:</a:t>
            </a:r>
          </a:p>
          <a:p>
            <a:pPr lvl="1" eaLnBrk="1" hangingPunct="1">
              <a:buFont typeface="Wingdings 2" panose="05020102010507070707" pitchFamily="18" charset="2"/>
              <a:buNone/>
            </a:pPr>
            <a:r>
              <a:rPr lang="en-US" altLang="en-US" dirty="0"/>
              <a:t>	Cervical</a:t>
            </a:r>
          </a:p>
          <a:p>
            <a:pPr lvl="1" eaLnBrk="1" hangingPunct="1">
              <a:buFont typeface="Wingdings 2" panose="05020102010507070707" pitchFamily="18" charset="2"/>
              <a:buNone/>
            </a:pPr>
            <a:r>
              <a:rPr lang="en-US" altLang="en-US" dirty="0"/>
              <a:t>	Thoracic</a:t>
            </a:r>
          </a:p>
          <a:p>
            <a:pPr lvl="1" eaLnBrk="1" hangingPunct="1">
              <a:buFont typeface="Wingdings 2" panose="05020102010507070707" pitchFamily="18" charset="2"/>
              <a:buNone/>
            </a:pPr>
            <a:r>
              <a:rPr lang="en-US" altLang="en-US" dirty="0"/>
              <a:t>	Lumbar</a:t>
            </a:r>
          </a:p>
          <a:p>
            <a:pPr lvl="1" eaLnBrk="1" hangingPunct="1">
              <a:buFont typeface="Wingdings 2" panose="05020102010507070707" pitchFamily="18" charset="2"/>
              <a:buNone/>
            </a:pPr>
            <a:r>
              <a:rPr lang="en-US" altLang="en-US" dirty="0"/>
              <a:t>	Sacral</a:t>
            </a:r>
          </a:p>
          <a:p>
            <a:pPr lvl="1" eaLnBrk="1" hangingPunct="1">
              <a:buFont typeface="Wingdings 2" panose="05020102010507070707" pitchFamily="18" charset="2"/>
              <a:buNone/>
            </a:pPr>
            <a:r>
              <a:rPr lang="en-US" altLang="en-US" dirty="0"/>
              <a:t>	Coccygeal</a:t>
            </a:r>
          </a:p>
        </p:txBody>
      </p:sp>
      <p:sp>
        <p:nvSpPr>
          <p:cNvPr id="39940" name="Content Placeholder 3"/>
          <p:cNvSpPr>
            <a:spLocks noGrp="1"/>
          </p:cNvSpPr>
          <p:nvPr>
            <p:ph sz="half" idx="2"/>
          </p:nvPr>
        </p:nvSpPr>
        <p:spPr/>
        <p:txBody>
          <a:bodyPr/>
          <a:lstStyle/>
          <a:p>
            <a:pPr eaLnBrk="1" hangingPunct="1"/>
            <a:r>
              <a:rPr lang="en-US" altLang="en-US" dirty="0"/>
              <a:t>Related Terms:</a:t>
            </a:r>
          </a:p>
          <a:p>
            <a:pPr lvl="1" eaLnBrk="1" hangingPunct="1">
              <a:buFont typeface="Wingdings 2" panose="05020102010507070707" pitchFamily="18" charset="2"/>
              <a:buNone/>
            </a:pPr>
            <a:r>
              <a:rPr lang="en-US" altLang="en-US" dirty="0"/>
              <a:t>	Vertebra</a:t>
            </a:r>
          </a:p>
          <a:p>
            <a:pPr lvl="1" eaLnBrk="1" hangingPunct="1">
              <a:buFont typeface="Wingdings 2" panose="05020102010507070707" pitchFamily="18" charset="2"/>
              <a:buNone/>
            </a:pPr>
            <a:r>
              <a:rPr lang="en-US" altLang="en-US" dirty="0"/>
              <a:t>	Vertebrae</a:t>
            </a:r>
          </a:p>
          <a:p>
            <a:pPr lvl="1" eaLnBrk="1" hangingPunct="1">
              <a:buFont typeface="Wingdings 2" panose="05020102010507070707" pitchFamily="18" charset="2"/>
              <a:buNone/>
            </a:pPr>
            <a:r>
              <a:rPr lang="en-US" altLang="en-US" dirty="0"/>
              <a:t>	Spinal column</a:t>
            </a:r>
          </a:p>
          <a:p>
            <a:pPr lvl="1" eaLnBrk="1" hangingPunct="1">
              <a:buFont typeface="Wingdings 2" panose="05020102010507070707" pitchFamily="18" charset="2"/>
              <a:buNone/>
            </a:pPr>
            <a:r>
              <a:rPr lang="en-US" altLang="en-US" dirty="0"/>
              <a:t>	Spinal cord</a:t>
            </a:r>
          </a:p>
          <a:p>
            <a:pPr lvl="1" eaLnBrk="1" hangingPunct="1">
              <a:buFont typeface="Wingdings 2" panose="05020102010507070707" pitchFamily="18" charset="2"/>
              <a:buNone/>
            </a:pPr>
            <a:r>
              <a:rPr lang="en-US" altLang="en-US" dirty="0"/>
              <a:t>	Disc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04800" y="152400"/>
            <a:ext cx="8382000" cy="1219200"/>
          </a:xfrm>
        </p:spPr>
        <p:txBody>
          <a:bodyPr/>
          <a:lstStyle/>
          <a:p>
            <a:pPr eaLnBrk="1" hangingPunct="1"/>
            <a:r>
              <a:rPr lang="en-US" altLang="en-US" dirty="0"/>
              <a:t>          </a:t>
            </a:r>
            <a:r>
              <a:rPr lang="en-US" altLang="en-US" sz="5400" b="1" dirty="0"/>
              <a:t>QUICK QUIZ </a:t>
            </a:r>
            <a:r>
              <a:rPr lang="en-US" altLang="en-US" dirty="0"/>
              <a:t>(Slide 3 of 5)</a:t>
            </a:r>
          </a:p>
        </p:txBody>
      </p:sp>
      <p:sp>
        <p:nvSpPr>
          <p:cNvPr id="40963" name="Rectangle 3"/>
          <p:cNvSpPr>
            <a:spLocks noGrp="1" noChangeArrowheads="1"/>
          </p:cNvSpPr>
          <p:nvPr>
            <p:ph idx="1"/>
          </p:nvPr>
        </p:nvSpPr>
        <p:spPr>
          <a:xfrm>
            <a:off x="697992" y="2057400"/>
            <a:ext cx="8229600" cy="3657600"/>
          </a:xfrm>
        </p:spPr>
        <p:txBody>
          <a:bodyPr/>
          <a:lstStyle/>
          <a:p>
            <a:pPr marL="533400" indent="-533400" eaLnBrk="1" hangingPunct="1">
              <a:buFont typeface="Arial" panose="020B0604020202020204" pitchFamily="34" charset="0"/>
              <a:buAutoNum type="arabicPeriod" startAt="3"/>
            </a:pPr>
            <a:r>
              <a:rPr lang="en-US" altLang="en-US" b="1" dirty="0"/>
              <a:t>Name the abdominopelvic region that is located in the central region near the navel.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Inguinal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Umbilical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Lumbar</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Hypochondriac</a:t>
            </a:r>
            <a:endParaRPr lang="en-US" altLang="en-US" dirty="0">
              <a:ea typeface="MS PGothic" panose="020B0600070205080204" pitchFamily="34" charset="-128"/>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685800" y="381000"/>
            <a:ext cx="7772400" cy="1219200"/>
          </a:xfrm>
        </p:spPr>
        <p:txBody>
          <a:bodyPr rtlCol="0">
            <a:noAutofit/>
          </a:bodyPr>
          <a:lstStyle/>
          <a:p>
            <a:pPr eaLnBrk="1" fontAlgn="auto" hangingPunct="1">
              <a:spcAft>
                <a:spcPts val="0"/>
              </a:spcAft>
              <a:defRPr/>
            </a:pPr>
            <a:r>
              <a:rPr lang="en-US" sz="5400" b="1" dirty="0"/>
              <a:t>QUICK QUIZ  </a:t>
            </a:r>
            <a:r>
              <a:rPr lang="en-US" dirty="0"/>
              <a:t>(Slide 4 of 5)</a:t>
            </a:r>
          </a:p>
        </p:txBody>
      </p:sp>
      <p:sp>
        <p:nvSpPr>
          <p:cNvPr id="41987" name="Rectangle 3"/>
          <p:cNvSpPr>
            <a:spLocks noGrp="1" noChangeArrowheads="1"/>
          </p:cNvSpPr>
          <p:nvPr>
            <p:ph idx="1"/>
          </p:nvPr>
        </p:nvSpPr>
        <p:spPr>
          <a:xfrm>
            <a:off x="990600" y="1905000"/>
            <a:ext cx="7162800" cy="4191000"/>
          </a:xfrm>
        </p:spPr>
        <p:txBody>
          <a:bodyPr/>
          <a:lstStyle/>
          <a:p>
            <a:pPr marL="533400" indent="-533400" eaLnBrk="1" hangingPunct="1">
              <a:buFont typeface="Arial" panose="020B0604020202020204" pitchFamily="34" charset="0"/>
              <a:buAutoNum type="arabicPeriod" startAt="4"/>
            </a:pPr>
            <a:r>
              <a:rPr lang="en-US" altLang="en-US" b="1" dirty="0"/>
              <a:t>Name the abdominopelvic region that is located in the lower middle below the umbilical region.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Inguinal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Epigastric</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Lumbar</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Hypogastric</a:t>
            </a:r>
            <a:endParaRPr lang="en-US" altLang="en-US" b="1" dirty="0">
              <a:ea typeface="MS PGothic" panose="020B0600070205080204" pitchFamily="34" charset="-128"/>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p:txBody>
          <a:bodyPr/>
          <a:lstStyle/>
          <a:p>
            <a:pPr eaLnBrk="1" hangingPunct="1"/>
            <a:r>
              <a:rPr lang="en-US" altLang="en-US" dirty="0"/>
              <a:t>Positional and Directional Terms of the Body </a:t>
            </a:r>
          </a:p>
        </p:txBody>
      </p:sp>
      <p:sp>
        <p:nvSpPr>
          <p:cNvPr id="43011" name="Rectangle 5"/>
          <p:cNvSpPr>
            <a:spLocks noGrp="1" noChangeArrowheads="1"/>
          </p:cNvSpPr>
          <p:nvPr>
            <p:ph sz="half" idx="1"/>
          </p:nvPr>
        </p:nvSpPr>
        <p:spPr>
          <a:xfrm>
            <a:off x="685800" y="1641475"/>
            <a:ext cx="7162800" cy="4454525"/>
          </a:xfrm>
        </p:spPr>
        <p:txBody>
          <a:bodyPr/>
          <a:lstStyle/>
          <a:p>
            <a:pPr marL="0" indent="0" eaLnBrk="1" hangingPunct="1">
              <a:buFont typeface="Wingdings 2" panose="05020102010507070707" pitchFamily="18" charset="2"/>
              <a:buNone/>
            </a:pPr>
            <a:endParaRPr lang="en-US" altLang="en-US" sz="2400" dirty="0"/>
          </a:p>
          <a:p>
            <a:pPr marL="0" indent="0" eaLnBrk="1" hangingPunct="1">
              <a:buNone/>
            </a:pPr>
            <a:r>
              <a:rPr lang="en-US" altLang="en-US" sz="3200" dirty="0"/>
              <a:t>Positional and Directional Terms</a:t>
            </a:r>
            <a:r>
              <a:rPr lang="en-US" altLang="en-US" dirty="0"/>
              <a:t> </a:t>
            </a:r>
          </a:p>
          <a:p>
            <a:pPr lvl="1" eaLnBrk="1" hangingPunct="1">
              <a:buFont typeface="Arial" pitchFamily="34" charset="0"/>
              <a:buChar char="•"/>
            </a:pPr>
            <a:r>
              <a:rPr lang="en-US" altLang="en-US" dirty="0"/>
              <a:t>Anterior </a:t>
            </a:r>
          </a:p>
          <a:p>
            <a:pPr lvl="1" eaLnBrk="1" hangingPunct="1">
              <a:buFont typeface="Arial" pitchFamily="34" charset="0"/>
              <a:buChar char="•"/>
            </a:pPr>
            <a:r>
              <a:rPr lang="en-US" altLang="en-US" dirty="0"/>
              <a:t>Posterior  </a:t>
            </a:r>
          </a:p>
          <a:p>
            <a:pPr lvl="1" eaLnBrk="1" hangingPunct="1">
              <a:buFont typeface="Arial" pitchFamily="34" charset="0"/>
              <a:buChar char="•"/>
            </a:pPr>
            <a:r>
              <a:rPr lang="en-US" altLang="en-US" dirty="0"/>
              <a:t>Deep </a:t>
            </a:r>
          </a:p>
          <a:p>
            <a:pPr lvl="1" eaLnBrk="1" hangingPunct="1">
              <a:buFont typeface="Arial" pitchFamily="34" charset="0"/>
              <a:buChar char="•"/>
            </a:pPr>
            <a:r>
              <a:rPr lang="en-US" altLang="en-US" dirty="0"/>
              <a:t>Superficial </a:t>
            </a:r>
          </a:p>
          <a:p>
            <a:pPr lvl="1" eaLnBrk="1" hangingPunct="1">
              <a:buFont typeface="Arial" pitchFamily="34" charset="0"/>
              <a:buChar char="•"/>
            </a:pPr>
            <a:r>
              <a:rPr lang="en-US" altLang="en-US" dirty="0"/>
              <a:t>Proximal </a:t>
            </a:r>
          </a:p>
          <a:p>
            <a:pPr lvl="1" eaLnBrk="1" hangingPunct="1">
              <a:buFont typeface="Arial" pitchFamily="34" charset="0"/>
              <a:buChar char="•"/>
            </a:pPr>
            <a:r>
              <a:rPr lang="en-US" altLang="en-US" dirty="0"/>
              <a:t>Distal </a:t>
            </a:r>
          </a:p>
        </p:txBody>
      </p:sp>
      <p:sp>
        <p:nvSpPr>
          <p:cNvPr id="43012" name="Content Placeholder 1"/>
          <p:cNvSpPr>
            <a:spLocks noGrp="1"/>
          </p:cNvSpPr>
          <p:nvPr>
            <p:ph sz="half" idx="2"/>
          </p:nvPr>
        </p:nvSpPr>
        <p:spPr/>
        <p:txBody>
          <a:bodyPr/>
          <a:lstStyle/>
          <a:p>
            <a:pPr eaLnBrk="1" hangingPunct="1">
              <a:buFont typeface="Wingdings 2" panose="05020102010507070707" pitchFamily="18" charset="2"/>
              <a:buChar char=""/>
            </a:pPr>
            <a:endParaRPr lang="en-US" altLang="en-US" sz="4400" dirty="0">
              <a:ea typeface="MS PGothic" panose="020B0600070205080204" pitchFamily="34" charset="-128"/>
            </a:endParaRPr>
          </a:p>
          <a:p>
            <a:pPr eaLnBrk="1" hangingPunct="1">
              <a:buFont typeface="Wingdings" panose="05000000000000000000" pitchFamily="2" charset="2"/>
              <a:buChar char="Ø"/>
            </a:pPr>
            <a:endParaRPr lang="en-US" altLang="en-US" sz="2400" dirty="0">
              <a:ea typeface="MS PGothic" panose="020B0600070205080204" pitchFamily="34" charset="-128"/>
            </a:endParaRPr>
          </a:p>
          <a:p>
            <a:pPr eaLnBrk="1" hangingPunct="1">
              <a:lnSpc>
                <a:spcPct val="50000"/>
              </a:lnSpc>
            </a:pPr>
            <a:r>
              <a:rPr lang="en-US" altLang="en-US" sz="2400" dirty="0">
                <a:ea typeface="MS PGothic" panose="020B0600070205080204" pitchFamily="34" charset="-128"/>
              </a:rPr>
              <a:t>Inferior</a:t>
            </a:r>
          </a:p>
          <a:p>
            <a:pPr eaLnBrk="1" hangingPunct="1"/>
            <a:r>
              <a:rPr lang="en-US" altLang="en-US" sz="2400" dirty="0">
                <a:ea typeface="MS PGothic" panose="020B0600070205080204" pitchFamily="34" charset="-128"/>
              </a:rPr>
              <a:t>Superior</a:t>
            </a:r>
          </a:p>
          <a:p>
            <a:pPr eaLnBrk="1" hangingPunct="1"/>
            <a:r>
              <a:rPr lang="en-US" altLang="en-US" sz="2400" dirty="0">
                <a:ea typeface="MS PGothic" panose="020B0600070205080204" pitchFamily="34" charset="-128"/>
              </a:rPr>
              <a:t>Medial</a:t>
            </a:r>
          </a:p>
          <a:p>
            <a:pPr eaLnBrk="1" hangingPunct="1"/>
            <a:r>
              <a:rPr lang="en-US" altLang="en-US" sz="2400" dirty="0">
                <a:ea typeface="MS PGothic" panose="020B0600070205080204" pitchFamily="34" charset="-128"/>
              </a:rPr>
              <a:t>Lateral</a:t>
            </a:r>
          </a:p>
          <a:p>
            <a:pPr eaLnBrk="1" hangingPunct="1"/>
            <a:r>
              <a:rPr lang="en-US" altLang="en-US" sz="2400" dirty="0">
                <a:ea typeface="MS PGothic" panose="020B0600070205080204" pitchFamily="34" charset="-128"/>
              </a:rPr>
              <a:t>Supine</a:t>
            </a:r>
          </a:p>
          <a:p>
            <a:pPr eaLnBrk="1" hangingPunct="1"/>
            <a:r>
              <a:rPr lang="en-US" altLang="en-US" sz="2400" dirty="0">
                <a:ea typeface="MS PGothic" panose="020B0600070205080204" pitchFamily="34" charset="-128"/>
              </a:rPr>
              <a:t>Prone</a:t>
            </a:r>
          </a:p>
          <a:p>
            <a:pPr eaLnBrk="1" hangingPunct="1">
              <a:buFont typeface="Wingdings 2" panose="05020102010507070707" pitchFamily="18" charset="2"/>
              <a:buChar char=""/>
            </a:pPr>
            <a:endParaRPr lang="en-US" altLang="en-US" dirty="0">
              <a:ea typeface="MS PGothic" panose="020B0600070205080204" pitchFamily="34" charset="-128"/>
            </a:endParaRPr>
          </a:p>
          <a:p>
            <a:pPr eaLnBrk="1" hangingPunct="1">
              <a:buFont typeface="Wingdings 2" panose="05020102010507070707" pitchFamily="18" charset="2"/>
              <a:buChar char=""/>
            </a:pPr>
            <a:endParaRPr lang="en-US" altLang="en-US" dirty="0">
              <a:ea typeface="MS PGothic" panose="020B0600070205080204" pitchFamily="34" charset="-128"/>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32958"/>
          </a:xfrm>
        </p:spPr>
        <p:txBody>
          <a:bodyPr/>
          <a:lstStyle/>
          <a:p>
            <a:r>
              <a:rPr lang="en-US" altLang="en-US" dirty="0"/>
              <a:t>Positional and Directional Terms</a:t>
            </a:r>
            <a:endParaRPr lang="es-419" dirty="0"/>
          </a:p>
        </p:txBody>
      </p:sp>
      <p:pic>
        <p:nvPicPr>
          <p:cNvPr id="6" name="Content Placeholder 5" descr="Positional and directional terms as illustrated on a male human figure standing sideways facing towards the right, palm facing forward.  Labels as read clockwise from the top of the head are:&#10; 8. superior &#10;1. anterior (ventral)&#10;3.  deep&#10;4.  superficial&#10;10.  lateral (pointing to the right thumb on the open palm of the figure)&#10;9.  medial (pointing to the little finger of the right hand on the open palm of the figure)&#10;7.  inferior (label line is below the feet)&#10;6.  distal&#10;5.  proximal&#10;2.  posterior&#10;&#10;Two smaller inset figures are in the lower right side which show:&#10;11.  supine (figure laying on her back face up)&#10;12 prone (figure laying on his stomach face down)&#10;"/>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69854" y="1455233"/>
            <a:ext cx="3708691" cy="47534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Content Placeholder 3"/>
          <p:cNvSpPr>
            <a:spLocks noGrp="1"/>
          </p:cNvSpPr>
          <p:nvPr>
            <p:ph sz="half" idx="2"/>
          </p:nvPr>
        </p:nvSpPr>
        <p:spPr>
          <a:xfrm>
            <a:off x="5562600" y="1263398"/>
            <a:ext cx="3276600" cy="4945315"/>
          </a:xfrm>
        </p:spPr>
        <p:txBody>
          <a:bodyPr/>
          <a:lstStyle/>
          <a:p>
            <a:pPr>
              <a:buFont typeface="Wingdings" panose="05000000000000000000" pitchFamily="2" charset="2"/>
              <a:buChar char="q"/>
            </a:pPr>
            <a:r>
              <a:rPr lang="es-419" sz="2200" dirty="0"/>
              <a:t>1.  anterior </a:t>
            </a:r>
          </a:p>
          <a:p>
            <a:pPr>
              <a:buFont typeface="Wingdings" panose="05000000000000000000" pitchFamily="2" charset="2"/>
              <a:buChar char="q"/>
            </a:pPr>
            <a:r>
              <a:rPr lang="es-419" sz="2200" dirty="0"/>
              <a:t>2.  posterior </a:t>
            </a:r>
          </a:p>
          <a:p>
            <a:pPr>
              <a:buFont typeface="Wingdings" panose="05000000000000000000" pitchFamily="2" charset="2"/>
              <a:buChar char="q"/>
            </a:pPr>
            <a:r>
              <a:rPr lang="es-419" sz="2200" dirty="0"/>
              <a:t>3.  </a:t>
            </a:r>
            <a:r>
              <a:rPr lang="es-419" sz="2200" dirty="0" err="1"/>
              <a:t>deep</a:t>
            </a:r>
            <a:endParaRPr lang="es-419" sz="2200" dirty="0"/>
          </a:p>
          <a:p>
            <a:pPr>
              <a:buFont typeface="Wingdings" panose="05000000000000000000" pitchFamily="2" charset="2"/>
              <a:buChar char="q"/>
            </a:pPr>
            <a:r>
              <a:rPr lang="es-419" sz="2200" dirty="0"/>
              <a:t>4.  superficial</a:t>
            </a:r>
          </a:p>
          <a:p>
            <a:pPr>
              <a:buFont typeface="Wingdings" panose="05000000000000000000" pitchFamily="2" charset="2"/>
              <a:buChar char="q"/>
            </a:pPr>
            <a:r>
              <a:rPr lang="es-419" sz="2200" dirty="0"/>
              <a:t>5.  proximal</a:t>
            </a:r>
          </a:p>
          <a:p>
            <a:pPr>
              <a:buFont typeface="Wingdings" panose="05000000000000000000" pitchFamily="2" charset="2"/>
              <a:buChar char="q"/>
            </a:pPr>
            <a:r>
              <a:rPr lang="es-419" sz="2200" dirty="0"/>
              <a:t>6.  distal</a:t>
            </a:r>
          </a:p>
          <a:p>
            <a:pPr>
              <a:buFont typeface="Wingdings" panose="05000000000000000000" pitchFamily="2" charset="2"/>
              <a:buChar char="q"/>
            </a:pPr>
            <a:r>
              <a:rPr lang="es-419" sz="2200" dirty="0"/>
              <a:t>7.  inferior</a:t>
            </a:r>
          </a:p>
          <a:p>
            <a:pPr>
              <a:buFont typeface="Wingdings" panose="05000000000000000000" pitchFamily="2" charset="2"/>
              <a:buChar char="q"/>
            </a:pPr>
            <a:r>
              <a:rPr lang="es-419" sz="2200" dirty="0"/>
              <a:t>8.  superior </a:t>
            </a:r>
          </a:p>
          <a:p>
            <a:pPr>
              <a:buFont typeface="Wingdings" panose="05000000000000000000" pitchFamily="2" charset="2"/>
              <a:buChar char="q"/>
            </a:pPr>
            <a:r>
              <a:rPr lang="es-419" sz="2200" dirty="0"/>
              <a:t>9. medial</a:t>
            </a:r>
          </a:p>
          <a:p>
            <a:pPr>
              <a:buFont typeface="Wingdings" panose="05000000000000000000" pitchFamily="2" charset="2"/>
              <a:buChar char="q"/>
            </a:pPr>
            <a:r>
              <a:rPr lang="es-419" sz="2200" dirty="0"/>
              <a:t>10.  lateral</a:t>
            </a:r>
          </a:p>
          <a:p>
            <a:pPr>
              <a:buFont typeface="Wingdings" panose="05000000000000000000" pitchFamily="2" charset="2"/>
              <a:buChar char="q"/>
            </a:pPr>
            <a:r>
              <a:rPr lang="es-419" sz="2200" dirty="0"/>
              <a:t>11. </a:t>
            </a:r>
            <a:r>
              <a:rPr lang="es-419" sz="2200" dirty="0" err="1"/>
              <a:t>supine</a:t>
            </a:r>
            <a:endParaRPr lang="es-419" sz="2200" dirty="0"/>
          </a:p>
          <a:p>
            <a:pPr>
              <a:buFont typeface="Wingdings" panose="05000000000000000000" pitchFamily="2" charset="2"/>
              <a:buChar char="q"/>
            </a:pPr>
            <a:r>
              <a:rPr lang="es-419" sz="2200" dirty="0"/>
              <a:t>12.  </a:t>
            </a:r>
            <a:r>
              <a:rPr lang="es-419" sz="2200" dirty="0" err="1"/>
              <a:t>prone</a:t>
            </a:r>
            <a:endParaRPr lang="es-419" sz="2200" dirty="0"/>
          </a:p>
          <a:p>
            <a:endParaRPr lang="es-419" dirty="0"/>
          </a:p>
          <a:p>
            <a:endParaRPr lang="es-419" dirty="0"/>
          </a:p>
          <a:p>
            <a:endParaRPr lang="es-419" dirty="0"/>
          </a:p>
        </p:txBody>
      </p:sp>
    </p:spTree>
    <p:extLst>
      <p:ext uri="{BB962C8B-B14F-4D97-AF65-F5344CB8AC3E}">
        <p14:creationId xmlns:p14="http://schemas.microsoft.com/office/powerpoint/2010/main" val="2783367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1" y="228600"/>
            <a:ext cx="8001000" cy="1219200"/>
          </a:xfrm>
        </p:spPr>
        <p:txBody>
          <a:bodyPr/>
          <a:lstStyle/>
          <a:p>
            <a:pPr eaLnBrk="1" hangingPunct="1"/>
            <a:r>
              <a:rPr lang="en-US" altLang="en-US" dirty="0"/>
              <a:t>Planes of the Body (Slide 1 of 2)</a:t>
            </a:r>
          </a:p>
        </p:txBody>
      </p:sp>
      <p:sp>
        <p:nvSpPr>
          <p:cNvPr id="46083" name="Rectangle 3"/>
          <p:cNvSpPr>
            <a:spLocks noGrp="1" noChangeArrowheads="1"/>
          </p:cNvSpPr>
          <p:nvPr>
            <p:ph idx="1"/>
          </p:nvPr>
        </p:nvSpPr>
        <p:spPr/>
        <p:txBody>
          <a:bodyPr/>
          <a:lstStyle/>
          <a:p>
            <a:pPr eaLnBrk="1" hangingPunct="1">
              <a:buFont typeface="Wingdings 2" panose="05020102010507070707" pitchFamily="18" charset="2"/>
              <a:buNone/>
            </a:pPr>
            <a:endParaRPr lang="en-US" altLang="en-US" sz="1600" i="1" dirty="0"/>
          </a:p>
          <a:p>
            <a:pPr lvl="1" eaLnBrk="1" hangingPunct="1">
              <a:buFont typeface="Arial" pitchFamily="34" charset="0"/>
              <a:buChar char="•"/>
            </a:pPr>
            <a:r>
              <a:rPr lang="en-US" altLang="en-US" dirty="0"/>
              <a:t>Frontal (coronal) </a:t>
            </a:r>
          </a:p>
          <a:p>
            <a:pPr lvl="1" eaLnBrk="1" hangingPunct="1">
              <a:buFont typeface="Arial" pitchFamily="34" charset="0"/>
              <a:buChar char="•"/>
            </a:pPr>
            <a:r>
              <a:rPr lang="en-US" altLang="en-US" dirty="0"/>
              <a:t>Sagittal (lateral) </a:t>
            </a:r>
          </a:p>
          <a:p>
            <a:pPr lvl="1" eaLnBrk="1" hangingPunct="1">
              <a:buFont typeface="Arial" pitchFamily="34" charset="0"/>
              <a:buChar char="•"/>
            </a:pPr>
            <a:r>
              <a:rPr lang="en-US" altLang="en-US" dirty="0"/>
              <a:t>Transverse (cross-sectional or axial)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Planes of the Body (Slide 2 of 2)</a:t>
            </a:r>
            <a:endParaRPr lang="es-419" dirty="0"/>
          </a:p>
        </p:txBody>
      </p:sp>
      <p:sp>
        <p:nvSpPr>
          <p:cNvPr id="4" name="Content Placeholder 3"/>
          <p:cNvSpPr>
            <a:spLocks noGrp="1"/>
          </p:cNvSpPr>
          <p:nvPr>
            <p:ph sz="half" idx="2"/>
          </p:nvPr>
        </p:nvSpPr>
        <p:spPr>
          <a:xfrm>
            <a:off x="914400" y="5410200"/>
            <a:ext cx="8229600" cy="630302"/>
          </a:xfrm>
        </p:spPr>
        <p:txBody>
          <a:bodyPr/>
          <a:lstStyle/>
          <a:p>
            <a:pPr marL="0" indent="0">
              <a:buNone/>
            </a:pPr>
            <a:r>
              <a:rPr lang="es-419" sz="2400" dirty="0"/>
              <a:t>1.  Frontal (coronal)    2.  Sagital (lateral)  3.  </a:t>
            </a:r>
            <a:r>
              <a:rPr lang="es-419" sz="2400" dirty="0" err="1"/>
              <a:t>Transverse</a:t>
            </a:r>
            <a:r>
              <a:rPr lang="es-419" sz="2400" dirty="0"/>
              <a:t> (axial)</a:t>
            </a:r>
          </a:p>
        </p:txBody>
      </p:sp>
      <p:pic>
        <p:nvPicPr>
          <p:cNvPr id="6" name="Content Placeholder 5" descr="Planes of the body shown in two orientations illustrating exterior and interior of the body.  Labels from top to bottom:  A and 1 reflect the  frontal (coronal) plane;&#10; B and 2 reflect the sagittal (lateral) plane;&#10; C and 3 relect the transverse (axial) plane."/>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663760" y="1672652"/>
            <a:ext cx="3816479" cy="35796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2555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2"/>
          <p:cNvSpPr>
            <a:spLocks noGrp="1"/>
          </p:cNvSpPr>
          <p:nvPr>
            <p:ph type="title"/>
          </p:nvPr>
        </p:nvSpPr>
        <p:spPr/>
        <p:txBody>
          <a:bodyPr/>
          <a:lstStyle/>
          <a:p>
            <a:pPr eaLnBrk="1" hangingPunct="1"/>
            <a:r>
              <a:rPr lang="en-US" altLang="en-US" dirty="0"/>
              <a:t>Study Section 5</a:t>
            </a:r>
          </a:p>
        </p:txBody>
      </p:sp>
      <p:sp>
        <p:nvSpPr>
          <p:cNvPr id="49155" name="Content Placeholder 3"/>
          <p:cNvSpPr>
            <a:spLocks noGrp="1"/>
          </p:cNvSpPr>
          <p:nvPr>
            <p:ph sz="half" idx="1"/>
          </p:nvPr>
        </p:nvSpPr>
        <p:spPr/>
        <p:txBody>
          <a:bodyPr/>
          <a:lstStyle/>
          <a:p>
            <a:pPr eaLnBrk="1" hangingPunct="1"/>
            <a:r>
              <a:rPr lang="en-US" altLang="en-US" dirty="0"/>
              <a:t>Anterior (ventral)</a:t>
            </a:r>
          </a:p>
          <a:p>
            <a:pPr eaLnBrk="1" hangingPunct="1"/>
            <a:r>
              <a:rPr lang="en-US" altLang="en-US" dirty="0"/>
              <a:t>Deep</a:t>
            </a:r>
          </a:p>
          <a:p>
            <a:pPr eaLnBrk="1" hangingPunct="1"/>
            <a:r>
              <a:rPr lang="en-US" altLang="en-US" dirty="0"/>
              <a:t>Distal</a:t>
            </a:r>
          </a:p>
          <a:p>
            <a:pPr eaLnBrk="1" hangingPunct="1"/>
            <a:r>
              <a:rPr lang="en-US" altLang="en-US" dirty="0"/>
              <a:t>Frontal (coronal) plane</a:t>
            </a:r>
          </a:p>
          <a:p>
            <a:pPr eaLnBrk="1" hangingPunct="1"/>
            <a:r>
              <a:rPr lang="en-US" altLang="en-US" dirty="0"/>
              <a:t>Inferior </a:t>
            </a:r>
          </a:p>
          <a:p>
            <a:pPr eaLnBrk="1" hangingPunct="1"/>
            <a:r>
              <a:rPr lang="en-US" altLang="en-US" dirty="0"/>
              <a:t>Lateral</a:t>
            </a:r>
          </a:p>
          <a:p>
            <a:pPr eaLnBrk="1" hangingPunct="1"/>
            <a:r>
              <a:rPr lang="en-US" altLang="en-US" dirty="0"/>
              <a:t>Medial</a:t>
            </a:r>
          </a:p>
          <a:p>
            <a:pPr eaLnBrk="1" hangingPunct="1"/>
            <a:r>
              <a:rPr lang="en-US" altLang="en-US" dirty="0"/>
              <a:t>Posterior (dorsal)</a:t>
            </a:r>
          </a:p>
        </p:txBody>
      </p:sp>
      <p:sp>
        <p:nvSpPr>
          <p:cNvPr id="49156" name="Content Placeholder 4"/>
          <p:cNvSpPr>
            <a:spLocks noGrp="1"/>
          </p:cNvSpPr>
          <p:nvPr>
            <p:ph sz="half" idx="2"/>
          </p:nvPr>
        </p:nvSpPr>
        <p:spPr>
          <a:xfrm>
            <a:off x="4648200" y="1641475"/>
            <a:ext cx="4191000" cy="4454525"/>
          </a:xfrm>
        </p:spPr>
        <p:txBody>
          <a:bodyPr/>
          <a:lstStyle/>
          <a:p>
            <a:pPr eaLnBrk="1" hangingPunct="1"/>
            <a:r>
              <a:rPr lang="en-US" altLang="en-US" dirty="0">
                <a:ea typeface="MS PGothic" panose="020B0600070205080204" pitchFamily="34" charset="-128"/>
              </a:rPr>
              <a:t>Prone</a:t>
            </a:r>
          </a:p>
          <a:p>
            <a:pPr eaLnBrk="1" hangingPunct="1"/>
            <a:r>
              <a:rPr lang="en-US" altLang="en-US" dirty="0">
                <a:ea typeface="MS PGothic" panose="020B0600070205080204" pitchFamily="34" charset="-128"/>
              </a:rPr>
              <a:t>Proximal</a:t>
            </a:r>
          </a:p>
          <a:p>
            <a:pPr eaLnBrk="1" hangingPunct="1"/>
            <a:r>
              <a:rPr lang="en-US" altLang="en-US" dirty="0">
                <a:ea typeface="MS PGothic" panose="020B0600070205080204" pitchFamily="34" charset="-128"/>
              </a:rPr>
              <a:t>Sagittal (lateral) plane</a:t>
            </a:r>
          </a:p>
          <a:p>
            <a:pPr eaLnBrk="1" hangingPunct="1"/>
            <a:r>
              <a:rPr lang="en-US" altLang="en-US" dirty="0">
                <a:ea typeface="MS PGothic" panose="020B0600070205080204" pitchFamily="34" charset="-128"/>
              </a:rPr>
              <a:t>Superficial</a:t>
            </a:r>
          </a:p>
          <a:p>
            <a:pPr eaLnBrk="1" hangingPunct="1"/>
            <a:r>
              <a:rPr lang="en-US" altLang="en-US" dirty="0">
                <a:ea typeface="MS PGothic" panose="020B0600070205080204" pitchFamily="34" charset="-128"/>
              </a:rPr>
              <a:t>Superior (cephalic)</a:t>
            </a:r>
          </a:p>
          <a:p>
            <a:pPr eaLnBrk="1" hangingPunct="1"/>
            <a:r>
              <a:rPr lang="en-US" altLang="en-US" dirty="0">
                <a:ea typeface="MS PGothic" panose="020B0600070205080204" pitchFamily="34" charset="-128"/>
              </a:rPr>
              <a:t>Supine</a:t>
            </a:r>
          </a:p>
          <a:p>
            <a:pPr eaLnBrk="1" hangingPunct="1"/>
            <a:r>
              <a:rPr lang="en-US" altLang="en-US" dirty="0">
                <a:ea typeface="MS PGothic" panose="020B0600070205080204" pitchFamily="34" charset="-128"/>
              </a:rPr>
              <a:t>Transverse (axial) plane</a:t>
            </a:r>
          </a:p>
          <a:p>
            <a:pPr eaLnBrk="1" hangingPunct="1"/>
            <a:endParaRPr lang="en-US" altLang="en-US" dirty="0">
              <a:ea typeface="MS PGothic" panose="020B0600070205080204" pitchFamily="34" charset="-128"/>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 of 20)</a:t>
            </a:r>
          </a:p>
        </p:txBody>
      </p:sp>
      <p:graphicFrame>
        <p:nvGraphicFramePr>
          <p:cNvPr id="7" name="Content Placeholder 6" descr="Group 1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3394035538"/>
              </p:ext>
            </p:extLst>
          </p:nvPr>
        </p:nvGraphicFramePr>
        <p:xfrm>
          <a:off x="3048000" y="1905000"/>
          <a:ext cx="3657600" cy="3048000"/>
        </p:xfrm>
        <a:graphic>
          <a:graphicData uri="http://schemas.openxmlformats.org/drawingml/2006/table">
            <a:tbl>
              <a:tblPr firstRow="1" bandRow="1">
                <a:tableStyleId>{68D230F3-CF80-4859-8CE7-A43EE81993B5}</a:tableStyleId>
              </a:tblPr>
              <a:tblGrid>
                <a:gridCol w="3657600">
                  <a:extLst>
                    <a:ext uri="{9D8B030D-6E8A-4147-A177-3AD203B41FA5}">
                      <a16:colId xmlns:a16="http://schemas.microsoft.com/office/drawing/2014/main" val="20000"/>
                    </a:ext>
                  </a:extLst>
                </a:gridCol>
              </a:tblGrid>
              <a:tr h="762000">
                <a:tc>
                  <a:txBody>
                    <a:bodyPr/>
                    <a:lstStyle/>
                    <a:p>
                      <a:r>
                        <a:rPr lang="en-US" sz="2400" dirty="0"/>
                        <a:t>Combining Form</a:t>
                      </a:r>
                    </a:p>
                  </a:txBody>
                  <a:tcPr/>
                </a:tc>
                <a:extLst>
                  <a:ext uri="{0D108BD9-81ED-4DB2-BD59-A6C34878D82A}">
                    <a16:rowId xmlns:a16="http://schemas.microsoft.com/office/drawing/2014/main" val="10000"/>
                  </a:ext>
                </a:extLst>
              </a:tr>
              <a:tr h="762000">
                <a:tc>
                  <a:txBody>
                    <a:bodyPr/>
                    <a:lstStyle/>
                    <a:p>
                      <a:r>
                        <a:rPr lang="en-US" altLang="en-US" sz="2400" b="1" dirty="0"/>
                        <a:t>abdomin/o</a:t>
                      </a:r>
                      <a:endParaRPr lang="en-US" sz="2400" dirty="0"/>
                    </a:p>
                  </a:txBody>
                  <a:tcPr/>
                </a:tc>
                <a:extLst>
                  <a:ext uri="{0D108BD9-81ED-4DB2-BD59-A6C34878D82A}">
                    <a16:rowId xmlns:a16="http://schemas.microsoft.com/office/drawing/2014/main" val="10001"/>
                  </a:ext>
                </a:extLst>
              </a:tr>
              <a:tr h="762000">
                <a:tc>
                  <a:txBody>
                    <a:bodyPr/>
                    <a:lstStyle/>
                    <a:p>
                      <a:r>
                        <a:rPr lang="en-US" altLang="en-US" sz="2400" b="1" dirty="0"/>
                        <a:t>adip/o</a:t>
                      </a:r>
                      <a:endParaRPr lang="en-US" sz="2400" dirty="0"/>
                    </a:p>
                  </a:txBody>
                  <a:tcPr/>
                </a:tc>
                <a:extLst>
                  <a:ext uri="{0D108BD9-81ED-4DB2-BD59-A6C34878D82A}">
                    <a16:rowId xmlns:a16="http://schemas.microsoft.com/office/drawing/2014/main" val="10002"/>
                  </a:ext>
                </a:extLst>
              </a:tr>
              <a:tr h="762000">
                <a:tc>
                  <a:txBody>
                    <a:bodyPr/>
                    <a:lstStyle/>
                    <a:p>
                      <a:r>
                        <a:rPr lang="en-US" altLang="en-US" sz="2400" b="1" dirty="0"/>
                        <a:t>anter/o</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19197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2 of 20)</a:t>
            </a:r>
          </a:p>
        </p:txBody>
      </p:sp>
      <p:graphicFrame>
        <p:nvGraphicFramePr>
          <p:cNvPr id="7" name="Content Placeholder 6" descr="The combining forms from the previous slide with their corresponding meanings are provided.    The combining forms and meanings listed are:  abdomin/o meaning abdomen, adip/o meaning fat, and anter/o meaning front."/>
          <p:cNvGraphicFramePr>
            <a:graphicFrameLocks noGrp="1"/>
          </p:cNvGraphicFramePr>
          <p:nvPr>
            <p:ph idx="1"/>
            <p:extLst>
              <p:ext uri="{D42A27DB-BD31-4B8C-83A1-F6EECF244321}">
                <p14:modId xmlns:p14="http://schemas.microsoft.com/office/powerpoint/2010/main" val="4250973985"/>
              </p:ext>
            </p:extLst>
          </p:nvPr>
        </p:nvGraphicFramePr>
        <p:xfrm>
          <a:off x="1219200" y="2133600"/>
          <a:ext cx="7086600" cy="1828800"/>
        </p:xfrm>
        <a:graphic>
          <a:graphicData uri="http://schemas.openxmlformats.org/drawingml/2006/table">
            <a:tbl>
              <a:tblPr firstRow="1" bandRow="1">
                <a:tableStyleId>{68D230F3-CF80-4859-8CE7-A43EE81993B5}</a:tableStyleId>
              </a:tblPr>
              <a:tblGrid>
                <a:gridCol w="3083983">
                  <a:extLst>
                    <a:ext uri="{9D8B030D-6E8A-4147-A177-3AD203B41FA5}">
                      <a16:colId xmlns:a16="http://schemas.microsoft.com/office/drawing/2014/main" val="20000"/>
                    </a:ext>
                  </a:extLst>
                </a:gridCol>
                <a:gridCol w="4002617">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abdomin/o</a:t>
                      </a:r>
                      <a:endParaRPr lang="en-US" sz="2400" dirty="0"/>
                    </a:p>
                  </a:txBody>
                  <a:tcPr/>
                </a:tc>
                <a:tc>
                  <a:txBody>
                    <a:bodyPr/>
                    <a:lstStyle/>
                    <a:p>
                      <a:r>
                        <a:rPr lang="en-US" altLang="en-US" sz="2400" dirty="0"/>
                        <a:t>abdomen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adip/o</a:t>
                      </a:r>
                      <a:endParaRPr lang="en-US" sz="2400" dirty="0"/>
                    </a:p>
                  </a:txBody>
                  <a:tcPr/>
                </a:tc>
                <a:tc>
                  <a:txBody>
                    <a:bodyPr/>
                    <a:lstStyle/>
                    <a:p>
                      <a:r>
                        <a:rPr lang="en-US" altLang="en-US" sz="2400" dirty="0"/>
                        <a:t>fat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anter/o</a:t>
                      </a:r>
                      <a:endParaRPr lang="en-US" sz="2400" dirty="0"/>
                    </a:p>
                  </a:txBody>
                  <a:tcPr/>
                </a:tc>
                <a:tc>
                  <a:txBody>
                    <a:bodyPr/>
                    <a:lstStyle/>
                    <a:p>
                      <a:r>
                        <a:rPr lang="en-US" altLang="en-US" sz="2400" dirty="0"/>
                        <a:t>front</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82706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3 of 20)</a:t>
            </a:r>
          </a:p>
        </p:txBody>
      </p:sp>
      <p:graphicFrame>
        <p:nvGraphicFramePr>
          <p:cNvPr id="7" name="Content Placeholder 6" descr="Group 2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337341745"/>
              </p:ext>
            </p:extLst>
          </p:nvPr>
        </p:nvGraphicFramePr>
        <p:xfrm>
          <a:off x="2590800" y="2133600"/>
          <a:ext cx="3962400" cy="3352800"/>
        </p:xfrm>
        <a:graphic>
          <a:graphicData uri="http://schemas.openxmlformats.org/drawingml/2006/table">
            <a:tbl>
              <a:tblPr firstRow="1" bandRow="1">
                <a:tableStyleId>{68D230F3-CF80-4859-8CE7-A43EE81993B5}</a:tableStyleId>
              </a:tblPr>
              <a:tblGrid>
                <a:gridCol w="3962400">
                  <a:extLst>
                    <a:ext uri="{9D8B030D-6E8A-4147-A177-3AD203B41FA5}">
                      <a16:colId xmlns:a16="http://schemas.microsoft.com/office/drawing/2014/main" val="20000"/>
                    </a:ext>
                  </a:extLst>
                </a:gridCol>
              </a:tblGrid>
              <a:tr h="670560">
                <a:tc>
                  <a:txBody>
                    <a:bodyPr/>
                    <a:lstStyle/>
                    <a:p>
                      <a:r>
                        <a:rPr lang="en-US" sz="2400" dirty="0"/>
                        <a:t>Combining Form</a:t>
                      </a:r>
                    </a:p>
                  </a:txBody>
                  <a:tcPr/>
                </a:tc>
                <a:extLst>
                  <a:ext uri="{0D108BD9-81ED-4DB2-BD59-A6C34878D82A}">
                    <a16:rowId xmlns:a16="http://schemas.microsoft.com/office/drawing/2014/main" val="10000"/>
                  </a:ext>
                </a:extLst>
              </a:tr>
              <a:tr h="670560">
                <a:tc>
                  <a:txBody>
                    <a:bodyPr/>
                    <a:lstStyle/>
                    <a:p>
                      <a:r>
                        <a:rPr lang="en-US" altLang="en-US" sz="2400" b="1" dirty="0"/>
                        <a:t>cervic/o</a:t>
                      </a:r>
                      <a:endParaRPr lang="en-US" sz="2400" dirty="0"/>
                    </a:p>
                  </a:txBody>
                  <a:tcPr/>
                </a:tc>
                <a:extLst>
                  <a:ext uri="{0D108BD9-81ED-4DB2-BD59-A6C34878D82A}">
                    <a16:rowId xmlns:a16="http://schemas.microsoft.com/office/drawing/2014/main" val="10001"/>
                  </a:ext>
                </a:extLst>
              </a:tr>
              <a:tr h="670560">
                <a:tc>
                  <a:txBody>
                    <a:bodyPr/>
                    <a:lstStyle/>
                    <a:p>
                      <a:r>
                        <a:rPr lang="en-US" altLang="en-US" sz="2400" b="1" dirty="0"/>
                        <a:t>chondr/o</a:t>
                      </a:r>
                      <a:endParaRPr lang="en-US" sz="2400" dirty="0"/>
                    </a:p>
                  </a:txBody>
                  <a:tcPr/>
                </a:tc>
                <a:extLst>
                  <a:ext uri="{0D108BD9-81ED-4DB2-BD59-A6C34878D82A}">
                    <a16:rowId xmlns:a16="http://schemas.microsoft.com/office/drawing/2014/main" val="10002"/>
                  </a:ext>
                </a:extLst>
              </a:tr>
              <a:tr h="670560">
                <a:tc>
                  <a:txBody>
                    <a:bodyPr/>
                    <a:lstStyle/>
                    <a:p>
                      <a:r>
                        <a:rPr lang="en-US" altLang="en-US" sz="2400" b="1" dirty="0"/>
                        <a:t>chrom/o</a:t>
                      </a:r>
                      <a:endParaRPr lang="en-US" sz="2400" dirty="0"/>
                    </a:p>
                  </a:txBody>
                  <a:tcPr/>
                </a:tc>
                <a:extLst>
                  <a:ext uri="{0D108BD9-81ED-4DB2-BD59-A6C34878D82A}">
                    <a16:rowId xmlns:a16="http://schemas.microsoft.com/office/drawing/2014/main" val="10003"/>
                  </a:ext>
                </a:extLst>
              </a:tr>
              <a:tr h="670560">
                <a:tc>
                  <a:txBody>
                    <a:bodyPr/>
                    <a:lstStyle/>
                    <a:p>
                      <a:r>
                        <a:rPr lang="en-US" altLang="en-US" sz="2400" b="1" dirty="0"/>
                        <a:t>coccyg/o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17350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4 of 20)</a:t>
            </a:r>
          </a:p>
        </p:txBody>
      </p:sp>
      <p:graphicFrame>
        <p:nvGraphicFramePr>
          <p:cNvPr id="7" name="Content Placeholder 6" descr="The combining forms from the previous slide with their corresponding meanings are provided.    The combining forms and meanings listed are:  cervic/o meaning neck of the body or of the uterus; chondr/o meaning cartilage; chrom/o meaning color; and coccyg/o meaning coccyx (tailbone)."/>
          <p:cNvGraphicFramePr>
            <a:graphicFrameLocks noGrp="1"/>
          </p:cNvGraphicFramePr>
          <p:nvPr>
            <p:ph idx="1"/>
            <p:extLst>
              <p:ext uri="{D42A27DB-BD31-4B8C-83A1-F6EECF244321}">
                <p14:modId xmlns:p14="http://schemas.microsoft.com/office/powerpoint/2010/main" val="1920473832"/>
              </p:ext>
            </p:extLst>
          </p:nvPr>
        </p:nvGraphicFramePr>
        <p:xfrm>
          <a:off x="876300" y="2057400"/>
          <a:ext cx="7391400" cy="2286000"/>
        </p:xfrm>
        <a:graphic>
          <a:graphicData uri="http://schemas.openxmlformats.org/drawingml/2006/table">
            <a:tbl>
              <a:tblPr firstRow="1" bandRow="1">
                <a:tableStyleId>{68D230F3-CF80-4859-8CE7-A43EE81993B5}</a:tableStyleId>
              </a:tblPr>
              <a:tblGrid>
                <a:gridCol w="32766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cervic/o</a:t>
                      </a:r>
                      <a:endParaRPr lang="en-US" sz="2400" dirty="0"/>
                    </a:p>
                  </a:txBody>
                  <a:tcPr/>
                </a:tc>
                <a:tc>
                  <a:txBody>
                    <a:bodyPr/>
                    <a:lstStyle/>
                    <a:p>
                      <a:pPr eaLnBrk="1" hangingPunct="1">
                        <a:spcBef>
                          <a:spcPct val="0"/>
                        </a:spcBef>
                        <a:buFont typeface="Wingdings 2" panose="05020102010507070707" pitchFamily="18" charset="2"/>
                        <a:buNone/>
                      </a:pPr>
                      <a:r>
                        <a:rPr lang="en-US" altLang="en-US" sz="2400" dirty="0"/>
                        <a:t>neck (of the body or uterus)</a:t>
                      </a:r>
                    </a:p>
                  </a:txBody>
                  <a:tcPr/>
                </a:tc>
                <a:extLst>
                  <a:ext uri="{0D108BD9-81ED-4DB2-BD59-A6C34878D82A}">
                    <a16:rowId xmlns:a16="http://schemas.microsoft.com/office/drawing/2014/main" val="10001"/>
                  </a:ext>
                </a:extLst>
              </a:tr>
              <a:tr h="370840">
                <a:tc>
                  <a:txBody>
                    <a:bodyPr/>
                    <a:lstStyle/>
                    <a:p>
                      <a:r>
                        <a:rPr lang="en-US" altLang="en-US" sz="2400" b="1" dirty="0"/>
                        <a:t>chondr/o</a:t>
                      </a:r>
                      <a:endParaRPr lang="en-US" sz="2400" dirty="0"/>
                    </a:p>
                  </a:txBody>
                  <a:tcPr/>
                </a:tc>
                <a:tc>
                  <a:txBody>
                    <a:bodyPr/>
                    <a:lstStyle/>
                    <a:p>
                      <a:r>
                        <a:rPr lang="en-US" altLang="en-US" sz="2400" dirty="0"/>
                        <a:t>cartilage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chrom/o</a:t>
                      </a:r>
                      <a:endParaRPr lang="en-US" sz="2400" dirty="0"/>
                    </a:p>
                  </a:txBody>
                  <a:tcPr/>
                </a:tc>
                <a:tc>
                  <a:txBody>
                    <a:bodyPr/>
                    <a:lstStyle/>
                    <a:p>
                      <a:r>
                        <a:rPr lang="en-US" altLang="en-US" sz="2400" dirty="0"/>
                        <a:t>color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coccyg/o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coccyx (tailbone)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722695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5 of 20)</a:t>
            </a:r>
          </a:p>
        </p:txBody>
      </p:sp>
      <p:graphicFrame>
        <p:nvGraphicFramePr>
          <p:cNvPr id="7" name="Content Placeholder 6" descr="Group 3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433651718"/>
              </p:ext>
            </p:extLst>
          </p:nvPr>
        </p:nvGraphicFramePr>
        <p:xfrm>
          <a:off x="2590800" y="2057400"/>
          <a:ext cx="3657600" cy="3276600"/>
        </p:xfrm>
        <a:graphic>
          <a:graphicData uri="http://schemas.openxmlformats.org/drawingml/2006/table">
            <a:tbl>
              <a:tblPr firstRow="1" bandRow="1">
                <a:tableStyleId>{68D230F3-CF80-4859-8CE7-A43EE81993B5}</a:tableStyleId>
              </a:tblPr>
              <a:tblGrid>
                <a:gridCol w="3657600">
                  <a:extLst>
                    <a:ext uri="{9D8B030D-6E8A-4147-A177-3AD203B41FA5}">
                      <a16:colId xmlns:a16="http://schemas.microsoft.com/office/drawing/2014/main" val="20000"/>
                    </a:ext>
                  </a:extLst>
                </a:gridCol>
              </a:tblGrid>
              <a:tr h="655320">
                <a:tc>
                  <a:txBody>
                    <a:bodyPr/>
                    <a:lstStyle/>
                    <a:p>
                      <a:r>
                        <a:rPr lang="en-US" sz="2400" dirty="0"/>
                        <a:t>Combining Form</a:t>
                      </a:r>
                    </a:p>
                  </a:txBody>
                  <a:tcPr/>
                </a:tc>
                <a:extLst>
                  <a:ext uri="{0D108BD9-81ED-4DB2-BD59-A6C34878D82A}">
                    <a16:rowId xmlns:a16="http://schemas.microsoft.com/office/drawing/2014/main" val="10000"/>
                  </a:ext>
                </a:extLst>
              </a:tr>
              <a:tr h="655320">
                <a:tc>
                  <a:txBody>
                    <a:bodyPr/>
                    <a:lstStyle/>
                    <a:p>
                      <a:r>
                        <a:rPr lang="en-US" altLang="en-US" sz="2400" b="1" dirty="0"/>
                        <a:t>crani/o</a:t>
                      </a:r>
                      <a:endParaRPr lang="en-US" sz="2400" dirty="0"/>
                    </a:p>
                  </a:txBody>
                  <a:tcPr/>
                </a:tc>
                <a:extLst>
                  <a:ext uri="{0D108BD9-81ED-4DB2-BD59-A6C34878D82A}">
                    <a16:rowId xmlns:a16="http://schemas.microsoft.com/office/drawing/2014/main" val="10001"/>
                  </a:ext>
                </a:extLst>
              </a:tr>
              <a:tr h="655320">
                <a:tc>
                  <a:txBody>
                    <a:bodyPr/>
                    <a:lstStyle/>
                    <a:p>
                      <a:r>
                        <a:rPr lang="en-US" altLang="en-US" sz="2400" b="1" dirty="0"/>
                        <a:t>cyt/o</a:t>
                      </a:r>
                      <a:endParaRPr lang="en-US" sz="2400" dirty="0"/>
                    </a:p>
                  </a:txBody>
                  <a:tcPr/>
                </a:tc>
                <a:extLst>
                  <a:ext uri="{0D108BD9-81ED-4DB2-BD59-A6C34878D82A}">
                    <a16:rowId xmlns:a16="http://schemas.microsoft.com/office/drawing/2014/main" val="10002"/>
                  </a:ext>
                </a:extLst>
              </a:tr>
              <a:tr h="655320">
                <a:tc>
                  <a:txBody>
                    <a:bodyPr/>
                    <a:lstStyle/>
                    <a:p>
                      <a:r>
                        <a:rPr lang="en-US" altLang="en-US" sz="2400" b="1" dirty="0"/>
                        <a:t>dist/o</a:t>
                      </a:r>
                      <a:endParaRPr lang="en-US" sz="2400" dirty="0"/>
                    </a:p>
                  </a:txBody>
                  <a:tcPr/>
                </a:tc>
                <a:extLst>
                  <a:ext uri="{0D108BD9-81ED-4DB2-BD59-A6C34878D82A}">
                    <a16:rowId xmlns:a16="http://schemas.microsoft.com/office/drawing/2014/main" val="10003"/>
                  </a:ext>
                </a:extLst>
              </a:tr>
              <a:tr h="655320">
                <a:tc>
                  <a:txBody>
                    <a:bodyPr/>
                    <a:lstStyle/>
                    <a:p>
                      <a:r>
                        <a:rPr lang="en-US" altLang="en-US" sz="2400" b="1" dirty="0"/>
                        <a:t>dors/o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28525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6 of 20)</a:t>
            </a:r>
          </a:p>
        </p:txBody>
      </p:sp>
      <p:graphicFrame>
        <p:nvGraphicFramePr>
          <p:cNvPr id="7" name="Content Placeholder 6" descr="The combining forms from the previous slide with their corresponding meanings are provided.    The combining forms and meanings listed are:  crani/o meaning skull; cyt/o meaning cell; dist/o meaning far or distant; and dors/o meaning back portion of the body."/>
          <p:cNvGraphicFramePr>
            <a:graphicFrameLocks noGrp="1"/>
          </p:cNvGraphicFramePr>
          <p:nvPr>
            <p:ph idx="1"/>
            <p:extLst>
              <p:ext uri="{D42A27DB-BD31-4B8C-83A1-F6EECF244321}">
                <p14:modId xmlns:p14="http://schemas.microsoft.com/office/powerpoint/2010/main" val="2852491605"/>
              </p:ext>
            </p:extLst>
          </p:nvPr>
        </p:nvGraphicFramePr>
        <p:xfrm>
          <a:off x="1104900" y="2514600"/>
          <a:ext cx="6934200" cy="2286000"/>
        </p:xfrm>
        <a:graphic>
          <a:graphicData uri="http://schemas.openxmlformats.org/drawingml/2006/table">
            <a:tbl>
              <a:tblPr firstRow="1" bandRow="1">
                <a:tableStyleId>{68D230F3-CF80-4859-8CE7-A43EE81993B5}</a:tableStyleId>
              </a:tblPr>
              <a:tblGrid>
                <a:gridCol w="2971800">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crani/o</a:t>
                      </a:r>
                      <a:endParaRPr lang="en-US" sz="2400" dirty="0"/>
                    </a:p>
                  </a:txBody>
                  <a:tcPr/>
                </a:tc>
                <a:tc>
                  <a:txBody>
                    <a:bodyPr/>
                    <a:lstStyle/>
                    <a:p>
                      <a:r>
                        <a:rPr lang="en-US" altLang="en-US" sz="2400" dirty="0"/>
                        <a:t>skull</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cyt/o</a:t>
                      </a:r>
                      <a:endParaRPr lang="en-US" sz="2400" dirty="0"/>
                    </a:p>
                  </a:txBody>
                  <a:tcPr/>
                </a:tc>
                <a:tc>
                  <a:txBody>
                    <a:bodyPr/>
                    <a:lstStyle/>
                    <a:p>
                      <a:r>
                        <a:rPr lang="en-US" altLang="en-US" sz="2400" dirty="0"/>
                        <a:t>cell</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dist/o</a:t>
                      </a:r>
                      <a:endParaRPr lang="en-US" sz="2400" dirty="0"/>
                    </a:p>
                  </a:txBody>
                  <a:tcPr/>
                </a:tc>
                <a:tc>
                  <a:txBody>
                    <a:bodyPr/>
                    <a:lstStyle/>
                    <a:p>
                      <a:r>
                        <a:rPr lang="en-US" altLang="en-US" sz="2400" dirty="0"/>
                        <a:t>far, distant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dors/o</a:t>
                      </a:r>
                      <a:endParaRPr lang="en-US" sz="2400" dirty="0"/>
                    </a:p>
                  </a:txBody>
                  <a:tcPr/>
                </a:tc>
                <a:tc>
                  <a:txBody>
                    <a:bodyPr/>
                    <a:lstStyle/>
                    <a:p>
                      <a:r>
                        <a:rPr lang="en-US" altLang="en-US" sz="2400" dirty="0"/>
                        <a:t>back portion of the body</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28518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7 of 20)</a:t>
            </a:r>
          </a:p>
        </p:txBody>
      </p:sp>
      <p:graphicFrame>
        <p:nvGraphicFramePr>
          <p:cNvPr id="7" name="Content Placeholder 6" descr="Group 4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362880378"/>
              </p:ext>
            </p:extLst>
          </p:nvPr>
        </p:nvGraphicFramePr>
        <p:xfrm>
          <a:off x="2667000" y="1905000"/>
          <a:ext cx="4114800" cy="3733800"/>
        </p:xfrm>
        <a:graphic>
          <a:graphicData uri="http://schemas.openxmlformats.org/drawingml/2006/table">
            <a:tbl>
              <a:tblPr firstRow="1" bandRow="1">
                <a:tableStyleId>{68D230F3-CF80-4859-8CE7-A43EE81993B5}</a:tableStyleId>
              </a:tblPr>
              <a:tblGrid>
                <a:gridCol w="4114800">
                  <a:extLst>
                    <a:ext uri="{9D8B030D-6E8A-4147-A177-3AD203B41FA5}">
                      <a16:colId xmlns:a16="http://schemas.microsoft.com/office/drawing/2014/main" val="20000"/>
                    </a:ext>
                  </a:extLst>
                </a:gridCol>
              </a:tblGrid>
              <a:tr h="746760">
                <a:tc>
                  <a:txBody>
                    <a:bodyPr/>
                    <a:lstStyle/>
                    <a:p>
                      <a:r>
                        <a:rPr lang="en-US" sz="2400" dirty="0"/>
                        <a:t>Combining Form</a:t>
                      </a:r>
                    </a:p>
                  </a:txBody>
                  <a:tcPr/>
                </a:tc>
                <a:extLst>
                  <a:ext uri="{0D108BD9-81ED-4DB2-BD59-A6C34878D82A}">
                    <a16:rowId xmlns:a16="http://schemas.microsoft.com/office/drawing/2014/main" val="10000"/>
                  </a:ext>
                </a:extLst>
              </a:tr>
              <a:tr h="746760">
                <a:tc>
                  <a:txBody>
                    <a:bodyPr/>
                    <a:lstStyle/>
                    <a:p>
                      <a:r>
                        <a:rPr lang="en-US" altLang="en-US" sz="2400" b="1" dirty="0"/>
                        <a:t>hist/o, histi/o</a:t>
                      </a:r>
                      <a:endParaRPr lang="en-US" sz="2400" dirty="0"/>
                    </a:p>
                  </a:txBody>
                  <a:tcPr/>
                </a:tc>
                <a:extLst>
                  <a:ext uri="{0D108BD9-81ED-4DB2-BD59-A6C34878D82A}">
                    <a16:rowId xmlns:a16="http://schemas.microsoft.com/office/drawing/2014/main" val="10001"/>
                  </a:ext>
                </a:extLst>
              </a:tr>
              <a:tr h="746760">
                <a:tc>
                  <a:txBody>
                    <a:bodyPr/>
                    <a:lstStyle/>
                    <a:p>
                      <a:r>
                        <a:rPr lang="en-US" altLang="en-US" sz="2400" b="1" dirty="0"/>
                        <a:t>ili/o</a:t>
                      </a:r>
                      <a:endParaRPr lang="en-US" sz="2400" dirty="0"/>
                    </a:p>
                  </a:txBody>
                  <a:tcPr/>
                </a:tc>
                <a:extLst>
                  <a:ext uri="{0D108BD9-81ED-4DB2-BD59-A6C34878D82A}">
                    <a16:rowId xmlns:a16="http://schemas.microsoft.com/office/drawing/2014/main" val="10002"/>
                  </a:ext>
                </a:extLst>
              </a:tr>
              <a:tr h="746760">
                <a:tc>
                  <a:txBody>
                    <a:bodyPr/>
                    <a:lstStyle/>
                    <a:p>
                      <a:r>
                        <a:rPr lang="en-US" altLang="en-US" sz="2400" b="1" dirty="0"/>
                        <a:t>inguin/o</a:t>
                      </a:r>
                      <a:endParaRPr lang="en-US" sz="2400" dirty="0"/>
                    </a:p>
                  </a:txBody>
                  <a:tcPr/>
                </a:tc>
                <a:extLst>
                  <a:ext uri="{0D108BD9-81ED-4DB2-BD59-A6C34878D82A}">
                    <a16:rowId xmlns:a16="http://schemas.microsoft.com/office/drawing/2014/main" val="10003"/>
                  </a:ext>
                </a:extLst>
              </a:tr>
              <a:tr h="746760">
                <a:tc>
                  <a:txBody>
                    <a:bodyPr/>
                    <a:lstStyle/>
                    <a:p>
                      <a:r>
                        <a:rPr lang="en-US" altLang="en-US" sz="2400" b="1" dirty="0"/>
                        <a:t>kary/o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23918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8 of 20)</a:t>
            </a:r>
          </a:p>
        </p:txBody>
      </p:sp>
      <p:graphicFrame>
        <p:nvGraphicFramePr>
          <p:cNvPr id="7" name="Content Placeholder 6" descr="The combining forms from the previous slide with their corresponding meanings are provided.    The combining forms and meanings listed are:  hist/o or histi/o meaning tissue; ili/o meaning ilium (of the pelvic bone); inguin/o meaning groin; and kary/o meaning nucleus."/>
          <p:cNvGraphicFramePr>
            <a:graphicFrameLocks noGrp="1"/>
          </p:cNvGraphicFramePr>
          <p:nvPr>
            <p:ph idx="1"/>
            <p:extLst>
              <p:ext uri="{D42A27DB-BD31-4B8C-83A1-F6EECF244321}">
                <p14:modId xmlns:p14="http://schemas.microsoft.com/office/powerpoint/2010/main" val="4079747700"/>
              </p:ext>
            </p:extLst>
          </p:nvPr>
        </p:nvGraphicFramePr>
        <p:xfrm>
          <a:off x="1219200" y="2133600"/>
          <a:ext cx="6705600" cy="2286000"/>
        </p:xfrm>
        <a:graphic>
          <a:graphicData uri="http://schemas.openxmlformats.org/drawingml/2006/table">
            <a:tbl>
              <a:tblPr firstRow="1" bandRow="1">
                <a:tableStyleId>{68D230F3-CF80-4859-8CE7-A43EE81993B5}</a:tableStyleId>
              </a:tblPr>
              <a:tblGrid>
                <a:gridCol w="32004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hist/o, histi/o</a:t>
                      </a:r>
                      <a:endParaRPr lang="en-US" sz="2400" dirty="0"/>
                    </a:p>
                  </a:txBody>
                  <a:tcPr/>
                </a:tc>
                <a:tc>
                  <a:txBody>
                    <a:bodyPr/>
                    <a:lstStyle/>
                    <a:p>
                      <a:r>
                        <a:rPr lang="en-US" altLang="en-US" sz="2400" dirty="0"/>
                        <a:t>tissue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ili/o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ilium (of the hip bone)</a:t>
                      </a:r>
                    </a:p>
                  </a:txBody>
                  <a:tcPr/>
                </a:tc>
                <a:extLst>
                  <a:ext uri="{0D108BD9-81ED-4DB2-BD59-A6C34878D82A}">
                    <a16:rowId xmlns:a16="http://schemas.microsoft.com/office/drawing/2014/main" val="10002"/>
                  </a:ext>
                </a:extLst>
              </a:tr>
              <a:tr h="370840">
                <a:tc>
                  <a:txBody>
                    <a:bodyPr/>
                    <a:lstStyle/>
                    <a:p>
                      <a:r>
                        <a:rPr lang="en-US" altLang="en-US" sz="2400" b="1" dirty="0"/>
                        <a:t>inguin/o</a:t>
                      </a:r>
                      <a:endParaRPr lang="en-US" sz="2400" dirty="0"/>
                    </a:p>
                  </a:txBody>
                  <a:tcPr/>
                </a:tc>
                <a:tc>
                  <a:txBody>
                    <a:bodyPr/>
                    <a:lstStyle/>
                    <a:p>
                      <a:r>
                        <a:rPr lang="en-US" altLang="en-US" sz="2400" dirty="0"/>
                        <a:t>groin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kary/o</a:t>
                      </a:r>
                      <a:endParaRPr lang="en-US" sz="2400" dirty="0"/>
                    </a:p>
                  </a:txBody>
                  <a:tcPr/>
                </a:tc>
                <a:tc>
                  <a:txBody>
                    <a:bodyPr/>
                    <a:lstStyle/>
                    <a:p>
                      <a:r>
                        <a:rPr lang="en-US" altLang="en-US" sz="2400" dirty="0"/>
                        <a:t>nucleus</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78008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9 of 20)</a:t>
            </a:r>
          </a:p>
        </p:txBody>
      </p:sp>
      <p:graphicFrame>
        <p:nvGraphicFramePr>
          <p:cNvPr id="7" name="Content Placeholder 6" descr="Group 5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996260279"/>
              </p:ext>
            </p:extLst>
          </p:nvPr>
        </p:nvGraphicFramePr>
        <p:xfrm>
          <a:off x="2667000" y="1981200"/>
          <a:ext cx="3810000" cy="3429000"/>
        </p:xfrm>
        <a:graphic>
          <a:graphicData uri="http://schemas.openxmlformats.org/drawingml/2006/table">
            <a:tbl>
              <a:tblPr firstRow="1" bandRow="1">
                <a:tableStyleId>{68D230F3-CF80-4859-8CE7-A43EE81993B5}</a:tableStyleId>
              </a:tblPr>
              <a:tblGrid>
                <a:gridCol w="3810000">
                  <a:extLst>
                    <a:ext uri="{9D8B030D-6E8A-4147-A177-3AD203B41FA5}">
                      <a16:colId xmlns:a16="http://schemas.microsoft.com/office/drawing/2014/main" val="20000"/>
                    </a:ext>
                  </a:extLst>
                </a:gridCol>
              </a:tblGrid>
              <a:tr h="685800">
                <a:tc>
                  <a:txBody>
                    <a:bodyPr/>
                    <a:lstStyle/>
                    <a:p>
                      <a:r>
                        <a:rPr lang="en-US" sz="2400" dirty="0"/>
                        <a:t>Combining Form</a:t>
                      </a:r>
                    </a:p>
                  </a:txBody>
                  <a:tcPr/>
                </a:tc>
                <a:extLst>
                  <a:ext uri="{0D108BD9-81ED-4DB2-BD59-A6C34878D82A}">
                    <a16:rowId xmlns:a16="http://schemas.microsoft.com/office/drawing/2014/main" val="10000"/>
                  </a:ext>
                </a:extLst>
              </a:tr>
              <a:tr h="685800">
                <a:tc>
                  <a:txBody>
                    <a:bodyPr/>
                    <a:lstStyle/>
                    <a:p>
                      <a:r>
                        <a:rPr lang="en-US" altLang="en-US" sz="2400" b="1" dirty="0"/>
                        <a:t>later/o</a:t>
                      </a:r>
                      <a:endParaRPr lang="en-US" sz="2400" dirty="0"/>
                    </a:p>
                  </a:txBody>
                  <a:tcPr/>
                </a:tc>
                <a:extLst>
                  <a:ext uri="{0D108BD9-81ED-4DB2-BD59-A6C34878D82A}">
                    <a16:rowId xmlns:a16="http://schemas.microsoft.com/office/drawing/2014/main" val="10001"/>
                  </a:ext>
                </a:extLst>
              </a:tr>
              <a:tr h="685800">
                <a:tc>
                  <a:txBody>
                    <a:bodyPr/>
                    <a:lstStyle/>
                    <a:p>
                      <a:r>
                        <a:rPr lang="en-US" altLang="en-US" sz="2400" b="1" dirty="0"/>
                        <a:t>lumb/o</a:t>
                      </a:r>
                      <a:endParaRPr lang="en-US" sz="2400" dirty="0"/>
                    </a:p>
                  </a:txBody>
                  <a:tcPr/>
                </a:tc>
                <a:extLst>
                  <a:ext uri="{0D108BD9-81ED-4DB2-BD59-A6C34878D82A}">
                    <a16:rowId xmlns:a16="http://schemas.microsoft.com/office/drawing/2014/main" val="10002"/>
                  </a:ext>
                </a:extLst>
              </a:tr>
              <a:tr h="685800">
                <a:tc>
                  <a:txBody>
                    <a:bodyPr/>
                    <a:lstStyle/>
                    <a:p>
                      <a:r>
                        <a:rPr lang="en-US" altLang="en-US" sz="2400" b="1" dirty="0"/>
                        <a:t>medi/o</a:t>
                      </a:r>
                      <a:endParaRPr lang="en-US" sz="2400" dirty="0"/>
                    </a:p>
                  </a:txBody>
                  <a:tcPr/>
                </a:tc>
                <a:extLst>
                  <a:ext uri="{0D108BD9-81ED-4DB2-BD59-A6C34878D82A}">
                    <a16:rowId xmlns:a16="http://schemas.microsoft.com/office/drawing/2014/main" val="10003"/>
                  </a:ext>
                </a:extLst>
              </a:tr>
              <a:tr h="685800">
                <a:tc>
                  <a:txBody>
                    <a:bodyPr/>
                    <a:lstStyle/>
                    <a:p>
                      <a:r>
                        <a:rPr lang="en-US" altLang="en-US" sz="2400" b="1" dirty="0"/>
                        <a:t>nucle/o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105132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10 of 20)</a:t>
            </a:r>
          </a:p>
        </p:txBody>
      </p:sp>
      <p:graphicFrame>
        <p:nvGraphicFramePr>
          <p:cNvPr id="7" name="Content Placeholder 6" descr="The combining forms from the previous slide with their corresponding meanings are provided.    The combining forms and meanings listed are: later/o meaning side, lumb/o meaning lower back, medi/o meaning middle, and nucle/o meaning nucleus."/>
          <p:cNvGraphicFramePr>
            <a:graphicFrameLocks noGrp="1"/>
          </p:cNvGraphicFramePr>
          <p:nvPr>
            <p:ph idx="1"/>
            <p:extLst>
              <p:ext uri="{D42A27DB-BD31-4B8C-83A1-F6EECF244321}">
                <p14:modId xmlns:p14="http://schemas.microsoft.com/office/powerpoint/2010/main" val="534063882"/>
              </p:ext>
            </p:extLst>
          </p:nvPr>
        </p:nvGraphicFramePr>
        <p:xfrm>
          <a:off x="1676400" y="2286000"/>
          <a:ext cx="6172200" cy="2286000"/>
        </p:xfrm>
        <a:graphic>
          <a:graphicData uri="http://schemas.openxmlformats.org/drawingml/2006/table">
            <a:tbl>
              <a:tblPr firstRow="1" bandRow="1">
                <a:tableStyleId>{68D230F3-CF80-4859-8CE7-A43EE81993B5}</a:tableStyleId>
              </a:tblPr>
              <a:tblGrid>
                <a:gridCol w="28956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later/o</a:t>
                      </a:r>
                      <a:endParaRPr lang="en-US" sz="2400" dirty="0"/>
                    </a:p>
                  </a:txBody>
                  <a:tcPr/>
                </a:tc>
                <a:tc>
                  <a:txBody>
                    <a:bodyPr/>
                    <a:lstStyle/>
                    <a:p>
                      <a:r>
                        <a:rPr lang="en-US" altLang="en-US" sz="2400" dirty="0"/>
                        <a:t>side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lumb/o</a:t>
                      </a:r>
                      <a:endParaRPr lang="en-US" sz="2400" dirty="0"/>
                    </a:p>
                  </a:txBody>
                  <a:tcPr/>
                </a:tc>
                <a:tc>
                  <a:txBody>
                    <a:bodyPr/>
                    <a:lstStyle/>
                    <a:p>
                      <a:r>
                        <a:rPr lang="en-US" altLang="en-US" sz="2400" dirty="0"/>
                        <a:t>lower back</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medi/o</a:t>
                      </a:r>
                      <a:endParaRPr lang="en-US" sz="2400" dirty="0"/>
                    </a:p>
                  </a:txBody>
                  <a:tcPr/>
                </a:tc>
                <a:tc>
                  <a:txBody>
                    <a:bodyPr/>
                    <a:lstStyle/>
                    <a:p>
                      <a:r>
                        <a:rPr lang="en-US" altLang="en-US" sz="2400" dirty="0"/>
                        <a:t>middle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nucle/o</a:t>
                      </a:r>
                      <a:endParaRPr lang="en-US" sz="2400" dirty="0"/>
                    </a:p>
                  </a:txBody>
                  <a:tcPr/>
                </a:tc>
                <a:tc>
                  <a:txBody>
                    <a:bodyPr/>
                    <a:lstStyle/>
                    <a:p>
                      <a:r>
                        <a:rPr lang="en-US" altLang="en-US" sz="2400" dirty="0"/>
                        <a:t>nucleus</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011034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11 of 20)</a:t>
            </a:r>
          </a:p>
        </p:txBody>
      </p:sp>
      <p:graphicFrame>
        <p:nvGraphicFramePr>
          <p:cNvPr id="7" name="Content Placeholder 6" descr="Group 6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679134524"/>
              </p:ext>
            </p:extLst>
          </p:nvPr>
        </p:nvGraphicFramePr>
        <p:xfrm>
          <a:off x="2933700" y="1981200"/>
          <a:ext cx="3276600" cy="3505200"/>
        </p:xfrm>
        <a:graphic>
          <a:graphicData uri="http://schemas.openxmlformats.org/drawingml/2006/table">
            <a:tbl>
              <a:tblPr firstRow="1" bandRow="1">
                <a:tableStyleId>{68D230F3-CF80-4859-8CE7-A43EE81993B5}</a:tableStyleId>
              </a:tblPr>
              <a:tblGrid>
                <a:gridCol w="3276600">
                  <a:extLst>
                    <a:ext uri="{9D8B030D-6E8A-4147-A177-3AD203B41FA5}">
                      <a16:colId xmlns:a16="http://schemas.microsoft.com/office/drawing/2014/main" val="20000"/>
                    </a:ext>
                  </a:extLst>
                </a:gridCol>
              </a:tblGrid>
              <a:tr h="584200">
                <a:tc>
                  <a:txBody>
                    <a:bodyPr/>
                    <a:lstStyle/>
                    <a:p>
                      <a:r>
                        <a:rPr lang="en-US" sz="2400" dirty="0"/>
                        <a:t>Combining Form</a:t>
                      </a:r>
                    </a:p>
                  </a:txBody>
                  <a:tcPr/>
                </a:tc>
                <a:extLst>
                  <a:ext uri="{0D108BD9-81ED-4DB2-BD59-A6C34878D82A}">
                    <a16:rowId xmlns:a16="http://schemas.microsoft.com/office/drawing/2014/main" val="10000"/>
                  </a:ext>
                </a:extLst>
              </a:tr>
              <a:tr h="584200">
                <a:tc>
                  <a:txBody>
                    <a:bodyPr/>
                    <a:lstStyle/>
                    <a:p>
                      <a:r>
                        <a:rPr lang="en-US" altLang="en-US" sz="2400" b="1" dirty="0"/>
                        <a:t>pelv/i</a:t>
                      </a:r>
                      <a:endParaRPr lang="en-US" sz="2400" dirty="0"/>
                    </a:p>
                  </a:txBody>
                  <a:tcPr/>
                </a:tc>
                <a:extLst>
                  <a:ext uri="{0D108BD9-81ED-4DB2-BD59-A6C34878D82A}">
                    <a16:rowId xmlns:a16="http://schemas.microsoft.com/office/drawing/2014/main" val="10001"/>
                  </a:ext>
                </a:extLst>
              </a:tr>
              <a:tr h="584200">
                <a:tc>
                  <a:txBody>
                    <a:bodyPr/>
                    <a:lstStyle/>
                    <a:p>
                      <a:r>
                        <a:rPr lang="en-US" sz="2400" b="1" dirty="0" err="1"/>
                        <a:t>pharyng</a:t>
                      </a:r>
                      <a:r>
                        <a:rPr lang="en-US" sz="2400" b="1" dirty="0"/>
                        <a:t>/o</a:t>
                      </a:r>
                    </a:p>
                  </a:txBody>
                  <a:tcPr/>
                </a:tc>
                <a:extLst>
                  <a:ext uri="{0D108BD9-81ED-4DB2-BD59-A6C34878D82A}">
                    <a16:rowId xmlns:a16="http://schemas.microsoft.com/office/drawing/2014/main" val="565490245"/>
                  </a:ext>
                </a:extLst>
              </a:tr>
              <a:tr h="584200">
                <a:tc>
                  <a:txBody>
                    <a:bodyPr/>
                    <a:lstStyle/>
                    <a:p>
                      <a:r>
                        <a:rPr lang="en-US" altLang="en-US" sz="2400" b="1" dirty="0"/>
                        <a:t>poster/o</a:t>
                      </a:r>
                      <a:endParaRPr lang="en-US" sz="2400" dirty="0"/>
                    </a:p>
                  </a:txBody>
                  <a:tcPr/>
                </a:tc>
                <a:extLst>
                  <a:ext uri="{0D108BD9-81ED-4DB2-BD59-A6C34878D82A}">
                    <a16:rowId xmlns:a16="http://schemas.microsoft.com/office/drawing/2014/main" val="10002"/>
                  </a:ext>
                </a:extLst>
              </a:tr>
              <a:tr h="584200">
                <a:tc>
                  <a:txBody>
                    <a:bodyPr/>
                    <a:lstStyle/>
                    <a:p>
                      <a:r>
                        <a:rPr lang="en-US" altLang="en-US" sz="2400" b="1" dirty="0"/>
                        <a:t>proxim/o</a:t>
                      </a:r>
                      <a:endParaRPr lang="en-US" sz="2400" dirty="0"/>
                    </a:p>
                  </a:txBody>
                  <a:tcPr/>
                </a:tc>
                <a:extLst>
                  <a:ext uri="{0D108BD9-81ED-4DB2-BD59-A6C34878D82A}">
                    <a16:rowId xmlns:a16="http://schemas.microsoft.com/office/drawing/2014/main" val="10003"/>
                  </a:ext>
                </a:extLst>
              </a:tr>
              <a:tr h="584200">
                <a:tc>
                  <a:txBody>
                    <a:bodyPr/>
                    <a:lstStyle/>
                    <a:p>
                      <a:r>
                        <a:rPr lang="en-US" altLang="en-US" sz="2400" b="1" dirty="0"/>
                        <a:t>sacr/o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8401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12 of 20)</a:t>
            </a:r>
          </a:p>
        </p:txBody>
      </p:sp>
      <p:graphicFrame>
        <p:nvGraphicFramePr>
          <p:cNvPr id="7" name="Content Placeholder 6" descr="The combining forms from the previous slide with their corresponding meanings are provided.    The combining forms and meanings listed are:  pelv/i meaning pelvis, pharyng/o meaning pharynx (throat), poster/o meaning back or behind, proxim/o meaning nearest, and sacr/o meaning sacrum."/>
          <p:cNvGraphicFramePr>
            <a:graphicFrameLocks noGrp="1"/>
          </p:cNvGraphicFramePr>
          <p:nvPr>
            <p:ph idx="1"/>
            <p:extLst>
              <p:ext uri="{D42A27DB-BD31-4B8C-83A1-F6EECF244321}">
                <p14:modId xmlns:p14="http://schemas.microsoft.com/office/powerpoint/2010/main" val="2045052915"/>
              </p:ext>
            </p:extLst>
          </p:nvPr>
        </p:nvGraphicFramePr>
        <p:xfrm>
          <a:off x="1219200" y="2133600"/>
          <a:ext cx="6705600" cy="2743200"/>
        </p:xfrm>
        <a:graphic>
          <a:graphicData uri="http://schemas.openxmlformats.org/drawingml/2006/table">
            <a:tbl>
              <a:tblPr firstRow="1" bandRow="1">
                <a:tableStyleId>{68D230F3-CF80-4859-8CE7-A43EE81993B5}</a:tableStyleId>
              </a:tblPr>
              <a:tblGrid>
                <a:gridCol w="3107473">
                  <a:extLst>
                    <a:ext uri="{9D8B030D-6E8A-4147-A177-3AD203B41FA5}">
                      <a16:colId xmlns:a16="http://schemas.microsoft.com/office/drawing/2014/main" val="20000"/>
                    </a:ext>
                  </a:extLst>
                </a:gridCol>
                <a:gridCol w="3598127">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pelv/i</a:t>
                      </a:r>
                      <a:endParaRPr lang="en-US" sz="2400" dirty="0"/>
                    </a:p>
                  </a:txBody>
                  <a:tcPr/>
                </a:tc>
                <a:tc>
                  <a:txBody>
                    <a:bodyPr/>
                    <a:lstStyle/>
                    <a:p>
                      <a:r>
                        <a:rPr lang="en-US" altLang="en-US" sz="2400" dirty="0"/>
                        <a:t>pelvis</a:t>
                      </a:r>
                      <a:endParaRPr lang="en-US" sz="2400" dirty="0"/>
                    </a:p>
                  </a:txBody>
                  <a:tcPr/>
                </a:tc>
                <a:extLst>
                  <a:ext uri="{0D108BD9-81ED-4DB2-BD59-A6C34878D82A}">
                    <a16:rowId xmlns:a16="http://schemas.microsoft.com/office/drawing/2014/main" val="10001"/>
                  </a:ext>
                </a:extLst>
              </a:tr>
              <a:tr h="370840">
                <a:tc>
                  <a:txBody>
                    <a:bodyPr/>
                    <a:lstStyle/>
                    <a:p>
                      <a:r>
                        <a:rPr lang="en-US" sz="2400" b="1" dirty="0" err="1"/>
                        <a:t>pharyng</a:t>
                      </a:r>
                      <a:r>
                        <a:rPr lang="en-US" sz="2400" b="1" dirty="0"/>
                        <a:t>/o</a:t>
                      </a:r>
                    </a:p>
                  </a:txBody>
                  <a:tcPr/>
                </a:tc>
                <a:tc>
                  <a:txBody>
                    <a:bodyPr/>
                    <a:lstStyle/>
                    <a:p>
                      <a:r>
                        <a:rPr lang="en-US" sz="2400" dirty="0"/>
                        <a:t>pharynx (throat)</a:t>
                      </a:r>
                    </a:p>
                  </a:txBody>
                  <a:tcPr/>
                </a:tc>
                <a:extLst>
                  <a:ext uri="{0D108BD9-81ED-4DB2-BD59-A6C34878D82A}">
                    <a16:rowId xmlns:a16="http://schemas.microsoft.com/office/drawing/2014/main" val="3831922369"/>
                  </a:ext>
                </a:extLst>
              </a:tr>
              <a:tr h="370840">
                <a:tc>
                  <a:txBody>
                    <a:bodyPr/>
                    <a:lstStyle/>
                    <a:p>
                      <a:r>
                        <a:rPr lang="en-US" altLang="en-US" sz="2400" b="1" dirty="0"/>
                        <a:t>poster/o</a:t>
                      </a:r>
                      <a:endParaRPr lang="en-US" sz="2400" dirty="0"/>
                    </a:p>
                  </a:txBody>
                  <a:tcPr/>
                </a:tc>
                <a:tc>
                  <a:txBody>
                    <a:bodyPr/>
                    <a:lstStyle/>
                    <a:p>
                      <a:r>
                        <a:rPr lang="en-US" altLang="en-US" sz="2400" dirty="0"/>
                        <a:t>back, behind</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proxim/o</a:t>
                      </a:r>
                      <a:endParaRPr lang="en-US" sz="2400" dirty="0"/>
                    </a:p>
                  </a:txBody>
                  <a:tcPr/>
                </a:tc>
                <a:tc>
                  <a:txBody>
                    <a:bodyPr/>
                    <a:lstStyle/>
                    <a:p>
                      <a:r>
                        <a:rPr lang="en-US" altLang="en-US" sz="2400" dirty="0"/>
                        <a:t>nearest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sacr/o</a:t>
                      </a:r>
                      <a:endParaRPr lang="en-US" sz="2400" dirty="0"/>
                    </a:p>
                  </a:txBody>
                  <a:tcPr/>
                </a:tc>
                <a:tc>
                  <a:txBody>
                    <a:bodyPr/>
                    <a:lstStyle/>
                    <a:p>
                      <a:r>
                        <a:rPr lang="en-US" altLang="en-US" sz="2400" dirty="0"/>
                        <a:t>sacrum</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12979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13 of 20)</a:t>
            </a:r>
          </a:p>
        </p:txBody>
      </p:sp>
      <p:graphicFrame>
        <p:nvGraphicFramePr>
          <p:cNvPr id="7" name="Content Placeholder 6" descr="Group 7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430222178"/>
              </p:ext>
            </p:extLst>
          </p:nvPr>
        </p:nvGraphicFramePr>
        <p:xfrm>
          <a:off x="2819400" y="1905000"/>
          <a:ext cx="3505200" cy="3657600"/>
        </p:xfrm>
        <a:graphic>
          <a:graphicData uri="http://schemas.openxmlformats.org/drawingml/2006/table">
            <a:tbl>
              <a:tblPr firstRow="1" bandRow="1">
                <a:tableStyleId>{68D230F3-CF80-4859-8CE7-A43EE81993B5}</a:tableStyleId>
              </a:tblPr>
              <a:tblGrid>
                <a:gridCol w="3505200">
                  <a:extLst>
                    <a:ext uri="{9D8B030D-6E8A-4147-A177-3AD203B41FA5}">
                      <a16:colId xmlns:a16="http://schemas.microsoft.com/office/drawing/2014/main" val="20000"/>
                    </a:ext>
                  </a:extLst>
                </a:gridCol>
              </a:tblGrid>
              <a:tr h="609600">
                <a:tc>
                  <a:txBody>
                    <a:bodyPr/>
                    <a:lstStyle/>
                    <a:p>
                      <a:r>
                        <a:rPr lang="en-US" sz="2400" dirty="0"/>
                        <a:t>Combining Form</a:t>
                      </a:r>
                    </a:p>
                  </a:txBody>
                  <a:tcPr/>
                </a:tc>
                <a:extLst>
                  <a:ext uri="{0D108BD9-81ED-4DB2-BD59-A6C34878D82A}">
                    <a16:rowId xmlns:a16="http://schemas.microsoft.com/office/drawing/2014/main" val="10000"/>
                  </a:ext>
                </a:extLst>
              </a:tr>
              <a:tr h="609600">
                <a:tc>
                  <a:txBody>
                    <a:bodyPr/>
                    <a:lstStyle/>
                    <a:p>
                      <a:r>
                        <a:rPr lang="en-US" altLang="en-US" sz="2400" b="1" dirty="0"/>
                        <a:t>sarc/o</a:t>
                      </a:r>
                      <a:endParaRPr lang="en-US" sz="2400" dirty="0"/>
                    </a:p>
                  </a:txBody>
                  <a:tcPr/>
                </a:tc>
                <a:extLst>
                  <a:ext uri="{0D108BD9-81ED-4DB2-BD59-A6C34878D82A}">
                    <a16:rowId xmlns:a16="http://schemas.microsoft.com/office/drawing/2014/main" val="10001"/>
                  </a:ext>
                </a:extLst>
              </a:tr>
              <a:tr h="609600">
                <a:tc>
                  <a:txBody>
                    <a:bodyPr/>
                    <a:lstStyle/>
                    <a:p>
                      <a:r>
                        <a:rPr lang="en-US" altLang="en-US" sz="2400" b="1" dirty="0"/>
                        <a:t>spin/o</a:t>
                      </a:r>
                      <a:endParaRPr lang="en-US" sz="2400" dirty="0"/>
                    </a:p>
                  </a:txBody>
                  <a:tcPr/>
                </a:tc>
                <a:extLst>
                  <a:ext uri="{0D108BD9-81ED-4DB2-BD59-A6C34878D82A}">
                    <a16:rowId xmlns:a16="http://schemas.microsoft.com/office/drawing/2014/main" val="10002"/>
                  </a:ext>
                </a:extLst>
              </a:tr>
              <a:tr h="609600">
                <a:tc>
                  <a:txBody>
                    <a:bodyPr/>
                    <a:lstStyle/>
                    <a:p>
                      <a:r>
                        <a:rPr lang="en-US" altLang="en-US" sz="2400" b="1" dirty="0"/>
                        <a:t>thel/o, theli/o</a:t>
                      </a:r>
                      <a:endParaRPr lang="en-US" sz="2400" dirty="0"/>
                    </a:p>
                  </a:txBody>
                  <a:tcPr/>
                </a:tc>
                <a:extLst>
                  <a:ext uri="{0D108BD9-81ED-4DB2-BD59-A6C34878D82A}">
                    <a16:rowId xmlns:a16="http://schemas.microsoft.com/office/drawing/2014/main" val="10003"/>
                  </a:ext>
                </a:extLst>
              </a:tr>
              <a:tr h="609600">
                <a:tc>
                  <a:txBody>
                    <a:bodyPr/>
                    <a:lstStyle/>
                    <a:p>
                      <a:r>
                        <a:rPr lang="en-US" altLang="en-US" sz="2400" b="1" dirty="0"/>
                        <a:t>thorac/o</a:t>
                      </a:r>
                      <a:endParaRPr lang="en-US" sz="2400" dirty="0"/>
                    </a:p>
                  </a:txBody>
                  <a:tcPr/>
                </a:tc>
                <a:extLst>
                  <a:ext uri="{0D108BD9-81ED-4DB2-BD59-A6C34878D82A}">
                    <a16:rowId xmlns:a16="http://schemas.microsoft.com/office/drawing/2014/main" val="10004"/>
                  </a:ext>
                </a:extLst>
              </a:tr>
              <a:tr h="609600">
                <a:tc>
                  <a:txBody>
                    <a:bodyPr/>
                    <a:lstStyle/>
                    <a:p>
                      <a:r>
                        <a:rPr lang="en-US" altLang="en-US" sz="2400" b="1" dirty="0"/>
                        <a:t>trache/o</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005221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14 of 20)</a:t>
            </a:r>
          </a:p>
        </p:txBody>
      </p:sp>
      <p:graphicFrame>
        <p:nvGraphicFramePr>
          <p:cNvPr id="7" name="Content Placeholder 6" descr="The combining forms from the previous slide with their corresponding meanings are provided.    The combining forms and meanings listed are:   sarc/o meaning flesh; spin/o meaning spine or backbone; thel/o or theli/o meaning nipple; thorac/o meaning chest; trache/o meaning trachea or windpipe."/>
          <p:cNvGraphicFramePr>
            <a:graphicFrameLocks noGrp="1"/>
          </p:cNvGraphicFramePr>
          <p:nvPr>
            <p:ph idx="1"/>
            <p:extLst>
              <p:ext uri="{D42A27DB-BD31-4B8C-83A1-F6EECF244321}">
                <p14:modId xmlns:p14="http://schemas.microsoft.com/office/powerpoint/2010/main" val="866366580"/>
              </p:ext>
            </p:extLst>
          </p:nvPr>
        </p:nvGraphicFramePr>
        <p:xfrm>
          <a:off x="1524000" y="2286000"/>
          <a:ext cx="6858000" cy="2743200"/>
        </p:xfrm>
        <a:graphic>
          <a:graphicData uri="http://schemas.openxmlformats.org/drawingml/2006/table">
            <a:tbl>
              <a:tblPr firstRow="1" bandRow="1">
                <a:tableStyleId>{68D230F3-CF80-4859-8CE7-A43EE81993B5}</a:tableStyleId>
              </a:tblPr>
              <a:tblGrid>
                <a:gridCol w="31242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sarc/o</a:t>
                      </a:r>
                      <a:endParaRPr lang="en-US" sz="2400" dirty="0"/>
                    </a:p>
                  </a:txBody>
                  <a:tcPr/>
                </a:tc>
                <a:tc>
                  <a:txBody>
                    <a:bodyPr/>
                    <a:lstStyle/>
                    <a:p>
                      <a:r>
                        <a:rPr lang="en-US" altLang="en-US" sz="2400" dirty="0"/>
                        <a:t>flesh</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spin/o</a:t>
                      </a:r>
                      <a:endParaRPr lang="en-US" sz="2400" dirty="0"/>
                    </a:p>
                  </a:txBody>
                  <a:tcPr/>
                </a:tc>
                <a:tc>
                  <a:txBody>
                    <a:bodyPr/>
                    <a:lstStyle/>
                    <a:p>
                      <a:r>
                        <a:rPr lang="en-US" altLang="en-US" sz="2400" dirty="0"/>
                        <a:t>spine, backbone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thel/o, theli/o</a:t>
                      </a:r>
                      <a:endParaRPr lang="en-US" sz="2400" dirty="0"/>
                    </a:p>
                  </a:txBody>
                  <a:tcPr/>
                </a:tc>
                <a:tc>
                  <a:txBody>
                    <a:bodyPr/>
                    <a:lstStyle/>
                    <a:p>
                      <a:r>
                        <a:rPr lang="en-US" altLang="en-US" sz="2400" dirty="0"/>
                        <a:t>nipple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thorac/o</a:t>
                      </a:r>
                      <a:endParaRPr lang="en-US" sz="2400" dirty="0"/>
                    </a:p>
                  </a:txBody>
                  <a:tcPr/>
                </a:tc>
                <a:tc>
                  <a:txBody>
                    <a:bodyPr/>
                    <a:lstStyle/>
                    <a:p>
                      <a:r>
                        <a:rPr lang="en-US" altLang="en-US" sz="2400" dirty="0"/>
                        <a:t>chest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trache/o</a:t>
                      </a:r>
                      <a:endParaRPr lang="en-US" sz="2400" dirty="0"/>
                    </a:p>
                  </a:txBody>
                  <a:tcPr/>
                </a:tc>
                <a:tc>
                  <a:txBody>
                    <a:bodyPr/>
                    <a:lstStyle/>
                    <a:p>
                      <a:r>
                        <a:rPr lang="en-US" altLang="en-US" sz="2400" dirty="0"/>
                        <a:t>trachea, windpipe</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103058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15 of 20)</a:t>
            </a:r>
          </a:p>
        </p:txBody>
      </p:sp>
      <p:graphicFrame>
        <p:nvGraphicFramePr>
          <p:cNvPr id="7" name="Content Placeholder 6" descr="Group 8 of 10 word parts:  lists combining forms.  The following slide lists the same combining forms with their corresponding meanings."/>
          <p:cNvGraphicFramePr>
            <a:graphicFrameLocks noGrp="1"/>
          </p:cNvGraphicFramePr>
          <p:nvPr>
            <p:ph idx="1"/>
            <p:extLst>
              <p:ext uri="{D42A27DB-BD31-4B8C-83A1-F6EECF244321}">
                <p14:modId xmlns:p14="http://schemas.microsoft.com/office/powerpoint/2010/main" val="2785998754"/>
              </p:ext>
            </p:extLst>
          </p:nvPr>
        </p:nvGraphicFramePr>
        <p:xfrm>
          <a:off x="2667000" y="1905000"/>
          <a:ext cx="3810000" cy="3657600"/>
        </p:xfrm>
        <a:graphic>
          <a:graphicData uri="http://schemas.openxmlformats.org/drawingml/2006/table">
            <a:tbl>
              <a:tblPr firstRow="1" bandRow="1">
                <a:tableStyleId>{68D230F3-CF80-4859-8CE7-A43EE81993B5}</a:tableStyleId>
              </a:tblPr>
              <a:tblGrid>
                <a:gridCol w="3810000">
                  <a:extLst>
                    <a:ext uri="{9D8B030D-6E8A-4147-A177-3AD203B41FA5}">
                      <a16:colId xmlns:a16="http://schemas.microsoft.com/office/drawing/2014/main" val="20000"/>
                    </a:ext>
                  </a:extLst>
                </a:gridCol>
              </a:tblGrid>
              <a:tr h="731520">
                <a:tc>
                  <a:txBody>
                    <a:bodyPr/>
                    <a:lstStyle/>
                    <a:p>
                      <a:r>
                        <a:rPr lang="en-US" sz="2400" dirty="0"/>
                        <a:t>Combining Form</a:t>
                      </a:r>
                    </a:p>
                  </a:txBody>
                  <a:tcPr/>
                </a:tc>
                <a:extLst>
                  <a:ext uri="{0D108BD9-81ED-4DB2-BD59-A6C34878D82A}">
                    <a16:rowId xmlns:a16="http://schemas.microsoft.com/office/drawing/2014/main" val="10000"/>
                  </a:ext>
                </a:extLst>
              </a:tr>
              <a:tr h="731520">
                <a:tc>
                  <a:txBody>
                    <a:bodyPr/>
                    <a:lstStyle/>
                    <a:p>
                      <a:r>
                        <a:rPr lang="en-US" altLang="en-US" sz="2400" b="1" dirty="0"/>
                        <a:t>umbilic/o</a:t>
                      </a:r>
                      <a:endParaRPr lang="en-US" sz="2400" dirty="0"/>
                    </a:p>
                  </a:txBody>
                  <a:tcPr/>
                </a:tc>
                <a:extLst>
                  <a:ext uri="{0D108BD9-81ED-4DB2-BD59-A6C34878D82A}">
                    <a16:rowId xmlns:a16="http://schemas.microsoft.com/office/drawing/2014/main" val="10001"/>
                  </a:ext>
                </a:extLst>
              </a:tr>
              <a:tr h="731520">
                <a:tc>
                  <a:txBody>
                    <a:bodyPr/>
                    <a:lstStyle/>
                    <a:p>
                      <a:r>
                        <a:rPr lang="en-US" altLang="en-US" sz="2400" b="1" dirty="0"/>
                        <a:t>ventr/o</a:t>
                      </a:r>
                      <a:endParaRPr lang="en-US" sz="2400" dirty="0"/>
                    </a:p>
                  </a:txBody>
                  <a:tcPr/>
                </a:tc>
                <a:extLst>
                  <a:ext uri="{0D108BD9-81ED-4DB2-BD59-A6C34878D82A}">
                    <a16:rowId xmlns:a16="http://schemas.microsoft.com/office/drawing/2014/main" val="10002"/>
                  </a:ext>
                </a:extLst>
              </a:tr>
              <a:tr h="731520">
                <a:tc>
                  <a:txBody>
                    <a:bodyPr/>
                    <a:lstStyle/>
                    <a:p>
                      <a:r>
                        <a:rPr lang="en-US" altLang="en-US" sz="2400" b="1" dirty="0"/>
                        <a:t>vertebr/o</a:t>
                      </a:r>
                      <a:endParaRPr lang="en-US" sz="2400" dirty="0"/>
                    </a:p>
                  </a:txBody>
                  <a:tcPr/>
                </a:tc>
                <a:extLst>
                  <a:ext uri="{0D108BD9-81ED-4DB2-BD59-A6C34878D82A}">
                    <a16:rowId xmlns:a16="http://schemas.microsoft.com/office/drawing/2014/main" val="10003"/>
                  </a:ext>
                </a:extLst>
              </a:tr>
              <a:tr h="731520">
                <a:tc>
                  <a:txBody>
                    <a:bodyPr/>
                    <a:lstStyle/>
                    <a:p>
                      <a:r>
                        <a:rPr lang="en-US" altLang="en-US" sz="2400" b="1" dirty="0"/>
                        <a:t>viscer/o</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23446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16 of 20)</a:t>
            </a:r>
          </a:p>
        </p:txBody>
      </p:sp>
      <p:graphicFrame>
        <p:nvGraphicFramePr>
          <p:cNvPr id="7" name="Content Placeholder 6" descr="The combining forms from the previous slide with their corresponding meanings are provided.    The combining forms and meanings listed are:  umbilic/o meaning navel or umbilicus; ventr/o meaning belly side of the body; vertebr/o meaning vertebra or backbone; and viscer/o internal organs."/>
          <p:cNvGraphicFramePr>
            <a:graphicFrameLocks noGrp="1"/>
          </p:cNvGraphicFramePr>
          <p:nvPr>
            <p:ph idx="1"/>
            <p:extLst>
              <p:ext uri="{D42A27DB-BD31-4B8C-83A1-F6EECF244321}">
                <p14:modId xmlns:p14="http://schemas.microsoft.com/office/powerpoint/2010/main" val="2214626636"/>
              </p:ext>
            </p:extLst>
          </p:nvPr>
        </p:nvGraphicFramePr>
        <p:xfrm>
          <a:off x="1447800" y="2362200"/>
          <a:ext cx="6934200" cy="22860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umbilic/o</a:t>
                      </a:r>
                      <a:endParaRPr lang="en-US" sz="2400" dirty="0"/>
                    </a:p>
                  </a:txBody>
                  <a:tcPr/>
                </a:tc>
                <a:tc>
                  <a:txBody>
                    <a:bodyPr/>
                    <a:lstStyle/>
                    <a:p>
                      <a:r>
                        <a:rPr lang="en-US" altLang="en-US" sz="2400" dirty="0"/>
                        <a:t>navel, umbilicus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ventr/o</a:t>
                      </a:r>
                      <a:endParaRPr lang="en-US" sz="2400" dirty="0"/>
                    </a:p>
                  </a:txBody>
                  <a:tcPr/>
                </a:tc>
                <a:tc>
                  <a:txBody>
                    <a:bodyPr/>
                    <a:lstStyle/>
                    <a:p>
                      <a:r>
                        <a:rPr lang="en-US" altLang="en-US" sz="2400" dirty="0"/>
                        <a:t>belly side of the body</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vertebr/o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vertebra(e), backbone(s)</a:t>
                      </a:r>
                    </a:p>
                  </a:txBody>
                  <a:tcPr/>
                </a:tc>
                <a:extLst>
                  <a:ext uri="{0D108BD9-81ED-4DB2-BD59-A6C34878D82A}">
                    <a16:rowId xmlns:a16="http://schemas.microsoft.com/office/drawing/2014/main" val="10003"/>
                  </a:ext>
                </a:extLst>
              </a:tr>
              <a:tr h="370840">
                <a:tc>
                  <a:txBody>
                    <a:bodyPr/>
                    <a:lstStyle/>
                    <a:p>
                      <a:r>
                        <a:rPr lang="en-US" altLang="en-US" sz="2400" b="1" dirty="0"/>
                        <a:t>viscer/o</a:t>
                      </a:r>
                      <a:endParaRPr lang="en-US" sz="2400" dirty="0"/>
                    </a:p>
                  </a:txBody>
                  <a:tcPr/>
                </a:tc>
                <a:tc>
                  <a:txBody>
                    <a:bodyPr/>
                    <a:lstStyle/>
                    <a:p>
                      <a:r>
                        <a:rPr lang="en-US" altLang="en-US" sz="2400" dirty="0"/>
                        <a:t>internal organs</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34361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17 of 20)</a:t>
            </a:r>
          </a:p>
        </p:txBody>
      </p:sp>
      <p:graphicFrame>
        <p:nvGraphicFramePr>
          <p:cNvPr id="7" name="Content Placeholder 6" descr="Group 9 of 10 word parts:  lists prefixes.  The following slide lists the same prefixes with their corresponding meanings."/>
          <p:cNvGraphicFramePr>
            <a:graphicFrameLocks noGrp="1"/>
          </p:cNvGraphicFramePr>
          <p:nvPr>
            <p:ph idx="1"/>
            <p:extLst>
              <p:ext uri="{D42A27DB-BD31-4B8C-83A1-F6EECF244321}">
                <p14:modId xmlns:p14="http://schemas.microsoft.com/office/powerpoint/2010/main" val="150170819"/>
              </p:ext>
            </p:extLst>
          </p:nvPr>
        </p:nvGraphicFramePr>
        <p:xfrm>
          <a:off x="3200400" y="1981200"/>
          <a:ext cx="3048000" cy="4114800"/>
        </p:xfrm>
        <a:graphic>
          <a:graphicData uri="http://schemas.openxmlformats.org/drawingml/2006/table">
            <a:tbl>
              <a:tblPr firstRow="1" bandRow="1">
                <a:tableStyleId>{68D230F3-CF80-4859-8CE7-A43EE81993B5}</a:tableStyleId>
              </a:tblPr>
              <a:tblGrid>
                <a:gridCol w="3048000">
                  <a:extLst>
                    <a:ext uri="{9D8B030D-6E8A-4147-A177-3AD203B41FA5}">
                      <a16:colId xmlns:a16="http://schemas.microsoft.com/office/drawing/2014/main" val="20000"/>
                    </a:ext>
                  </a:extLst>
                </a:gridCol>
              </a:tblGrid>
              <a:tr h="514350">
                <a:tc>
                  <a:txBody>
                    <a:bodyPr/>
                    <a:lstStyle/>
                    <a:p>
                      <a:r>
                        <a:rPr lang="en-US" sz="2400" dirty="0"/>
                        <a:t>Prefix</a:t>
                      </a:r>
                    </a:p>
                  </a:txBody>
                  <a:tcPr/>
                </a:tc>
                <a:extLst>
                  <a:ext uri="{0D108BD9-81ED-4DB2-BD59-A6C34878D82A}">
                    <a16:rowId xmlns:a16="http://schemas.microsoft.com/office/drawing/2014/main" val="10000"/>
                  </a:ext>
                </a:extLst>
              </a:tr>
              <a:tr h="514350">
                <a:tc>
                  <a:txBody>
                    <a:bodyPr/>
                    <a:lstStyle/>
                    <a:p>
                      <a:r>
                        <a:rPr lang="en-US" altLang="en-US" sz="2400" b="1" dirty="0"/>
                        <a:t>ana-</a:t>
                      </a:r>
                      <a:endParaRPr lang="en-US" sz="2400" dirty="0"/>
                    </a:p>
                  </a:txBody>
                  <a:tcPr/>
                </a:tc>
                <a:extLst>
                  <a:ext uri="{0D108BD9-81ED-4DB2-BD59-A6C34878D82A}">
                    <a16:rowId xmlns:a16="http://schemas.microsoft.com/office/drawing/2014/main" val="10001"/>
                  </a:ext>
                </a:extLst>
              </a:tr>
              <a:tr h="514350">
                <a:tc>
                  <a:txBody>
                    <a:bodyPr/>
                    <a:lstStyle/>
                    <a:p>
                      <a:r>
                        <a:rPr lang="en-US" altLang="en-US" sz="2400" b="1" dirty="0"/>
                        <a:t>cata-</a:t>
                      </a:r>
                      <a:endParaRPr lang="en-US" sz="2400" dirty="0"/>
                    </a:p>
                  </a:txBody>
                  <a:tcPr/>
                </a:tc>
                <a:extLst>
                  <a:ext uri="{0D108BD9-81ED-4DB2-BD59-A6C34878D82A}">
                    <a16:rowId xmlns:a16="http://schemas.microsoft.com/office/drawing/2014/main" val="10002"/>
                  </a:ext>
                </a:extLst>
              </a:tr>
              <a:tr h="514350">
                <a:tc>
                  <a:txBody>
                    <a:bodyPr/>
                    <a:lstStyle/>
                    <a:p>
                      <a:r>
                        <a:rPr lang="en-US" altLang="en-US" sz="2400" b="1" dirty="0"/>
                        <a:t>epi-</a:t>
                      </a:r>
                      <a:endParaRPr lang="en-US" sz="2400" dirty="0"/>
                    </a:p>
                  </a:txBody>
                  <a:tcPr/>
                </a:tc>
                <a:extLst>
                  <a:ext uri="{0D108BD9-81ED-4DB2-BD59-A6C34878D82A}">
                    <a16:rowId xmlns:a16="http://schemas.microsoft.com/office/drawing/2014/main" val="10003"/>
                  </a:ext>
                </a:extLst>
              </a:tr>
              <a:tr h="514350">
                <a:tc>
                  <a:txBody>
                    <a:bodyPr/>
                    <a:lstStyle/>
                    <a:p>
                      <a:r>
                        <a:rPr lang="en-US" altLang="en-US" sz="2400" b="1" dirty="0"/>
                        <a:t>hypo-</a:t>
                      </a:r>
                      <a:endParaRPr lang="en-US" sz="2400" dirty="0"/>
                    </a:p>
                  </a:txBody>
                  <a:tcPr/>
                </a:tc>
                <a:extLst>
                  <a:ext uri="{0D108BD9-81ED-4DB2-BD59-A6C34878D82A}">
                    <a16:rowId xmlns:a16="http://schemas.microsoft.com/office/drawing/2014/main" val="10004"/>
                  </a:ext>
                </a:extLst>
              </a:tr>
              <a:tr h="514350">
                <a:tc>
                  <a:txBody>
                    <a:bodyPr/>
                    <a:lstStyle/>
                    <a:p>
                      <a:r>
                        <a:rPr lang="en-US" altLang="en-US" sz="2400" b="1" dirty="0"/>
                        <a:t>inter-</a:t>
                      </a:r>
                      <a:endParaRPr lang="en-US" sz="2400" dirty="0"/>
                    </a:p>
                  </a:txBody>
                  <a:tcPr/>
                </a:tc>
                <a:extLst>
                  <a:ext uri="{0D108BD9-81ED-4DB2-BD59-A6C34878D82A}">
                    <a16:rowId xmlns:a16="http://schemas.microsoft.com/office/drawing/2014/main" val="10005"/>
                  </a:ext>
                </a:extLst>
              </a:tr>
              <a:tr h="514350">
                <a:tc>
                  <a:txBody>
                    <a:bodyPr/>
                    <a:lstStyle/>
                    <a:p>
                      <a:r>
                        <a:rPr lang="en-US" altLang="en-US" sz="2400" b="1" dirty="0"/>
                        <a:t>intra-</a:t>
                      </a:r>
                      <a:endParaRPr lang="en-US" sz="2400" dirty="0"/>
                    </a:p>
                  </a:txBody>
                  <a:tcPr/>
                </a:tc>
                <a:extLst>
                  <a:ext uri="{0D108BD9-81ED-4DB2-BD59-A6C34878D82A}">
                    <a16:rowId xmlns:a16="http://schemas.microsoft.com/office/drawing/2014/main" val="10006"/>
                  </a:ext>
                </a:extLst>
              </a:tr>
              <a:tr h="514350">
                <a:tc>
                  <a:txBody>
                    <a:bodyPr/>
                    <a:lstStyle/>
                    <a:p>
                      <a:r>
                        <a:rPr lang="en-US" altLang="en-US" sz="2400" b="1" dirty="0"/>
                        <a:t>meta-</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19972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18 of 20)</a:t>
            </a:r>
          </a:p>
        </p:txBody>
      </p:sp>
      <p:graphicFrame>
        <p:nvGraphicFramePr>
          <p:cNvPr id="7" name="Content Placeholder 6" descr="The prefixes from the previous slide with their corresponding meanings are provided.    The prefixes and meanings listed are:  ana- meaning up; cata- meaning down; epi- meaning above; hypo- meaning below; inter- meaning between; intra- meaning within; and meta- meaning change."/>
          <p:cNvGraphicFramePr>
            <a:graphicFrameLocks noGrp="1"/>
          </p:cNvGraphicFramePr>
          <p:nvPr>
            <p:ph idx="1"/>
            <p:extLst>
              <p:ext uri="{D42A27DB-BD31-4B8C-83A1-F6EECF244321}">
                <p14:modId xmlns:p14="http://schemas.microsoft.com/office/powerpoint/2010/main" val="2158680696"/>
              </p:ext>
            </p:extLst>
          </p:nvPr>
        </p:nvGraphicFramePr>
        <p:xfrm>
          <a:off x="2133600" y="2133600"/>
          <a:ext cx="5867400" cy="3657600"/>
        </p:xfrm>
        <a:graphic>
          <a:graphicData uri="http://schemas.openxmlformats.org/drawingml/2006/table">
            <a:tbl>
              <a:tblPr firstRow="1" bandRow="1">
                <a:tableStyleId>{68D230F3-CF80-4859-8CE7-A43EE81993B5}</a:tableStyleId>
              </a:tblPr>
              <a:tblGrid>
                <a:gridCol w="2667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ana-</a:t>
                      </a:r>
                      <a:endParaRPr lang="en-US" sz="2400" dirty="0"/>
                    </a:p>
                  </a:txBody>
                  <a:tcPr/>
                </a:tc>
                <a:tc>
                  <a:txBody>
                    <a:bodyPr/>
                    <a:lstStyle/>
                    <a:p>
                      <a:r>
                        <a:rPr lang="en-US" altLang="en-US" sz="2400" dirty="0"/>
                        <a:t>up</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cata-</a:t>
                      </a:r>
                      <a:endParaRPr lang="en-US" sz="2400" dirty="0"/>
                    </a:p>
                  </a:txBody>
                  <a:tcPr/>
                </a:tc>
                <a:tc>
                  <a:txBody>
                    <a:bodyPr/>
                    <a:lstStyle/>
                    <a:p>
                      <a:r>
                        <a:rPr lang="en-US" altLang="en-US" sz="2400" dirty="0"/>
                        <a:t>down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epi-</a:t>
                      </a:r>
                      <a:endParaRPr lang="en-US" sz="2400" dirty="0"/>
                    </a:p>
                  </a:txBody>
                  <a:tcPr/>
                </a:tc>
                <a:tc>
                  <a:txBody>
                    <a:bodyPr/>
                    <a:lstStyle/>
                    <a:p>
                      <a:r>
                        <a:rPr lang="en-US" altLang="en-US" sz="2400" dirty="0"/>
                        <a:t>above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hypo-</a:t>
                      </a:r>
                      <a:endParaRPr lang="en-US" sz="2400" dirty="0"/>
                    </a:p>
                  </a:txBody>
                  <a:tcPr/>
                </a:tc>
                <a:tc>
                  <a:txBody>
                    <a:bodyPr/>
                    <a:lstStyle/>
                    <a:p>
                      <a:r>
                        <a:rPr lang="en-US" altLang="en-US" sz="2400" dirty="0"/>
                        <a:t>below</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inter-</a:t>
                      </a:r>
                      <a:endParaRPr lang="en-US" sz="2400" dirty="0"/>
                    </a:p>
                  </a:txBody>
                  <a:tcPr/>
                </a:tc>
                <a:tc>
                  <a:txBody>
                    <a:bodyPr/>
                    <a:lstStyle/>
                    <a:p>
                      <a:r>
                        <a:rPr lang="en-US" altLang="en-US" sz="2400" dirty="0"/>
                        <a:t>between</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intra-</a:t>
                      </a:r>
                      <a:endParaRPr lang="en-US" sz="2400" dirty="0"/>
                    </a:p>
                  </a:txBody>
                  <a:tcPr/>
                </a:tc>
                <a:tc>
                  <a:txBody>
                    <a:bodyPr/>
                    <a:lstStyle/>
                    <a:p>
                      <a:r>
                        <a:rPr lang="en-US" altLang="en-US" sz="2400" dirty="0"/>
                        <a:t>within</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meta-</a:t>
                      </a:r>
                      <a:endParaRPr lang="en-US" sz="2400" dirty="0"/>
                    </a:p>
                  </a:txBody>
                  <a:tcPr/>
                </a:tc>
                <a:tc>
                  <a:txBody>
                    <a:bodyPr/>
                    <a:lstStyle/>
                    <a:p>
                      <a:r>
                        <a:rPr lang="en-US" altLang="en-US" sz="2400" dirty="0"/>
                        <a:t>change</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881830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19 of 20)</a:t>
            </a:r>
          </a:p>
        </p:txBody>
      </p:sp>
      <p:graphicFrame>
        <p:nvGraphicFramePr>
          <p:cNvPr id="7" name="Content Placeholder 6" descr="Group 10 of 10 word parts:  lists suffixes.  The following slide lists the same suffixes with their corresponding meanings."/>
          <p:cNvGraphicFramePr>
            <a:graphicFrameLocks noGrp="1"/>
          </p:cNvGraphicFramePr>
          <p:nvPr>
            <p:ph idx="1"/>
            <p:extLst>
              <p:ext uri="{D42A27DB-BD31-4B8C-83A1-F6EECF244321}">
                <p14:modId xmlns:p14="http://schemas.microsoft.com/office/powerpoint/2010/main" val="1178776608"/>
              </p:ext>
            </p:extLst>
          </p:nvPr>
        </p:nvGraphicFramePr>
        <p:xfrm>
          <a:off x="3048000" y="1981200"/>
          <a:ext cx="2743200" cy="41148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-eal</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-iac</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-ior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-ism</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-ose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-plasm</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-somes</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a:t>-type</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895724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Combining Forms, Suffixes, and Prefixes (Slide 20 of 20)</a:t>
            </a:r>
          </a:p>
        </p:txBody>
      </p:sp>
      <p:graphicFrame>
        <p:nvGraphicFramePr>
          <p:cNvPr id="7" name="Content Placeholder 6" descr="The suffixes from the previous slide with their corresponding meanings are provided.    The suffixes and meanings listed are:  -eal meaning pertaining to; -iac meaning pertaining to; -ior meaning pertaining to; -ism meaning process or condition; -ose meaning pertaining to or full of; -plasm meaning formation; -somes meaning bodies; and -type meaning picture or classification."/>
          <p:cNvGraphicFramePr>
            <a:graphicFrameLocks noGrp="1"/>
          </p:cNvGraphicFramePr>
          <p:nvPr>
            <p:ph idx="1"/>
            <p:extLst>
              <p:ext uri="{D42A27DB-BD31-4B8C-83A1-F6EECF244321}">
                <p14:modId xmlns:p14="http://schemas.microsoft.com/office/powerpoint/2010/main" val="1848506088"/>
              </p:ext>
            </p:extLst>
          </p:nvPr>
        </p:nvGraphicFramePr>
        <p:xfrm>
          <a:off x="1333500" y="1981200"/>
          <a:ext cx="6477000" cy="4114800"/>
        </p:xfrm>
        <a:graphic>
          <a:graphicData uri="http://schemas.openxmlformats.org/drawingml/2006/table">
            <a:tbl>
              <a:tblPr firstRow="1" bandRow="1">
                <a:tableStyleId>{68D230F3-CF80-4859-8CE7-A43EE81993B5}</a:tableStyleId>
              </a:tblPr>
              <a:tblGrid>
                <a:gridCol w="2159000">
                  <a:extLst>
                    <a:ext uri="{9D8B030D-6E8A-4147-A177-3AD203B41FA5}">
                      <a16:colId xmlns:a16="http://schemas.microsoft.com/office/drawing/2014/main" val="20000"/>
                    </a:ext>
                  </a:extLst>
                </a:gridCol>
                <a:gridCol w="43180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-eal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pertaining to</a:t>
                      </a:r>
                    </a:p>
                  </a:txBody>
                  <a:tcPr/>
                </a:tc>
                <a:extLst>
                  <a:ext uri="{0D108BD9-81ED-4DB2-BD59-A6C34878D82A}">
                    <a16:rowId xmlns:a16="http://schemas.microsoft.com/office/drawing/2014/main" val="10001"/>
                  </a:ext>
                </a:extLst>
              </a:tr>
              <a:tr h="370840">
                <a:tc>
                  <a:txBody>
                    <a:bodyPr/>
                    <a:lstStyle/>
                    <a:p>
                      <a:r>
                        <a:rPr lang="en-US" altLang="en-US" sz="2400" b="1" dirty="0"/>
                        <a:t>-iac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pertaining to</a:t>
                      </a:r>
                    </a:p>
                  </a:txBody>
                  <a:tcPr/>
                </a:tc>
                <a:extLst>
                  <a:ext uri="{0D108BD9-81ED-4DB2-BD59-A6C34878D82A}">
                    <a16:rowId xmlns:a16="http://schemas.microsoft.com/office/drawing/2014/main" val="10002"/>
                  </a:ext>
                </a:extLst>
              </a:tr>
              <a:tr h="370840">
                <a:tc>
                  <a:txBody>
                    <a:bodyPr/>
                    <a:lstStyle/>
                    <a:p>
                      <a:r>
                        <a:rPr lang="en-US" altLang="en-US" sz="2400" b="1" dirty="0"/>
                        <a:t>-ior</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pertaining to</a:t>
                      </a:r>
                    </a:p>
                  </a:txBody>
                  <a:tcPr/>
                </a:tc>
                <a:extLst>
                  <a:ext uri="{0D108BD9-81ED-4DB2-BD59-A6C34878D82A}">
                    <a16:rowId xmlns:a16="http://schemas.microsoft.com/office/drawing/2014/main" val="10003"/>
                  </a:ext>
                </a:extLst>
              </a:tr>
              <a:tr h="370840">
                <a:tc>
                  <a:txBody>
                    <a:bodyPr/>
                    <a:lstStyle/>
                    <a:p>
                      <a:r>
                        <a:rPr lang="en-US" altLang="en-US" sz="2400" b="1" dirty="0"/>
                        <a:t>-ism</a:t>
                      </a:r>
                      <a:endParaRPr lang="en-US" sz="2400" dirty="0"/>
                    </a:p>
                  </a:txBody>
                  <a:tcPr/>
                </a:tc>
                <a:tc>
                  <a:txBody>
                    <a:bodyPr/>
                    <a:lstStyle/>
                    <a:p>
                      <a:r>
                        <a:rPr lang="en-US" altLang="en-US" sz="2400" dirty="0"/>
                        <a:t>process, condition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-ose</a:t>
                      </a:r>
                      <a:endParaRPr lang="en-US" sz="2400" dirty="0"/>
                    </a:p>
                  </a:txBody>
                  <a:tcPr/>
                </a:tc>
                <a:tc>
                  <a:txBody>
                    <a:bodyPr/>
                    <a:lstStyle/>
                    <a:p>
                      <a:r>
                        <a:rPr lang="en-US" altLang="en-US" sz="2400" dirty="0"/>
                        <a:t>pertaining to, full of</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a:t>-plasm</a:t>
                      </a:r>
                      <a:endParaRPr lang="en-US" sz="2400" dirty="0"/>
                    </a:p>
                  </a:txBody>
                  <a:tcPr/>
                </a:tc>
                <a:tc>
                  <a:txBody>
                    <a:bodyPr/>
                    <a:lstStyle/>
                    <a:p>
                      <a:r>
                        <a:rPr lang="en-US" altLang="en-US" sz="2400" dirty="0"/>
                        <a:t>formation</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-somes</a:t>
                      </a:r>
                      <a:endParaRPr lang="en-US" sz="2400" dirty="0"/>
                    </a:p>
                  </a:txBody>
                  <a:tcPr/>
                </a:tc>
                <a:tc>
                  <a:txBody>
                    <a:bodyPr/>
                    <a:lstStyle/>
                    <a:p>
                      <a:r>
                        <a:rPr lang="en-US" altLang="en-US" sz="2400" dirty="0"/>
                        <a:t>bodies</a:t>
                      </a:r>
                      <a:endParaRPr lang="en-US" sz="2400" dirty="0"/>
                    </a:p>
                  </a:txBody>
                  <a:tcPr/>
                </a:tc>
                <a:extLst>
                  <a:ext uri="{0D108BD9-81ED-4DB2-BD59-A6C34878D82A}">
                    <a16:rowId xmlns:a16="http://schemas.microsoft.com/office/drawing/2014/main" val="10007"/>
                  </a:ext>
                </a:extLst>
              </a:tr>
              <a:tr h="370840">
                <a:tc>
                  <a:txBody>
                    <a:bodyPr/>
                    <a:lstStyle/>
                    <a:p>
                      <a:r>
                        <a:rPr lang="en-US" altLang="en-US" sz="2400" b="1" dirty="0"/>
                        <a:t>-type</a:t>
                      </a:r>
                      <a:endParaRPr lang="en-US" sz="2400" dirty="0"/>
                    </a:p>
                  </a:txBody>
                  <a:tcPr/>
                </a:tc>
                <a:tc>
                  <a:txBody>
                    <a:bodyPr/>
                    <a:lstStyle/>
                    <a:p>
                      <a:r>
                        <a:rPr lang="en-US" altLang="en-US" sz="2400" dirty="0"/>
                        <a:t>picture, classification</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733425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67512" y="381000"/>
            <a:ext cx="8229600" cy="1219200"/>
          </a:xfrm>
        </p:spPr>
        <p:txBody>
          <a:bodyPr/>
          <a:lstStyle/>
          <a:p>
            <a:pPr eaLnBrk="1" hangingPunct="1"/>
            <a:r>
              <a:rPr lang="en-US" altLang="en-US" sz="5400" b="1" dirty="0"/>
              <a:t>QUICK QUIZ </a:t>
            </a:r>
            <a:r>
              <a:rPr lang="en-US" altLang="en-US" dirty="0"/>
              <a:t>(Slide 5 of 5)</a:t>
            </a:r>
          </a:p>
        </p:txBody>
      </p:sp>
      <p:sp>
        <p:nvSpPr>
          <p:cNvPr id="70659" name="Rectangle 3"/>
          <p:cNvSpPr>
            <a:spLocks noGrp="1" noChangeArrowheads="1"/>
          </p:cNvSpPr>
          <p:nvPr>
            <p:ph idx="1"/>
          </p:nvPr>
        </p:nvSpPr>
        <p:spPr>
          <a:xfrm>
            <a:off x="1371600" y="2057400"/>
            <a:ext cx="6477000" cy="3733800"/>
          </a:xfrm>
        </p:spPr>
        <p:txBody>
          <a:bodyPr/>
          <a:lstStyle/>
          <a:p>
            <a:pPr marL="533400" indent="-533400" eaLnBrk="1" hangingPunct="1">
              <a:buFont typeface="Arial" panose="020B0604020202020204" pitchFamily="34" charset="0"/>
              <a:buAutoNum type="arabicPeriod" startAt="5"/>
            </a:pPr>
            <a:r>
              <a:rPr lang="en-US" altLang="en-US" b="1" dirty="0"/>
              <a:t>Which term means process of cutting the skull?</a:t>
            </a:r>
            <a:endParaRPr lang="en-US" altLang="en-US" dirty="0"/>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Thoracotomy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Craniotomy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Discectomy</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Arthroscopy</a:t>
            </a:r>
            <a:endParaRPr lang="en-US" altLang="en-US" dirty="0">
              <a:ea typeface="MS PGothic" panose="020B0600070205080204" pitchFamily="34" charset="-128"/>
            </a:endParaRPr>
          </a:p>
          <a:p>
            <a:pPr marL="914400" lvl="1" indent="-457200" eaLnBrk="1" hangingPunct="1">
              <a:buFont typeface="Webdings" panose="05030102010509060703" pitchFamily="18" charset="2"/>
              <a:buNone/>
            </a:pPr>
            <a:endParaRPr lang="en-US" altLang="en-US" dirty="0">
              <a:ea typeface="MS PGothic" panose="020B0600070205080204"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13681</TotalTime>
  <Words>2506</Words>
  <Application>Microsoft Office PowerPoint</Application>
  <PresentationFormat>On-screen Show (4:3)</PresentationFormat>
  <Paragraphs>542</Paragraphs>
  <Slides>59</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Calibri</vt:lpstr>
      <vt:lpstr>Times</vt:lpstr>
      <vt:lpstr>Times New Roman</vt:lpstr>
      <vt:lpstr>Webdings</vt:lpstr>
      <vt:lpstr>Wingdings</vt:lpstr>
      <vt:lpstr>Wingdings 2</vt:lpstr>
      <vt:lpstr>Office Theme</vt:lpstr>
      <vt:lpstr>The Language of Medicine 13th edition</vt:lpstr>
      <vt:lpstr>Chapter 2 Terms Pertaining to the Body as a Whole</vt:lpstr>
      <vt:lpstr>Chapter Goals (Slide 1 of 2)</vt:lpstr>
      <vt:lpstr>Chapter Goals (Slide 2 of 2)</vt:lpstr>
      <vt:lpstr>Chapter 2  Lesson 2.1</vt:lpstr>
      <vt:lpstr>Structural Organization of the Body (Slide 1 of 7)</vt:lpstr>
      <vt:lpstr>Structural Organization of the Body (Slide 2 of 7)</vt:lpstr>
      <vt:lpstr>Structural Organization of the Body (Slide 3 of 7)</vt:lpstr>
      <vt:lpstr>Study Section 1</vt:lpstr>
      <vt:lpstr>Structural Organization of the Body (Slide 4 of 7)</vt:lpstr>
      <vt:lpstr>Structural Organization of the Body (Slide 5 of 7)</vt:lpstr>
      <vt:lpstr>Structural Organization of the Body (Slide 6 of 7)</vt:lpstr>
      <vt:lpstr>Structural Organization of the Body (Slide 7 of 7)</vt:lpstr>
      <vt:lpstr>Study Section 2</vt:lpstr>
      <vt:lpstr>Body Cavities (Slide 1 of 2)</vt:lpstr>
      <vt:lpstr>Body Cavities (Slide 2 of 2)</vt:lpstr>
      <vt:lpstr>Body Cavities and Organs</vt:lpstr>
      <vt:lpstr>       QUICK QUIZ (Slide 1 of 5)</vt:lpstr>
      <vt:lpstr>   QUICK QUIZ (Slide 2 of 5)</vt:lpstr>
      <vt:lpstr>Organs of the Abdominopelvic  and Thoracic Cavities (Slide 1 of 2)</vt:lpstr>
      <vt:lpstr>Organs of the Abdominopelvic  and Thoracic Cavities (Slide 2 of 2)</vt:lpstr>
      <vt:lpstr>Study Section 3</vt:lpstr>
      <vt:lpstr>Abdominopelvic Regions (Slide 1 of 2)</vt:lpstr>
      <vt:lpstr>Abdominopelvic Regions (Slide 2 of 2)</vt:lpstr>
      <vt:lpstr>Abdominopelvic Quadrants (Slide 1 of 2)</vt:lpstr>
      <vt:lpstr>Abdominopelvic Quadrants (Slide 2 of 2)</vt:lpstr>
      <vt:lpstr>Chapter 2 Lesson 2.2</vt:lpstr>
      <vt:lpstr>Anatomical Divisions of the Back (Slide 1 of 2) </vt:lpstr>
      <vt:lpstr>Anatomical Divisions of the Back (Slide 2 of 2)</vt:lpstr>
      <vt:lpstr>Study Section 4 (Slide 1 of 2)</vt:lpstr>
      <vt:lpstr>Study Section 4 (Slide 2 of 2)</vt:lpstr>
      <vt:lpstr>          QUICK QUIZ (Slide 3 of 5)</vt:lpstr>
      <vt:lpstr>QUICK QUIZ  (Slide 4 of 5)</vt:lpstr>
      <vt:lpstr>Positional and Directional Terms of the Body </vt:lpstr>
      <vt:lpstr>Positional and Directional Terms</vt:lpstr>
      <vt:lpstr>Planes of the Body (Slide 1 of 2)</vt:lpstr>
      <vt:lpstr>Planes of the Body (Slide 2 of 2)</vt:lpstr>
      <vt:lpstr>Study Section 5</vt:lpstr>
      <vt:lpstr>Combining Forms, Suffixes, and Prefixes (Slide 1 of 20)</vt:lpstr>
      <vt:lpstr>Combining Forms, Suffixes, and Prefixes (Slide 2 of 20)</vt:lpstr>
      <vt:lpstr>Combining Forms, Suffixes, and Prefixes (Slide 3 of 20)</vt:lpstr>
      <vt:lpstr>Combining Forms, Suffixes, and Prefixes (Slide 4 of 20)</vt:lpstr>
      <vt:lpstr>Combining Forms, Suffixes, and Prefixes (Slide 5 of 20)</vt:lpstr>
      <vt:lpstr>Combining Forms, Suffixes, and Prefixes (Slide 6 of 20)</vt:lpstr>
      <vt:lpstr>Combining Forms, Suffixes, and Prefixes (Slide 7 of 20)</vt:lpstr>
      <vt:lpstr>Combining Forms, Suffixes, and Prefixes (Slide 8 of 20)</vt:lpstr>
      <vt:lpstr>Combining Forms, Suffixes, and Prefixes (Slide 9 of 20)</vt:lpstr>
      <vt:lpstr>Combining Forms, Suffixes, and Prefixes (Slide 10 of 20)</vt:lpstr>
      <vt:lpstr>Combining Forms, Suffixes, and Prefixes (Slide 11 of 20)</vt:lpstr>
      <vt:lpstr>Combining Forms, Suffixes, and Prefixes (Slide 12 of 20)</vt:lpstr>
      <vt:lpstr>Combining Forms, Suffixes, and Prefixes (Slide 13 of 20)</vt:lpstr>
      <vt:lpstr>Combining Forms, Suffixes, and Prefixes (Slide 14 of 20)</vt:lpstr>
      <vt:lpstr>Combining Forms, Suffixes, and Prefixes (Slide 15 of 20)</vt:lpstr>
      <vt:lpstr>Combining Forms, Suffixes, and Prefixes (Slide 16 of 20)</vt:lpstr>
      <vt:lpstr>Combining Forms, Suffixes, and Prefixes (Slide 17 of 20)</vt:lpstr>
      <vt:lpstr>Combining Forms, Suffixes, and Prefixes (Slide 18 of 20)</vt:lpstr>
      <vt:lpstr>Combining Forms, Suffixes, and Prefixes (Slide 19 of 20)</vt:lpstr>
      <vt:lpstr>Combining Forms, Suffixes, and Prefixes (Slide 20 of 20)</vt:lpstr>
      <vt:lpstr>QUICK QUIZ (Slide 5 of 5)</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356</cp:revision>
  <cp:lastPrinted>2015-10-08T17:31:44Z</cp:lastPrinted>
  <dcterms:created xsi:type="dcterms:W3CDTF">2004-11-01T16:15:23Z</dcterms:created>
  <dcterms:modified xsi:type="dcterms:W3CDTF">2023-12-07T04:14:18Z</dcterms:modified>
</cp:coreProperties>
</file>