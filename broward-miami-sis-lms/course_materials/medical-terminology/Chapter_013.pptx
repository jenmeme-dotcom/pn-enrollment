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2" r:id="rId1"/>
  </p:sldMasterIdLst>
  <p:notesMasterIdLst>
    <p:notesMasterId r:id="rId79"/>
  </p:notesMasterIdLst>
  <p:handoutMasterIdLst>
    <p:handoutMasterId r:id="rId80"/>
  </p:handoutMasterIdLst>
  <p:sldIdLst>
    <p:sldId id="332" r:id="rId2"/>
    <p:sldId id="338" r:id="rId3"/>
    <p:sldId id="333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7" r:id="rId42"/>
    <p:sldId id="378" r:id="rId43"/>
    <p:sldId id="379" r:id="rId44"/>
    <p:sldId id="380" r:id="rId45"/>
    <p:sldId id="381" r:id="rId46"/>
    <p:sldId id="382" r:id="rId47"/>
    <p:sldId id="383" r:id="rId48"/>
    <p:sldId id="384" r:id="rId49"/>
    <p:sldId id="385" r:id="rId50"/>
    <p:sldId id="386" r:id="rId51"/>
    <p:sldId id="387" r:id="rId52"/>
    <p:sldId id="388" r:id="rId53"/>
    <p:sldId id="391" r:id="rId54"/>
    <p:sldId id="390" r:id="rId55"/>
    <p:sldId id="389" r:id="rId56"/>
    <p:sldId id="392" r:id="rId57"/>
    <p:sldId id="393" r:id="rId58"/>
    <p:sldId id="419" r:id="rId59"/>
    <p:sldId id="395" r:id="rId60"/>
    <p:sldId id="396" r:id="rId61"/>
    <p:sldId id="397" r:id="rId62"/>
    <p:sldId id="398" r:id="rId63"/>
    <p:sldId id="399" r:id="rId64"/>
    <p:sldId id="400" r:id="rId65"/>
    <p:sldId id="402" r:id="rId66"/>
    <p:sldId id="404" r:id="rId67"/>
    <p:sldId id="406" r:id="rId68"/>
    <p:sldId id="408" r:id="rId69"/>
    <p:sldId id="410" r:id="rId70"/>
    <p:sldId id="411" r:id="rId71"/>
    <p:sldId id="412" r:id="rId72"/>
    <p:sldId id="413" r:id="rId73"/>
    <p:sldId id="414" r:id="rId74"/>
    <p:sldId id="415" r:id="rId75"/>
    <p:sldId id="416" r:id="rId76"/>
    <p:sldId id="417" r:id="rId77"/>
    <p:sldId id="418" r:id="rId7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92" autoAdjust="0"/>
    <p:restoredTop sz="80777" autoAdjust="0"/>
  </p:normalViewPr>
  <p:slideViewPr>
    <p:cSldViewPr>
      <p:cViewPr varScale="1">
        <p:scale>
          <a:sx n="51" d="100"/>
          <a:sy n="51" d="100"/>
        </p:scale>
        <p:origin x="1496" y="40"/>
      </p:cViewPr>
      <p:guideLst>
        <p:guide orient="horz" pos="1008"/>
        <p:guide pos="432"/>
      </p:guideLst>
    </p:cSldViewPr>
  </p:slideViewPr>
  <p:outlineViewPr>
    <p:cViewPr>
      <p:scale>
        <a:sx n="33" d="100"/>
        <a:sy n="33" d="100"/>
      </p:scale>
      <p:origin x="0" y="11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Pfeifer" userId="fb68dd40a6c6cee7" providerId="LiveId" clId="{F5689B02-9B51-45BF-BCF3-FB651D3CF0E9}"/>
    <pc:docChg chg="modSld modMainMaster">
      <pc:chgData name="Ben Pfeifer" userId="fb68dd40a6c6cee7" providerId="LiveId" clId="{F5689B02-9B51-45BF-BCF3-FB651D3CF0E9}" dt="2023-09-26T08:45:49.631" v="22" actId="12385"/>
      <pc:docMkLst>
        <pc:docMk/>
      </pc:docMkLst>
      <pc:sldChg chg="modSp mod">
        <pc:chgData name="Ben Pfeifer" userId="fb68dd40a6c6cee7" providerId="LiveId" clId="{F5689B02-9B51-45BF-BCF3-FB651D3CF0E9}" dt="2023-09-26T08:43:11.999" v="1" actId="20577"/>
        <pc:sldMkLst>
          <pc:docMk/>
          <pc:sldMk cId="1428288934" sldId="332"/>
        </pc:sldMkLst>
        <pc:spChg chg="mod">
          <ac:chgData name="Ben Pfeifer" userId="fb68dd40a6c6cee7" providerId="LiveId" clId="{F5689B02-9B51-45BF-BCF3-FB651D3CF0E9}" dt="2023-09-26T08:43:11.999" v="1" actId="20577"/>
          <ac:spMkLst>
            <pc:docMk/>
            <pc:sldMk cId="1428288934" sldId="332"/>
            <ac:spMk id="2" creationId="{00000000-0000-0000-0000-000000000000}"/>
          </ac:spMkLst>
        </pc:spChg>
      </pc:sldChg>
      <pc:sldChg chg="modSp mod">
        <pc:chgData name="Ben Pfeifer" userId="fb68dd40a6c6cee7" providerId="LiveId" clId="{F5689B02-9B51-45BF-BCF3-FB651D3CF0E9}" dt="2023-09-26T08:43:58.294" v="11" actId="20577"/>
        <pc:sldMkLst>
          <pc:docMk/>
          <pc:sldMk cId="2855884619" sldId="333"/>
        </pc:sldMkLst>
        <pc:spChg chg="mod">
          <ac:chgData name="Ben Pfeifer" userId="fb68dd40a6c6cee7" providerId="LiveId" clId="{F5689B02-9B51-45BF-BCF3-FB651D3CF0E9}" dt="2023-09-26T08:43:58.294" v="11" actId="20577"/>
          <ac:spMkLst>
            <pc:docMk/>
            <pc:sldMk cId="2855884619" sldId="333"/>
            <ac:spMk id="527363" creationId="{00000000-0000-0000-0000-000000000000}"/>
          </ac:spMkLst>
        </pc:spChg>
      </pc:sldChg>
      <pc:sldChg chg="modSp mod">
        <pc:chgData name="Ben Pfeifer" userId="fb68dd40a6c6cee7" providerId="LiveId" clId="{F5689B02-9B51-45BF-BCF3-FB651D3CF0E9}" dt="2023-09-26T08:44:10.225" v="12" actId="20577"/>
        <pc:sldMkLst>
          <pc:docMk/>
          <pc:sldMk cId="327391222" sldId="340"/>
        </pc:sldMkLst>
        <pc:spChg chg="mod">
          <ac:chgData name="Ben Pfeifer" userId="fb68dd40a6c6cee7" providerId="LiveId" clId="{F5689B02-9B51-45BF-BCF3-FB651D3CF0E9}" dt="2023-09-26T08:44:10.225" v="12" actId="20577"/>
          <ac:spMkLst>
            <pc:docMk/>
            <pc:sldMk cId="327391222" sldId="340"/>
            <ac:spMk id="8195" creationId="{00000000-0000-0000-0000-000000000000}"/>
          </ac:spMkLst>
        </pc:spChg>
      </pc:sldChg>
      <pc:sldChg chg="modSp mod">
        <pc:chgData name="Ben Pfeifer" userId="fb68dd40a6c6cee7" providerId="LiveId" clId="{F5689B02-9B51-45BF-BCF3-FB651D3CF0E9}" dt="2023-09-26T08:45:27.327" v="14" actId="12385"/>
        <pc:sldMkLst>
          <pc:docMk/>
          <pc:sldMk cId="3197949703" sldId="381"/>
        </pc:sldMkLst>
        <pc:graphicFrameChg chg="modGraphic">
          <ac:chgData name="Ben Pfeifer" userId="fb68dd40a6c6cee7" providerId="LiveId" clId="{F5689B02-9B51-45BF-BCF3-FB651D3CF0E9}" dt="2023-09-26T08:45:27.327" v="14" actId="12385"/>
          <ac:graphicFrameMkLst>
            <pc:docMk/>
            <pc:sldMk cId="3197949703" sldId="381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F5689B02-9B51-45BF-BCF3-FB651D3CF0E9}" dt="2023-09-26T08:45:29.946" v="15" actId="12385"/>
        <pc:sldMkLst>
          <pc:docMk/>
          <pc:sldMk cId="3285011412" sldId="382"/>
        </pc:sldMkLst>
        <pc:graphicFrameChg chg="modGraphic">
          <ac:chgData name="Ben Pfeifer" userId="fb68dd40a6c6cee7" providerId="LiveId" clId="{F5689B02-9B51-45BF-BCF3-FB651D3CF0E9}" dt="2023-09-26T08:45:29.946" v="15" actId="12385"/>
          <ac:graphicFrameMkLst>
            <pc:docMk/>
            <pc:sldMk cId="3285011412" sldId="382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F5689B02-9B51-45BF-BCF3-FB651D3CF0E9}" dt="2023-09-26T08:45:32.924" v="16" actId="12385"/>
        <pc:sldMkLst>
          <pc:docMk/>
          <pc:sldMk cId="1547458803" sldId="383"/>
        </pc:sldMkLst>
        <pc:graphicFrameChg chg="modGraphic">
          <ac:chgData name="Ben Pfeifer" userId="fb68dd40a6c6cee7" providerId="LiveId" clId="{F5689B02-9B51-45BF-BCF3-FB651D3CF0E9}" dt="2023-09-26T08:45:32.924" v="16" actId="12385"/>
          <ac:graphicFrameMkLst>
            <pc:docMk/>
            <pc:sldMk cId="1547458803" sldId="383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F5689B02-9B51-45BF-BCF3-FB651D3CF0E9}" dt="2023-09-26T08:45:35.304" v="17" actId="12385"/>
        <pc:sldMkLst>
          <pc:docMk/>
          <pc:sldMk cId="4241008930" sldId="384"/>
        </pc:sldMkLst>
        <pc:graphicFrameChg chg="modGraphic">
          <ac:chgData name="Ben Pfeifer" userId="fb68dd40a6c6cee7" providerId="LiveId" clId="{F5689B02-9B51-45BF-BCF3-FB651D3CF0E9}" dt="2023-09-26T08:45:35.304" v="17" actId="12385"/>
          <ac:graphicFrameMkLst>
            <pc:docMk/>
            <pc:sldMk cId="4241008930" sldId="384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F5689B02-9B51-45BF-BCF3-FB651D3CF0E9}" dt="2023-09-26T08:45:39.066" v="18" actId="12385"/>
        <pc:sldMkLst>
          <pc:docMk/>
          <pc:sldMk cId="2145399738" sldId="402"/>
        </pc:sldMkLst>
        <pc:graphicFrameChg chg="modGraphic">
          <ac:chgData name="Ben Pfeifer" userId="fb68dd40a6c6cee7" providerId="LiveId" clId="{F5689B02-9B51-45BF-BCF3-FB651D3CF0E9}" dt="2023-09-26T08:45:39.066" v="18" actId="12385"/>
          <ac:graphicFrameMkLst>
            <pc:docMk/>
            <pc:sldMk cId="2145399738" sldId="402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F5689B02-9B51-45BF-BCF3-FB651D3CF0E9}" dt="2023-09-26T08:45:41.679" v="19" actId="12385"/>
        <pc:sldMkLst>
          <pc:docMk/>
          <pc:sldMk cId="327310102" sldId="404"/>
        </pc:sldMkLst>
        <pc:graphicFrameChg chg="modGraphic">
          <ac:chgData name="Ben Pfeifer" userId="fb68dd40a6c6cee7" providerId="LiveId" clId="{F5689B02-9B51-45BF-BCF3-FB651D3CF0E9}" dt="2023-09-26T08:45:41.679" v="19" actId="12385"/>
          <ac:graphicFrameMkLst>
            <pc:docMk/>
            <pc:sldMk cId="327310102" sldId="404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F5689B02-9B51-45BF-BCF3-FB651D3CF0E9}" dt="2023-09-26T08:45:44.279" v="20" actId="12385"/>
        <pc:sldMkLst>
          <pc:docMk/>
          <pc:sldMk cId="1690425886" sldId="406"/>
        </pc:sldMkLst>
        <pc:graphicFrameChg chg="modGraphic">
          <ac:chgData name="Ben Pfeifer" userId="fb68dd40a6c6cee7" providerId="LiveId" clId="{F5689B02-9B51-45BF-BCF3-FB651D3CF0E9}" dt="2023-09-26T08:45:44.279" v="20" actId="12385"/>
          <ac:graphicFrameMkLst>
            <pc:docMk/>
            <pc:sldMk cId="1690425886" sldId="406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F5689B02-9B51-45BF-BCF3-FB651D3CF0E9}" dt="2023-09-26T08:45:47.044" v="21" actId="12385"/>
        <pc:sldMkLst>
          <pc:docMk/>
          <pc:sldMk cId="3582009523" sldId="408"/>
        </pc:sldMkLst>
        <pc:graphicFrameChg chg="modGraphic">
          <ac:chgData name="Ben Pfeifer" userId="fb68dd40a6c6cee7" providerId="LiveId" clId="{F5689B02-9B51-45BF-BCF3-FB651D3CF0E9}" dt="2023-09-26T08:45:47.044" v="21" actId="12385"/>
          <ac:graphicFrameMkLst>
            <pc:docMk/>
            <pc:sldMk cId="3582009523" sldId="408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F5689B02-9B51-45BF-BCF3-FB651D3CF0E9}" dt="2023-09-26T08:45:49.631" v="22" actId="12385"/>
        <pc:sldMkLst>
          <pc:docMk/>
          <pc:sldMk cId="3589948913" sldId="410"/>
        </pc:sldMkLst>
        <pc:graphicFrameChg chg="modGraphic">
          <ac:chgData name="Ben Pfeifer" userId="fb68dd40a6c6cee7" providerId="LiveId" clId="{F5689B02-9B51-45BF-BCF3-FB651D3CF0E9}" dt="2023-09-26T08:45:49.631" v="22" actId="12385"/>
          <ac:graphicFrameMkLst>
            <pc:docMk/>
            <pc:sldMk cId="3589948913" sldId="410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F5689B02-9B51-45BF-BCF3-FB651D3CF0E9}" dt="2023-09-26T08:45:20.002" v="13" actId="13244"/>
        <pc:sldMkLst>
          <pc:docMk/>
          <pc:sldMk cId="2525726006" sldId="419"/>
        </pc:sldMkLst>
        <pc:spChg chg="ord">
          <ac:chgData name="Ben Pfeifer" userId="fb68dd40a6c6cee7" providerId="LiveId" clId="{F5689B02-9B51-45BF-BCF3-FB651D3CF0E9}" dt="2023-09-26T08:45:20.002" v="13" actId="13244"/>
          <ac:spMkLst>
            <pc:docMk/>
            <pc:sldMk cId="2525726006" sldId="419"/>
            <ac:spMk id="7" creationId="{00000000-0000-0000-0000-000000000000}"/>
          </ac:spMkLst>
        </pc:spChg>
      </pc:sldChg>
      <pc:sldMasterChg chg="modSp mod">
        <pc:chgData name="Ben Pfeifer" userId="fb68dd40a6c6cee7" providerId="LiveId" clId="{F5689B02-9B51-45BF-BCF3-FB651D3CF0E9}" dt="2023-09-26T08:43:31.360" v="10" actId="20577"/>
        <pc:sldMasterMkLst>
          <pc:docMk/>
          <pc:sldMasterMk cId="0" sldId="2147483762"/>
        </pc:sldMasterMkLst>
        <pc:spChg chg="mod">
          <ac:chgData name="Ben Pfeifer" userId="fb68dd40a6c6cee7" providerId="LiveId" clId="{F5689B02-9B51-45BF-BCF3-FB651D3CF0E9}" dt="2023-09-26T08:43:31.360" v="10" actId="20577"/>
          <ac:spMkLst>
            <pc:docMk/>
            <pc:sldMasterMk cId="0" sldId="2147483762"/>
            <ac:spMk id="1031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FB9E71A-E6C8-4FD3-B040-DCC6247393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465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9DD8956B-8F79-4131-A174-E4232C9451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3619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AC2C64A-D7EA-4AB8-94FB-7FAE16BF0782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83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29A776A-2380-4AF3-8972-A9B954076246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79146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D8AAF30-2EE8-45BC-AEF9-BF38FE574958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092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8918DA2-7C78-42BB-8E67-9B12C561757B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973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D164FE5-0930-434B-839C-648F03BD1095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537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19A2822-EBD3-44D4-8C67-ADE96D447F3E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chemical messengers called? </a:t>
            </a:r>
            <a:r>
              <a:rPr lang="en-US" altLang="en-US" i="1">
                <a:latin typeface="Times New Roman" panose="02020603050405020304" pitchFamily="18" charset="0"/>
              </a:rPr>
              <a:t>(Hormones)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do white blood cells do? </a:t>
            </a:r>
            <a:r>
              <a:rPr lang="en-US" altLang="en-US" i="1">
                <a:latin typeface="Times New Roman" panose="02020603050405020304" pitchFamily="18" charset="0"/>
              </a:rPr>
              <a:t>(Fight infection)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do platelets do? </a:t>
            </a:r>
            <a:r>
              <a:rPr lang="en-US" altLang="en-US" i="1">
                <a:latin typeface="Times New Roman" panose="02020603050405020304" pitchFamily="18" charset="0"/>
              </a:rPr>
              <a:t>(Help the blood clot)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the medical term for WBC? </a:t>
            </a:r>
            <a:r>
              <a:rPr lang="en-US" altLang="en-US" i="1">
                <a:latin typeface="Times New Roman" panose="02020603050405020304" pitchFamily="18" charset="0"/>
              </a:rPr>
              <a:t>(Leukocyte)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the medical term for platelet? </a:t>
            </a:r>
            <a:r>
              <a:rPr lang="en-US" altLang="en-US" i="1">
                <a:latin typeface="Times New Roman" panose="02020603050405020304" pitchFamily="18" charset="0"/>
              </a:rPr>
              <a:t>(Thrombocyte)</a:t>
            </a:r>
          </a:p>
        </p:txBody>
      </p:sp>
    </p:spTree>
    <p:extLst>
      <p:ext uri="{BB962C8B-B14F-4D97-AF65-F5344CB8AC3E}">
        <p14:creationId xmlns:p14="http://schemas.microsoft.com/office/powerpoint/2010/main" val="2592252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5FAD32CD-D8DC-48B0-8AD1-852C2ED2938B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cells? </a:t>
            </a:r>
            <a:r>
              <a:rPr lang="en-US" altLang="en-US" i="1">
                <a:latin typeface="Times New Roman" panose="02020603050405020304" pitchFamily="18" charset="0"/>
              </a:rPr>
              <a:t>(Formed elements, suspended in a clear, straw-colored liquid called plasma.)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percentage of blood volume do cells constitute? </a:t>
            </a:r>
            <a:r>
              <a:rPr lang="en-US" altLang="en-US" i="1">
                <a:latin typeface="Times New Roman" panose="02020603050405020304" pitchFamily="18" charset="0"/>
              </a:rPr>
              <a:t>(45%</a:t>
            </a:r>
            <a:r>
              <a:rPr lang="en-US" altLang="en-US">
                <a:latin typeface="Times New Roman" panose="02020603050405020304" pitchFamily="18" charset="0"/>
              </a:rPr>
              <a:t>. </a:t>
            </a:r>
            <a:r>
              <a:rPr lang="en-US" altLang="en-US" i="1">
                <a:latin typeface="Times New Roman" panose="02020603050405020304" pitchFamily="18" charset="0"/>
              </a:rPr>
              <a:t>The other 55% are items listed here.)</a:t>
            </a:r>
          </a:p>
        </p:txBody>
      </p:sp>
    </p:spTree>
    <p:extLst>
      <p:ext uri="{BB962C8B-B14F-4D97-AF65-F5344CB8AC3E}">
        <p14:creationId xmlns:p14="http://schemas.microsoft.com/office/powerpoint/2010/main" val="2918940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56A91F4-7472-45D9-AF7D-34283EE0F510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an immature red blood cell called? </a:t>
            </a:r>
            <a:r>
              <a:rPr lang="en-US" altLang="en-US" i="1">
                <a:latin typeface="Times New Roman" panose="02020603050405020304" pitchFamily="18" charset="0"/>
              </a:rPr>
              <a:t>(Erythroblast)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Where do erythrocytes originate? </a:t>
            </a:r>
            <a:r>
              <a:rPr lang="en-US" altLang="en-US" i="1">
                <a:latin typeface="Times New Roman" panose="02020603050405020304" pitchFamily="18" charset="0"/>
              </a:rPr>
              <a:t>(In bone marrow)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cells in the spleen, liver, and bone marrow that destroy worn-out erythrocytes? </a:t>
            </a:r>
            <a:r>
              <a:rPr lang="en-US" altLang="en-US" i="1">
                <a:latin typeface="Times New Roman" panose="02020603050405020304" pitchFamily="18" charset="0"/>
              </a:rPr>
              <a:t>(Macrophages)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a phagocyte?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See the next slide. Review a normal differential of these cell types in a smear of whole peripheral blood. </a:t>
            </a:r>
          </a:p>
        </p:txBody>
      </p:sp>
    </p:spTree>
    <p:extLst>
      <p:ext uri="{BB962C8B-B14F-4D97-AF65-F5344CB8AC3E}">
        <p14:creationId xmlns:p14="http://schemas.microsoft.com/office/powerpoint/2010/main" val="4282987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9E37E0A-8EA0-4241-A11D-4FFE269E715E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46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3EA0BAA-84F1-4BBE-B88A-39E32A255256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Describe each section of the chart.</a:t>
            </a:r>
          </a:p>
        </p:txBody>
      </p:sp>
    </p:spTree>
    <p:extLst>
      <p:ext uri="{BB962C8B-B14F-4D97-AF65-F5344CB8AC3E}">
        <p14:creationId xmlns:p14="http://schemas.microsoft.com/office/powerpoint/2010/main" val="3851394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85B27A8-BD52-4F6E-8620-55BD609C9BA8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fibrinogen and prothrombin? </a:t>
            </a:r>
            <a:r>
              <a:rPr lang="en-US" altLang="en-US" i="1">
                <a:latin typeface="Times New Roman" panose="02020603050405020304" pitchFamily="18" charset="0"/>
              </a:rPr>
              <a:t>(Clotting proteins)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does albumin do? </a:t>
            </a:r>
            <a:r>
              <a:rPr lang="en-US" altLang="en-US" i="1">
                <a:latin typeface="Times New Roman" panose="02020603050405020304" pitchFamily="18" charset="0"/>
              </a:rPr>
              <a:t>(Maintains the proper proportion and concentration of water in the blood)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globulins? </a:t>
            </a:r>
            <a:r>
              <a:rPr lang="en-US" altLang="en-US" i="1">
                <a:latin typeface="Times New Roman" panose="02020603050405020304" pitchFamily="18" charset="0"/>
              </a:rPr>
              <a:t>(Another part of the blood containing plasma proteins: alpha, beta, and gamma globulins)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immunoglobulins? </a:t>
            </a:r>
            <a:r>
              <a:rPr lang="en-US" altLang="en-US" i="1">
                <a:latin typeface="Times New Roman" panose="02020603050405020304" pitchFamily="18" charset="0"/>
              </a:rPr>
              <a:t>(Antibodies that bind to and sometimes destroy antigens or foreign substances, ie., IgG, IgA)</a:t>
            </a:r>
          </a:p>
        </p:txBody>
      </p:sp>
    </p:spTree>
    <p:extLst>
      <p:ext uri="{BB962C8B-B14F-4D97-AF65-F5344CB8AC3E}">
        <p14:creationId xmlns:p14="http://schemas.microsoft.com/office/powerpoint/2010/main" val="1493632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38A3AAB-BC69-46C2-BEF2-0B28F9AAADC7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Why is blood type matching important for transfusions?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Rh factor? What is the difference between Rh-positive and Rh-negative?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Why is blood type matching important for identification of pregnancy? </a:t>
            </a:r>
            <a:r>
              <a:rPr lang="en-US" altLang="en-US" i="1">
                <a:latin typeface="Times New Roman" panose="02020603050405020304" pitchFamily="18" charset="0"/>
              </a:rPr>
              <a:t>(Most people are Rh positive so problem arises with Rh negative mother with Rh positive fetus.)</a:t>
            </a:r>
          </a:p>
        </p:txBody>
      </p:sp>
    </p:spTree>
    <p:extLst>
      <p:ext uri="{BB962C8B-B14F-4D97-AF65-F5344CB8AC3E}">
        <p14:creationId xmlns:p14="http://schemas.microsoft.com/office/powerpoint/2010/main" val="574098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E7998D6-D12C-4987-85E3-AF53C13A577F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blood clotting or coagulation? 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The final result (usually taking less than 15 minutes) is the formation of a fibrin clot from the plasma protein fibrinogen.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Why are platelets important in the beginning of the process following injury to tissues or blood vessels?</a:t>
            </a:r>
          </a:p>
        </p:txBody>
      </p:sp>
    </p:spTree>
    <p:extLst>
      <p:ext uri="{BB962C8B-B14F-4D97-AF65-F5344CB8AC3E}">
        <p14:creationId xmlns:p14="http://schemas.microsoft.com/office/powerpoint/2010/main" val="2053772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1802D4B-443C-4596-8224-45826672FF9A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The correct answer is D: red blood cells.</a:t>
            </a:r>
          </a:p>
        </p:txBody>
      </p:sp>
    </p:spTree>
    <p:extLst>
      <p:ext uri="{BB962C8B-B14F-4D97-AF65-F5344CB8AC3E}">
        <p14:creationId xmlns:p14="http://schemas.microsoft.com/office/powerpoint/2010/main" val="1534181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DBD86E8-0264-4665-9878-8DE55813A0AF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The correct answer is C: thrombocytes.</a:t>
            </a:r>
          </a:p>
        </p:txBody>
      </p:sp>
    </p:spTree>
    <p:extLst>
      <p:ext uri="{BB962C8B-B14F-4D97-AF65-F5344CB8AC3E}">
        <p14:creationId xmlns:p14="http://schemas.microsoft.com/office/powerpoint/2010/main" val="2252317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5925ED3-AA80-407C-B4D0-858F17EAE680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Ask meanings and examples of terms.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thrombolytic therapy? </a:t>
            </a:r>
            <a:r>
              <a:rPr lang="en-US" altLang="en-US" i="1">
                <a:latin typeface="Times New Roman" panose="02020603050405020304" pitchFamily="18" charset="0"/>
              </a:rPr>
              <a:t>(Used to dissolve clots)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plasmapheresis? </a:t>
            </a:r>
            <a:r>
              <a:rPr lang="en-US" altLang="en-US" i="1">
                <a:latin typeface="Times New Roman" panose="02020603050405020304" pitchFamily="18" charset="0"/>
              </a:rPr>
              <a:t>(A centrifuge spins blood to remove plasma from the other parts of the blood.)</a:t>
            </a:r>
          </a:p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779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C60B81B-40A3-4D23-B715-A915736B4D2F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007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1352EE5-DD71-4C49-B95A-3CE51AF435CF}" type="slidenum">
              <a:rPr lang="en-US" altLang="en-US" sz="1200"/>
              <a:pPr/>
              <a:t>51</a:t>
            </a:fld>
            <a:endParaRPr lang="en-US" alt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the most common type of anemia? </a:t>
            </a:r>
            <a:r>
              <a:rPr lang="en-US" altLang="en-US" i="1">
                <a:latin typeface="Times New Roman" panose="02020603050405020304" pitchFamily="18" charset="0"/>
              </a:rPr>
              <a:t>(Iron-deficiency anemia)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an example of hemolytic anemia? </a:t>
            </a:r>
            <a:r>
              <a:rPr lang="en-US" altLang="en-US" i="1">
                <a:latin typeface="Times New Roman" panose="02020603050405020304" pitchFamily="18" charset="0"/>
              </a:rPr>
              <a:t>(Congenital spherocytic anemia)</a:t>
            </a:r>
          </a:p>
          <a:p>
            <a:pPr eaLnBrk="1" hangingPunct="1">
              <a:buFontTx/>
              <a:buChar char="•"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027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F8F89FF-8D9E-4367-826B-C774FE775619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0089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EE4375E-A36E-49AA-A4F9-977E94860A21}" type="slidenum">
              <a:rPr lang="en-US" altLang="en-US" sz="1200"/>
              <a:pPr/>
              <a:t>53</a:t>
            </a:fld>
            <a:endParaRPr lang="en-US" alt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7338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DB370AE-5BCE-4608-AEE3-DA21E80EAD58}" type="slidenum">
              <a:rPr lang="en-US" altLang="en-US" sz="1200"/>
              <a:pPr/>
              <a:t>54</a:t>
            </a:fld>
            <a:endParaRPr lang="en-US" alt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</a:rPr>
              <a:t>The correct answer is C: iron deficiency anemia.</a:t>
            </a:r>
          </a:p>
        </p:txBody>
      </p:sp>
    </p:spTree>
    <p:extLst>
      <p:ext uri="{BB962C8B-B14F-4D97-AF65-F5344CB8AC3E}">
        <p14:creationId xmlns:p14="http://schemas.microsoft.com/office/powerpoint/2010/main" val="17364614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8B91756-DF86-4E3F-915A-20D7BA1F14C8}" type="slidenum">
              <a:rPr lang="en-US" altLang="en-US" sz="1200"/>
              <a:pPr/>
              <a:t>55</a:t>
            </a:fld>
            <a:endParaRPr lang="en-US" alt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Persons of what background are prone to thalassemia? </a:t>
            </a:r>
            <a:r>
              <a:rPr lang="en-US" altLang="en-US" i="1">
                <a:latin typeface="Times New Roman" panose="02020603050405020304" pitchFamily="18" charset="0"/>
              </a:rPr>
              <a:t>(Mediterranean)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Sickle cell is prevalent among which group? </a:t>
            </a:r>
            <a:r>
              <a:rPr lang="en-US" altLang="en-US" i="1">
                <a:latin typeface="Times New Roman" panose="02020603050405020304" pitchFamily="18" charset="0"/>
              </a:rPr>
              <a:t>(Black people of African or African-American ancestry) </a:t>
            </a:r>
            <a:r>
              <a:rPr lang="en-US" altLang="en-US">
                <a:latin typeface="Times New Roman" panose="02020603050405020304" pitchFamily="18" charset="0"/>
              </a:rPr>
              <a:t>Why? </a:t>
            </a:r>
            <a:r>
              <a:rPr lang="en-US" altLang="en-US" i="1">
                <a:latin typeface="Times New Roman" panose="02020603050405020304" pitchFamily="18" charset="0"/>
              </a:rPr>
              <a:t>(Sickling is a genetic response to malaria.)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treatment is used for polycythemia vera? How is this similar to doping?</a:t>
            </a:r>
          </a:p>
        </p:txBody>
      </p:sp>
    </p:spTree>
    <p:extLst>
      <p:ext uri="{BB962C8B-B14F-4D97-AF65-F5344CB8AC3E}">
        <p14:creationId xmlns:p14="http://schemas.microsoft.com/office/powerpoint/2010/main" val="34020058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F6E529D-9746-4CE4-B14F-6147614D8D03}" type="slidenum">
              <a:rPr lang="en-US" altLang="en-US" sz="1200"/>
              <a:pPr/>
              <a:t>56</a:t>
            </a:fld>
            <a:endParaRPr lang="en-US" altLang="en-US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a treatment for hemophilia? </a:t>
            </a:r>
            <a:r>
              <a:rPr lang="en-US" altLang="en-US" i="1">
                <a:latin typeface="Times New Roman" panose="02020603050405020304" pitchFamily="18" charset="0"/>
              </a:rPr>
              <a:t>(Administration of the deficient factor)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autoimmune thrombocytopenic purpura? </a:t>
            </a:r>
            <a:r>
              <a:rPr lang="en-US" altLang="en-US" i="1">
                <a:latin typeface="Times New Roman" panose="02020603050405020304" pitchFamily="18" charset="0"/>
              </a:rPr>
              <a:t>(A condition in which a patient</a:t>
            </a:r>
            <a:r>
              <a:rPr lang="ja-JP" altLang="en-US" i="1">
                <a:latin typeface="Times New Roman" panose="02020603050405020304" pitchFamily="18" charset="0"/>
              </a:rPr>
              <a:t>’</a:t>
            </a:r>
            <a:r>
              <a:rPr lang="en-US" altLang="ja-JP" i="1">
                <a:latin typeface="Times New Roman" panose="02020603050405020304" pitchFamily="18" charset="0"/>
              </a:rPr>
              <a:t>s body makes an antibody that destroys platelets)</a:t>
            </a:r>
            <a:endParaRPr lang="en-US" altLang="en-US" i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394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2237C1C-4C49-4E97-9916-9514E938422C}" type="slidenum">
              <a:rPr lang="en-US" altLang="en-US" sz="1200"/>
              <a:pPr/>
              <a:t>57</a:t>
            </a:fld>
            <a:endParaRPr lang="en-US" alt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characteristics of acute leukemia? 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form of leukemia is most often in children and adolescents? </a:t>
            </a:r>
            <a:r>
              <a:rPr lang="en-US" altLang="en-US" i="1">
                <a:latin typeface="Times New Roman" panose="02020603050405020304" pitchFamily="18" charset="0"/>
              </a:rPr>
              <a:t>(ALL)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form of leukemia usually occurs in the elderly and follows a slowly progressive course? </a:t>
            </a:r>
            <a:r>
              <a:rPr lang="en-US" altLang="en-US" i="1">
                <a:latin typeface="Times New Roman" panose="02020603050405020304" pitchFamily="18" charset="0"/>
              </a:rPr>
              <a:t>(CLL)</a:t>
            </a:r>
          </a:p>
        </p:txBody>
      </p:sp>
    </p:spTree>
    <p:extLst>
      <p:ext uri="{BB962C8B-B14F-4D97-AF65-F5344CB8AC3E}">
        <p14:creationId xmlns:p14="http://schemas.microsoft.com/office/powerpoint/2010/main" val="8667908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 The terms acute and chronic discriminate between </a:t>
            </a:r>
            <a:r>
              <a:rPr lang="en-US" altLang="en-US" dirty="0" err="1">
                <a:latin typeface="Times New Roman" panose="02020603050405020304" pitchFamily="18" charset="0"/>
              </a:rPr>
              <a:t>leukemias</a:t>
            </a:r>
            <a:r>
              <a:rPr lang="en-US" altLang="en-US" dirty="0">
                <a:latin typeface="Times New Roman" panose="02020603050405020304" pitchFamily="18" charset="0"/>
              </a:rPr>
              <a:t> of primarily immature and mature leukocytes.</a:t>
            </a:r>
          </a:p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D8956B-8F79-4131-A174-E4232C945132}" type="slidenum">
              <a:rPr lang="en-US" altLang="en-US" smtClean="0"/>
              <a:pPr/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52597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B23B48-1680-4B25-AB0D-C55739226CBB}" type="slidenum">
              <a:rPr lang="en-US" altLang="en-US" sz="1200"/>
              <a:pPr/>
              <a:t>59</a:t>
            </a:fld>
            <a:endParaRPr lang="en-US" alt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How is mononucleosis usually transmitted? </a:t>
            </a:r>
            <a:r>
              <a:rPr lang="en-US" altLang="en-US" i="1">
                <a:latin typeface="Times New Roman" panose="02020603050405020304" pitchFamily="18" charset="0"/>
              </a:rPr>
              <a:t>(By oral contact)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Is treatment necessary for EBV infections? </a:t>
            </a:r>
            <a:r>
              <a:rPr lang="en-US" altLang="en-US" i="1">
                <a:latin typeface="Times New Roman" panose="02020603050405020304" pitchFamily="18" charset="0"/>
              </a:rPr>
              <a:t>(No)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eosinophilia? </a:t>
            </a:r>
            <a:r>
              <a:rPr lang="en-US" altLang="en-US" i="1">
                <a:latin typeface="Times New Roman" panose="02020603050405020304" pitchFamily="18" charset="0"/>
              </a:rPr>
              <a:t>(An increase in eosinophilic granulocytes, seen in certain allergic conditions)</a:t>
            </a:r>
          </a:p>
        </p:txBody>
      </p:sp>
    </p:spTree>
    <p:extLst>
      <p:ext uri="{BB962C8B-B14F-4D97-AF65-F5344CB8AC3E}">
        <p14:creationId xmlns:p14="http://schemas.microsoft.com/office/powerpoint/2010/main" val="3084287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2159EF9-0985-41E4-A038-355CB9F38F97}" type="slidenum">
              <a:rPr lang="en-US" altLang="en-US" sz="1200"/>
              <a:pPr/>
              <a:t>60</a:t>
            </a:fld>
            <a:endParaRPr lang="en-US" altLang="en-US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The malignant cells destroy bone tissue and cause the overproduction of immunoglobulins, including Bence Jones protein. 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Bence Jones protein? </a:t>
            </a:r>
            <a:r>
              <a:rPr lang="en-US" altLang="en-US" i="1">
                <a:latin typeface="Times New Roman" panose="02020603050405020304" pitchFamily="18" charset="0"/>
              </a:rPr>
              <a:t>(An immunoglobulin fragment found in urine)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How is this treated?</a:t>
            </a:r>
          </a:p>
        </p:txBody>
      </p:sp>
    </p:spTree>
    <p:extLst>
      <p:ext uri="{BB962C8B-B14F-4D97-AF65-F5344CB8AC3E}">
        <p14:creationId xmlns:p14="http://schemas.microsoft.com/office/powerpoint/2010/main" val="39348808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21B28ED-11C7-48BD-8EE3-73093F3CB0AA}" type="slidenum">
              <a:rPr lang="en-US" altLang="en-US" sz="1200"/>
              <a:pPr/>
              <a:t>61</a:t>
            </a:fld>
            <a:endParaRPr lang="en-US" alt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775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DE81536-DB85-43EC-8686-D7BB0174390C}" type="slidenum">
              <a:rPr lang="en-US" altLang="en-US" sz="1200"/>
              <a:pPr/>
              <a:t>62</a:t>
            </a:fld>
            <a:endParaRPr lang="en-US" altLang="en-US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What is the speed at which erythrocytes settle out of plasma? </a:t>
            </a:r>
            <a:r>
              <a:rPr lang="en-US" altLang="en-US" i="1" dirty="0">
                <a:latin typeface="Times New Roman" panose="02020603050405020304" pitchFamily="18" charset="0"/>
              </a:rPr>
              <a:t>(ESR or </a:t>
            </a:r>
            <a:r>
              <a:rPr lang="en-US" altLang="en-US" i="1" dirty="0" err="1">
                <a:latin typeface="Times New Roman" panose="02020603050405020304" pitchFamily="18" charset="0"/>
              </a:rPr>
              <a:t>sed</a:t>
            </a:r>
            <a:r>
              <a:rPr lang="en-US" altLang="en-US" i="1" dirty="0">
                <a:latin typeface="Times New Roman" panose="02020603050405020304" pitchFamily="18" charset="0"/>
              </a:rPr>
              <a:t> rate)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 What test finds the total amount of hemoglobin in a sample of peripheral blood? </a:t>
            </a:r>
            <a:r>
              <a:rPr lang="en-US" altLang="en-US" i="1" dirty="0">
                <a:latin typeface="Times New Roman" panose="02020603050405020304" pitchFamily="18" charset="0"/>
              </a:rPr>
              <a:t>(Hemoglobin test)</a:t>
            </a:r>
          </a:p>
        </p:txBody>
      </p:sp>
    </p:spTree>
    <p:extLst>
      <p:ext uri="{BB962C8B-B14F-4D97-AF65-F5344CB8AC3E}">
        <p14:creationId xmlns:p14="http://schemas.microsoft.com/office/powerpoint/2010/main" val="41764131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8C2D259-2A64-4808-99AC-AE775DFFFBBD}" type="slidenum">
              <a:rPr lang="en-US" altLang="en-US" sz="1200"/>
              <a:pPr/>
              <a:t>63</a:t>
            </a:fld>
            <a:endParaRPr lang="en-US" alt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the number of leukocytes per cubic millimeter or microliter? </a:t>
            </a:r>
            <a:r>
              <a:rPr lang="en-US" altLang="en-US" i="1">
                <a:latin typeface="Times New Roman" panose="02020603050405020304" pitchFamily="18" charset="0"/>
              </a:rPr>
              <a:t>(WBC)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determines the percentage of the total WBC made up by different types of leukocytes? </a:t>
            </a:r>
            <a:r>
              <a:rPr lang="en-US" altLang="en-US" i="1">
                <a:latin typeface="Times New Roman" panose="02020603050405020304" pitchFamily="18" charset="0"/>
              </a:rPr>
              <a:t>(White blood cell differential)</a:t>
            </a:r>
          </a:p>
        </p:txBody>
      </p:sp>
    </p:spTree>
    <p:extLst>
      <p:ext uri="{BB962C8B-B14F-4D97-AF65-F5344CB8AC3E}">
        <p14:creationId xmlns:p14="http://schemas.microsoft.com/office/powerpoint/2010/main" val="10874389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BD9387F-3F4A-4B25-9CC9-AF4E2F0BEB4D}" type="slidenum">
              <a:rPr lang="en-US" altLang="en-US" sz="1200"/>
              <a:pPr/>
              <a:t>64</a:t>
            </a:fld>
            <a:endParaRPr lang="en-US" altLang="en-US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plasma exchange? </a:t>
            </a:r>
            <a:r>
              <a:rPr lang="en-US" altLang="en-US" i="1">
                <a:latin typeface="Times New Roman" panose="02020603050405020304" pitchFamily="18" charset="0"/>
              </a:rPr>
              <a:t>(A procedure in which plasma is removed from the patient and fresh plasma is given)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autologous transfusion? </a:t>
            </a:r>
            <a:r>
              <a:rPr lang="en-US" altLang="en-US" i="1">
                <a:latin typeface="Times New Roman" panose="02020603050405020304" pitchFamily="18" charset="0"/>
              </a:rPr>
              <a:t>(The collection and later reinfusion of a patient</a:t>
            </a:r>
            <a:r>
              <a:rPr lang="ja-JP" altLang="en-US" i="1">
                <a:latin typeface="Times New Roman" panose="02020603050405020304" pitchFamily="18" charset="0"/>
              </a:rPr>
              <a:t>’</a:t>
            </a:r>
            <a:r>
              <a:rPr lang="en-US" altLang="ja-JP" i="1">
                <a:latin typeface="Times New Roman" panose="02020603050405020304" pitchFamily="18" charset="0"/>
              </a:rPr>
              <a:t>s own blood or blood components)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a bone marrow aspirate? </a:t>
            </a:r>
            <a:r>
              <a:rPr lang="en-US" altLang="en-US" i="1">
                <a:latin typeface="Times New Roman" panose="02020603050405020304" pitchFamily="18" charset="0"/>
              </a:rPr>
              <a:t>(When bone marrow is removed by brief suction produced by a syringe)</a:t>
            </a:r>
          </a:p>
        </p:txBody>
      </p:sp>
    </p:spTree>
    <p:extLst>
      <p:ext uri="{BB962C8B-B14F-4D97-AF65-F5344CB8AC3E}">
        <p14:creationId xmlns:p14="http://schemas.microsoft.com/office/powerpoint/2010/main" val="780580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4F46A433-53BE-44F2-B0BE-CD4AA7F6F7B2}" type="slidenum"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124200" y="5859295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Rectangle 8"/>
          <p:cNvSpPr txBox="1">
            <a:spLocks noGrp="1" noChangeArrowheads="1"/>
          </p:cNvSpPr>
          <p:nvPr userDrawn="1"/>
        </p:nvSpPr>
        <p:spPr bwMode="auto">
          <a:xfrm>
            <a:off x="917575" y="6444916"/>
            <a:ext cx="77692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65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D8646-B954-479C-A337-986E442FC1A9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C3B6F8-FB65-40D1-9D78-3B0834AA29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55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6FB1C-0B93-4FFC-AFAC-202B5BB6FD8D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D0EB3D-4C75-400C-847F-27CED06B60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65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1BE0B-DC10-4A86-884B-421A21A3786F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988B2-9A38-4469-A73A-3A8A3875C8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411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8196F-BB54-4DF1-9DDF-EB61181FD455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9FD97-2CE7-4101-9BDA-A6CDF9D7F1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81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13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F424A-0666-4F8A-AE0B-042263A2F523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sz="1000" baseline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923256-9629-4751-9FC7-D9A617797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222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C957C-8A28-4346-A91E-3181E23B9FC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23BBEA-FBE4-4D1C-948E-35E3FD648A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12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414B3-CE71-4CAC-BF20-28E9BC6B1BB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C2544-6AE1-4FFD-9204-B2754DEAA1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0667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89D59-B1E6-4DCF-8F4C-326D6ED2C2B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B8DA79-2483-40AE-83CF-C031752A90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0537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F2560-A50C-4A12-98A3-C5D77FC1843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8CD66-7605-4E45-9E45-CFA0ED8972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6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1F176B-337D-4B0C-9E0F-CF98E924232A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28A3EFAA-5F29-4212-A320-E00D10714EB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0FF5DB33-233E-420C-BB96-6F4A112866E6}" type="slidenum"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0C7101-C41F-BA04-F2F6-BDC0DF19067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041871" y="6478581"/>
            <a:ext cx="3118010" cy="2095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51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9" r:id="rId8"/>
    <p:sldLayoutId id="2147483944" r:id="rId9"/>
    <p:sldLayoutId id="2147483945" r:id="rId10"/>
    <p:sldLayoutId id="2147483946" r:id="rId11"/>
    <p:sldLayoutId id="2147483947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Language of Medicine</a:t>
            </a:r>
            <a:br>
              <a:rPr lang="en-US" dirty="0"/>
            </a:br>
            <a:r>
              <a:rPr lang="en-US" dirty="0"/>
              <a:t>13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Davi</a:t>
            </a:r>
            <a:r>
              <a:rPr lang="en-US" dirty="0">
                <a:solidFill>
                  <a:schemeClr val="tx1"/>
                </a:solidFill>
              </a:rPr>
              <a:t>-Ellen </a:t>
            </a:r>
            <a:r>
              <a:rPr lang="en-US" dirty="0" err="1">
                <a:solidFill>
                  <a:schemeClr val="tx1"/>
                </a:solidFill>
              </a:rPr>
              <a:t>Chabner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288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6200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Chapter 13</a:t>
            </a:r>
            <a:br>
              <a:rPr lang="en-US"/>
            </a:br>
            <a:r>
              <a:rPr lang="en-US"/>
              <a:t> Blood System</a:t>
            </a:r>
          </a:p>
        </p:txBody>
      </p:sp>
    </p:spTree>
    <p:extLst>
      <p:ext uri="{BB962C8B-B14F-4D97-AF65-F5344CB8AC3E}">
        <p14:creationId xmlns:p14="http://schemas.microsoft.com/office/powerpoint/2010/main" val="1503965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3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67543"/>
            <a:ext cx="7620000" cy="274320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dirty="0"/>
              <a:t>        Chapter Goals (Slide 1 of 3)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altLang="en-US" dirty="0"/>
              <a:t>Identify terms relating to the  </a:t>
            </a:r>
            <a:br>
              <a:rPr lang="en-US" altLang="en-US" dirty="0"/>
            </a:br>
            <a:r>
              <a:rPr lang="en-US" altLang="en-US" dirty="0"/>
              <a:t>  composition, formation, and </a:t>
            </a:r>
            <a:br>
              <a:rPr lang="en-US" altLang="en-US" dirty="0"/>
            </a:br>
            <a:r>
              <a:rPr lang="en-US" altLang="en-US" dirty="0"/>
              <a:t>  function of blood.</a:t>
            </a:r>
            <a:br>
              <a:rPr lang="en-US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88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Goals (Slide 2 of 3)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idx="1"/>
          </p:nvPr>
        </p:nvSpPr>
        <p:spPr>
          <a:xfrm>
            <a:off x="696686" y="1752600"/>
            <a:ext cx="8229600" cy="3733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Differentiate among the four major blood types.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Differentiate among the different types of blood groups.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Identify terms related to blood clotting.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Build words and recognize combining forms used in blood system terminology.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3241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Goals (Slide 3 of 3</a:t>
            </a:r>
            <a:r>
              <a:rPr lang="en-US" altLang="ja-JP" dirty="0"/>
              <a:t>)</a:t>
            </a:r>
            <a:endParaRPr lang="en-US" altLang="en-US" dirty="0"/>
          </a:p>
        </p:txBody>
      </p:sp>
      <p:sp>
        <p:nvSpPr>
          <p:cNvPr id="8195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8229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Describe various pathologic conditions affecting blood.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Describe various laboratory tests and clinical procedures used with hematologic disorders and recognize relevant abbreviations.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Apply your new knowledge to understanding medical terms in their proper contexts, such as medical reports and records.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739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Chapter 13</a:t>
            </a:r>
            <a:br>
              <a:rPr lang="en-US"/>
            </a:br>
            <a:r>
              <a:rPr lang="en-US"/>
              <a:t>Lesson 13.1</a:t>
            </a:r>
          </a:p>
        </p:txBody>
      </p:sp>
    </p:spTree>
    <p:extLst>
      <p:ext uri="{BB962C8B-B14F-4D97-AF65-F5344CB8AC3E}">
        <p14:creationId xmlns:p14="http://schemas.microsoft.com/office/powerpoint/2010/main" val="4103634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1024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b="1" dirty="0"/>
              <a:t>Blood:</a:t>
            </a:r>
            <a:r>
              <a:rPr lang="en-US" dirty="0"/>
              <a:t> transports foods, gases, and wastes to and from the cells of the body</a:t>
            </a:r>
          </a:p>
          <a:p>
            <a:pPr eaLnBrk="1" hangingPunct="1">
              <a:defRPr/>
            </a:pPr>
            <a:endParaRPr lang="en-US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Other transported items:</a:t>
            </a:r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dirty="0"/>
              <a:t>Chemical messengers</a:t>
            </a:r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dirty="0"/>
              <a:t>Blood proteins, white blood cells, and platelets</a:t>
            </a:r>
          </a:p>
        </p:txBody>
      </p:sp>
    </p:spTree>
    <p:extLst>
      <p:ext uri="{BB962C8B-B14F-4D97-AF65-F5344CB8AC3E}">
        <p14:creationId xmlns:p14="http://schemas.microsoft.com/office/powerpoint/2010/main" val="1563261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Composition of Blood</a:t>
            </a:r>
          </a:p>
        </p:txBody>
      </p:sp>
      <p:sp>
        <p:nvSpPr>
          <p:cNvPr id="11267" name="Rectangle 8"/>
          <p:cNvSpPr>
            <a:spLocks noGrp="1" noChangeArrowheads="1"/>
          </p:cNvSpPr>
          <p:nvPr>
            <p:ph idx="1"/>
          </p:nvPr>
        </p:nvSpPr>
        <p:spPr>
          <a:xfrm>
            <a:off x="1219200" y="1638300"/>
            <a:ext cx="6781800" cy="4225925"/>
          </a:xfrm>
        </p:spPr>
        <p:txBody>
          <a:bodyPr numCol="2"/>
          <a:lstStyle/>
          <a:p>
            <a:pPr eaLnBrk="1" hangingPunct="1"/>
            <a:r>
              <a:rPr lang="en-US" altLang="en-US" sz="2800" dirty="0"/>
              <a:t>Cells</a:t>
            </a:r>
          </a:p>
          <a:p>
            <a:pPr lvl="1" eaLnBrk="1" hangingPunct="1"/>
            <a:r>
              <a:rPr lang="en-US" altLang="en-US" dirty="0"/>
              <a:t>Erythrocytes</a:t>
            </a:r>
          </a:p>
          <a:p>
            <a:pPr lvl="1" eaLnBrk="1" hangingPunct="1"/>
            <a:r>
              <a:rPr lang="en-US" altLang="en-US" dirty="0"/>
              <a:t>Leukocytes</a:t>
            </a:r>
          </a:p>
          <a:p>
            <a:pPr lvl="1" eaLnBrk="1" hangingPunct="1"/>
            <a:r>
              <a:rPr lang="en-US" altLang="en-US" dirty="0"/>
              <a:t>Platelets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Plasma</a:t>
            </a:r>
          </a:p>
          <a:p>
            <a:pPr lvl="1" eaLnBrk="1" hangingPunct="1"/>
            <a:r>
              <a:rPr lang="en-US" altLang="en-US" dirty="0"/>
              <a:t>Water</a:t>
            </a:r>
          </a:p>
          <a:p>
            <a:pPr lvl="1" eaLnBrk="1" hangingPunct="1"/>
            <a:r>
              <a:rPr lang="en-US" altLang="en-US" dirty="0"/>
              <a:t>Wastes</a:t>
            </a:r>
          </a:p>
          <a:p>
            <a:pPr lvl="1" eaLnBrk="1" hangingPunct="1"/>
            <a:r>
              <a:rPr lang="en-US" altLang="en-US" dirty="0"/>
              <a:t>Nutrients</a:t>
            </a:r>
          </a:p>
          <a:p>
            <a:pPr lvl="1" eaLnBrk="1" hangingPunct="1"/>
            <a:r>
              <a:rPr lang="en-US" altLang="en-US" dirty="0"/>
              <a:t>Salts</a:t>
            </a:r>
          </a:p>
          <a:p>
            <a:pPr lvl="1" eaLnBrk="1" hangingPunct="1"/>
            <a:r>
              <a:rPr lang="en-US" altLang="en-US" dirty="0"/>
              <a:t>Hormones</a:t>
            </a:r>
          </a:p>
          <a:p>
            <a:pPr lvl="1" eaLnBrk="1" hangingPunct="1"/>
            <a:r>
              <a:rPr lang="en-US" altLang="en-US" dirty="0"/>
              <a:t>Lipids</a:t>
            </a:r>
          </a:p>
          <a:p>
            <a:pPr lvl="1" eaLnBrk="1" hangingPunct="1"/>
            <a:r>
              <a:rPr lang="en-US" altLang="en-US" dirty="0"/>
              <a:t>Vitamins</a:t>
            </a:r>
          </a:p>
        </p:txBody>
      </p:sp>
    </p:spTree>
    <p:extLst>
      <p:ext uri="{BB962C8B-B14F-4D97-AF65-F5344CB8AC3E}">
        <p14:creationId xmlns:p14="http://schemas.microsoft.com/office/powerpoint/2010/main" val="2650332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4200" dirty="0"/>
              <a:t>Cell Types and Function (Slide 1 of 2)</a:t>
            </a:r>
          </a:p>
        </p:txBody>
      </p:sp>
      <p:sp>
        <p:nvSpPr>
          <p:cNvPr id="12291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619250"/>
            <a:ext cx="7848600" cy="35814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Cells—45% Blood Volume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b="1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Erythrocytes:</a:t>
            </a:r>
            <a:r>
              <a:rPr lang="en-US" altLang="en-US" dirty="0"/>
              <a:t>  red blood cells transport nutrients and oxygen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Leukocytes:</a:t>
            </a:r>
            <a:r>
              <a:rPr lang="en-US" altLang="en-US" dirty="0"/>
              <a:t> white blood cells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		      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Thrombocytes:</a:t>
            </a:r>
            <a:r>
              <a:rPr lang="en-US" altLang="en-US" dirty="0"/>
              <a:t> platelets; clot blood</a:t>
            </a:r>
          </a:p>
        </p:txBody>
      </p:sp>
    </p:spTree>
    <p:extLst>
      <p:ext uri="{BB962C8B-B14F-4D97-AF65-F5344CB8AC3E}">
        <p14:creationId xmlns:p14="http://schemas.microsoft.com/office/powerpoint/2010/main" val="2866485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4200" dirty="0"/>
              <a:t>Cell Types and Function (Slide 2 of 2</a:t>
            </a:r>
            <a:r>
              <a:rPr lang="en-US" altLang="ja-JP" sz="4200" dirty="0"/>
              <a:t>)</a:t>
            </a:r>
            <a:endParaRPr lang="en-US" altLang="en-US" sz="42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534400" cy="5334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600" b="1"/>
              <a:t>Leukocytes:</a:t>
            </a:r>
            <a:r>
              <a:rPr lang="en-US" altLang="en-US" sz="2600"/>
              <a:t> </a:t>
            </a:r>
            <a:r>
              <a:rPr lang="en-US" altLang="en-US" sz="2400"/>
              <a:t>or white blood cells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300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b="1"/>
              <a:t>Basophils:</a:t>
            </a:r>
            <a:r>
              <a:rPr lang="en-US" altLang="en-US" sz="2200"/>
              <a:t> contain heparin (prevents clotting) and histamine (involved in allergic responses)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000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b="1"/>
              <a:t>Eosinophils:</a:t>
            </a:r>
            <a:r>
              <a:rPr lang="en-US" altLang="en-US" sz="2200"/>
              <a:t> phagocytic cells involved in allergic responses and parasitic infections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000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b="1"/>
              <a:t>Neutrophils:</a:t>
            </a:r>
            <a:r>
              <a:rPr lang="en-US" altLang="en-US" sz="2200"/>
              <a:t> phagocytic cells that accumulate at sites of infection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000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b="1"/>
              <a:t>Monocytes:</a:t>
            </a:r>
            <a:r>
              <a:rPr lang="en-US" altLang="en-US" sz="2200"/>
              <a:t> phagocytic cells that become macrophages and digest bacteria and tissue debris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000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b="1"/>
              <a:t>Lymphocytes:</a:t>
            </a:r>
            <a:r>
              <a:rPr lang="en-US" altLang="en-US" sz="2200"/>
              <a:t> control the immune response; make antibodies to antigens</a:t>
            </a:r>
          </a:p>
        </p:txBody>
      </p:sp>
    </p:spTree>
    <p:extLst>
      <p:ext uri="{BB962C8B-B14F-4D97-AF65-F5344CB8AC3E}">
        <p14:creationId xmlns:p14="http://schemas.microsoft.com/office/powerpoint/2010/main" val="2011807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Review:  Composition of Blood</a:t>
            </a:r>
          </a:p>
        </p:txBody>
      </p:sp>
      <p:pic>
        <p:nvPicPr>
          <p:cNvPr id="7" name="Content Placeholder 6" descr="f13-07-9781437705706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976" y="1981200"/>
            <a:ext cx="7497824" cy="361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284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Plasma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Plasma proteins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Albumin</a:t>
            </a:r>
            <a:r>
              <a:rPr lang="en-US" altLang="en-US" sz="2000"/>
              <a:t>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n-US" altLang="en-US" sz="900"/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Globulins: immunoglobulins</a:t>
            </a:r>
            <a:r>
              <a:rPr lang="en-US" altLang="en-US" sz="2000"/>
              <a:t> </a:t>
            </a:r>
            <a:r>
              <a:rPr lang="en-US" altLang="en-US" sz="2400"/>
              <a:t>(IgG, IgA, IgM, IgD, IgE)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n-US" altLang="en-US" sz="900"/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Fibrinogen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n-US" altLang="en-US" sz="900"/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Prothrombin</a:t>
            </a:r>
          </a:p>
        </p:txBody>
      </p:sp>
    </p:spTree>
    <p:extLst>
      <p:ext uri="{BB962C8B-B14F-4D97-AF65-F5344CB8AC3E}">
        <p14:creationId xmlns:p14="http://schemas.microsoft.com/office/powerpoint/2010/main" val="1098203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Blood Types</a:t>
            </a:r>
          </a:p>
        </p:txBody>
      </p:sp>
      <p:sp>
        <p:nvSpPr>
          <p:cNvPr id="17411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Type A:</a:t>
            </a:r>
            <a:r>
              <a:rPr lang="en-US" altLang="en-US"/>
              <a:t> A antigen and anti-B antibody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Type B:</a:t>
            </a:r>
            <a:r>
              <a:rPr lang="en-US" altLang="en-US"/>
              <a:t> B antigen and anti-A antibody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Type AB:</a:t>
            </a:r>
            <a:r>
              <a:rPr lang="en-US" altLang="en-US"/>
              <a:t> A and B antigens and no antibodies (universal recipient)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Type O:</a:t>
            </a:r>
            <a:r>
              <a:rPr lang="en-US" altLang="en-US"/>
              <a:t> no A or B antigens and both anti-A and anti-B antibodies (universal donor)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Rh factor</a:t>
            </a:r>
            <a:r>
              <a:rPr lang="en-US" altLang="en-US"/>
              <a:t> (positive and negative)</a:t>
            </a:r>
          </a:p>
        </p:txBody>
      </p:sp>
    </p:spTree>
    <p:extLst>
      <p:ext uri="{BB962C8B-B14F-4D97-AF65-F5344CB8AC3E}">
        <p14:creationId xmlns:p14="http://schemas.microsoft.com/office/powerpoint/2010/main" val="2848512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Blood Clotting</a:t>
            </a:r>
          </a:p>
        </p:txBody>
      </p:sp>
      <p:sp>
        <p:nvSpPr>
          <p:cNvPr id="18435" name="Rectangle 9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800" b="1"/>
              <a:t>Coagulation:</a:t>
            </a:r>
            <a:r>
              <a:rPr lang="en-US" altLang="en-US" sz="2800"/>
              <a:t> fibrin clot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800" b="1"/>
              <a:t>Anticoagulants:</a:t>
            </a:r>
            <a:r>
              <a:rPr lang="en-US" altLang="en-US" sz="2800"/>
              <a:t> heparin, warfarin (Coumadin)</a:t>
            </a:r>
          </a:p>
        </p:txBody>
      </p:sp>
      <p:pic>
        <p:nvPicPr>
          <p:cNvPr id="6" name="Picture 6" descr="Blood clotting (coagulation) is a complicated process involving many different substances and chemical reactions. The final result is the formation of a fibrin clot from the plasma protein fibrinogen.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327133"/>
            <a:ext cx="3581400" cy="376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8158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      QUICK QUIZ  (Slide 1 of 3)	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6934200" cy="4622800"/>
          </a:xfrm>
        </p:spPr>
        <p:txBody>
          <a:bodyPr>
            <a:spAutoFit/>
          </a:bodyPr>
          <a:lstStyle/>
          <a:p>
            <a:pPr marL="533400" indent="-533400" eaLnBrk="1" hangingPunct="1">
              <a:buFont typeface="Arial" panose="020B0604020202020204" pitchFamily="34" charset="0"/>
              <a:buAutoNum type="arabicPeriod"/>
            </a:pPr>
            <a:r>
              <a:rPr lang="en-US" altLang="en-US" b="1"/>
              <a:t>The blood contains which of the  following to transport oxygen?</a:t>
            </a:r>
          </a:p>
          <a:p>
            <a:pPr marL="533400" indent="-533400" eaLnBrk="1" hangingPunct="1">
              <a:buFont typeface="Arial" panose="020B0604020202020204" pitchFamily="34" charset="0"/>
              <a:buAutoNum type="arabicPeriod"/>
            </a:pPr>
            <a:endParaRPr lang="en-US" altLang="en-US" b="1"/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White blood cells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Plasma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Platelets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Red blood cells</a:t>
            </a:r>
            <a:endParaRPr lang="en-US" altLang="en-US">
              <a:ea typeface="MS PGothic" panose="020B0600070205080204" pitchFamily="34" charset="-128"/>
            </a:endParaRP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808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1628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      QUICK QUIZ (slide 2 of 3)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6934200" cy="44958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2.  Blood contains which clotting cells?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endParaRPr lang="en-US" altLang="en-US" sz="1800" b="1"/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Erythrocytes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Plasma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Thrombocytes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Leukocytes</a:t>
            </a:r>
            <a:endParaRPr lang="en-US" altLang="en-US">
              <a:ea typeface="MS PGothic" panose="020B0600070205080204" pitchFamily="34" charset="-128"/>
            </a:endParaRP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726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 of 28)</a:t>
            </a:r>
          </a:p>
        </p:txBody>
      </p:sp>
      <p:graphicFrame>
        <p:nvGraphicFramePr>
          <p:cNvPr id="8" name="Content Placeholder 7" descr="Group 1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190426"/>
              </p:ext>
            </p:extLst>
          </p:nvPr>
        </p:nvGraphicFramePr>
        <p:xfrm>
          <a:off x="3390900" y="2057400"/>
          <a:ext cx="2362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albumin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antibody (</a:t>
                      </a:r>
                      <a:r>
                        <a:rPr lang="en-US" altLang="en-US" sz="2400" dirty="0" err="1"/>
                        <a:t>Ab</a:t>
                      </a:r>
                      <a:r>
                        <a:rPr lang="en-US" altLang="en-US" sz="2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antigen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465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 of 28)</a:t>
            </a:r>
          </a:p>
        </p:txBody>
      </p:sp>
      <p:graphicFrame>
        <p:nvGraphicFramePr>
          <p:cNvPr id="8" name="Content Placeholder 7" descr="Group 1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0951695"/>
              </p:ext>
            </p:extLst>
          </p:nvPr>
        </p:nvGraphicFramePr>
        <p:xfrm>
          <a:off x="457200" y="16002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albumin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Protein in the blood; maintains the proper amount of water in blood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antibody (</a:t>
                      </a:r>
                      <a:r>
                        <a:rPr lang="en-US" altLang="en-US" sz="2400" dirty="0" err="1"/>
                        <a:t>Ab</a:t>
                      </a:r>
                      <a:r>
                        <a:rPr lang="en-US" alt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 specific protein produced by the lymphocytes in response to bacteria, viruses, or other antigens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antigen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 substance that stimulates production of an antibody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410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3 of 28)</a:t>
            </a:r>
          </a:p>
        </p:txBody>
      </p:sp>
      <p:graphicFrame>
        <p:nvGraphicFramePr>
          <p:cNvPr id="8" name="Content Placeholder 7" descr="Group 2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739387"/>
              </p:ext>
            </p:extLst>
          </p:nvPr>
        </p:nvGraphicFramePr>
        <p:xfrm>
          <a:off x="3390900" y="2133600"/>
          <a:ext cx="2362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basophil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bilirubin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coagulation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700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4 of 28)</a:t>
            </a:r>
          </a:p>
        </p:txBody>
      </p:sp>
      <p:graphicFrame>
        <p:nvGraphicFramePr>
          <p:cNvPr id="8" name="Content Placeholder 7" descr="Group 2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55909"/>
              </p:ext>
            </p:extLst>
          </p:nvPr>
        </p:nvGraphicFramePr>
        <p:xfrm>
          <a:off x="457200" y="16002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basophil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White blood cell that contains granules that stain blue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bilirubin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Orange-yellow pigment in bile; formed by breakdown of hemoglobin when RBCs are destroyed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coagulation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Blood clotting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369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5 of 28)</a:t>
            </a:r>
          </a:p>
        </p:txBody>
      </p:sp>
      <p:graphicFrame>
        <p:nvGraphicFramePr>
          <p:cNvPr id="8" name="Content Placeholder 7" descr="Group 3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491120"/>
              </p:ext>
            </p:extLst>
          </p:nvPr>
        </p:nvGraphicFramePr>
        <p:xfrm>
          <a:off x="2438400" y="1981200"/>
          <a:ext cx="4267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colony-stimulating factor (CSF)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differentiation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electrophoresis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922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6 of 28)</a:t>
            </a:r>
          </a:p>
        </p:txBody>
      </p:sp>
      <p:graphicFrame>
        <p:nvGraphicFramePr>
          <p:cNvPr id="8" name="Content Placeholder 7" descr="Group 3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596247"/>
              </p:ext>
            </p:extLst>
          </p:nvPr>
        </p:nvGraphicFramePr>
        <p:xfrm>
          <a:off x="457200" y="16002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colony-stimulating factor (CSF)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Protein that stimulates growth of white blood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differentiation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The change in structure and function of a cell as it matures; specialization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electrophoresis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 method of separating serum proteins by electrical charge and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224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7 of 28)</a:t>
            </a:r>
          </a:p>
        </p:txBody>
      </p:sp>
      <p:graphicFrame>
        <p:nvGraphicFramePr>
          <p:cNvPr id="8" name="Content Placeholder 7" descr="Group 4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450161"/>
              </p:ext>
            </p:extLst>
          </p:nvPr>
        </p:nvGraphicFramePr>
        <p:xfrm>
          <a:off x="3390900" y="1981200"/>
          <a:ext cx="23622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eosinophil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erythroblast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erythrocyte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753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8 of 28)</a:t>
            </a:r>
          </a:p>
        </p:txBody>
      </p:sp>
      <p:graphicFrame>
        <p:nvGraphicFramePr>
          <p:cNvPr id="8" name="Content Placeholder 7" descr="Group 4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9594922"/>
              </p:ext>
            </p:extLst>
          </p:nvPr>
        </p:nvGraphicFramePr>
        <p:xfrm>
          <a:off x="457200" y="16002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eosinophil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White blood cell that contains granules that stain 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erythroblast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An immature red blood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erythrocyte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 red blood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074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9 of 28)</a:t>
            </a:r>
          </a:p>
        </p:txBody>
      </p:sp>
      <p:graphicFrame>
        <p:nvGraphicFramePr>
          <p:cNvPr id="8" name="Content Placeholder 7" descr="Group 5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319956"/>
              </p:ext>
            </p:extLst>
          </p:nvPr>
        </p:nvGraphicFramePr>
        <p:xfrm>
          <a:off x="3009900" y="2590800"/>
          <a:ext cx="3124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erythropoietin (EPO)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fibrin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fibrinogen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329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10 of 28)</a:t>
            </a:r>
          </a:p>
        </p:txBody>
      </p:sp>
      <p:graphicFrame>
        <p:nvGraphicFramePr>
          <p:cNvPr id="8" name="Content Placeholder 7" descr="Group 5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154265"/>
              </p:ext>
            </p:extLst>
          </p:nvPr>
        </p:nvGraphicFramePr>
        <p:xfrm>
          <a:off x="457200" y="16002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erythropoietin (EPO)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Hormone secreted by the kidneys that stimulates red blood cell 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fibrin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Protein that forms the basis of a blood clot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fibrinogen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Plasma protein that is converted to fibrin in the clotting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287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11 of 28)</a:t>
            </a:r>
          </a:p>
        </p:txBody>
      </p:sp>
      <p:graphicFrame>
        <p:nvGraphicFramePr>
          <p:cNvPr id="8" name="Content Placeholder 7" descr="Group 6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659547"/>
              </p:ext>
            </p:extLst>
          </p:nvPr>
        </p:nvGraphicFramePr>
        <p:xfrm>
          <a:off x="3390900" y="2057400"/>
          <a:ext cx="2362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globulin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granulocyte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hematopoietic stem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620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12 of 28)</a:t>
            </a:r>
          </a:p>
        </p:txBody>
      </p:sp>
      <p:graphicFrame>
        <p:nvGraphicFramePr>
          <p:cNvPr id="8" name="Content Placeholder 7" descr="Group 6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69713"/>
              </p:ext>
            </p:extLst>
          </p:nvPr>
        </p:nvGraphicFramePr>
        <p:xfrm>
          <a:off x="457200" y="16002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globulin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Plasma protein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granulocyte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White blood cell with numerous dark-staining granules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hematopoietic stem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 cell in bone marrow that gives rise to all types of blood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522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13 of 28)</a:t>
            </a:r>
          </a:p>
        </p:txBody>
      </p:sp>
      <p:graphicFrame>
        <p:nvGraphicFramePr>
          <p:cNvPr id="8" name="Content Placeholder 7" descr="Group 7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000667"/>
              </p:ext>
            </p:extLst>
          </p:nvPr>
        </p:nvGraphicFramePr>
        <p:xfrm>
          <a:off x="3390900" y="2362200"/>
          <a:ext cx="2362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hemoglobin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hemolysis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heparin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572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14 of 28)</a:t>
            </a:r>
          </a:p>
        </p:txBody>
      </p:sp>
      <p:graphicFrame>
        <p:nvGraphicFramePr>
          <p:cNvPr id="8" name="Content Placeholder 7" descr="Group 7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332161"/>
              </p:ext>
            </p:extLst>
          </p:nvPr>
        </p:nvGraphicFramePr>
        <p:xfrm>
          <a:off x="457200" y="16002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hemoglobin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ea typeface="MS PGothic" panose="020B0600070205080204" pitchFamily="34" charset="-128"/>
                        </a:rPr>
                        <a:t>Blood protein containing iron; carries oxygen in red blood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hemolysis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Breakdown</a:t>
                      </a:r>
                      <a:r>
                        <a:rPr lang="en-US" sz="2400" baseline="0" dirty="0"/>
                        <a:t> of red blood cells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heparin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ea typeface="MS PGothic" panose="020B0600070205080204" pitchFamily="34" charset="-128"/>
                        </a:rPr>
                        <a:t>An anticoagulant found in blood and tissue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202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15 of 28)</a:t>
            </a:r>
          </a:p>
        </p:txBody>
      </p:sp>
      <p:graphicFrame>
        <p:nvGraphicFramePr>
          <p:cNvPr id="8" name="Content Placeholder 7" descr="Group 8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549086"/>
              </p:ext>
            </p:extLst>
          </p:nvPr>
        </p:nvGraphicFramePr>
        <p:xfrm>
          <a:off x="3390900" y="2133600"/>
          <a:ext cx="2362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immune reaction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immunoglobulin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leukocyte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628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16 of 28)</a:t>
            </a:r>
          </a:p>
        </p:txBody>
      </p:sp>
      <p:graphicFrame>
        <p:nvGraphicFramePr>
          <p:cNvPr id="8" name="Content Placeholder 7" descr="Group 8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9435836"/>
              </p:ext>
            </p:extLst>
          </p:nvPr>
        </p:nvGraphicFramePr>
        <p:xfrm>
          <a:off x="457200" y="16002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immune reaction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Response of the immune system to foreign invasion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immunoglobulin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eaLnBrk="1" hangingPunct="1">
                        <a:buFont typeface="Wingdings 2" panose="05020102010507070707" pitchFamily="18" charset="2"/>
                        <a:buNone/>
                      </a:pPr>
                      <a:r>
                        <a:rPr lang="en-US" altLang="en-US" sz="2400" dirty="0"/>
                        <a:t>A protein with antibody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leukocyte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 white blood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5333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17 of 28)</a:t>
            </a:r>
          </a:p>
        </p:txBody>
      </p:sp>
      <p:graphicFrame>
        <p:nvGraphicFramePr>
          <p:cNvPr id="8" name="Content Placeholder 7" descr="Group 19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788378"/>
              </p:ext>
            </p:extLst>
          </p:nvPr>
        </p:nvGraphicFramePr>
        <p:xfrm>
          <a:off x="3390900" y="1981200"/>
          <a:ext cx="2362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lymphocyte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macrophage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megakaryocyte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052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18 of 28)</a:t>
            </a:r>
          </a:p>
        </p:txBody>
      </p:sp>
      <p:graphicFrame>
        <p:nvGraphicFramePr>
          <p:cNvPr id="8" name="Content Placeholder 7" descr="Group 9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3787946"/>
              </p:ext>
            </p:extLst>
          </p:nvPr>
        </p:nvGraphicFramePr>
        <p:xfrm>
          <a:off x="457200" y="16002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lymphocyte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Mononuclear leukocyte that produces antibodies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macrophage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Monocyte that migrates from the blood to tissue spaces; as a phagocyte, it engulfs foreign material and debris; destroys worn out RBCs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megakaryocyte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Large platelet precursor cell found in the bone marrow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297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19 of 28)</a:t>
            </a:r>
          </a:p>
        </p:txBody>
      </p:sp>
      <p:graphicFrame>
        <p:nvGraphicFramePr>
          <p:cNvPr id="8" name="Content Placeholder 7" descr="Group 10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997420"/>
              </p:ext>
            </p:extLst>
          </p:nvPr>
        </p:nvGraphicFramePr>
        <p:xfrm>
          <a:off x="3390900" y="2209800"/>
          <a:ext cx="2362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monocyte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mononuclear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myeloblast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394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20 of 28)</a:t>
            </a:r>
          </a:p>
        </p:txBody>
      </p:sp>
      <p:graphicFrame>
        <p:nvGraphicFramePr>
          <p:cNvPr id="8" name="Content Placeholder 7" descr="Group 10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45393"/>
              </p:ext>
            </p:extLst>
          </p:nvPr>
        </p:nvGraphicFramePr>
        <p:xfrm>
          <a:off x="457200" y="16002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monocyte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a typeface="ＭＳ Ｐゴシック" charset="0"/>
                        </a:rPr>
                        <a:t>Leukocyte with one large nucleus; engulfs foreign material and debris; becomes macrophage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mononuclear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a typeface="ＭＳ Ｐゴシック" charset="0"/>
                        </a:rPr>
                        <a:t>Pertaining to cell (leukocyte) with  single round nucleus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myeloblast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a typeface="ＭＳ Ｐゴシック" charset="0"/>
                        </a:rPr>
                        <a:t>Immature bone marrow that gives rise to granulocytes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7444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21 of 28)</a:t>
            </a:r>
          </a:p>
        </p:txBody>
      </p:sp>
      <p:graphicFrame>
        <p:nvGraphicFramePr>
          <p:cNvPr id="8" name="Content Placeholder 7" descr="Group 11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380159"/>
              </p:ext>
            </p:extLst>
          </p:nvPr>
        </p:nvGraphicFramePr>
        <p:xfrm>
          <a:off x="3390900" y="2362200"/>
          <a:ext cx="2362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neutrophil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plasma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plasmapheresis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706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22 of 28)</a:t>
            </a:r>
          </a:p>
        </p:txBody>
      </p:sp>
      <p:graphicFrame>
        <p:nvGraphicFramePr>
          <p:cNvPr id="8" name="Content Placeholder 7" descr="Group 11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855117"/>
              </p:ext>
            </p:extLst>
          </p:nvPr>
        </p:nvGraphicFramePr>
        <p:xfrm>
          <a:off x="457200" y="16002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neutrophil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Granulocytic leukocyte formed in bone marrow; </a:t>
                      </a:r>
                      <a:r>
                        <a:rPr lang="en-US" altLang="en-US" sz="2400" dirty="0" err="1"/>
                        <a:t>polymorphonuclear</a:t>
                      </a:r>
                      <a:r>
                        <a:rPr lang="en-US" altLang="en-US" sz="2400" dirty="0"/>
                        <a:t> leukocyte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plasma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Liquid portion of blood; contains water, proteins, salts, nutrients, lipids, hormones, and vitamins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plasmapheresis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Removal of plasma from withdrawn blood by centrifuge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971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23 of 28)</a:t>
            </a:r>
          </a:p>
        </p:txBody>
      </p:sp>
      <p:graphicFrame>
        <p:nvGraphicFramePr>
          <p:cNvPr id="8" name="Content Placeholder 7" descr="Group 12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441688"/>
              </p:ext>
            </p:extLst>
          </p:nvPr>
        </p:nvGraphicFramePr>
        <p:xfrm>
          <a:off x="3238500" y="2057400"/>
          <a:ext cx="2667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platelet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polymorphonuclear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prothrombin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985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24 of 28)</a:t>
            </a:r>
          </a:p>
        </p:txBody>
      </p:sp>
      <p:graphicFrame>
        <p:nvGraphicFramePr>
          <p:cNvPr id="8" name="Content Placeholder 7" descr="Group 12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447162"/>
              </p:ext>
            </p:extLst>
          </p:nvPr>
        </p:nvGraphicFramePr>
        <p:xfrm>
          <a:off x="457200" y="1600200"/>
          <a:ext cx="82296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platelet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 small blood fragment important in clotting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polymorphonuclear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Pertaining to a white blood cell with multi-shaped nucleus; neutrophil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prothrombin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eaLnBrk="1" hangingPunct="1">
                        <a:lnSpc>
                          <a:spcPct val="90000"/>
                        </a:lnSpc>
                        <a:buFont typeface="Wingdings 2" panose="05020102010507070707" pitchFamily="18" charset="2"/>
                        <a:buNone/>
                      </a:pPr>
                      <a:r>
                        <a:rPr lang="en-US" altLang="en-US" sz="2400" dirty="0"/>
                        <a:t>Plasma protein; converted to thrombin in the clotting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833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25 of 28)</a:t>
            </a:r>
          </a:p>
        </p:txBody>
      </p:sp>
      <p:graphicFrame>
        <p:nvGraphicFramePr>
          <p:cNvPr id="8" name="Content Placeholder 7" descr="Group 13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546456"/>
              </p:ext>
            </p:extLst>
          </p:nvPr>
        </p:nvGraphicFramePr>
        <p:xfrm>
          <a:off x="3390900" y="2209800"/>
          <a:ext cx="2362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reticulocyte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Rh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serum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9868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26 of 28)</a:t>
            </a:r>
          </a:p>
        </p:txBody>
      </p:sp>
      <p:graphicFrame>
        <p:nvGraphicFramePr>
          <p:cNvPr id="8" name="Content Placeholder 7" descr="Group 13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592035"/>
              </p:ext>
            </p:extLst>
          </p:nvPr>
        </p:nvGraphicFramePr>
        <p:xfrm>
          <a:off x="457200" y="16002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reticulocyte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eaLnBrk="1" hangingPunct="1">
                        <a:buFont typeface="Wingdings 2" panose="05020102010507070707" pitchFamily="18" charset="2"/>
                        <a:buNone/>
                      </a:pPr>
                      <a:r>
                        <a:rPr lang="en-US" altLang="en-US" sz="2400" dirty="0"/>
                        <a:t>Immature erythrocyte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Rh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Antigen on red blood cells of Rh</a:t>
                      </a:r>
                      <a:r>
                        <a:rPr lang="en-US" altLang="en-US" sz="2400" baseline="30000" dirty="0"/>
                        <a:t>-</a:t>
                      </a:r>
                      <a:r>
                        <a:rPr lang="en-US" altLang="en-US" sz="2400" dirty="0"/>
                        <a:t>positive (RH</a:t>
                      </a:r>
                      <a:r>
                        <a:rPr lang="en-US" altLang="en-US" sz="2400" baseline="30000" dirty="0"/>
                        <a:t>+</a:t>
                      </a:r>
                      <a:r>
                        <a:rPr lang="en-US" altLang="en-US" sz="2400" dirty="0"/>
                        <a:t>) individuals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serum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Plasma minus clotting proteins and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7784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27 of 28)</a:t>
            </a:r>
          </a:p>
        </p:txBody>
      </p:sp>
      <p:graphicFrame>
        <p:nvGraphicFramePr>
          <p:cNvPr id="8" name="Content Placeholder 7" descr="Group 14 of 14:  This table lists a group of vocabulary terms from the text.  The same terms are repeated on the next slide with corresponding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264094"/>
              </p:ext>
            </p:extLst>
          </p:nvPr>
        </p:nvGraphicFramePr>
        <p:xfrm>
          <a:off x="3733800" y="1828800"/>
          <a:ext cx="2362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stem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thrombin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thrombocyte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4645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28 of 28)</a:t>
            </a:r>
          </a:p>
        </p:txBody>
      </p:sp>
      <p:graphicFrame>
        <p:nvGraphicFramePr>
          <p:cNvPr id="8" name="Content Placeholder 7" descr="Group 14 of 14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997465"/>
              </p:ext>
            </p:extLst>
          </p:nvPr>
        </p:nvGraphicFramePr>
        <p:xfrm>
          <a:off x="457200" y="16002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stem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Unspecialized cell that gives rise to mature, specialized forms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thrombin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Enzyme that converts fibrinogen to fibrin during coagulation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thrombocyte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Platelets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15260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Combining Forms and Terminology (Slide 1 of 4)</a:t>
            </a:r>
          </a:p>
        </p:txBody>
      </p:sp>
      <p:graphicFrame>
        <p:nvGraphicFramePr>
          <p:cNvPr id="8" name="Content Placeholder 7" descr="Group 1 of 4 combining forms from the Terminology section of the textbook  with corresponding meanings or definitions. 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4921082"/>
              </p:ext>
            </p:extLst>
          </p:nvPr>
        </p:nvGraphicFramePr>
        <p:xfrm>
          <a:off x="457200" y="16002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bas/o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base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chrom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color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coagul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clotting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cyt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cell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eosin/o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red, dawn, rosy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erythr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97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Combining Forms and Terminology (Slide 2 of 4)</a:t>
            </a:r>
          </a:p>
        </p:txBody>
      </p:sp>
      <p:graphicFrame>
        <p:nvGraphicFramePr>
          <p:cNvPr id="8" name="Content Placeholder 7" descr="Group 2 of 4 combining forms from the Terminology section of the textbook  with corresponding meanings or definitions. 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571941"/>
              </p:ext>
            </p:extLst>
          </p:nvPr>
        </p:nvGraphicFramePr>
        <p:xfrm>
          <a:off x="457200" y="16002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granul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granules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hem/o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blood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hemat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blood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hemoglobin/o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hemoglobin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is/o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same, equal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kary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nucleus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0114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Combining Forms and Terminology (Slide 3 of 4)</a:t>
            </a:r>
          </a:p>
        </p:txBody>
      </p:sp>
      <p:graphicFrame>
        <p:nvGraphicFramePr>
          <p:cNvPr id="8" name="Content Placeholder 7" descr="Group 3 of 4 combining forms from the Terminology section of the textbook  with corresponding meanings or definitions. 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295249"/>
              </p:ext>
            </p:extLst>
          </p:nvPr>
        </p:nvGraphicFramePr>
        <p:xfrm>
          <a:off x="457200" y="16002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leuk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white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mon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one, single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morph/o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shape,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myel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bone marrow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neutr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neutral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nucle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nucleus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4588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Combining Forms and Terminology (Slide 4 of 4)</a:t>
            </a:r>
          </a:p>
        </p:txBody>
      </p:sp>
      <p:graphicFrame>
        <p:nvGraphicFramePr>
          <p:cNvPr id="8" name="Content Placeholder 7" descr="Group 4 of 4 combining forms from the Terminology section of the textbook  with corresponding meanings or definitions. 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039882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phag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eat, swallow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poikil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varied, irregular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sider/o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iron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spher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globe, round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thromb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clot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0089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Suffixes</a:t>
            </a:r>
          </a:p>
        </p:txBody>
      </p:sp>
      <p:sp>
        <p:nvSpPr>
          <p:cNvPr id="54275" name="Rectangle 6"/>
          <p:cNvSpPr>
            <a:spLocks noGrp="1" noChangeArrowheads="1"/>
          </p:cNvSpPr>
          <p:nvPr>
            <p:ph sz="half" idx="1"/>
          </p:nvPr>
        </p:nvSpPr>
        <p:spPr>
          <a:xfrm>
            <a:off x="685800" y="1641475"/>
            <a:ext cx="3798888" cy="4454525"/>
          </a:xfrm>
        </p:spPr>
        <p:txBody>
          <a:bodyPr/>
          <a:lstStyle/>
          <a:p>
            <a:pPr eaLnBrk="1" hangingPunct="1"/>
            <a:r>
              <a:rPr lang="en-US" altLang="en-US"/>
              <a:t>-apheresis</a:t>
            </a:r>
          </a:p>
          <a:p>
            <a:pPr eaLnBrk="1" hangingPunct="1"/>
            <a:r>
              <a:rPr lang="en-US" altLang="en-US"/>
              <a:t>-blast</a:t>
            </a:r>
          </a:p>
          <a:p>
            <a:pPr eaLnBrk="1" hangingPunct="1"/>
            <a:r>
              <a:rPr lang="en-US" altLang="en-US"/>
              <a:t>-cyte</a:t>
            </a:r>
          </a:p>
          <a:p>
            <a:pPr eaLnBrk="1" hangingPunct="1"/>
            <a:r>
              <a:rPr lang="en-US" altLang="en-US"/>
              <a:t>-cytosis</a:t>
            </a:r>
          </a:p>
          <a:p>
            <a:pPr eaLnBrk="1" hangingPunct="1"/>
            <a:r>
              <a:rPr lang="en-US" altLang="en-US"/>
              <a:t>-emia</a:t>
            </a:r>
          </a:p>
          <a:p>
            <a:pPr eaLnBrk="1" hangingPunct="1"/>
            <a:r>
              <a:rPr lang="en-US" altLang="en-US"/>
              <a:t>-gen</a:t>
            </a:r>
          </a:p>
          <a:p>
            <a:pPr eaLnBrk="1" hangingPunct="1"/>
            <a:r>
              <a:rPr lang="en-US" altLang="en-US"/>
              <a:t>-globin</a:t>
            </a:r>
          </a:p>
          <a:p>
            <a:pPr eaLnBrk="1" hangingPunct="1"/>
            <a:r>
              <a:rPr lang="en-US" altLang="en-US"/>
              <a:t>-globulin</a:t>
            </a:r>
          </a:p>
          <a:p>
            <a:pPr eaLnBrk="1" hangingPunct="1"/>
            <a:r>
              <a:rPr lang="en-US" altLang="en-US"/>
              <a:t>-lytic</a:t>
            </a:r>
          </a:p>
        </p:txBody>
      </p:sp>
      <p:sp>
        <p:nvSpPr>
          <p:cNvPr id="54276" name="Rectangle 7"/>
          <p:cNvSpPr>
            <a:spLocks noGrp="1" noChangeArrowheads="1"/>
          </p:cNvSpPr>
          <p:nvPr>
            <p:ph sz="half" idx="2"/>
          </p:nvPr>
        </p:nvSpPr>
        <p:spPr>
          <a:xfrm>
            <a:off x="4659313" y="1641475"/>
            <a:ext cx="3798887" cy="4454525"/>
          </a:xfrm>
        </p:spPr>
        <p:txBody>
          <a:bodyPr/>
          <a:lstStyle/>
          <a:p>
            <a:pPr eaLnBrk="1" hangingPunct="1"/>
            <a:r>
              <a:rPr lang="en-US" altLang="en-US"/>
              <a:t>-oid</a:t>
            </a:r>
          </a:p>
          <a:p>
            <a:pPr eaLnBrk="1" hangingPunct="1"/>
            <a:r>
              <a:rPr lang="en-US" altLang="en-US"/>
              <a:t>-osis</a:t>
            </a:r>
          </a:p>
          <a:p>
            <a:pPr eaLnBrk="1" hangingPunct="1"/>
            <a:r>
              <a:rPr lang="en-US" altLang="en-US"/>
              <a:t>-penia</a:t>
            </a:r>
          </a:p>
          <a:p>
            <a:pPr eaLnBrk="1" hangingPunct="1"/>
            <a:r>
              <a:rPr lang="en-US" altLang="en-US"/>
              <a:t>-phage</a:t>
            </a:r>
          </a:p>
          <a:p>
            <a:pPr eaLnBrk="1" hangingPunct="1"/>
            <a:r>
              <a:rPr lang="en-US" altLang="en-US"/>
              <a:t>-philia</a:t>
            </a:r>
          </a:p>
          <a:p>
            <a:pPr eaLnBrk="1" hangingPunct="1"/>
            <a:r>
              <a:rPr lang="en-US" altLang="en-US"/>
              <a:t>-phoresis</a:t>
            </a:r>
          </a:p>
          <a:p>
            <a:pPr eaLnBrk="1" hangingPunct="1"/>
            <a:r>
              <a:rPr lang="en-US" altLang="en-US"/>
              <a:t>-poiesis</a:t>
            </a:r>
          </a:p>
          <a:p>
            <a:pPr eaLnBrk="1" hangingPunct="1"/>
            <a:r>
              <a:rPr lang="en-US" altLang="en-US"/>
              <a:t>-stasis</a:t>
            </a:r>
          </a:p>
          <a:p>
            <a:pPr eaLnBrk="1" hangingPunct="1"/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7068661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Chapter 13</a:t>
            </a:r>
            <a:br>
              <a:rPr lang="en-US"/>
            </a:br>
            <a:r>
              <a:rPr lang="en-US"/>
              <a:t>Lesson 13.2</a:t>
            </a:r>
          </a:p>
        </p:txBody>
      </p:sp>
    </p:spTree>
    <p:extLst>
      <p:ext uri="{BB962C8B-B14F-4D97-AF65-F5344CB8AC3E}">
        <p14:creationId xmlns:p14="http://schemas.microsoft.com/office/powerpoint/2010/main" val="2745855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Diseases of Red Blood Cells:</a:t>
            </a:r>
            <a:br>
              <a:rPr lang="en-US" altLang="en-US" dirty="0"/>
            </a:br>
            <a:r>
              <a:rPr lang="en-US" altLang="en-US" dirty="0"/>
              <a:t>Anemia</a:t>
            </a:r>
          </a:p>
        </p:txBody>
      </p:sp>
      <p:sp>
        <p:nvSpPr>
          <p:cNvPr id="56323" name="Rectangle 8"/>
          <p:cNvSpPr>
            <a:spLocks noGrp="1" noChangeArrowheads="1"/>
          </p:cNvSpPr>
          <p:nvPr>
            <p:ph idx="1"/>
          </p:nvPr>
        </p:nvSpPr>
        <p:spPr>
          <a:xfrm>
            <a:off x="571500" y="2438400"/>
            <a:ext cx="8267700" cy="3657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3600" b="1" dirty="0"/>
              <a:t>Anemia:</a:t>
            </a:r>
            <a:r>
              <a:rPr lang="en-US" altLang="en-US" sz="3600" dirty="0"/>
              <a:t> </a:t>
            </a:r>
            <a:r>
              <a:rPr lang="en-US" altLang="en-US" sz="2800" dirty="0"/>
              <a:t>A deficiency in erythrocytes or hemoglobin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altLang="en-US" sz="1000" b="1" dirty="0">
              <a:ea typeface="MS PGothic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Aplastic anemia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Hemolytic anemia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Pernicious anemia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Sickle cell anemia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Thalassemia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59106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Types of Anemia  (Slide 1 of 2)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086600" cy="3810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b="1" dirty="0"/>
              <a:t>Aplastic anemia:</a:t>
            </a:r>
            <a:r>
              <a:rPr lang="en-US" altLang="en-US" sz="2200" dirty="0"/>
              <a:t> failure of blood cell production due to aplasia or absence of cell formation of bone marrow cells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b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2200" b="1" dirty="0"/>
              <a:t>Hemolytic anemia:</a:t>
            </a:r>
            <a:r>
              <a:rPr lang="en-US" altLang="en-US" sz="2200" dirty="0"/>
              <a:t> reduction in red cells due to excessive destruction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b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2200" b="1" dirty="0"/>
              <a:t>Pernicious anemia:</a:t>
            </a:r>
            <a:r>
              <a:rPr lang="en-US" altLang="en-US" sz="2200" dirty="0"/>
              <a:t> lack of mature erythrocytes caused by inability to absorb vitamin B</a:t>
            </a:r>
            <a:r>
              <a:rPr lang="en-US" altLang="en-US" sz="2200" baseline="-25000" dirty="0"/>
              <a:t>12</a:t>
            </a:r>
            <a:r>
              <a:rPr lang="en-US" altLang="en-US" sz="2200" dirty="0"/>
              <a:t> into the bloodstream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200" b="1" dirty="0"/>
              <a:t>Sickle cell: </a:t>
            </a:r>
            <a:r>
              <a:rPr lang="en-US" altLang="en-US" sz="2200" dirty="0"/>
              <a:t>hereditary disorder of abnormal hemoglobin producing sickle shape erythrocytes and hemolysis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200" b="1" dirty="0"/>
              <a:t>Thalassemia: </a:t>
            </a:r>
            <a:r>
              <a:rPr lang="en-US" altLang="en-US" sz="2200" dirty="0"/>
              <a:t>an inherited defect in the ability to produce hemoglobin, leading to </a:t>
            </a:r>
            <a:r>
              <a:rPr lang="en-US" altLang="en-US" sz="2200" dirty="0" err="1"/>
              <a:t>hypochromia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9144937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Types of Anemia (Slide 2 of 2)</a:t>
            </a:r>
          </a:p>
        </p:txBody>
      </p:sp>
      <p:pic>
        <p:nvPicPr>
          <p:cNvPr id="5" name="Content Placeholder 4" descr="Four examples of anemia: hereditary spherocytosis (red cells are less biconcave and fragile), pernicious (large, immature megaloblasts), thalassemia (hemoglobin concentration is low), and sickle cell anemia (crescent-shaped, distorted, fragile cells). Normal red blood cells have biconcave shape.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8403" y="1600200"/>
            <a:ext cx="464719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49830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      QUICK QUIZ (Slide 3 of 3)</a:t>
            </a:r>
            <a:endParaRPr lang="en-US" altLang="en-US" sz="4800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6934200" cy="44958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3.  What is the most common type of anemia?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endParaRPr lang="en-US" altLang="en-US" b="1"/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Hemolytic anemia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Sickle cell anemia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Iron deficiency anemia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Aplastic anemia</a:t>
            </a:r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64525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Other Diseases of Red Blood Cells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/>
              <a:t>Hemochromatosis:</a:t>
            </a:r>
            <a:r>
              <a:rPr lang="en-US" altLang="en-US" sz="2800"/>
              <a:t> excess iron deposits throughout the body 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b="1"/>
          </a:p>
          <a:p>
            <a:pPr eaLnBrk="1" hangingPunct="1">
              <a:lnSpc>
                <a:spcPct val="90000"/>
              </a:lnSpc>
            </a:pPr>
            <a:r>
              <a:rPr lang="en-US" altLang="en-US" sz="2800" b="1"/>
              <a:t>Polycythemia vera:</a:t>
            </a:r>
            <a:r>
              <a:rPr lang="en-US" altLang="en-US" sz="2800"/>
              <a:t> general increase in red blood cells </a:t>
            </a:r>
          </a:p>
        </p:txBody>
      </p:sp>
    </p:spTree>
    <p:extLst>
      <p:ext uri="{BB962C8B-B14F-4D97-AF65-F5344CB8AC3E}">
        <p14:creationId xmlns:p14="http://schemas.microsoft.com/office/powerpoint/2010/main" val="8034173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Disorders of Blood Clotting</a:t>
            </a:r>
          </a:p>
        </p:txBody>
      </p:sp>
      <p:sp>
        <p:nvSpPr>
          <p:cNvPr id="6144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Hemophilia:</a:t>
            </a:r>
            <a:r>
              <a:rPr lang="en-US" altLang="en-US"/>
              <a:t> excessive bleeding caused by hereditary lack of factors VIII and IX necessary for blood clotting.  Patients often bleed into weight-bearing joints, especially the ankles and knees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Purpura:</a:t>
            </a:r>
            <a:r>
              <a:rPr lang="en-US" altLang="en-US"/>
              <a:t> multiple pinpoint hemorrhages and accumulation of blood under the skin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42912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Diseases of White Blood Cells:</a:t>
            </a:r>
            <a:br>
              <a:rPr lang="en-US" altLang="en-US" dirty="0"/>
            </a:br>
            <a:r>
              <a:rPr lang="en-US" altLang="en-US" dirty="0"/>
              <a:t>Leukemia</a:t>
            </a:r>
          </a:p>
        </p:txBody>
      </p:sp>
      <p:sp>
        <p:nvSpPr>
          <p:cNvPr id="62467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33528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Leukemia:</a:t>
            </a:r>
            <a:r>
              <a:rPr lang="en-US" altLang="en-US"/>
              <a:t> an increase in cancerous white blood cells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Acute myeloid leukemia (AML)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Acute lymphoid leukemia (ALL)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Chronic myeloid leukemia (CML)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Chronic lymphoid leukemia (CLL)</a:t>
            </a:r>
          </a:p>
        </p:txBody>
      </p:sp>
    </p:spTree>
    <p:extLst>
      <p:ext uri="{BB962C8B-B14F-4D97-AF65-F5344CB8AC3E}">
        <p14:creationId xmlns:p14="http://schemas.microsoft.com/office/powerpoint/2010/main" val="22753353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Acute Leukemia</a:t>
            </a:r>
            <a:endParaRPr lang="es-419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Acute myeloid leukemia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Acute lymphoid leukemia</a:t>
            </a:r>
          </a:p>
        </p:txBody>
      </p:sp>
      <p:pic>
        <p:nvPicPr>
          <p:cNvPr id="8" name="Picture 10" descr="In acute myeloid leukemia, myeloblasts (immature granulocytes) predominate. There are large cells with small granules in their cytoplasm.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53" y="2895600"/>
            <a:ext cx="3049247" cy="2134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1" descr="In acute lymphoid leukemia, lymphoblasts (immature lymphocytes) predominate. This form is seen most often in children and adolescents.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898141"/>
            <a:ext cx="3045618" cy="2131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57260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Other Diseases of </a:t>
            </a:r>
            <a:br>
              <a:rPr lang="en-US" altLang="en-US" dirty="0"/>
            </a:br>
            <a:r>
              <a:rPr lang="en-US" altLang="en-US" dirty="0"/>
              <a:t>White Blood Cells</a:t>
            </a:r>
            <a:endParaRPr lang="en-US" altLang="en-US" sz="2000" dirty="0"/>
          </a:p>
        </p:txBody>
      </p:sp>
      <p:sp>
        <p:nvSpPr>
          <p:cNvPr id="64515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772400" cy="371157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 err="1"/>
              <a:t>Granulocytosis</a:t>
            </a:r>
            <a:r>
              <a:rPr lang="en-US" altLang="en-US" b="1" dirty="0"/>
              <a:t>:</a:t>
            </a:r>
            <a:r>
              <a:rPr lang="en-US" altLang="en-US" dirty="0"/>
              <a:t> abnormal increase in granulocytes in the blood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400" b="1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Mononucleosis:</a:t>
            </a:r>
            <a:r>
              <a:rPr lang="en-US" altLang="en-US" dirty="0"/>
              <a:t> an infectious disease marked by increased numbers of mononuclear leukocytes and enlarged cervical lymph nodes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603760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Disease of Bone Marrow Cells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72400" cy="3876675"/>
          </a:xfrm>
        </p:spPr>
        <p:txBody>
          <a:bodyPr/>
          <a:lstStyle/>
          <a:p>
            <a:pPr eaLnBrk="1" hangingPunct="1">
              <a:buClr>
                <a:srgbClr val="990099"/>
              </a:buClr>
              <a:buFont typeface="Wingdings" panose="05000000000000000000" pitchFamily="2" charset="2"/>
              <a:buNone/>
            </a:pPr>
            <a:r>
              <a:rPr lang="en-US" altLang="en-US" b="1"/>
              <a:t>Multiple myeloma:</a:t>
            </a:r>
            <a:r>
              <a:rPr lang="en-US" altLang="en-US"/>
              <a:t> malignant neoplasm of bone marrow. Malignant cells (lymphocytes called plasma cells that produce antibodies) destroy bone tissue and cause overproduction of immunoglobulins, including Bence Jones protein.</a:t>
            </a:r>
          </a:p>
        </p:txBody>
      </p:sp>
    </p:spTree>
    <p:extLst>
      <p:ext uri="{BB962C8B-B14F-4D97-AF65-F5344CB8AC3E}">
        <p14:creationId xmlns:p14="http://schemas.microsoft.com/office/powerpoint/2010/main" val="37662878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13</a:t>
            </a:r>
            <a:br>
              <a:rPr lang="en-US" altLang="en-US"/>
            </a:br>
            <a:r>
              <a:rPr lang="en-US" altLang="en-US"/>
              <a:t>Lesson 13.3</a:t>
            </a:r>
          </a:p>
        </p:txBody>
      </p:sp>
    </p:spTree>
    <p:extLst>
      <p:ext uri="{BB962C8B-B14F-4D97-AF65-F5344CB8AC3E}">
        <p14:creationId xmlns:p14="http://schemas.microsoft.com/office/powerpoint/2010/main" val="35887307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200" dirty="0"/>
              <a:t>Laboratory Blood Tests (Slide 1 of 2)</a:t>
            </a:r>
          </a:p>
        </p:txBody>
      </p:sp>
      <p:sp>
        <p:nvSpPr>
          <p:cNvPr id="67587" name="Rectangle 6"/>
          <p:cNvSpPr>
            <a:spLocks noGrp="1" noChangeArrowheads="1"/>
          </p:cNvSpPr>
          <p:nvPr>
            <p:ph sz="half" idx="1"/>
          </p:nvPr>
        </p:nvSpPr>
        <p:spPr>
          <a:xfrm>
            <a:off x="685800" y="2479675"/>
            <a:ext cx="7410450" cy="1711325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Antiglobulin</a:t>
            </a:r>
            <a:r>
              <a:rPr lang="en-US" altLang="en-US" dirty="0"/>
              <a:t> test (Coombs test)</a:t>
            </a:r>
          </a:p>
          <a:p>
            <a:pPr eaLnBrk="1" hangingPunct="1"/>
            <a:r>
              <a:rPr lang="en-US" altLang="en-US" dirty="0"/>
              <a:t>Complete blood count (CBC)</a:t>
            </a:r>
          </a:p>
          <a:p>
            <a:pPr eaLnBrk="1" hangingPunct="1"/>
            <a:r>
              <a:rPr lang="en-US" altLang="en-US" dirty="0"/>
              <a:t>Erythrocyte sedimentation rate (ESR</a:t>
            </a:r>
            <a:r>
              <a:rPr lang="en-US" altLang="en-US" sz="2400" dirty="0"/>
              <a:t>)</a:t>
            </a:r>
          </a:p>
          <a:p>
            <a:pPr eaLnBrk="1" hangingPunct="1"/>
            <a:endParaRPr lang="en-US" altLang="en-US" sz="2400" dirty="0"/>
          </a:p>
        </p:txBody>
      </p:sp>
      <p:sp>
        <p:nvSpPr>
          <p:cNvPr id="67588" name="Rectangle 7"/>
          <p:cNvSpPr>
            <a:spLocks noGrp="1" noChangeArrowheads="1"/>
          </p:cNvSpPr>
          <p:nvPr>
            <p:ph sz="half" idx="2"/>
          </p:nvPr>
        </p:nvSpPr>
        <p:spPr>
          <a:xfrm>
            <a:off x="685800" y="4191000"/>
            <a:ext cx="7138988" cy="2341563"/>
          </a:xfrm>
        </p:spPr>
        <p:txBody>
          <a:bodyPr/>
          <a:lstStyle/>
          <a:p>
            <a:pPr eaLnBrk="1" hangingPunct="1"/>
            <a:r>
              <a:rPr lang="en-US" altLang="en-US"/>
              <a:t>Hematocrit (Hct)</a:t>
            </a:r>
          </a:p>
          <a:p>
            <a:pPr eaLnBrk="1" hangingPunct="1"/>
            <a:r>
              <a:rPr lang="en-US" altLang="en-US"/>
              <a:t>Hemoglobin test (H, Hg, Hgb)</a:t>
            </a:r>
          </a:p>
          <a:p>
            <a:pPr eaLnBrk="1" hangingPunct="1"/>
            <a:r>
              <a:rPr lang="en-US" altLang="en-US"/>
              <a:t>Partial thromboplastin time (PTT)</a:t>
            </a:r>
          </a:p>
        </p:txBody>
      </p:sp>
    </p:spTree>
    <p:extLst>
      <p:ext uri="{BB962C8B-B14F-4D97-AF65-F5344CB8AC3E}">
        <p14:creationId xmlns:p14="http://schemas.microsoft.com/office/powerpoint/2010/main" val="3805924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200" dirty="0"/>
              <a:t>Laboratory Blood Tests (Slide 2 of 2</a:t>
            </a:r>
            <a:r>
              <a:rPr lang="en-US" altLang="ja-JP" sz="4200" dirty="0"/>
              <a:t>)</a:t>
            </a:r>
            <a:endParaRPr lang="en-US" altLang="en-US" sz="4200" dirty="0"/>
          </a:p>
        </p:txBody>
      </p:sp>
      <p:sp>
        <p:nvSpPr>
          <p:cNvPr id="68611" name="Rectangle 6"/>
          <p:cNvSpPr>
            <a:spLocks noGrp="1" noChangeArrowheads="1"/>
          </p:cNvSpPr>
          <p:nvPr>
            <p:ph sz="half" idx="1"/>
          </p:nvPr>
        </p:nvSpPr>
        <p:spPr>
          <a:xfrm>
            <a:off x="685800" y="1600200"/>
            <a:ext cx="7229475" cy="15668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Platelet count</a:t>
            </a:r>
          </a:p>
          <a:p>
            <a:pPr eaLnBrk="1" hangingPunct="1">
              <a:defRPr/>
            </a:pPr>
            <a:r>
              <a:rPr lang="en-US" dirty="0" err="1"/>
              <a:t>Prothrombin</a:t>
            </a:r>
            <a:r>
              <a:rPr lang="en-US" dirty="0"/>
              <a:t> time (PT)</a:t>
            </a:r>
          </a:p>
          <a:p>
            <a:pPr eaLnBrk="1" hangingPunct="1">
              <a:defRPr/>
            </a:pPr>
            <a:r>
              <a:rPr lang="en-US" dirty="0"/>
              <a:t>Red blood cell count (RBC)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sz="2400" dirty="0"/>
          </a:p>
        </p:txBody>
      </p:sp>
      <p:sp>
        <p:nvSpPr>
          <p:cNvPr id="68612" name="Rectangle 7"/>
          <p:cNvSpPr>
            <a:spLocks noGrp="1" noChangeArrowheads="1"/>
          </p:cNvSpPr>
          <p:nvPr>
            <p:ph sz="half" idx="2"/>
          </p:nvPr>
        </p:nvSpPr>
        <p:spPr>
          <a:xfrm>
            <a:off x="685800" y="3124200"/>
            <a:ext cx="6597650" cy="2292350"/>
          </a:xfrm>
        </p:spPr>
        <p:txBody>
          <a:bodyPr/>
          <a:lstStyle/>
          <a:p>
            <a:pPr eaLnBrk="1" hangingPunct="1"/>
            <a:r>
              <a:rPr lang="en-US" altLang="en-US"/>
              <a:t>Red blood cell morphology</a:t>
            </a:r>
          </a:p>
          <a:p>
            <a:pPr eaLnBrk="1" hangingPunct="1"/>
            <a:r>
              <a:rPr lang="en-US" altLang="en-US"/>
              <a:t>White blood cell count (WBC)</a:t>
            </a:r>
          </a:p>
          <a:p>
            <a:pPr eaLnBrk="1" hangingPunct="1"/>
            <a:r>
              <a:rPr lang="en-US" altLang="en-US"/>
              <a:t>White blood cell differential</a:t>
            </a:r>
          </a:p>
        </p:txBody>
      </p:sp>
    </p:spTree>
    <p:extLst>
      <p:ext uri="{BB962C8B-B14F-4D97-AF65-F5344CB8AC3E}">
        <p14:creationId xmlns:p14="http://schemas.microsoft.com/office/powerpoint/2010/main" val="31509548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Clinical Procedures</a:t>
            </a:r>
          </a:p>
        </p:txBody>
      </p:sp>
      <p:sp>
        <p:nvSpPr>
          <p:cNvPr id="69635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8001000" cy="4724400"/>
          </a:xfrm>
        </p:spPr>
        <p:txBody>
          <a:bodyPr/>
          <a:lstStyle/>
          <a:p>
            <a:pPr marL="0" indent="0" eaLnBrk="1" hangingPunct="1">
              <a:spcAft>
                <a:spcPct val="25000"/>
              </a:spcAft>
              <a:buFont typeface="Wingdings 2" panose="05020102010507070707" pitchFamily="18" charset="2"/>
              <a:buNone/>
            </a:pPr>
            <a:r>
              <a:rPr lang="en-US" altLang="en-US" b="1"/>
              <a:t>Apheresis:</a:t>
            </a:r>
            <a:r>
              <a:rPr lang="en-US" altLang="en-US" sz="2400"/>
              <a:t> </a:t>
            </a:r>
            <a:r>
              <a:rPr lang="en-US" altLang="en-US" sz="2800"/>
              <a:t>separation of blood into component parts and removal of a select part from the blood </a:t>
            </a:r>
          </a:p>
          <a:p>
            <a:pPr marL="0" indent="0" eaLnBrk="1" hangingPunct="1">
              <a:spcAft>
                <a:spcPct val="25000"/>
              </a:spcAft>
              <a:buFont typeface="Wingdings 2" panose="05020102010507070707" pitchFamily="18" charset="2"/>
              <a:buNone/>
            </a:pPr>
            <a:r>
              <a:rPr lang="en-US" altLang="en-US" b="1"/>
              <a:t>Blood transfusion:</a:t>
            </a:r>
            <a:r>
              <a:rPr lang="en-US" altLang="en-US" sz="2400"/>
              <a:t> </a:t>
            </a:r>
            <a:r>
              <a:rPr lang="en-US" altLang="en-US" sz="2800"/>
              <a:t>whole blood or cells  taken from a donor and infused into a patient </a:t>
            </a:r>
          </a:p>
          <a:p>
            <a:pPr marL="0" indent="0" eaLnBrk="1" hangingPunct="1">
              <a:spcAft>
                <a:spcPct val="25000"/>
              </a:spcAft>
              <a:buFont typeface="Wingdings 2" panose="05020102010507070707" pitchFamily="18" charset="2"/>
              <a:buNone/>
            </a:pPr>
            <a:r>
              <a:rPr lang="en-US" altLang="en-US" b="1"/>
              <a:t>Bone marrow biopsy:</a:t>
            </a:r>
            <a:r>
              <a:rPr lang="en-US" altLang="en-US" sz="2400"/>
              <a:t> </a:t>
            </a:r>
            <a:r>
              <a:rPr lang="en-US" altLang="en-US" sz="2800"/>
              <a:t>microscopic examination of a core of bone marrow removed with a needle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Hematopoietic stem cell transplantation:</a:t>
            </a:r>
            <a:r>
              <a:rPr lang="en-US" altLang="en-US" sz="2400"/>
              <a:t> </a:t>
            </a:r>
            <a:r>
              <a:rPr lang="en-US" altLang="en-US" sz="2800"/>
              <a:t>peripheral stem cells from a compatible donor administered into a recipient</a:t>
            </a:r>
            <a:r>
              <a:rPr lang="en-US" altLang="ja-JP" sz="2800"/>
              <a:t> 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8563048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1 of 5)</a:t>
            </a:r>
          </a:p>
        </p:txBody>
      </p:sp>
      <p:graphicFrame>
        <p:nvGraphicFramePr>
          <p:cNvPr id="8" name="Content Placeholder 7" descr="Group 1 of 5 Abbreviation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7866667"/>
              </p:ext>
            </p:extLst>
          </p:nvPr>
        </p:nvGraphicFramePr>
        <p:xfrm>
          <a:off x="381000" y="1295400"/>
          <a:ext cx="8229600" cy="5029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Ab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Antibody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ABMT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Autologous bone marrow transplantation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ABO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Four main blood types – A, B, AB, and 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ALL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Acute lymphoid leukemia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AML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Acute myeloid leukemia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ANC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Absolute neutrophil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ASCT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Autologous stem cell transplantation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banda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Immature white blood cells (granulocytes)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baso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Basophils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BMT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Bone marrow transplantation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3997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2 of 5)</a:t>
            </a:r>
          </a:p>
        </p:txBody>
      </p:sp>
      <p:graphicFrame>
        <p:nvGraphicFramePr>
          <p:cNvPr id="8" name="Content Placeholder 7" descr="Group 2 of 5 Abbreviation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3182018"/>
              </p:ext>
            </p:extLst>
          </p:nvPr>
        </p:nvGraphicFramePr>
        <p:xfrm>
          <a:off x="381000" y="1295400"/>
          <a:ext cx="8229600" cy="5029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CBC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Complete blood count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CLL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Chronic lymphoid leukemia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CML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Chronic myeloid leukemia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DIC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Disseminated intravascular coagulation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diff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Differential count (white blood cells)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EBV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Epstein-Barr virus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eos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Eosinophils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EPO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Erythropoietin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ESR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Erythrocyte sedimentation rate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Iron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101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3 of 5)</a:t>
            </a:r>
          </a:p>
        </p:txBody>
      </p:sp>
      <p:graphicFrame>
        <p:nvGraphicFramePr>
          <p:cNvPr id="8" name="Content Placeholder 7" descr="Group 3 of 5 Abbreviation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277678"/>
              </p:ext>
            </p:extLst>
          </p:nvPr>
        </p:nvGraphicFramePr>
        <p:xfrm>
          <a:off x="381000" y="1295400"/>
          <a:ext cx="8229600" cy="49377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G-CSF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Granulocyte colony-stimulating factor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GM-CSF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Granulocyte-macrophage colony-stimulating factor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g/</a:t>
                      </a:r>
                      <a:r>
                        <a:rPr lang="en-US" altLang="en-US" sz="2400" dirty="0" err="1"/>
                        <a:t>dL</a:t>
                      </a:r>
                      <a:endParaRPr lang="en-US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Gram per deciliter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GVHD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Graft-versus-host disease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HCL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Hairy cell leukemia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Hct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Hematocrit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 err="1"/>
                        <a:t>Hgh</a:t>
                      </a:r>
                      <a:r>
                        <a:rPr lang="en-US" altLang="en-US" sz="2400" dirty="0"/>
                        <a:t>, HGB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Hemoglobin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 and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Hemoglobin and hematocrit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Human leukocyte antigen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4258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4 of 5)</a:t>
            </a:r>
          </a:p>
        </p:txBody>
      </p:sp>
      <p:graphicFrame>
        <p:nvGraphicFramePr>
          <p:cNvPr id="8" name="Content Placeholder 7" descr="Group 4 of 5 Abbreviation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472177"/>
              </p:ext>
            </p:extLst>
          </p:nvPr>
        </p:nvGraphicFramePr>
        <p:xfrm>
          <a:off x="381000" y="1295400"/>
          <a:ext cx="8229600" cy="47244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/>
                        <a:t>IgS</a:t>
                      </a:r>
                      <a:r>
                        <a:rPr lang="en-US" sz="2200" dirty="0"/>
                        <a:t>, </a:t>
                      </a:r>
                      <a:r>
                        <a:rPr lang="en-US" sz="2200" dirty="0" err="1"/>
                        <a:t>IgD</a:t>
                      </a:r>
                      <a:r>
                        <a:rPr lang="en-US" sz="2200" dirty="0"/>
                        <a:t>, </a:t>
                      </a:r>
                      <a:r>
                        <a:rPr lang="en-US" sz="2200" dirty="0" err="1"/>
                        <a:t>IgE</a:t>
                      </a:r>
                      <a:r>
                        <a:rPr lang="en-US" sz="2200" dirty="0"/>
                        <a:t>, </a:t>
                      </a:r>
                      <a:r>
                        <a:rPr lang="en-US" sz="2200" dirty="0" err="1"/>
                        <a:t>IgG</a:t>
                      </a:r>
                      <a:r>
                        <a:rPr lang="en-US" sz="2200" dirty="0"/>
                        <a:t>, </a:t>
                      </a:r>
                      <a:r>
                        <a:rPr lang="en-US" sz="2200" dirty="0" err="1"/>
                        <a:t>IgM</a:t>
                      </a:r>
                      <a:endParaRPr lang="en-US" sz="22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 err="1"/>
                        <a:t>Immunoglobulins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ITP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Idiopathic </a:t>
                      </a:r>
                      <a:r>
                        <a:rPr lang="en-US" altLang="en-US" sz="2000" dirty="0" err="1"/>
                        <a:t>thromocytic</a:t>
                      </a:r>
                      <a:r>
                        <a:rPr lang="en-US" altLang="en-US" sz="2000" dirty="0"/>
                        <a:t> </a:t>
                      </a:r>
                      <a:r>
                        <a:rPr lang="en-US" altLang="en-US" sz="2000" dirty="0" err="1"/>
                        <a:t>purpura</a:t>
                      </a:r>
                      <a:endParaRPr lang="en-US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/>
                        <a:t>lymphs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Lymphocytes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MCH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Mean corpuscular hemoglobin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MCHC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Mean corpuscular hemoglobin concentration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MCV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Mean corpuscular 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MDS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 err="1"/>
                        <a:t>Myelodysplastic</a:t>
                      </a:r>
                      <a:r>
                        <a:rPr lang="en-US" altLang="en-US" sz="2000" dirty="0"/>
                        <a:t> syndrome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Mm</a:t>
                      </a:r>
                      <a:r>
                        <a:rPr lang="en-US" sz="2200" baseline="30000" dirty="0"/>
                        <a:t>3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Cubic millimeter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mono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Monocyte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Polys, PMNs, PMNLs</a:t>
                      </a:r>
                      <a:endParaRPr lang="en-US" sz="22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 err="1"/>
                        <a:t>Polymorphonuclear</a:t>
                      </a:r>
                      <a:r>
                        <a:rPr lang="en-US" altLang="en-US" sz="2000" dirty="0"/>
                        <a:t> leukocytes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0095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5 of 5)</a:t>
            </a:r>
          </a:p>
        </p:txBody>
      </p:sp>
      <p:graphicFrame>
        <p:nvGraphicFramePr>
          <p:cNvPr id="8" name="Content Placeholder 7" descr="Group 5 of 5 Abbreviation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6137554"/>
              </p:ext>
            </p:extLst>
          </p:nvPr>
        </p:nvGraphicFramePr>
        <p:xfrm>
          <a:off x="381000" y="1295400"/>
          <a:ext cx="8229600" cy="41148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PT, pro time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eaLnBrk="1" hangingPunct="1">
                        <a:buFont typeface="Wingdings 2" panose="05020102010507070707" pitchFamily="18" charset="2"/>
                        <a:buNone/>
                      </a:pPr>
                      <a:r>
                        <a:rPr lang="en-US" altLang="en-US" sz="2400" dirty="0" err="1"/>
                        <a:t>Prothrombin</a:t>
                      </a:r>
                      <a:r>
                        <a:rPr lang="en-US" altLang="en-US" sz="2400" dirty="0"/>
                        <a:t>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PTT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Partial </a:t>
                      </a:r>
                      <a:r>
                        <a:rPr lang="en-US" altLang="en-US" sz="2400" dirty="0" err="1"/>
                        <a:t>thromboplastin</a:t>
                      </a:r>
                      <a:r>
                        <a:rPr lang="en-US" altLang="en-US" sz="2400" dirty="0"/>
                        <a:t>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RBC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Red blood cell; red blood cell c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 err="1"/>
                        <a:t>sed</a:t>
                      </a:r>
                      <a:r>
                        <a:rPr lang="en-US" altLang="en-US" sz="2400" dirty="0"/>
                        <a:t> rate</a:t>
                      </a:r>
                      <a:endParaRPr lang="en-US" altLang="en-US" sz="24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Erythrocyte sedimentation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segs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Segmented, mature white blood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SMAC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Sequential Multiple Analyzer Computer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WBC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White blood cell; white blood cell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WNL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Within normal limits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9489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Sheet – Combining Forms </a:t>
            </a:r>
            <a:r>
              <a:rPr lang="en-US" sz="4000" dirty="0"/>
              <a:t>(Slide 1 of 8)</a:t>
            </a:r>
          </a:p>
        </p:txBody>
      </p:sp>
      <p:graphicFrame>
        <p:nvGraphicFramePr>
          <p:cNvPr id="8" name="Content Placeholder 7" descr="Group 1 of 4 combining forms from the Review Sheet of the text.  The following slide lists these same combining form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9279174"/>
              </p:ext>
            </p:extLst>
          </p:nvPr>
        </p:nvGraphicFramePr>
        <p:xfrm>
          <a:off x="3352800" y="2133600"/>
          <a:ext cx="2438400" cy="32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bas/o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chrom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coagul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cyt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eosin/o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erythr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3396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Sheet – Combining Forms </a:t>
            </a:r>
            <a:r>
              <a:rPr lang="en-US" sz="4000" dirty="0"/>
              <a:t>(Slide 2 of 8)</a:t>
            </a:r>
          </a:p>
        </p:txBody>
      </p:sp>
      <p:graphicFrame>
        <p:nvGraphicFramePr>
          <p:cNvPr id="8" name="Content Placeholder 7" descr="Group 1 of 4 combining forms from the Review Sheet of the text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207381"/>
              </p:ext>
            </p:extLst>
          </p:nvPr>
        </p:nvGraphicFramePr>
        <p:xfrm>
          <a:off x="381000" y="1524000"/>
          <a:ext cx="8229600" cy="32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bas/o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base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chrom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color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coagul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clotting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cyt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cell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eosin/o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red, dawn, rosy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erythr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8322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Sheet – Combining Forms </a:t>
            </a:r>
            <a:r>
              <a:rPr lang="en-US" sz="4000" dirty="0"/>
              <a:t>(Slide 3 of 8)</a:t>
            </a:r>
          </a:p>
        </p:txBody>
      </p:sp>
      <p:graphicFrame>
        <p:nvGraphicFramePr>
          <p:cNvPr id="8" name="Content Placeholder 7" descr="Group 2 of 4 combining forms from the Review Sheet of the text.  The following slide lists these same combining form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4190730"/>
              </p:ext>
            </p:extLst>
          </p:nvPr>
        </p:nvGraphicFramePr>
        <p:xfrm>
          <a:off x="3352800" y="2057400"/>
          <a:ext cx="2438400" cy="32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granul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hem/o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hemat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hemoglobin/o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is/o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kary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1200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Sheet – Combining Forms </a:t>
            </a:r>
            <a:r>
              <a:rPr lang="en-US" sz="4000" dirty="0"/>
              <a:t>(Slide 4 of 8)</a:t>
            </a:r>
          </a:p>
        </p:txBody>
      </p:sp>
      <p:graphicFrame>
        <p:nvGraphicFramePr>
          <p:cNvPr id="8" name="Content Placeholder 7" descr="Group 2 of 4 combining forms from the Review Sheet of the text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1248373"/>
              </p:ext>
            </p:extLst>
          </p:nvPr>
        </p:nvGraphicFramePr>
        <p:xfrm>
          <a:off x="381000" y="1524000"/>
          <a:ext cx="8229600" cy="32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granul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granules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hem/o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blood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hemat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blood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hemoglobin/o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hemoglobin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is/o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same, equal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kary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nucleus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3476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Sheet – Combining Forms </a:t>
            </a:r>
            <a:r>
              <a:rPr lang="en-US" sz="4000" dirty="0"/>
              <a:t>(Slide 5 of 8)</a:t>
            </a:r>
          </a:p>
        </p:txBody>
      </p:sp>
      <p:graphicFrame>
        <p:nvGraphicFramePr>
          <p:cNvPr id="8" name="Content Placeholder 7" descr="Group 3 of 4 combining forms from the Review Sheet of the text.  The following slide lists these same combining form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9282941"/>
              </p:ext>
            </p:extLst>
          </p:nvPr>
        </p:nvGraphicFramePr>
        <p:xfrm>
          <a:off x="3352800" y="1752600"/>
          <a:ext cx="2438400" cy="32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leuk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mon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morph/o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myel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neutr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nucle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5457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Sheet – Combining Forms </a:t>
            </a:r>
            <a:r>
              <a:rPr lang="en-US" sz="4000" dirty="0"/>
              <a:t>(Slide 6 of 8)</a:t>
            </a:r>
          </a:p>
        </p:txBody>
      </p:sp>
      <p:graphicFrame>
        <p:nvGraphicFramePr>
          <p:cNvPr id="8" name="Content Placeholder 7" descr="Group 3 of 4 combining forms from the Review Sheet of the text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338180"/>
              </p:ext>
            </p:extLst>
          </p:nvPr>
        </p:nvGraphicFramePr>
        <p:xfrm>
          <a:off x="381000" y="1524000"/>
          <a:ext cx="8229600" cy="32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leuk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white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mon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one, single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morph/o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shape,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myel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bone marrow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neutr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neutral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nucle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nucleus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8579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Sheet – Combining Forms </a:t>
            </a:r>
            <a:r>
              <a:rPr lang="en-US" sz="4000" dirty="0"/>
              <a:t>(Slide 7 of 8)</a:t>
            </a:r>
          </a:p>
        </p:txBody>
      </p:sp>
      <p:graphicFrame>
        <p:nvGraphicFramePr>
          <p:cNvPr id="8" name="Content Placeholder 7" descr="Group 4 of 4 combining forms from the Review Sheet of the text.  The following slide lists these same combining form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392148"/>
              </p:ext>
            </p:extLst>
          </p:nvPr>
        </p:nvGraphicFramePr>
        <p:xfrm>
          <a:off x="3352800" y="2057400"/>
          <a:ext cx="2438400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phag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poikil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sider/o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spher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thromb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4764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Sheet – Combining Forms </a:t>
            </a:r>
            <a:r>
              <a:rPr lang="en-US" sz="4000" dirty="0"/>
              <a:t>(Slide 8 of 8)</a:t>
            </a:r>
          </a:p>
        </p:txBody>
      </p:sp>
      <p:graphicFrame>
        <p:nvGraphicFramePr>
          <p:cNvPr id="8" name="Content Placeholder 7" descr="Group 4 of 4 combining forms from the Review Sheet of the text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52596"/>
              </p:ext>
            </p:extLst>
          </p:nvPr>
        </p:nvGraphicFramePr>
        <p:xfrm>
          <a:off x="381000" y="1524000"/>
          <a:ext cx="8229600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phag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eat, swallow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poikil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varied, irregular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sider/o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iron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spher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globe, round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thromb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clot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49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4278</TotalTime>
  <Words>3343</Words>
  <Application>Microsoft Office PowerPoint</Application>
  <PresentationFormat>On-screen Show (4:3)</PresentationFormat>
  <Paragraphs>714</Paragraphs>
  <Slides>77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5" baseType="lpstr">
      <vt:lpstr>MS PGothic</vt:lpstr>
      <vt:lpstr>MS PGothic</vt:lpstr>
      <vt:lpstr>Arial</vt:lpstr>
      <vt:lpstr>Calibri</vt:lpstr>
      <vt:lpstr>Times New Roman</vt:lpstr>
      <vt:lpstr>Wingdings</vt:lpstr>
      <vt:lpstr>Wingdings 2</vt:lpstr>
      <vt:lpstr>Office Theme</vt:lpstr>
      <vt:lpstr>The Language of Medicine 13th edition</vt:lpstr>
      <vt:lpstr>Chapter 13  Blood System</vt:lpstr>
      <vt:lpstr>        Chapter Goals (Slide 1 of 3)   Identify terms relating to the     composition, formation, and    function of blood. </vt:lpstr>
      <vt:lpstr>Chapter Goals (Slide 2 of 3)</vt:lpstr>
      <vt:lpstr>Chapter Goals (Slide 3 of 3)</vt:lpstr>
      <vt:lpstr>Chapter 13 Lesson 13.1</vt:lpstr>
      <vt:lpstr>Introduction</vt:lpstr>
      <vt:lpstr>Composition of Blood</vt:lpstr>
      <vt:lpstr>Cell Types and Function (Slide 1 of 2)</vt:lpstr>
      <vt:lpstr>Cell Types and Function (Slide 2 of 2)</vt:lpstr>
      <vt:lpstr>Review:  Composition of Blood</vt:lpstr>
      <vt:lpstr>Plasma</vt:lpstr>
      <vt:lpstr>Blood Types</vt:lpstr>
      <vt:lpstr>Blood Clotting</vt:lpstr>
      <vt:lpstr>      QUICK QUIZ  (Slide 1 of 3) </vt:lpstr>
      <vt:lpstr>      QUICK QUIZ (slide 2 of 3)</vt:lpstr>
      <vt:lpstr>Vocabulary (Slide 1 of 28)</vt:lpstr>
      <vt:lpstr>Vocabulary (Slide 2 of 28)</vt:lpstr>
      <vt:lpstr>Vocabulary (Slide 3 of 28)</vt:lpstr>
      <vt:lpstr>Vocabulary (Slide 4 of 28)</vt:lpstr>
      <vt:lpstr>Vocabulary (Slide 5 of 28)</vt:lpstr>
      <vt:lpstr>Vocabulary (Slide 6 of 28)</vt:lpstr>
      <vt:lpstr>Vocabulary (Slide 7 of 28)</vt:lpstr>
      <vt:lpstr>Vocabulary (Slide 8 of 28)</vt:lpstr>
      <vt:lpstr>Vocabulary (Slide 9 of 28)</vt:lpstr>
      <vt:lpstr>Vocabulary (Slide 10 of 28)</vt:lpstr>
      <vt:lpstr>Vocabulary (Slide 11 of 28)</vt:lpstr>
      <vt:lpstr>Vocabulary (Slide 12 of 28)</vt:lpstr>
      <vt:lpstr>Vocabulary (Slide 13 of 28)</vt:lpstr>
      <vt:lpstr>Vocabulary (Slide 14 of 28)</vt:lpstr>
      <vt:lpstr>Vocabulary (Slide 15 of 28)</vt:lpstr>
      <vt:lpstr>Vocabulary (Slide 16 of 28)</vt:lpstr>
      <vt:lpstr>Vocabulary (Slide 17 of 28)</vt:lpstr>
      <vt:lpstr>Vocabulary (Slide 18 of 28)</vt:lpstr>
      <vt:lpstr>Vocabulary (Slide 19 of 28)</vt:lpstr>
      <vt:lpstr>Vocabulary (Slide 20 of 28)</vt:lpstr>
      <vt:lpstr>Vocabulary (Slide 21 of 28)</vt:lpstr>
      <vt:lpstr>Vocabulary (Slide 22 of 28)</vt:lpstr>
      <vt:lpstr>Vocabulary (Slide 23 of 28)</vt:lpstr>
      <vt:lpstr>Vocabulary (Slide 24 of 28)</vt:lpstr>
      <vt:lpstr>Vocabulary (Slide 25 of 28)</vt:lpstr>
      <vt:lpstr>Vocabulary (Slide 26 of 28)</vt:lpstr>
      <vt:lpstr>Vocabulary (Slide 27 of 28)</vt:lpstr>
      <vt:lpstr>Vocabulary (Slide 28 of 28)</vt:lpstr>
      <vt:lpstr>Combining Forms and Terminology (Slide 1 of 4)</vt:lpstr>
      <vt:lpstr>Combining Forms and Terminology (Slide 2 of 4)</vt:lpstr>
      <vt:lpstr>Combining Forms and Terminology (Slide 3 of 4)</vt:lpstr>
      <vt:lpstr>Combining Forms and Terminology (Slide 4 of 4)</vt:lpstr>
      <vt:lpstr>Suffixes</vt:lpstr>
      <vt:lpstr>Chapter 13 Lesson 13.2</vt:lpstr>
      <vt:lpstr>Diseases of Red Blood Cells: Anemia</vt:lpstr>
      <vt:lpstr>Types of Anemia  (Slide 1 of 2)</vt:lpstr>
      <vt:lpstr>Types of Anemia (Slide 2 of 2)</vt:lpstr>
      <vt:lpstr>      QUICK QUIZ (Slide 3 of 3)</vt:lpstr>
      <vt:lpstr>Other Diseases of Red Blood Cells</vt:lpstr>
      <vt:lpstr>Disorders of Blood Clotting</vt:lpstr>
      <vt:lpstr>Diseases of White Blood Cells: Leukemia</vt:lpstr>
      <vt:lpstr>Acute Leukemia</vt:lpstr>
      <vt:lpstr>Other Diseases of  White Blood Cells</vt:lpstr>
      <vt:lpstr>Disease of Bone Marrow Cells</vt:lpstr>
      <vt:lpstr>Chapter 13 Lesson 13.3</vt:lpstr>
      <vt:lpstr>Laboratory Blood Tests (Slide 1 of 2)</vt:lpstr>
      <vt:lpstr>Laboratory Blood Tests (Slide 2 of 2)</vt:lpstr>
      <vt:lpstr>Clinical Procedures</vt:lpstr>
      <vt:lpstr>Abbreviations (Slide 1 of 5)</vt:lpstr>
      <vt:lpstr>Abbreviations (Slide 2 of 5)</vt:lpstr>
      <vt:lpstr>Abbreviations (Slide 3 of 5)</vt:lpstr>
      <vt:lpstr>Abbreviations (Slide 4 of 5)</vt:lpstr>
      <vt:lpstr>Abbreviations (Slide 5 of 5)</vt:lpstr>
      <vt:lpstr>Review Sheet – Combining Forms (Slide 1 of 8)</vt:lpstr>
      <vt:lpstr>Review Sheet – Combining Forms (Slide 2 of 8)</vt:lpstr>
      <vt:lpstr>Review Sheet – Combining Forms (Slide 3 of 8)</vt:lpstr>
      <vt:lpstr>Review Sheet – Combining Forms (Slide 4 of 8)</vt:lpstr>
      <vt:lpstr>Review Sheet – Combining Forms (Slide 5 of 8)</vt:lpstr>
      <vt:lpstr>Review Sheet – Combining Forms (Slide 6 of 8)</vt:lpstr>
      <vt:lpstr>Review Sheet – Combining Forms (Slide 7 of 8)</vt:lpstr>
      <vt:lpstr>Review Sheet – Combining Forms (Slide 8 of 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Language of Medicine A Write-in Text Explaining Medical Terms 7th Edition Davi-Ellen Chabner, B.A., M.A.T.</dc:title>
  <dc:creator>dell</dc:creator>
  <cp:lastModifiedBy>Jyoti Tyagi (IL-IN)</cp:lastModifiedBy>
  <cp:revision>303</cp:revision>
  <cp:lastPrinted>2007-04-13T22:20:09Z</cp:lastPrinted>
  <dcterms:created xsi:type="dcterms:W3CDTF">2004-11-01T16:15:23Z</dcterms:created>
  <dcterms:modified xsi:type="dcterms:W3CDTF">2023-12-07T04:27:43Z</dcterms:modified>
</cp:coreProperties>
</file>