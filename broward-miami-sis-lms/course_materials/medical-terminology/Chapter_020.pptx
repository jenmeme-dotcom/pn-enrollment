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45"/>
  </p:notesMasterIdLst>
  <p:handoutMasterIdLst>
    <p:handoutMasterId r:id="rId46"/>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2" r:id="rId26"/>
    <p:sldId id="364" r:id="rId27"/>
    <p:sldId id="366" r:id="rId28"/>
    <p:sldId id="368" r:id="rId29"/>
    <p:sldId id="370" r:id="rId30"/>
    <p:sldId id="372" r:id="rId31"/>
    <p:sldId id="374" r:id="rId32"/>
    <p:sldId id="376" r:id="rId33"/>
    <p:sldId id="377" r:id="rId34"/>
    <p:sldId id="379" r:id="rId35"/>
    <p:sldId id="381" r:id="rId36"/>
    <p:sldId id="383" r:id="rId37"/>
    <p:sldId id="385" r:id="rId38"/>
    <p:sldId id="387" r:id="rId39"/>
    <p:sldId id="389" r:id="rId40"/>
    <p:sldId id="391" r:id="rId41"/>
    <p:sldId id="393" r:id="rId42"/>
    <p:sldId id="394" r:id="rId43"/>
    <p:sldId id="395"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16CAE998-3395-4977-AF9B-0A3A657C604E}"/>
    <pc:docChg chg="undo custSel modSld modMainMaster">
      <pc:chgData name="Ben Pfeifer" userId="fb68dd40a6c6cee7" providerId="LiveId" clId="{16CAE998-3395-4977-AF9B-0A3A657C604E}" dt="2023-09-26T09:29:01.936" v="24" actId="12385"/>
      <pc:docMkLst>
        <pc:docMk/>
      </pc:docMkLst>
      <pc:sldChg chg="modSp mod">
        <pc:chgData name="Ben Pfeifer" userId="fb68dd40a6c6cee7" providerId="LiveId" clId="{16CAE998-3395-4977-AF9B-0A3A657C604E}" dt="2023-09-26T09:26:50.470" v="1" actId="20577"/>
        <pc:sldMkLst>
          <pc:docMk/>
          <pc:sldMk cId="1428288934" sldId="332"/>
        </pc:sldMkLst>
        <pc:spChg chg="mod">
          <ac:chgData name="Ben Pfeifer" userId="fb68dd40a6c6cee7" providerId="LiveId" clId="{16CAE998-3395-4977-AF9B-0A3A657C604E}" dt="2023-09-26T09:26:50.470" v="1" actId="20577"/>
          <ac:spMkLst>
            <pc:docMk/>
            <pc:sldMk cId="1428288934" sldId="332"/>
            <ac:spMk id="2" creationId="{00000000-0000-0000-0000-000000000000}"/>
          </ac:spMkLst>
        </pc:spChg>
      </pc:sldChg>
      <pc:sldChg chg="modSp mod">
        <pc:chgData name="Ben Pfeifer" userId="fb68dd40a6c6cee7" providerId="LiveId" clId="{16CAE998-3395-4977-AF9B-0A3A657C604E}" dt="2023-09-26T09:28:35.742" v="17" actId="12385"/>
        <pc:sldMkLst>
          <pc:docMk/>
          <pc:sldMk cId="3945369485" sldId="379"/>
        </pc:sldMkLst>
        <pc:graphicFrameChg chg="modGraphic">
          <ac:chgData name="Ben Pfeifer" userId="fb68dd40a6c6cee7" providerId="LiveId" clId="{16CAE998-3395-4977-AF9B-0A3A657C604E}" dt="2023-09-26T09:28:35.742" v="17" actId="12385"/>
          <ac:graphicFrameMkLst>
            <pc:docMk/>
            <pc:sldMk cId="3945369485" sldId="379"/>
            <ac:graphicFrameMk id="8" creationId="{00000000-0000-0000-0000-000000000000}"/>
          </ac:graphicFrameMkLst>
        </pc:graphicFrameChg>
      </pc:sldChg>
      <pc:sldChg chg="modSp mod">
        <pc:chgData name="Ben Pfeifer" userId="fb68dd40a6c6cee7" providerId="LiveId" clId="{16CAE998-3395-4977-AF9B-0A3A657C604E}" dt="2023-09-26T09:28:38.795" v="18" actId="12385"/>
        <pc:sldMkLst>
          <pc:docMk/>
          <pc:sldMk cId="835411715" sldId="381"/>
        </pc:sldMkLst>
        <pc:graphicFrameChg chg="modGraphic">
          <ac:chgData name="Ben Pfeifer" userId="fb68dd40a6c6cee7" providerId="LiveId" clId="{16CAE998-3395-4977-AF9B-0A3A657C604E}" dt="2023-09-26T09:28:38.795" v="18" actId="12385"/>
          <ac:graphicFrameMkLst>
            <pc:docMk/>
            <pc:sldMk cId="835411715" sldId="381"/>
            <ac:graphicFrameMk id="8" creationId="{00000000-0000-0000-0000-000000000000}"/>
          </ac:graphicFrameMkLst>
        </pc:graphicFrameChg>
      </pc:sldChg>
      <pc:sldChg chg="modSp mod">
        <pc:chgData name="Ben Pfeifer" userId="fb68dd40a6c6cee7" providerId="LiveId" clId="{16CAE998-3395-4977-AF9B-0A3A657C604E}" dt="2023-09-26T09:28:42" v="19" actId="12385"/>
        <pc:sldMkLst>
          <pc:docMk/>
          <pc:sldMk cId="3971177155" sldId="383"/>
        </pc:sldMkLst>
        <pc:graphicFrameChg chg="modGraphic">
          <ac:chgData name="Ben Pfeifer" userId="fb68dd40a6c6cee7" providerId="LiveId" clId="{16CAE998-3395-4977-AF9B-0A3A657C604E}" dt="2023-09-26T09:28:42" v="19" actId="12385"/>
          <ac:graphicFrameMkLst>
            <pc:docMk/>
            <pc:sldMk cId="3971177155" sldId="383"/>
            <ac:graphicFrameMk id="8" creationId="{00000000-0000-0000-0000-000000000000}"/>
          </ac:graphicFrameMkLst>
        </pc:graphicFrameChg>
      </pc:sldChg>
      <pc:sldChg chg="modSp mod">
        <pc:chgData name="Ben Pfeifer" userId="fb68dd40a6c6cee7" providerId="LiveId" clId="{16CAE998-3395-4977-AF9B-0A3A657C604E}" dt="2023-09-26T09:28:44.903" v="20" actId="12385"/>
        <pc:sldMkLst>
          <pc:docMk/>
          <pc:sldMk cId="274726141" sldId="385"/>
        </pc:sldMkLst>
        <pc:graphicFrameChg chg="modGraphic">
          <ac:chgData name="Ben Pfeifer" userId="fb68dd40a6c6cee7" providerId="LiveId" clId="{16CAE998-3395-4977-AF9B-0A3A657C604E}" dt="2023-09-26T09:28:44.903" v="20" actId="12385"/>
          <ac:graphicFrameMkLst>
            <pc:docMk/>
            <pc:sldMk cId="274726141" sldId="385"/>
            <ac:graphicFrameMk id="8" creationId="{00000000-0000-0000-0000-000000000000}"/>
          </ac:graphicFrameMkLst>
        </pc:graphicFrameChg>
      </pc:sldChg>
      <pc:sldChg chg="modSp mod">
        <pc:chgData name="Ben Pfeifer" userId="fb68dd40a6c6cee7" providerId="LiveId" clId="{16CAE998-3395-4977-AF9B-0A3A657C604E}" dt="2023-09-26T09:28:47.954" v="21" actId="12385"/>
        <pc:sldMkLst>
          <pc:docMk/>
          <pc:sldMk cId="1771906019" sldId="387"/>
        </pc:sldMkLst>
        <pc:graphicFrameChg chg="modGraphic">
          <ac:chgData name="Ben Pfeifer" userId="fb68dd40a6c6cee7" providerId="LiveId" clId="{16CAE998-3395-4977-AF9B-0A3A657C604E}" dt="2023-09-26T09:28:47.954" v="21" actId="12385"/>
          <ac:graphicFrameMkLst>
            <pc:docMk/>
            <pc:sldMk cId="1771906019" sldId="387"/>
            <ac:graphicFrameMk id="8" creationId="{00000000-0000-0000-0000-000000000000}"/>
          </ac:graphicFrameMkLst>
        </pc:graphicFrameChg>
      </pc:sldChg>
      <pc:sldChg chg="modSp mod">
        <pc:chgData name="Ben Pfeifer" userId="fb68dd40a6c6cee7" providerId="LiveId" clId="{16CAE998-3395-4977-AF9B-0A3A657C604E}" dt="2023-09-26T09:28:54.372" v="22" actId="12385"/>
        <pc:sldMkLst>
          <pc:docMk/>
          <pc:sldMk cId="2600243084" sldId="389"/>
        </pc:sldMkLst>
        <pc:graphicFrameChg chg="modGraphic">
          <ac:chgData name="Ben Pfeifer" userId="fb68dd40a6c6cee7" providerId="LiveId" clId="{16CAE998-3395-4977-AF9B-0A3A657C604E}" dt="2023-09-26T09:28:54.372" v="22" actId="12385"/>
          <ac:graphicFrameMkLst>
            <pc:docMk/>
            <pc:sldMk cId="2600243084" sldId="389"/>
            <ac:graphicFrameMk id="8" creationId="{00000000-0000-0000-0000-000000000000}"/>
          </ac:graphicFrameMkLst>
        </pc:graphicFrameChg>
      </pc:sldChg>
      <pc:sldChg chg="modSp mod">
        <pc:chgData name="Ben Pfeifer" userId="fb68dd40a6c6cee7" providerId="LiveId" clId="{16CAE998-3395-4977-AF9B-0A3A657C604E}" dt="2023-09-26T09:28:58.819" v="23" actId="12385"/>
        <pc:sldMkLst>
          <pc:docMk/>
          <pc:sldMk cId="3617747231" sldId="391"/>
        </pc:sldMkLst>
        <pc:graphicFrameChg chg="modGraphic">
          <ac:chgData name="Ben Pfeifer" userId="fb68dd40a6c6cee7" providerId="LiveId" clId="{16CAE998-3395-4977-AF9B-0A3A657C604E}" dt="2023-09-26T09:28:58.819" v="23" actId="12385"/>
          <ac:graphicFrameMkLst>
            <pc:docMk/>
            <pc:sldMk cId="3617747231" sldId="391"/>
            <ac:graphicFrameMk id="8" creationId="{00000000-0000-0000-0000-000000000000}"/>
          </ac:graphicFrameMkLst>
        </pc:graphicFrameChg>
      </pc:sldChg>
      <pc:sldChg chg="modSp mod">
        <pc:chgData name="Ben Pfeifer" userId="fb68dd40a6c6cee7" providerId="LiveId" clId="{16CAE998-3395-4977-AF9B-0A3A657C604E}" dt="2023-09-26T09:29:01.936" v="24" actId="12385"/>
        <pc:sldMkLst>
          <pc:docMk/>
          <pc:sldMk cId="1412442697" sldId="393"/>
        </pc:sldMkLst>
        <pc:graphicFrameChg chg="modGraphic">
          <ac:chgData name="Ben Pfeifer" userId="fb68dd40a6c6cee7" providerId="LiveId" clId="{16CAE998-3395-4977-AF9B-0A3A657C604E}" dt="2023-09-26T09:29:01.936" v="24" actId="12385"/>
          <ac:graphicFrameMkLst>
            <pc:docMk/>
            <pc:sldMk cId="1412442697" sldId="393"/>
            <ac:graphicFrameMk id="8" creationId="{00000000-0000-0000-0000-000000000000}"/>
          </ac:graphicFrameMkLst>
        </pc:graphicFrameChg>
      </pc:sldChg>
      <pc:sldMasterChg chg="addSp delSp modSp mod">
        <pc:chgData name="Ben Pfeifer" userId="fb68dd40a6c6cee7" providerId="LiveId" clId="{16CAE998-3395-4977-AF9B-0A3A657C604E}" dt="2023-09-26T09:27:38.249" v="16" actId="20577"/>
        <pc:sldMasterMkLst>
          <pc:docMk/>
          <pc:sldMasterMk cId="0" sldId="2147483762"/>
        </pc:sldMasterMkLst>
        <pc:spChg chg="add del mod">
          <ac:chgData name="Ben Pfeifer" userId="fb68dd40a6c6cee7" providerId="LiveId" clId="{16CAE998-3395-4977-AF9B-0A3A657C604E}" dt="2023-09-26T09:27:38.249" v="1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B2C0964-BCDF-4880-A429-D0BC4F77289B}" type="slidenum">
              <a:rPr lang="en-US" altLang="en-US" sz="1200"/>
              <a:pPr/>
              <a:t>2</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050432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0090A31-966F-46BF-8C8D-8AE0C92E87F8}" type="slidenum">
              <a:rPr lang="en-US" altLang="en-US" sz="1200"/>
              <a:pPr/>
              <a:t>3</a:t>
            </a:fld>
            <a:endParaRPr lang="en-US" altLang="en-US" sz="12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51505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7430002-602C-48D0-8676-99E297A8D130}" type="slidenum">
              <a:rPr lang="en-US" altLang="en-US" sz="1200"/>
              <a:pPr/>
              <a:t>4</a:t>
            </a:fld>
            <a:endParaRPr lang="en-US" alt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221464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A497C78-A8F4-413E-BB68-106FC9AC2B3D}" type="slidenum">
              <a:rPr lang="en-US" altLang="en-US" sz="1200"/>
              <a:pPr/>
              <a:t>5</a:t>
            </a:fld>
            <a:endParaRPr lang="en-US" alt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056178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879F162-41FE-41E2-BAA3-F3933CB654CA}" type="slidenum">
              <a:rPr lang="en-US" altLang="en-US" sz="1200"/>
              <a:pPr/>
              <a:t>6</a:t>
            </a:fld>
            <a:endParaRPr lang="en-US" altLang="en-US"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another name for radiology? </a:t>
            </a:r>
            <a:r>
              <a:rPr lang="en-US" altLang="en-US" i="1">
                <a:latin typeface="Times New Roman" panose="02020603050405020304" pitchFamily="18" charset="0"/>
              </a:rPr>
              <a:t>(Roentgenology)</a:t>
            </a:r>
          </a:p>
          <a:p>
            <a:pPr eaLnBrk="1" hangingPunct="1"/>
            <a:r>
              <a:rPr lang="en-US" altLang="en-US">
                <a:latin typeface="Times New Roman" panose="02020603050405020304" pitchFamily="18" charset="0"/>
              </a:rPr>
              <a:t> What is the name for a physician who practices radiology?</a:t>
            </a:r>
            <a:r>
              <a:rPr lang="en-US" altLang="en-US" i="1">
                <a:latin typeface="Times New Roman" panose="02020603050405020304" pitchFamily="18" charset="0"/>
              </a:rPr>
              <a:t> (Radiologist)</a:t>
            </a:r>
          </a:p>
          <a:p>
            <a:pPr eaLnBrk="1" hangingPunct="1"/>
            <a:r>
              <a:rPr lang="en-US" altLang="en-US">
                <a:latin typeface="Times New Roman" panose="02020603050405020304" pitchFamily="18" charset="0"/>
              </a:rPr>
              <a:t> Name the three types of radioactivity. </a:t>
            </a:r>
            <a:r>
              <a:rPr lang="en-US" altLang="en-US" i="1">
                <a:latin typeface="Times New Roman" panose="02020603050405020304" pitchFamily="18" charset="0"/>
              </a:rPr>
              <a:t>(Alpha particles, beta particles, and gamma rays)</a:t>
            </a:r>
          </a:p>
        </p:txBody>
      </p:sp>
    </p:spTree>
    <p:extLst>
      <p:ext uri="{BB962C8B-B14F-4D97-AF65-F5344CB8AC3E}">
        <p14:creationId xmlns:p14="http://schemas.microsoft.com/office/powerpoint/2010/main" val="396222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A352B45-EC71-4C78-A6E7-333CB88C50AE}" type="slidenum">
              <a:rPr lang="en-US" altLang="en-US" sz="1200"/>
              <a:pPr/>
              <a:t>7</a:t>
            </a:fld>
            <a:endParaRPr lang="en-US" alt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functions does a radiologist perform? </a:t>
            </a:r>
            <a:r>
              <a:rPr lang="en-US" altLang="en-US" i="1">
                <a:latin typeface="Times New Roman" panose="02020603050405020304" pitchFamily="18" charset="0"/>
              </a:rPr>
              <a:t>(The practice of diagnostic radiology)</a:t>
            </a:r>
          </a:p>
          <a:p>
            <a:pPr eaLnBrk="1" hangingPunct="1"/>
            <a:r>
              <a:rPr lang="en-US" altLang="en-US">
                <a:latin typeface="Times New Roman" panose="02020603050405020304" pitchFamily="18" charset="0"/>
              </a:rPr>
              <a:t>  What are the functions of each type of radiologic technician?</a:t>
            </a:r>
          </a:p>
        </p:txBody>
      </p:sp>
    </p:spTree>
    <p:extLst>
      <p:ext uri="{BB962C8B-B14F-4D97-AF65-F5344CB8AC3E}">
        <p14:creationId xmlns:p14="http://schemas.microsoft.com/office/powerpoint/2010/main" val="4233349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6CDB5E-B2E1-4CEE-8037-4908236D275B}" type="slidenum">
              <a:rPr lang="en-US" altLang="en-US" sz="1200"/>
              <a:pPr/>
              <a:t>8</a:t>
            </a:fld>
            <a:endParaRPr lang="en-US" alt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the characteristic of a substance if it permits passage of most x-rays? </a:t>
            </a:r>
            <a:r>
              <a:rPr lang="en-US" altLang="en-US" i="1">
                <a:latin typeface="Times New Roman" panose="02020603050405020304" pitchFamily="18" charset="0"/>
              </a:rPr>
              <a:t>(Radiolucent)</a:t>
            </a:r>
          </a:p>
          <a:p>
            <a:pPr eaLnBrk="1" hangingPunct="1"/>
            <a:r>
              <a:rPr lang="en-US" altLang="en-US">
                <a:latin typeface="Times New Roman" panose="02020603050405020304" pitchFamily="18" charset="0"/>
              </a:rPr>
              <a:t> Substances that absorb most x-rays are ______________? </a:t>
            </a:r>
            <a:r>
              <a:rPr lang="en-US" altLang="en-US" i="1">
                <a:latin typeface="Times New Roman" panose="02020603050405020304" pitchFamily="18" charset="0"/>
              </a:rPr>
              <a:t>(Radiopaque)</a:t>
            </a:r>
          </a:p>
          <a:p>
            <a:pPr eaLnBrk="1" hangingPunct="1"/>
            <a:r>
              <a:rPr lang="en-US" altLang="en-US">
                <a:latin typeface="Times New Roman" panose="02020603050405020304" pitchFamily="18" charset="0"/>
              </a:rPr>
              <a:t> What is ionization?</a:t>
            </a:r>
          </a:p>
          <a:p>
            <a:pPr eaLnBrk="1" hangingPunct="1"/>
            <a:r>
              <a:rPr lang="en-US" altLang="en-US">
                <a:latin typeface="Times New Roman" panose="02020603050405020304" pitchFamily="18" charset="0"/>
              </a:rPr>
              <a:t> Scatter and ionization causes tissue damage.</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012271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CDFD9D3-E4AF-4183-80C1-569B7086DEEF}" type="slidenum">
              <a:rPr lang="en-US" altLang="en-US" sz="1200"/>
              <a:pPr/>
              <a:t>9</a:t>
            </a:fld>
            <a:endParaRPr lang="en-US" alt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Make sure all these terms are defined as in the text. </a:t>
            </a:r>
          </a:p>
          <a:p>
            <a:pPr eaLnBrk="1" hangingPunct="1"/>
            <a:r>
              <a:rPr lang="en-US" altLang="en-US">
                <a:latin typeface="Times New Roman" panose="02020603050405020304" pitchFamily="18" charset="0"/>
              </a:rPr>
              <a:t> Why are contrast media used?</a:t>
            </a:r>
          </a:p>
          <a:p>
            <a:pPr eaLnBrk="1" hangingPunct="1"/>
            <a:r>
              <a:rPr lang="en-US" altLang="en-US">
                <a:latin typeface="Times New Roman" panose="02020603050405020304" pitchFamily="18" charset="0"/>
              </a:rPr>
              <a:t> What is a </a:t>
            </a:r>
            <a:r>
              <a:rPr lang="ja-JP" altLang="en-US">
                <a:latin typeface="Times New Roman" panose="02020603050405020304" pitchFamily="18" charset="0"/>
              </a:rPr>
              <a:t>“</a:t>
            </a:r>
            <a:r>
              <a:rPr lang="en-US" altLang="ja-JP">
                <a:latin typeface="Times New Roman" panose="02020603050405020304" pitchFamily="18" charset="0"/>
              </a:rPr>
              <a:t>double-contrast study</a:t>
            </a:r>
            <a:r>
              <a:rPr lang="ja-JP" altLang="en-US">
                <a:latin typeface="Times New Roman" panose="02020603050405020304" pitchFamily="18" charset="0"/>
              </a:rPr>
              <a:t>”</a:t>
            </a:r>
            <a:r>
              <a:rPr lang="en-US" altLang="ja-JP">
                <a:latin typeface="Times New Roman" panose="02020603050405020304" pitchFamily="18" charset="0"/>
              </a:rPr>
              <a:t>?</a:t>
            </a:r>
          </a:p>
          <a:p>
            <a:pPr eaLnBrk="1" hangingPunct="1"/>
            <a:r>
              <a:rPr lang="en-US" altLang="en-US">
                <a:latin typeface="Times New Roman" panose="02020603050405020304" pitchFamily="18" charset="0"/>
              </a:rPr>
              <a:t> Which test is also known as </a:t>
            </a:r>
            <a:r>
              <a:rPr lang="ja-JP" altLang="en-US">
                <a:latin typeface="Times New Roman" panose="02020603050405020304" pitchFamily="18" charset="0"/>
              </a:rPr>
              <a:t>“</a:t>
            </a:r>
            <a:r>
              <a:rPr lang="en-US" altLang="ja-JP">
                <a:latin typeface="Times New Roman" panose="02020603050405020304" pitchFamily="18" charset="0"/>
              </a:rPr>
              <a:t>urography</a:t>
            </a:r>
            <a:r>
              <a:rPr lang="ja-JP" altLang="en-US">
                <a:latin typeface="Times New Roman" panose="02020603050405020304" pitchFamily="18" charset="0"/>
              </a:rPr>
              <a:t>”</a:t>
            </a:r>
            <a:r>
              <a:rPr lang="en-US" altLang="ja-JP">
                <a:latin typeface="Times New Roman" panose="02020603050405020304" pitchFamily="18" charset="0"/>
              </a:rPr>
              <a:t>? </a:t>
            </a:r>
            <a:endParaRPr lang="en-US" altLang="en-US">
              <a:latin typeface="Times New Roman" panose="02020603050405020304" pitchFamily="18" charset="0"/>
            </a:endParaRPr>
          </a:p>
        </p:txBody>
      </p:sp>
    </p:spTree>
    <p:extLst>
      <p:ext uri="{BB962C8B-B14F-4D97-AF65-F5344CB8AC3E}">
        <p14:creationId xmlns:p14="http://schemas.microsoft.com/office/powerpoint/2010/main" val="200961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E07F2F1-D44F-402F-A50C-DB1C5AA1B08C}" type="slidenum">
              <a:rPr lang="en-US" altLang="en-US" sz="1200"/>
              <a:pPr/>
              <a:t>10</a:t>
            </a:fld>
            <a:endParaRPr lang="en-US" altLang="en-US"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Note which techniques require the use of radioactive substances.</a:t>
            </a:r>
          </a:p>
          <a:p>
            <a:pPr eaLnBrk="1" hangingPunct="1"/>
            <a:r>
              <a:rPr lang="en-US" altLang="en-US">
                <a:latin typeface="Times New Roman" panose="02020603050405020304" pitchFamily="18" charset="0"/>
              </a:rPr>
              <a:t> Which of the techniques listed can be used with a patient in motion?</a:t>
            </a:r>
          </a:p>
          <a:p>
            <a:pPr eaLnBrk="1" hangingPunct="1"/>
            <a:r>
              <a:rPr lang="en-US" altLang="en-US">
                <a:latin typeface="Times New Roman" panose="02020603050405020304" pitchFamily="18" charset="0"/>
              </a:rPr>
              <a:t> What are the specialized ultrasound techniques used to record blood velocity or flow?</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510116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993EBEF-D5F9-43D1-BD49-42A74CD63B5C}" type="slidenum">
              <a:rPr lang="en-US" altLang="en-US" sz="1200"/>
              <a:pPr/>
              <a:t>11</a:t>
            </a:fld>
            <a:endParaRPr lang="en-US"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posteroanterior view of the chest is the most commonly requested chest x-ray.</a:t>
            </a:r>
          </a:p>
          <a:p>
            <a:pPr eaLnBrk="1" hangingPunct="1"/>
            <a:r>
              <a:rPr lang="en-US" altLang="en-US">
                <a:latin typeface="Times New Roman" panose="02020603050405020304" pitchFamily="18" charset="0"/>
              </a:rPr>
              <a:t> What is the likely reason for this?</a:t>
            </a:r>
          </a:p>
          <a:p>
            <a:pPr eaLnBrk="1" hangingPunct="1"/>
            <a:r>
              <a:rPr lang="en-US" altLang="en-US">
                <a:latin typeface="Times New Roman" panose="02020603050405020304" pitchFamily="18" charset="0"/>
              </a:rPr>
              <a:t> What structures are best viewed with the anteroposterior view?</a:t>
            </a:r>
            <a:endParaRPr lang="en-US" altLang="en-US" b="1">
              <a:latin typeface="Times New Roman" panose="02020603050405020304" pitchFamily="18" charset="0"/>
            </a:endParaRPr>
          </a:p>
        </p:txBody>
      </p:sp>
    </p:spTree>
    <p:extLst>
      <p:ext uri="{BB962C8B-B14F-4D97-AF65-F5344CB8AC3E}">
        <p14:creationId xmlns:p14="http://schemas.microsoft.com/office/powerpoint/2010/main" val="2653533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28B711-1FD7-48C1-AA3D-2BAC2D3E9AE7}" type="slidenum">
              <a:rPr lang="en-US" altLang="en-US" sz="1200"/>
              <a:pPr/>
              <a:t>12</a:t>
            </a:fld>
            <a:endParaRPr lang="en-US" alt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posteroanterior view of the chest is the most commonly requested chest x-ray.</a:t>
            </a:r>
          </a:p>
          <a:p>
            <a:pPr eaLnBrk="1" hangingPunct="1"/>
            <a:r>
              <a:rPr lang="en-US" altLang="en-US">
                <a:latin typeface="Times New Roman" panose="02020603050405020304" pitchFamily="18" charset="0"/>
              </a:rPr>
              <a:t> What is the likely reason for this?</a:t>
            </a:r>
          </a:p>
          <a:p>
            <a:pPr eaLnBrk="1" hangingPunct="1"/>
            <a:r>
              <a:rPr lang="en-US" altLang="en-US">
                <a:latin typeface="Times New Roman" panose="02020603050405020304" pitchFamily="18" charset="0"/>
              </a:rPr>
              <a:t> What structures are best viewed with the anteroposterior view?</a:t>
            </a:r>
            <a:endParaRPr lang="en-US" altLang="en-US" b="1">
              <a:latin typeface="Times New Roman" panose="02020603050405020304" pitchFamily="18" charset="0"/>
            </a:endParaRPr>
          </a:p>
        </p:txBody>
      </p:sp>
    </p:spTree>
    <p:extLst>
      <p:ext uri="{BB962C8B-B14F-4D97-AF65-F5344CB8AC3E}">
        <p14:creationId xmlns:p14="http://schemas.microsoft.com/office/powerpoint/2010/main" val="1955080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744C207-5EF4-438A-B49C-617D2453480D}" type="slidenum">
              <a:rPr lang="en-US" altLang="en-US" sz="1200"/>
              <a:pPr/>
              <a:t>13</a:t>
            </a:fld>
            <a:endParaRPr lang="en-US" alt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are oblique views necessary?</a:t>
            </a:r>
            <a:endParaRPr lang="en-US" altLang="en-US" b="1">
              <a:latin typeface="Times New Roman" panose="02020603050405020304" pitchFamily="18" charset="0"/>
            </a:endParaRPr>
          </a:p>
        </p:txBody>
      </p:sp>
    </p:spTree>
    <p:extLst>
      <p:ext uri="{BB962C8B-B14F-4D97-AF65-F5344CB8AC3E}">
        <p14:creationId xmlns:p14="http://schemas.microsoft.com/office/powerpoint/2010/main" val="1804594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5D41448-5478-466B-A5BB-A903295CD4E7}" type="slidenum">
              <a:rPr lang="en-US" altLang="en-US" sz="1200"/>
              <a:pPr/>
              <a:t>14</a:t>
            </a:fld>
            <a:endParaRPr lang="en-US" alt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are oblique views necessary?</a:t>
            </a:r>
            <a:endParaRPr lang="en-US" altLang="en-US" b="1">
              <a:latin typeface="Times New Roman" panose="02020603050405020304" pitchFamily="18" charset="0"/>
            </a:endParaRPr>
          </a:p>
        </p:txBody>
      </p:sp>
    </p:spTree>
    <p:extLst>
      <p:ext uri="{BB962C8B-B14F-4D97-AF65-F5344CB8AC3E}">
        <p14:creationId xmlns:p14="http://schemas.microsoft.com/office/powerpoint/2010/main" val="2278921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9C5518A-C9CA-4401-8951-C7071B045417}" type="slidenum">
              <a:rPr lang="en-US" altLang="en-US" sz="1200"/>
              <a:pPr/>
              <a:t>15</a:t>
            </a:fld>
            <a:endParaRPr lang="en-US" alt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36598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733A483-3491-4399-8F75-FC72DE69D430}" type="slidenum">
              <a:rPr lang="en-US" altLang="en-US" sz="1200"/>
              <a:pPr/>
              <a:t>16</a:t>
            </a:fld>
            <a:endParaRPr lang="en-US" alt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796590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FC63176-21ED-4B6A-80B1-2B82F81A5E43}" type="slidenum">
              <a:rPr lang="en-US" altLang="en-US" sz="1200"/>
              <a:pPr/>
              <a:t>17</a:t>
            </a:fld>
            <a:endParaRPr lang="en-US" alt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A: radiopaque.</a:t>
            </a:r>
          </a:p>
        </p:txBody>
      </p:sp>
    </p:spTree>
    <p:extLst>
      <p:ext uri="{BB962C8B-B14F-4D97-AF65-F5344CB8AC3E}">
        <p14:creationId xmlns:p14="http://schemas.microsoft.com/office/powerpoint/2010/main" val="3162419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EC2FA1D-34EC-45F4-9A67-D337B0C85DF4}" type="slidenum">
              <a:rPr lang="en-US" altLang="en-US" sz="1200"/>
              <a:pPr/>
              <a:t>18</a:t>
            </a:fld>
            <a:endParaRPr lang="en-US"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181190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2C35C1D-95A1-4D01-AC93-5E4A1511213D}" type="slidenum">
              <a:rPr lang="en-US" altLang="en-US" sz="1200"/>
              <a:pPr/>
              <a:t>19</a:t>
            </a:fld>
            <a:endParaRPr lang="en-US" alt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Half-life of a particle is the time required to lose half of its radioactivity (disintegration). </a:t>
            </a:r>
          </a:p>
          <a:p>
            <a:pPr eaLnBrk="1" hangingPunct="1"/>
            <a:r>
              <a:rPr lang="en-US" altLang="en-US">
                <a:latin typeface="Times New Roman" panose="02020603050405020304" pitchFamily="18" charset="0"/>
              </a:rPr>
              <a:t> Important to know this because the length of time the diagnostic tool will stay in the body is critical to the test and critical in keeping the patient safe from radiation effects.</a:t>
            </a:r>
          </a:p>
        </p:txBody>
      </p:sp>
    </p:spTree>
    <p:extLst>
      <p:ext uri="{BB962C8B-B14F-4D97-AF65-F5344CB8AC3E}">
        <p14:creationId xmlns:p14="http://schemas.microsoft.com/office/powerpoint/2010/main" val="4226657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158FA7D-A357-4DC7-B16D-D89E651BFE49}" type="slidenum">
              <a:rPr lang="en-US" altLang="en-US" sz="1200"/>
              <a:pPr/>
              <a:t>20</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the meaning of in vitro? </a:t>
            </a:r>
            <a:r>
              <a:rPr lang="en-US" altLang="en-US" i="1">
                <a:latin typeface="Times New Roman" panose="02020603050405020304" pitchFamily="18" charset="0"/>
              </a:rPr>
              <a:t>(Latin for </a:t>
            </a:r>
            <a:r>
              <a:rPr lang="ja-JP" altLang="en-US" i="1">
                <a:latin typeface="Times New Roman" panose="02020603050405020304" pitchFamily="18" charset="0"/>
              </a:rPr>
              <a:t>“</a:t>
            </a:r>
            <a:r>
              <a:rPr lang="en-US" altLang="ja-JP" i="1">
                <a:latin typeface="Times New Roman" panose="02020603050405020304" pitchFamily="18" charset="0"/>
              </a:rPr>
              <a:t>in the test tube</a:t>
            </a:r>
            <a:r>
              <a:rPr lang="ja-JP" altLang="en-US" i="1">
                <a:latin typeface="Times New Roman" panose="02020603050405020304" pitchFamily="18" charset="0"/>
              </a:rPr>
              <a:t>”</a:t>
            </a:r>
            <a:r>
              <a:rPr lang="en-US" altLang="ja-JP" i="1">
                <a:latin typeface="Times New Roman" panose="02020603050405020304" pitchFamily="18" charset="0"/>
              </a:rPr>
              <a:t>)</a:t>
            </a:r>
          </a:p>
          <a:p>
            <a:pPr eaLnBrk="1" hangingPunct="1"/>
            <a:r>
              <a:rPr lang="en-US" altLang="en-US">
                <a:latin typeface="Times New Roman" panose="02020603050405020304" pitchFamily="18" charset="0"/>
              </a:rPr>
              <a:t> Describe in vivo tests.</a:t>
            </a:r>
          </a:p>
        </p:txBody>
      </p:sp>
    </p:spTree>
    <p:extLst>
      <p:ext uri="{BB962C8B-B14F-4D97-AF65-F5344CB8AC3E}">
        <p14:creationId xmlns:p14="http://schemas.microsoft.com/office/powerpoint/2010/main" val="2672432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85666A9-BD84-4CFC-8F69-435831D48E0E}" type="slidenum">
              <a:rPr lang="en-US" altLang="en-US" sz="1200"/>
              <a:pPr/>
              <a:t>21</a:t>
            </a:fld>
            <a:endParaRPr lang="en-US" altLang="en-US"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Amounts of radiopharmaceuticals detected at a given location or organ are proportional to the rate at which the gamma rays are emitted.</a:t>
            </a:r>
          </a:p>
          <a:p>
            <a:pPr eaLnBrk="1" hangingPunct="1"/>
            <a:r>
              <a:rPr lang="en-US" altLang="en-US">
                <a:latin typeface="Times New Roman" panose="02020603050405020304" pitchFamily="18" charset="0"/>
              </a:rPr>
              <a:t> What is the meaning of in vivo? </a:t>
            </a:r>
            <a:r>
              <a:rPr lang="en-US" altLang="en-US" i="1">
                <a:latin typeface="Times New Roman" panose="02020603050405020304" pitchFamily="18" charset="0"/>
              </a:rPr>
              <a:t>(Latin for </a:t>
            </a:r>
            <a:r>
              <a:rPr lang="ja-JP" altLang="en-US" i="1">
                <a:latin typeface="Times New Roman" panose="02020603050405020304" pitchFamily="18" charset="0"/>
              </a:rPr>
              <a:t>“</a:t>
            </a:r>
            <a:r>
              <a:rPr lang="en-US" altLang="ja-JP" i="1">
                <a:latin typeface="Times New Roman" panose="02020603050405020304" pitchFamily="18" charset="0"/>
              </a:rPr>
              <a:t>in the body</a:t>
            </a:r>
            <a:r>
              <a:rPr lang="ja-JP" altLang="en-US" i="1">
                <a:latin typeface="Times New Roman" panose="02020603050405020304" pitchFamily="18" charset="0"/>
              </a:rPr>
              <a:t>”</a:t>
            </a:r>
            <a:r>
              <a:rPr lang="en-US" altLang="ja-JP" i="1">
                <a:latin typeface="Times New Roman" panose="02020603050405020304" pitchFamily="18" charset="0"/>
              </a:rPr>
              <a:t> )</a:t>
            </a:r>
            <a:endParaRPr lang="en-US" altLang="en-US" i="1">
              <a:latin typeface="Times New Roman" panose="02020603050405020304" pitchFamily="18" charset="0"/>
            </a:endParaRPr>
          </a:p>
        </p:txBody>
      </p:sp>
    </p:spTree>
    <p:extLst>
      <p:ext uri="{BB962C8B-B14F-4D97-AF65-F5344CB8AC3E}">
        <p14:creationId xmlns:p14="http://schemas.microsoft.com/office/powerpoint/2010/main" val="1517243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D0ACEE5-7568-4560-B1BB-DFDD4B7996F6}" type="slidenum">
              <a:rPr lang="en-US" altLang="en-US" sz="1200"/>
              <a:pPr/>
              <a:t>22</a:t>
            </a:fld>
            <a:endParaRPr lang="en-US" altLang="en-US" sz="12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name can be applied to this group of tests? </a:t>
            </a:r>
            <a:r>
              <a:rPr lang="en-US" altLang="en-US" i="1">
                <a:latin typeface="Times New Roman" panose="02020603050405020304" pitchFamily="18" charset="0"/>
              </a:rPr>
              <a:t>(Tracer studies)</a:t>
            </a:r>
          </a:p>
          <a:p>
            <a:pPr eaLnBrk="1" hangingPunct="1"/>
            <a:r>
              <a:rPr lang="en-US" altLang="en-US">
                <a:latin typeface="Times New Roman" panose="02020603050405020304" pitchFamily="18" charset="0"/>
              </a:rPr>
              <a:t> What is another name for radionuclide scanning? </a:t>
            </a:r>
            <a:r>
              <a:rPr lang="en-US" altLang="en-US" i="1">
                <a:latin typeface="Times New Roman" panose="02020603050405020304" pitchFamily="18" charset="0"/>
              </a:rPr>
              <a:t>(Scintigraphy)</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73725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3266FC0-D8F4-4A6B-80BF-DA359E12C122}" type="slidenum">
              <a:rPr lang="en-US" altLang="en-US" sz="1200"/>
              <a:pPr/>
              <a:t>23</a:t>
            </a:fld>
            <a:endParaRPr lang="en-US" altLang="en-US" sz="12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PET is an acronym for positron emission tomography.</a:t>
            </a:r>
          </a:p>
          <a:p>
            <a:pPr eaLnBrk="1" hangingPunct="1"/>
            <a:r>
              <a:rPr lang="en-US" altLang="en-US">
                <a:latin typeface="Times New Roman" panose="02020603050405020304" pitchFamily="18" charset="0"/>
              </a:rPr>
              <a:t> How are the radionuclides incorporated into the tissue?</a:t>
            </a:r>
          </a:p>
        </p:txBody>
      </p:sp>
    </p:spTree>
    <p:extLst>
      <p:ext uri="{BB962C8B-B14F-4D97-AF65-F5344CB8AC3E}">
        <p14:creationId xmlns:p14="http://schemas.microsoft.com/office/powerpoint/2010/main" val="1448980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1E1C9CA-CC19-420A-B122-C17AC0E7DA88}" type="slidenum">
              <a:rPr lang="en-US" altLang="en-US" sz="1200"/>
              <a:pPr/>
              <a:t>24</a:t>
            </a:fld>
            <a:endParaRPr lang="en-US" altLang="en-US"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SPECT is an acronym for single-photon emission computed tomography.</a:t>
            </a:r>
          </a:p>
          <a:p>
            <a:pPr eaLnBrk="1" hangingPunct="1"/>
            <a:r>
              <a:rPr lang="en-US" altLang="en-US">
                <a:latin typeface="Times New Roman" panose="02020603050405020304" pitchFamily="18" charset="0"/>
              </a:rPr>
              <a:t> What is an example of a radioactive tracer?</a:t>
            </a:r>
          </a:p>
        </p:txBody>
      </p:sp>
    </p:spTree>
    <p:extLst>
      <p:ext uri="{BB962C8B-B14F-4D97-AF65-F5344CB8AC3E}">
        <p14:creationId xmlns:p14="http://schemas.microsoft.com/office/powerpoint/2010/main" val="1098940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2F17848-5A7F-4249-816B-CFD2C9B6A449}" type="slidenum">
              <a:rPr lang="en-US" altLang="en-US" sz="1200"/>
              <a:pPr/>
              <a:t>33</a:t>
            </a:fld>
            <a:endParaRPr lang="en-US" altLang="en-US" sz="12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D: transducer.</a:t>
            </a:r>
          </a:p>
        </p:txBody>
      </p:sp>
    </p:spTree>
    <p:extLst>
      <p:ext uri="{BB962C8B-B14F-4D97-AF65-F5344CB8AC3E}">
        <p14:creationId xmlns:p14="http://schemas.microsoft.com/office/powerpoint/2010/main" val="614159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727005F-9D52-44A5-B1D8-F7C800AC6143}" type="slidenum">
              <a:rPr lang="en-US" altLang="en-US" sz="1200"/>
              <a:pPr/>
              <a:t>42</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B: abduction.</a:t>
            </a:r>
          </a:p>
        </p:txBody>
      </p:sp>
    </p:spTree>
    <p:extLst>
      <p:ext uri="{BB962C8B-B14F-4D97-AF65-F5344CB8AC3E}">
        <p14:creationId xmlns:p14="http://schemas.microsoft.com/office/powerpoint/2010/main" val="127189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5655658-60F4-427D-B383-6E2E9F5A2DB2}" type="slidenum">
              <a:rPr lang="en-US" altLang="en-US" sz="1200"/>
              <a:pPr/>
              <a:t>43</a:t>
            </a:fld>
            <a:endParaRPr lang="en-US" alt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B: supine.</a:t>
            </a:r>
          </a:p>
        </p:txBody>
      </p:sp>
    </p:spTree>
    <p:extLst>
      <p:ext uri="{BB962C8B-B14F-4D97-AF65-F5344CB8AC3E}">
        <p14:creationId xmlns:p14="http://schemas.microsoft.com/office/powerpoint/2010/main" val="129149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16C2FCC0-0CCD-6487-74C5-C7A0C52823D5}"/>
              </a:ext>
            </a:extLst>
          </p:cNvPr>
          <p:cNvPicPr>
            <a:picLocks noChangeAspect="1"/>
          </p:cNvPicPr>
          <p:nvPr userDrawn="1"/>
        </p:nvPicPr>
        <p:blipFill>
          <a:blip r:embed="rId14"/>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6"/>
          <p:cNvSpPr>
            <a:spLocks noGrp="1" noChangeArrowheads="1"/>
          </p:cNvSpPr>
          <p:nvPr>
            <p:ph type="title"/>
          </p:nvPr>
        </p:nvSpPr>
        <p:spPr>
          <a:xfrm>
            <a:off x="685800" y="228600"/>
            <a:ext cx="8382000" cy="1524000"/>
          </a:xfrm>
        </p:spPr>
        <p:txBody>
          <a:bodyPr rtlCol="0">
            <a:normAutofit fontScale="90000"/>
          </a:bodyPr>
          <a:lstStyle/>
          <a:p>
            <a:pPr eaLnBrk="1" fontAlgn="auto" hangingPunct="1">
              <a:spcAft>
                <a:spcPts val="0"/>
              </a:spcAft>
              <a:defRPr/>
            </a:pPr>
            <a:r>
              <a:rPr lang="en-US" dirty="0"/>
              <a:t>Chapter 20</a:t>
            </a:r>
            <a:br>
              <a:rPr lang="en-US" dirty="0"/>
            </a:br>
            <a:r>
              <a:rPr lang="en-US" dirty="0"/>
              <a:t>Radiology and </a:t>
            </a:r>
            <a:br>
              <a:rPr lang="en-US" dirty="0"/>
            </a:br>
            <a:r>
              <a:rPr lang="en-US" dirty="0"/>
              <a:t>Nuclear Medicine</a:t>
            </a:r>
          </a:p>
        </p:txBody>
      </p:sp>
    </p:spTree>
    <p:extLst>
      <p:ext uri="{BB962C8B-B14F-4D97-AF65-F5344CB8AC3E}">
        <p14:creationId xmlns:p14="http://schemas.microsoft.com/office/powerpoint/2010/main" val="3937118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a:xfrm>
            <a:off x="762000" y="304800"/>
            <a:ext cx="7772400" cy="1219200"/>
          </a:xfrm>
        </p:spPr>
        <p:txBody>
          <a:bodyPr/>
          <a:lstStyle/>
          <a:p>
            <a:pPr eaLnBrk="1" hangingPunct="1"/>
            <a:r>
              <a:rPr lang="en-US" altLang="en-US" dirty="0"/>
              <a:t>Chapter Goals (Slide 1 of 2)</a:t>
            </a:r>
          </a:p>
        </p:txBody>
      </p:sp>
      <p:sp>
        <p:nvSpPr>
          <p:cNvPr id="5123" name="Rectangle 5"/>
          <p:cNvSpPr>
            <a:spLocks noGrp="1" noChangeArrowheads="1"/>
          </p:cNvSpPr>
          <p:nvPr>
            <p:ph idx="1"/>
          </p:nvPr>
        </p:nvSpPr>
        <p:spPr>
          <a:xfrm>
            <a:off x="762000" y="1717675"/>
            <a:ext cx="7772400" cy="4454525"/>
          </a:xfrm>
        </p:spPr>
        <p:txBody>
          <a:bodyPr/>
          <a:lstStyle/>
          <a:p>
            <a:pPr eaLnBrk="1" hangingPunct="1"/>
            <a:r>
              <a:rPr lang="en-US" altLang="en-US" dirty="0"/>
              <a:t>List the physical properties of x-rays.</a:t>
            </a:r>
          </a:p>
          <a:p>
            <a:pPr eaLnBrk="1" hangingPunct="1"/>
            <a:r>
              <a:rPr lang="en-US" altLang="en-US" dirty="0"/>
              <a:t>Identify diagnostic techniques used by radiologists and nuclear physicians.</a:t>
            </a:r>
          </a:p>
          <a:p>
            <a:pPr eaLnBrk="1" hangingPunct="1"/>
            <a:r>
              <a:rPr lang="en-US" altLang="en-US" dirty="0"/>
              <a:t>Name x-ray views and patient positions used in x-ray examinations.</a:t>
            </a:r>
          </a:p>
          <a:p>
            <a:pPr eaLnBrk="1" hangingPunct="1"/>
            <a:r>
              <a:rPr lang="en-US" altLang="en-US" dirty="0"/>
              <a:t>Describe the role of radioactivity in the diagnosis of disease.</a:t>
            </a:r>
          </a:p>
          <a:p>
            <a:pPr eaLnBrk="1" hangingPunct="1"/>
            <a:endParaRPr lang="en-US" altLang="en-US" sz="2400" dirty="0"/>
          </a:p>
        </p:txBody>
      </p:sp>
    </p:spTree>
    <p:extLst>
      <p:ext uri="{BB962C8B-B14F-4D97-AF65-F5344CB8AC3E}">
        <p14:creationId xmlns:p14="http://schemas.microsoft.com/office/powerpoint/2010/main" val="2173065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762000" y="304800"/>
            <a:ext cx="7772400" cy="1219200"/>
          </a:xfrm>
        </p:spPr>
        <p:txBody>
          <a:bodyPr/>
          <a:lstStyle/>
          <a:p>
            <a:pPr eaLnBrk="1" hangingPunct="1"/>
            <a:r>
              <a:rPr lang="en-US" altLang="en-US" dirty="0"/>
              <a:t>Chapter Goals (Slide 2 of 2</a:t>
            </a:r>
            <a:r>
              <a:rPr lang="en-US" altLang="ja-JP" dirty="0"/>
              <a:t>)</a:t>
            </a:r>
            <a:endParaRPr lang="en-US" altLang="en-US" dirty="0"/>
          </a:p>
        </p:txBody>
      </p:sp>
      <p:sp>
        <p:nvSpPr>
          <p:cNvPr id="6147" name="Rectangle 5"/>
          <p:cNvSpPr>
            <a:spLocks noGrp="1" noChangeArrowheads="1"/>
          </p:cNvSpPr>
          <p:nvPr>
            <p:ph idx="1"/>
          </p:nvPr>
        </p:nvSpPr>
        <p:spPr>
          <a:xfrm>
            <a:off x="762000" y="1717675"/>
            <a:ext cx="7772400" cy="4454525"/>
          </a:xfrm>
        </p:spPr>
        <p:txBody>
          <a:bodyPr/>
          <a:lstStyle/>
          <a:p>
            <a:pPr eaLnBrk="1" hangingPunct="1"/>
            <a:r>
              <a:rPr lang="en-US" altLang="en-US"/>
              <a:t>Recognize medical terms used in  the specialties of radiology and nuclear medicine.</a:t>
            </a:r>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3529769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defRPr/>
            </a:pPr>
            <a:r>
              <a:rPr lang="en-US"/>
              <a:t>Chapter 20</a:t>
            </a:r>
            <a:br>
              <a:rPr lang="en-US"/>
            </a:br>
            <a:r>
              <a:rPr lang="en-US"/>
              <a:t>Lesson 20.1</a:t>
            </a:r>
          </a:p>
        </p:txBody>
      </p:sp>
    </p:spTree>
    <p:extLst>
      <p:ext uri="{BB962C8B-B14F-4D97-AF65-F5344CB8AC3E}">
        <p14:creationId xmlns:p14="http://schemas.microsoft.com/office/powerpoint/2010/main" val="2026822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title"/>
          </p:nvPr>
        </p:nvSpPr>
        <p:spPr>
          <a:xfrm>
            <a:off x="762000" y="304800"/>
            <a:ext cx="7772400" cy="1219200"/>
          </a:xfrm>
        </p:spPr>
        <p:txBody>
          <a:bodyPr/>
          <a:lstStyle/>
          <a:p>
            <a:pPr eaLnBrk="1" hangingPunct="1"/>
            <a:r>
              <a:rPr lang="en-US" altLang="en-US"/>
              <a:t>Introduction</a:t>
            </a:r>
          </a:p>
        </p:txBody>
      </p:sp>
      <p:sp>
        <p:nvSpPr>
          <p:cNvPr id="5127" name="Rectangle 7"/>
          <p:cNvSpPr>
            <a:spLocks noGrp="1" noChangeArrowheads="1"/>
          </p:cNvSpPr>
          <p:nvPr>
            <p:ph idx="1"/>
          </p:nvPr>
        </p:nvSpPr>
        <p:spPr>
          <a:xfrm>
            <a:off x="762000" y="1717675"/>
            <a:ext cx="7772400" cy="4454525"/>
          </a:xfrm>
        </p:spPr>
        <p:txBody>
          <a:bodyPr rtlCol="0">
            <a:normAutofit lnSpcReduction="10000"/>
          </a:bodyPr>
          <a:lstStyle/>
          <a:p>
            <a:pPr eaLnBrk="1" fontAlgn="auto" hangingPunct="1">
              <a:spcAft>
                <a:spcPts val="0"/>
              </a:spcAft>
              <a:defRPr/>
            </a:pPr>
            <a:r>
              <a:rPr lang="en-US" b="1" dirty="0"/>
              <a:t>Radiology</a:t>
            </a:r>
            <a:r>
              <a:rPr lang="en-US" dirty="0"/>
              <a:t>: medical specialty concerned with the study of x-rays and other technologies (such as ultrasound and magnetic resonance) to produce and interpret images of the human body for diagnosis of disease</a:t>
            </a:r>
          </a:p>
          <a:p>
            <a:pPr eaLnBrk="1" fontAlgn="auto" hangingPunct="1">
              <a:spcAft>
                <a:spcPts val="0"/>
              </a:spcAft>
              <a:defRPr/>
            </a:pPr>
            <a:r>
              <a:rPr lang="en-US" b="1" dirty="0"/>
              <a:t>X-rays</a:t>
            </a:r>
            <a:r>
              <a:rPr lang="en-US" dirty="0"/>
              <a:t>: invisible waves of energy</a:t>
            </a:r>
          </a:p>
          <a:p>
            <a:pPr eaLnBrk="1" fontAlgn="auto" hangingPunct="1">
              <a:spcAft>
                <a:spcPts val="0"/>
              </a:spcAft>
              <a:defRPr/>
            </a:pPr>
            <a:r>
              <a:rPr lang="en-US" b="1" dirty="0"/>
              <a:t>Nuclear medicine</a:t>
            </a:r>
            <a:r>
              <a:rPr lang="en-US" dirty="0"/>
              <a:t>: use of radioactive substances in the diagnosis of disease</a:t>
            </a:r>
          </a:p>
        </p:txBody>
      </p:sp>
    </p:spTree>
    <p:extLst>
      <p:ext uri="{BB962C8B-B14F-4D97-AF65-F5344CB8AC3E}">
        <p14:creationId xmlns:p14="http://schemas.microsoft.com/office/powerpoint/2010/main" val="1291403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title"/>
          </p:nvPr>
        </p:nvSpPr>
        <p:spPr>
          <a:xfrm>
            <a:off x="762000" y="304800"/>
            <a:ext cx="7772400" cy="1219200"/>
          </a:xfrm>
        </p:spPr>
        <p:txBody>
          <a:bodyPr/>
          <a:lstStyle/>
          <a:p>
            <a:pPr eaLnBrk="1" hangingPunct="1"/>
            <a:r>
              <a:rPr lang="en-US" altLang="en-US"/>
              <a:t>Personnel in This Medical Field</a:t>
            </a:r>
          </a:p>
        </p:txBody>
      </p:sp>
      <p:sp>
        <p:nvSpPr>
          <p:cNvPr id="9219" name="Rectangle 7"/>
          <p:cNvSpPr>
            <a:spLocks noGrp="1" noChangeArrowheads="1"/>
          </p:cNvSpPr>
          <p:nvPr>
            <p:ph idx="1"/>
          </p:nvPr>
        </p:nvSpPr>
        <p:spPr>
          <a:xfrm>
            <a:off x="762000" y="1717675"/>
            <a:ext cx="7772400" cy="4454525"/>
          </a:xfrm>
        </p:spPr>
        <p:txBody>
          <a:bodyPr/>
          <a:lstStyle/>
          <a:p>
            <a:pPr eaLnBrk="1" hangingPunct="1"/>
            <a:r>
              <a:rPr lang="en-US" altLang="en-US"/>
              <a:t>Radiologist</a:t>
            </a:r>
          </a:p>
          <a:p>
            <a:pPr eaLnBrk="1" hangingPunct="1"/>
            <a:r>
              <a:rPr lang="en-US" altLang="en-US"/>
              <a:t>Nuclear physician</a:t>
            </a:r>
          </a:p>
          <a:p>
            <a:pPr eaLnBrk="1" hangingPunct="1"/>
            <a:r>
              <a:rPr lang="en-US" altLang="en-US"/>
              <a:t>Radiologic technologists</a:t>
            </a:r>
          </a:p>
          <a:p>
            <a:pPr lvl="1" eaLnBrk="1" hangingPunct="1">
              <a:buFont typeface="Wingdings" panose="05000000000000000000" pitchFamily="2" charset="2"/>
              <a:buChar char="Ø"/>
            </a:pPr>
            <a:r>
              <a:rPr lang="en-US" altLang="en-US">
                <a:ea typeface="MS PGothic" panose="020B0600070205080204" pitchFamily="34" charset="-128"/>
              </a:rPr>
              <a:t>Radiographers, nuclear medicine technologists, sonographers</a:t>
            </a:r>
          </a:p>
          <a:p>
            <a:pPr eaLnBrk="1" hangingPunct="1"/>
            <a:endParaRPr lang="en-US" altLang="en-US"/>
          </a:p>
        </p:txBody>
      </p:sp>
    </p:spTree>
    <p:extLst>
      <p:ext uri="{BB962C8B-B14F-4D97-AF65-F5344CB8AC3E}">
        <p14:creationId xmlns:p14="http://schemas.microsoft.com/office/powerpoint/2010/main" val="4069847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762000" y="304800"/>
            <a:ext cx="7772400" cy="1219200"/>
          </a:xfrm>
        </p:spPr>
        <p:txBody>
          <a:bodyPr/>
          <a:lstStyle/>
          <a:p>
            <a:pPr eaLnBrk="1" hangingPunct="1"/>
            <a:r>
              <a:rPr lang="en-US" altLang="en-US"/>
              <a:t>Characteristics of X-rays </a:t>
            </a:r>
          </a:p>
        </p:txBody>
      </p:sp>
      <p:sp>
        <p:nvSpPr>
          <p:cNvPr id="10243" name="Rectangle 5"/>
          <p:cNvSpPr>
            <a:spLocks noGrp="1" noChangeArrowheads="1"/>
          </p:cNvSpPr>
          <p:nvPr>
            <p:ph idx="1"/>
          </p:nvPr>
        </p:nvSpPr>
        <p:spPr>
          <a:xfrm>
            <a:off x="762000" y="1717675"/>
            <a:ext cx="7772400" cy="4454525"/>
          </a:xfrm>
        </p:spPr>
        <p:txBody>
          <a:bodyPr/>
          <a:lstStyle/>
          <a:p>
            <a:pPr eaLnBrk="1" hangingPunct="1"/>
            <a:r>
              <a:rPr lang="en-US" altLang="en-US"/>
              <a:t>Expose photographic plates</a:t>
            </a:r>
          </a:p>
          <a:p>
            <a:pPr eaLnBrk="1" hangingPunct="1"/>
            <a:r>
              <a:rPr lang="en-US" altLang="en-US"/>
              <a:t>Penetrate substances</a:t>
            </a:r>
          </a:p>
          <a:p>
            <a:pPr eaLnBrk="1" hangingPunct="1"/>
            <a:r>
              <a:rPr lang="en-US" altLang="en-US"/>
              <a:t>Invisible</a:t>
            </a:r>
          </a:p>
          <a:p>
            <a:pPr eaLnBrk="1" hangingPunct="1"/>
            <a:r>
              <a:rPr lang="en-US" altLang="en-US"/>
              <a:t>Travel in straight lines</a:t>
            </a:r>
          </a:p>
          <a:p>
            <a:pPr eaLnBrk="1" hangingPunct="1"/>
            <a:r>
              <a:rPr lang="en-US" altLang="en-US"/>
              <a:t>Scatter</a:t>
            </a:r>
          </a:p>
          <a:p>
            <a:pPr eaLnBrk="1" hangingPunct="1"/>
            <a:r>
              <a:rPr lang="en-US" altLang="en-US"/>
              <a:t>Ionization</a:t>
            </a:r>
          </a:p>
        </p:txBody>
      </p:sp>
    </p:spTree>
    <p:extLst>
      <p:ext uri="{BB962C8B-B14F-4D97-AF65-F5344CB8AC3E}">
        <p14:creationId xmlns:p14="http://schemas.microsoft.com/office/powerpoint/2010/main" val="1408647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762000" y="304800"/>
            <a:ext cx="7772400" cy="1219200"/>
          </a:xfrm>
        </p:spPr>
        <p:txBody>
          <a:bodyPr/>
          <a:lstStyle/>
          <a:p>
            <a:pPr eaLnBrk="1" hangingPunct="1"/>
            <a:r>
              <a:rPr lang="en-US" altLang="en-US" sz="4000" dirty="0"/>
              <a:t>Diagnostic Techniques (Slide 1 of 2) </a:t>
            </a:r>
          </a:p>
        </p:txBody>
      </p:sp>
      <p:sp>
        <p:nvSpPr>
          <p:cNvPr id="11269" name="Rectangle 5"/>
          <p:cNvSpPr>
            <a:spLocks noGrp="1" noChangeArrowheads="1"/>
          </p:cNvSpPr>
          <p:nvPr>
            <p:ph idx="1"/>
          </p:nvPr>
        </p:nvSpPr>
        <p:spPr>
          <a:xfrm>
            <a:off x="762000" y="1676400"/>
            <a:ext cx="6553200" cy="4038600"/>
          </a:xfrm>
        </p:spPr>
        <p:txBody>
          <a:bodyPr rtlCol="0">
            <a:normAutofit fontScale="92500" lnSpcReduction="20000"/>
          </a:bodyPr>
          <a:lstStyle/>
          <a:p>
            <a:pPr eaLnBrk="1" fontAlgn="auto" hangingPunct="1">
              <a:spcAft>
                <a:spcPts val="0"/>
              </a:spcAft>
              <a:buFont typeface="Wingdings 2" pitchFamily="18" charset="2"/>
              <a:buNone/>
              <a:defRPr/>
            </a:pPr>
            <a:r>
              <a:rPr lang="en-US" sz="3500" b="1" dirty="0"/>
              <a:t>X-Ray studies</a:t>
            </a:r>
          </a:p>
          <a:p>
            <a:pPr eaLnBrk="1" fontAlgn="auto" hangingPunct="1">
              <a:spcAft>
                <a:spcPts val="0"/>
              </a:spcAft>
              <a:defRPr/>
            </a:pPr>
            <a:r>
              <a:rPr lang="en-US" sz="3500" dirty="0"/>
              <a:t>Digital radiography</a:t>
            </a:r>
          </a:p>
          <a:p>
            <a:pPr eaLnBrk="1" fontAlgn="auto" hangingPunct="1">
              <a:spcAft>
                <a:spcPts val="0"/>
              </a:spcAft>
              <a:defRPr/>
            </a:pPr>
            <a:r>
              <a:rPr lang="en-US" sz="3500" dirty="0"/>
              <a:t>Computed tomography (CT)</a:t>
            </a:r>
          </a:p>
          <a:p>
            <a:pPr eaLnBrk="1" fontAlgn="auto" hangingPunct="1">
              <a:spcAft>
                <a:spcPts val="0"/>
              </a:spcAft>
              <a:defRPr/>
            </a:pPr>
            <a:r>
              <a:rPr lang="en-US" sz="3500" dirty="0"/>
              <a:t>Contrast studies</a:t>
            </a:r>
          </a:p>
          <a:p>
            <a:pPr lvl="1" eaLnBrk="1" fontAlgn="auto" hangingPunct="1">
              <a:spcAft>
                <a:spcPts val="0"/>
              </a:spcAft>
              <a:buFont typeface="Wingdings" pitchFamily="2" charset="2"/>
              <a:buChar char="Ø"/>
              <a:defRPr/>
            </a:pPr>
            <a:r>
              <a:rPr lang="en-US" dirty="0"/>
              <a:t>Barium sulfate: upper GI, lower GI</a:t>
            </a:r>
          </a:p>
          <a:p>
            <a:pPr lvl="1" eaLnBrk="1" fontAlgn="auto" hangingPunct="1">
              <a:spcAft>
                <a:spcPts val="0"/>
              </a:spcAft>
              <a:buFont typeface="Wingdings" pitchFamily="2" charset="2"/>
              <a:buChar char="Ø"/>
              <a:defRPr/>
            </a:pPr>
            <a:r>
              <a:rPr lang="en-US" dirty="0"/>
              <a:t>Iodine compounds: angiography, arthrography, cholangiography, digital subtraction angiography (DSA), </a:t>
            </a:r>
            <a:r>
              <a:rPr lang="en-US" dirty="0" err="1"/>
              <a:t>hysterosalpingography</a:t>
            </a:r>
            <a:r>
              <a:rPr lang="en-US" dirty="0"/>
              <a:t>, </a:t>
            </a:r>
            <a:r>
              <a:rPr lang="en-US" dirty="0" err="1"/>
              <a:t>myelography</a:t>
            </a:r>
            <a:r>
              <a:rPr lang="en-US" dirty="0"/>
              <a:t>, pyelography</a:t>
            </a:r>
          </a:p>
        </p:txBody>
      </p:sp>
    </p:spTree>
    <p:extLst>
      <p:ext uri="{BB962C8B-B14F-4D97-AF65-F5344CB8AC3E}">
        <p14:creationId xmlns:p14="http://schemas.microsoft.com/office/powerpoint/2010/main" val="41189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762000" y="304800"/>
            <a:ext cx="7772400" cy="1219200"/>
          </a:xfrm>
        </p:spPr>
        <p:txBody>
          <a:bodyPr/>
          <a:lstStyle/>
          <a:p>
            <a:pPr eaLnBrk="1" hangingPunct="1"/>
            <a:r>
              <a:rPr lang="en-US" altLang="en-US" sz="4000" dirty="0"/>
              <a:t>Diagnostic Techniques (Slide 2 of 2</a:t>
            </a:r>
            <a:r>
              <a:rPr lang="en-US" altLang="ja-JP" sz="4000" dirty="0"/>
              <a:t>)</a:t>
            </a:r>
            <a:endParaRPr lang="en-US" altLang="en-US" sz="4000" dirty="0"/>
          </a:p>
        </p:txBody>
      </p:sp>
      <p:sp>
        <p:nvSpPr>
          <p:cNvPr id="12291" name="Rectangle 5"/>
          <p:cNvSpPr>
            <a:spLocks noGrp="1" noChangeArrowheads="1"/>
          </p:cNvSpPr>
          <p:nvPr>
            <p:ph idx="1"/>
          </p:nvPr>
        </p:nvSpPr>
        <p:spPr>
          <a:xfrm>
            <a:off x="762000" y="1717675"/>
            <a:ext cx="7772400" cy="4454525"/>
          </a:xfrm>
        </p:spPr>
        <p:txBody>
          <a:bodyPr/>
          <a:lstStyle/>
          <a:p>
            <a:pPr eaLnBrk="1" hangingPunct="1"/>
            <a:r>
              <a:rPr lang="en-US" altLang="en-US"/>
              <a:t>Fluoroscopy</a:t>
            </a:r>
          </a:p>
          <a:p>
            <a:pPr eaLnBrk="1" hangingPunct="1"/>
            <a:r>
              <a:rPr lang="en-US" altLang="en-US"/>
              <a:t>Digital imaging techniques</a:t>
            </a:r>
          </a:p>
          <a:p>
            <a:pPr eaLnBrk="1" hangingPunct="1"/>
            <a:r>
              <a:rPr lang="en-US" altLang="en-US"/>
              <a:t>Interventional radiology</a:t>
            </a:r>
          </a:p>
          <a:p>
            <a:pPr eaLnBrk="1" hangingPunct="1"/>
            <a:r>
              <a:rPr lang="en-US" altLang="en-US"/>
              <a:t>Ultrasound</a:t>
            </a:r>
          </a:p>
          <a:p>
            <a:pPr eaLnBrk="1" hangingPunct="1"/>
            <a:r>
              <a:rPr lang="en-US" altLang="en-US"/>
              <a:t>Magnetic imaging or magnetic resonance imaging (MRI or MR)</a:t>
            </a:r>
          </a:p>
        </p:txBody>
      </p:sp>
    </p:spTree>
    <p:extLst>
      <p:ext uri="{BB962C8B-B14F-4D97-AF65-F5344CB8AC3E}">
        <p14:creationId xmlns:p14="http://schemas.microsoft.com/office/powerpoint/2010/main" val="2183651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 X-ray Positioning (Slide 1 of 6)</a:t>
            </a:r>
          </a:p>
        </p:txBody>
      </p:sp>
      <p:sp>
        <p:nvSpPr>
          <p:cNvPr id="13315" name="Rectangle 3"/>
          <p:cNvSpPr>
            <a:spLocks noGrp="1" noChangeArrowheads="1"/>
          </p:cNvSpPr>
          <p:nvPr>
            <p:ph sz="half" idx="1"/>
          </p:nvPr>
        </p:nvSpPr>
        <p:spPr/>
        <p:txBody>
          <a:bodyPr/>
          <a:lstStyle/>
          <a:p>
            <a:pPr eaLnBrk="1" hangingPunct="1"/>
            <a:r>
              <a:rPr lang="en-US" altLang="en-US"/>
              <a:t>Posteroanterior (PA) view: posterior source to anterior detector</a:t>
            </a:r>
          </a:p>
        </p:txBody>
      </p:sp>
      <p:pic>
        <p:nvPicPr>
          <p:cNvPr id="6" name="Picture 7" descr="Position for x-ray: Posteroanterior (PA) view (posterior source to anterior detecto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147531" y="1600200"/>
            <a:ext cx="3039938"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8276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p:txBody>
          <a:bodyPr/>
          <a:lstStyle/>
          <a:p>
            <a:pPr eaLnBrk="1" hangingPunct="1"/>
            <a:r>
              <a:rPr lang="en-US" altLang="en-US" dirty="0"/>
              <a:t> X-ray Positioning (Slide 2 of 6</a:t>
            </a:r>
            <a:r>
              <a:rPr lang="en-US" altLang="ja-JP" dirty="0"/>
              <a:t>)</a:t>
            </a:r>
            <a:endParaRPr lang="en-US" altLang="en-US" dirty="0"/>
          </a:p>
        </p:txBody>
      </p:sp>
      <p:sp>
        <p:nvSpPr>
          <p:cNvPr id="14339" name="Rectangle 5"/>
          <p:cNvSpPr>
            <a:spLocks noGrp="1" noChangeArrowheads="1"/>
          </p:cNvSpPr>
          <p:nvPr>
            <p:ph sz="half" idx="1"/>
          </p:nvPr>
        </p:nvSpPr>
        <p:spPr/>
        <p:txBody>
          <a:bodyPr/>
          <a:lstStyle/>
          <a:p>
            <a:pPr eaLnBrk="1" hangingPunct="1"/>
            <a:r>
              <a:rPr lang="en-US" altLang="en-US"/>
              <a:t>Anteroposterior (AP) view: anterior source to posterior detector</a:t>
            </a:r>
          </a:p>
        </p:txBody>
      </p:sp>
      <p:pic>
        <p:nvPicPr>
          <p:cNvPr id="6" name="Picture 14" descr="Position for x-ray: Anterior (PA) view (anterior source to posterior detecto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132444" y="1600200"/>
            <a:ext cx="3070111"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07274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p:txBody>
          <a:bodyPr/>
          <a:lstStyle/>
          <a:p>
            <a:pPr eaLnBrk="1" hangingPunct="1"/>
            <a:r>
              <a:rPr lang="en-US" altLang="en-US" dirty="0"/>
              <a:t>X-ray Positioning (Slide 3 of 6</a:t>
            </a:r>
            <a:r>
              <a:rPr lang="en-US" altLang="ja-JP" dirty="0"/>
              <a:t>)</a:t>
            </a:r>
            <a:endParaRPr lang="en-US" altLang="en-US" dirty="0"/>
          </a:p>
        </p:txBody>
      </p:sp>
      <p:sp>
        <p:nvSpPr>
          <p:cNvPr id="15363" name="Rectangle 5"/>
          <p:cNvSpPr>
            <a:spLocks noGrp="1" noChangeArrowheads="1"/>
          </p:cNvSpPr>
          <p:nvPr>
            <p:ph sz="half" idx="1"/>
          </p:nvPr>
        </p:nvSpPr>
        <p:spPr/>
        <p:txBody>
          <a:bodyPr/>
          <a:lstStyle/>
          <a:p>
            <a:pPr eaLnBrk="1" hangingPunct="1"/>
            <a:r>
              <a:rPr lang="en-US" altLang="en-US" b="1"/>
              <a:t>Lateral view:</a:t>
            </a:r>
            <a:r>
              <a:rPr lang="en-US" altLang="en-US"/>
              <a:t> in left lateral view, source at right of patient, to detector at left of patient</a:t>
            </a:r>
          </a:p>
        </p:txBody>
      </p:sp>
      <p:pic>
        <p:nvPicPr>
          <p:cNvPr id="6" name="Picture 10" descr="Position for x-ray: In left lateral view, source at right of patient, to detector at left of patien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347427" y="1600200"/>
            <a:ext cx="2640145"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793010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X-ray Positioning (Slide 4 of 6</a:t>
            </a:r>
            <a:r>
              <a:rPr lang="en-US" altLang="ja-JP" dirty="0"/>
              <a:t>)</a:t>
            </a:r>
            <a:endParaRPr lang="en-US" altLang="en-US" dirty="0"/>
          </a:p>
        </p:txBody>
      </p:sp>
      <p:sp>
        <p:nvSpPr>
          <p:cNvPr id="16387" name="Rectangle 3"/>
          <p:cNvSpPr>
            <a:spLocks noGrp="1" noChangeArrowheads="1"/>
          </p:cNvSpPr>
          <p:nvPr>
            <p:ph sz="half" idx="1"/>
          </p:nvPr>
        </p:nvSpPr>
        <p:spPr/>
        <p:txBody>
          <a:bodyPr/>
          <a:lstStyle/>
          <a:p>
            <a:pPr eaLnBrk="1" hangingPunct="1">
              <a:buFont typeface="Wingdings 2" panose="05020102010507070707" pitchFamily="18" charset="2"/>
              <a:buNone/>
            </a:pPr>
            <a:r>
              <a:rPr lang="en-US" altLang="en-US" b="1"/>
              <a:t>Oblique view:</a:t>
            </a:r>
            <a:r>
              <a:rPr lang="en-US" altLang="en-US"/>
              <a:t> source slanting direction at angle from perpendicular plane</a:t>
            </a:r>
          </a:p>
          <a:p>
            <a:pPr eaLnBrk="1" hangingPunct="1"/>
            <a:endParaRPr lang="en-US" altLang="en-US"/>
          </a:p>
        </p:txBody>
      </p:sp>
      <p:pic>
        <p:nvPicPr>
          <p:cNvPr id="6" name="Picture 8" descr="Position for x-ray: Oblique view, source slanting direction at angle from perpendicular plan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287081" y="1600200"/>
            <a:ext cx="2760837"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6926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62000" y="304800"/>
            <a:ext cx="7772400" cy="1219200"/>
          </a:xfrm>
        </p:spPr>
        <p:txBody>
          <a:bodyPr/>
          <a:lstStyle/>
          <a:p>
            <a:pPr eaLnBrk="1" hangingPunct="1"/>
            <a:r>
              <a:rPr lang="en-US" altLang="en-US" dirty="0"/>
              <a:t>X-ray Positioning (Slide 5 of 6</a:t>
            </a:r>
            <a:r>
              <a:rPr lang="en-US" altLang="ja-JP" dirty="0"/>
              <a:t>)</a:t>
            </a:r>
            <a:endParaRPr lang="en-US" altLang="en-US" dirty="0"/>
          </a:p>
        </p:txBody>
      </p:sp>
      <p:sp>
        <p:nvSpPr>
          <p:cNvPr id="17411" name="Rectangle 3"/>
          <p:cNvSpPr>
            <a:spLocks noGrp="1" noChangeArrowheads="1"/>
          </p:cNvSpPr>
          <p:nvPr>
            <p:ph idx="1"/>
          </p:nvPr>
        </p:nvSpPr>
        <p:spPr>
          <a:xfrm>
            <a:off x="762000" y="1676400"/>
            <a:ext cx="8229600" cy="4114800"/>
          </a:xfrm>
        </p:spPr>
        <p:txBody>
          <a:bodyPr/>
          <a:lstStyle/>
          <a:p>
            <a:pPr eaLnBrk="1" hangingPunct="1">
              <a:lnSpc>
                <a:spcPct val="90000"/>
              </a:lnSpc>
              <a:buFont typeface="Wingdings 2" panose="05020102010507070707" pitchFamily="18" charset="2"/>
              <a:buNone/>
            </a:pPr>
            <a:r>
              <a:rPr lang="en-US" altLang="en-US" b="1"/>
              <a:t>To describe the position of patient:</a:t>
            </a:r>
          </a:p>
          <a:p>
            <a:pPr eaLnBrk="1" hangingPunct="1">
              <a:lnSpc>
                <a:spcPct val="90000"/>
              </a:lnSpc>
              <a:buFont typeface="Wingdings 2" panose="05020102010507070707" pitchFamily="18" charset="2"/>
              <a:buNone/>
            </a:pPr>
            <a:endParaRPr lang="en-US" altLang="en-US" sz="1200" b="1"/>
          </a:p>
          <a:p>
            <a:pPr eaLnBrk="1" hangingPunct="1">
              <a:lnSpc>
                <a:spcPct val="90000"/>
              </a:lnSpc>
            </a:pPr>
            <a:r>
              <a:rPr lang="en-US" altLang="en-US" sz="2800"/>
              <a:t>Abduction—movement away from the midline               </a:t>
            </a:r>
          </a:p>
          <a:p>
            <a:pPr eaLnBrk="1" hangingPunct="1">
              <a:lnSpc>
                <a:spcPct val="90000"/>
              </a:lnSpc>
            </a:pPr>
            <a:r>
              <a:rPr lang="en-US" altLang="en-US" sz="2800"/>
              <a:t>Adduction—movement toward the midline               </a:t>
            </a:r>
          </a:p>
          <a:p>
            <a:pPr eaLnBrk="1" hangingPunct="1">
              <a:lnSpc>
                <a:spcPct val="90000"/>
              </a:lnSpc>
            </a:pPr>
            <a:r>
              <a:rPr lang="en-US" altLang="en-US" sz="2800"/>
              <a:t>Eversion—turning outward</a:t>
            </a:r>
          </a:p>
          <a:p>
            <a:pPr eaLnBrk="1" hangingPunct="1">
              <a:lnSpc>
                <a:spcPct val="90000"/>
              </a:lnSpc>
            </a:pPr>
            <a:r>
              <a:rPr lang="en-US" altLang="en-US" sz="2800"/>
              <a:t>Extension—lengthening or straightening a flexed limb</a:t>
            </a:r>
          </a:p>
          <a:p>
            <a:pPr eaLnBrk="1" hangingPunct="1">
              <a:lnSpc>
                <a:spcPct val="90000"/>
              </a:lnSpc>
            </a:pPr>
            <a:r>
              <a:rPr lang="en-US" altLang="en-US" sz="2800"/>
              <a:t>Flexion—bending a part of the body</a:t>
            </a:r>
          </a:p>
          <a:p>
            <a:pPr eaLnBrk="1" hangingPunct="1">
              <a:lnSpc>
                <a:spcPct val="90000"/>
              </a:lnSpc>
              <a:buFont typeface="Wingdings 2" panose="05020102010507070707" pitchFamily="18" charset="2"/>
              <a:buNone/>
            </a:pPr>
            <a:endParaRPr lang="en-US" altLang="en-US" sz="2400"/>
          </a:p>
          <a:p>
            <a:pPr lvl="1" eaLnBrk="1" hangingPunct="1">
              <a:lnSpc>
                <a:spcPct val="90000"/>
              </a:lnSpc>
              <a:buFont typeface="Wingdings" panose="05000000000000000000" pitchFamily="2" charset="2"/>
              <a:buNone/>
            </a:pPr>
            <a:endParaRPr lang="en-US" altLang="en-US"/>
          </a:p>
        </p:txBody>
      </p:sp>
    </p:spTree>
    <p:extLst>
      <p:ext uri="{BB962C8B-B14F-4D97-AF65-F5344CB8AC3E}">
        <p14:creationId xmlns:p14="http://schemas.microsoft.com/office/powerpoint/2010/main" val="264934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0" y="304800"/>
            <a:ext cx="7772400" cy="1219200"/>
          </a:xfrm>
        </p:spPr>
        <p:txBody>
          <a:bodyPr/>
          <a:lstStyle/>
          <a:p>
            <a:pPr eaLnBrk="1" hangingPunct="1"/>
            <a:r>
              <a:rPr lang="en-US" altLang="en-US" dirty="0"/>
              <a:t>X-ray Positioning (Slide 6 of 6</a:t>
            </a:r>
            <a:r>
              <a:rPr lang="en-US" altLang="ja-JP" dirty="0"/>
              <a:t>)</a:t>
            </a:r>
            <a:endParaRPr lang="en-US" altLang="en-US" dirty="0"/>
          </a:p>
        </p:txBody>
      </p:sp>
      <p:sp>
        <p:nvSpPr>
          <p:cNvPr id="18435" name="Rectangle 3"/>
          <p:cNvSpPr>
            <a:spLocks noGrp="1" noChangeArrowheads="1"/>
          </p:cNvSpPr>
          <p:nvPr>
            <p:ph idx="1"/>
          </p:nvPr>
        </p:nvSpPr>
        <p:spPr>
          <a:xfrm>
            <a:off x="762000" y="1676400"/>
            <a:ext cx="8001000" cy="4114800"/>
          </a:xfrm>
        </p:spPr>
        <p:txBody>
          <a:bodyPr/>
          <a:lstStyle/>
          <a:p>
            <a:pPr eaLnBrk="1" hangingPunct="1">
              <a:buFont typeface="Wingdings 2" panose="05020102010507070707" pitchFamily="18" charset="2"/>
              <a:buNone/>
            </a:pPr>
            <a:r>
              <a:rPr lang="en-US" altLang="en-US" b="1"/>
              <a:t>To describe the position of patient:</a:t>
            </a:r>
          </a:p>
          <a:p>
            <a:pPr eaLnBrk="1" hangingPunct="1">
              <a:buFont typeface="Wingdings 2" panose="05020102010507070707" pitchFamily="18" charset="2"/>
              <a:buNone/>
            </a:pPr>
            <a:endParaRPr lang="en-US" altLang="en-US" sz="1200" b="1"/>
          </a:p>
          <a:p>
            <a:pPr eaLnBrk="1" hangingPunct="1"/>
            <a:r>
              <a:rPr lang="en-US" altLang="en-US" sz="2800"/>
              <a:t>Decubitus—lying down on the side</a:t>
            </a:r>
          </a:p>
          <a:p>
            <a:pPr eaLnBrk="1" hangingPunct="1"/>
            <a:r>
              <a:rPr lang="en-US" altLang="en-US" sz="2800"/>
              <a:t>Prone—lying on the belly (face down)               </a:t>
            </a:r>
          </a:p>
          <a:p>
            <a:pPr eaLnBrk="1" hangingPunct="1"/>
            <a:r>
              <a:rPr lang="en-US" altLang="en-US" sz="2800"/>
              <a:t>Recumbent—lying down (prone or supine)</a:t>
            </a:r>
          </a:p>
          <a:p>
            <a:pPr eaLnBrk="1" hangingPunct="1"/>
            <a:r>
              <a:rPr lang="en-US" altLang="en-US" sz="2800"/>
              <a:t>Supine—lying on the back (face up)</a:t>
            </a:r>
          </a:p>
        </p:txBody>
      </p:sp>
    </p:spTree>
    <p:extLst>
      <p:ext uri="{BB962C8B-B14F-4D97-AF65-F5344CB8AC3E}">
        <p14:creationId xmlns:p14="http://schemas.microsoft.com/office/powerpoint/2010/main" val="958787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09600" y="228600"/>
            <a:ext cx="7772400" cy="1219200"/>
          </a:xfrm>
        </p:spPr>
        <p:txBody>
          <a:bodyPr/>
          <a:lstStyle/>
          <a:p>
            <a:pPr eaLnBrk="1" hangingPunct="1"/>
            <a:r>
              <a:rPr lang="en-US" altLang="en-US" dirty="0"/>
              <a:t>      </a:t>
            </a:r>
            <a:r>
              <a:rPr lang="en-US" altLang="en-US" u="sng" dirty="0"/>
              <a:t>QUICK QUIZ</a:t>
            </a:r>
            <a:r>
              <a:rPr lang="en-US" altLang="en-US" dirty="0"/>
              <a:t> (Slide 1 of 4)	</a:t>
            </a:r>
          </a:p>
        </p:txBody>
      </p:sp>
      <p:sp>
        <p:nvSpPr>
          <p:cNvPr id="19459" name="Rectangle 3"/>
          <p:cNvSpPr>
            <a:spLocks noGrp="1" noChangeArrowheads="1"/>
          </p:cNvSpPr>
          <p:nvPr>
            <p:ph idx="1"/>
          </p:nvPr>
        </p:nvSpPr>
        <p:spPr>
          <a:xfrm>
            <a:off x="762000" y="1676400"/>
            <a:ext cx="6934200" cy="3441700"/>
          </a:xfrm>
        </p:spPr>
        <p:txBody>
          <a:bodyPr>
            <a:spAutoFit/>
          </a:bodyPr>
          <a:lstStyle/>
          <a:p>
            <a:pPr marL="533400" indent="-533400" eaLnBrk="1" hangingPunct="1">
              <a:buFont typeface="Arial" panose="020B0604020202020204" pitchFamily="34" charset="0"/>
              <a:buAutoNum type="arabicPeriod"/>
            </a:pPr>
            <a:r>
              <a:rPr lang="en-US" altLang="en-US" b="1"/>
              <a:t>Obstructing the passage of      </a:t>
            </a:r>
          </a:p>
          <a:p>
            <a:pPr marL="533400" indent="-533400" eaLnBrk="1" hangingPunct="1">
              <a:buFont typeface="Arial" panose="020B0604020202020204" pitchFamily="34" charset="0"/>
              <a:buNone/>
            </a:pPr>
            <a:r>
              <a:rPr lang="en-US" altLang="en-US" b="1"/>
              <a:t>      x-rays:</a:t>
            </a:r>
          </a:p>
          <a:p>
            <a:pPr marL="533400" indent="-533400" eaLnBrk="1" hangingPunct="1">
              <a:buFont typeface="Arial" panose="020B0604020202020204" pitchFamily="34" charset="0"/>
              <a:buNone/>
            </a:pPr>
            <a:endParaRPr lang="en-US" altLang="en-US" b="1"/>
          </a:p>
          <a:p>
            <a:pPr marL="914400" lvl="1" indent="-457200" eaLnBrk="1" hangingPunct="1">
              <a:lnSpc>
                <a:spcPct val="65000"/>
              </a:lnSpc>
              <a:buFont typeface="Arial" panose="020B0604020202020204" pitchFamily="34" charset="0"/>
              <a:buAutoNum type="alphaUcPeriod"/>
            </a:pPr>
            <a:r>
              <a:rPr lang="en-US" altLang="en-US" sz="3200">
                <a:ea typeface="MS PGothic" panose="020B0600070205080204" pitchFamily="34" charset="-128"/>
              </a:rPr>
              <a:t>radiopaque</a:t>
            </a:r>
          </a:p>
          <a:p>
            <a:pPr marL="914400" lvl="1" indent="-457200" eaLnBrk="1" hangingPunct="1">
              <a:lnSpc>
                <a:spcPct val="65000"/>
              </a:lnSpc>
              <a:buFont typeface="Arial" panose="020B0604020202020204" pitchFamily="34" charset="0"/>
              <a:buAutoNum type="alphaUcPeriod"/>
            </a:pPr>
            <a:r>
              <a:rPr lang="en-US" altLang="en-US" sz="3200">
                <a:ea typeface="MS PGothic" panose="020B0600070205080204" pitchFamily="34" charset="-128"/>
              </a:rPr>
              <a:t>radiolucent</a:t>
            </a:r>
          </a:p>
          <a:p>
            <a:pPr marL="914400" lvl="1" indent="-457200" eaLnBrk="1" hangingPunct="1">
              <a:lnSpc>
                <a:spcPct val="65000"/>
              </a:lnSpc>
              <a:buFont typeface="Arial" panose="020B0604020202020204" pitchFamily="34" charset="0"/>
              <a:buAutoNum type="alphaUcPeriod"/>
            </a:pPr>
            <a:r>
              <a:rPr lang="en-US" altLang="en-US" sz="3200">
                <a:ea typeface="MS PGothic" panose="020B0600070205080204" pitchFamily="34" charset="-128"/>
              </a:rPr>
              <a:t>radioisotope</a:t>
            </a:r>
          </a:p>
          <a:p>
            <a:pPr marL="914400" lvl="1" indent="-457200" eaLnBrk="1" hangingPunct="1">
              <a:lnSpc>
                <a:spcPct val="65000"/>
              </a:lnSpc>
              <a:buFont typeface="Arial" panose="020B0604020202020204" pitchFamily="34" charset="0"/>
              <a:buAutoNum type="alphaUcPeriod"/>
            </a:pPr>
            <a:r>
              <a:rPr lang="en-US" altLang="en-US" sz="3200">
                <a:ea typeface="MS PGothic" panose="020B0600070205080204" pitchFamily="34" charset="-128"/>
              </a:rPr>
              <a:t>radiopharmaceutical</a:t>
            </a:r>
            <a:endParaRPr lang="en-US" altLang="en-US">
              <a:ea typeface="MS PGothic" panose="020B0600070205080204" pitchFamily="34" charset="-128"/>
            </a:endParaRPr>
          </a:p>
        </p:txBody>
      </p:sp>
    </p:spTree>
    <p:extLst>
      <p:ext uri="{BB962C8B-B14F-4D97-AF65-F5344CB8AC3E}">
        <p14:creationId xmlns:p14="http://schemas.microsoft.com/office/powerpoint/2010/main" val="388597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defRPr/>
            </a:pPr>
            <a:r>
              <a:rPr lang="en-US"/>
              <a:t>Chapter 20</a:t>
            </a:r>
            <a:br>
              <a:rPr lang="en-US"/>
            </a:br>
            <a:r>
              <a:rPr lang="en-US"/>
              <a:t>Lesson 20.2</a:t>
            </a:r>
          </a:p>
        </p:txBody>
      </p:sp>
    </p:spTree>
    <p:extLst>
      <p:ext uri="{BB962C8B-B14F-4D97-AF65-F5344CB8AC3E}">
        <p14:creationId xmlns:p14="http://schemas.microsoft.com/office/powerpoint/2010/main" val="2312490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a:xfrm>
            <a:off x="762000" y="304800"/>
            <a:ext cx="7772400" cy="1219200"/>
          </a:xfrm>
        </p:spPr>
        <p:txBody>
          <a:bodyPr/>
          <a:lstStyle/>
          <a:p>
            <a:pPr eaLnBrk="1" hangingPunct="1"/>
            <a:r>
              <a:rPr lang="en-US" altLang="en-US"/>
              <a:t>Nuclear Medicine </a:t>
            </a:r>
          </a:p>
        </p:txBody>
      </p:sp>
      <p:sp>
        <p:nvSpPr>
          <p:cNvPr id="21507" name="Rectangle 5"/>
          <p:cNvSpPr>
            <a:spLocks noGrp="1" noChangeArrowheads="1"/>
          </p:cNvSpPr>
          <p:nvPr>
            <p:ph idx="1"/>
          </p:nvPr>
        </p:nvSpPr>
        <p:spPr>
          <a:xfrm>
            <a:off x="762000" y="1717675"/>
            <a:ext cx="7772400" cy="4454525"/>
          </a:xfrm>
        </p:spPr>
        <p:txBody>
          <a:bodyPr/>
          <a:lstStyle/>
          <a:p>
            <a:pPr eaLnBrk="1" hangingPunct="1"/>
            <a:r>
              <a:rPr lang="en-US" altLang="en-US"/>
              <a:t>Radionuclides/radioisotopes</a:t>
            </a:r>
          </a:p>
          <a:p>
            <a:pPr lvl="1" eaLnBrk="1" hangingPunct="1">
              <a:buFont typeface="Wingdings" panose="05000000000000000000" pitchFamily="2" charset="2"/>
              <a:buChar char="Ø"/>
            </a:pPr>
            <a:r>
              <a:rPr lang="en-US" altLang="en-US"/>
              <a:t>Alpha particles, beta particles, gamma rays</a:t>
            </a:r>
          </a:p>
          <a:p>
            <a:pPr eaLnBrk="1" hangingPunct="1"/>
            <a:r>
              <a:rPr lang="en-US" altLang="en-US"/>
              <a:t>Nuclear medicine tests</a:t>
            </a:r>
          </a:p>
          <a:p>
            <a:pPr lvl="1" eaLnBrk="1" hangingPunct="1">
              <a:buFont typeface="Wingdings" panose="05000000000000000000" pitchFamily="2" charset="2"/>
              <a:buChar char="Ø"/>
            </a:pPr>
            <a:r>
              <a:rPr lang="en-US" altLang="en-US"/>
              <a:t>In vitro: test tube</a:t>
            </a:r>
          </a:p>
          <a:p>
            <a:pPr lvl="1" eaLnBrk="1" hangingPunct="1">
              <a:buFont typeface="Wingdings" panose="05000000000000000000" pitchFamily="2" charset="2"/>
              <a:buChar char="Ø"/>
            </a:pPr>
            <a:r>
              <a:rPr lang="en-US" altLang="en-US"/>
              <a:t>In vivo: in the body</a:t>
            </a:r>
          </a:p>
        </p:txBody>
      </p:sp>
    </p:spTree>
    <p:extLst>
      <p:ext uri="{BB962C8B-B14F-4D97-AF65-F5344CB8AC3E}">
        <p14:creationId xmlns:p14="http://schemas.microsoft.com/office/powerpoint/2010/main" val="3620332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762000" y="228600"/>
            <a:ext cx="7772400" cy="1219200"/>
          </a:xfrm>
        </p:spPr>
        <p:txBody>
          <a:bodyPr/>
          <a:lstStyle/>
          <a:p>
            <a:pPr eaLnBrk="1" hangingPunct="1"/>
            <a:r>
              <a:rPr lang="en-US" altLang="en-US"/>
              <a:t>In Vitro Procedures</a:t>
            </a:r>
          </a:p>
        </p:txBody>
      </p:sp>
      <p:sp>
        <p:nvSpPr>
          <p:cNvPr id="22531" name="Rectangle 5"/>
          <p:cNvSpPr>
            <a:spLocks noGrp="1" noChangeArrowheads="1"/>
          </p:cNvSpPr>
          <p:nvPr>
            <p:ph idx="1"/>
          </p:nvPr>
        </p:nvSpPr>
        <p:spPr>
          <a:xfrm>
            <a:off x="762000" y="1717675"/>
            <a:ext cx="7772400" cy="4454525"/>
          </a:xfrm>
        </p:spPr>
        <p:txBody>
          <a:bodyPr/>
          <a:lstStyle/>
          <a:p>
            <a:pPr eaLnBrk="1" hangingPunct="1"/>
            <a:r>
              <a:rPr lang="en-US" altLang="en-US"/>
              <a:t>Analysis of blood and urine</a:t>
            </a:r>
          </a:p>
          <a:p>
            <a:pPr lvl="1" eaLnBrk="1" hangingPunct="1">
              <a:buFont typeface="Wingdings" panose="05000000000000000000" pitchFamily="2" charset="2"/>
              <a:buChar char="Ø"/>
            </a:pPr>
            <a:r>
              <a:rPr lang="en-US" altLang="en-US"/>
              <a:t>Radioimmunoassay (RIA) uses radioactive chemicals and antibodies to detect hormones and drugs in the patient’</a:t>
            </a:r>
            <a:r>
              <a:rPr lang="en-US" altLang="ja-JP"/>
              <a:t>s blood (for example, digitalis detection, hypothyroidism in newborns).</a:t>
            </a:r>
            <a:endParaRPr lang="en-US" altLang="en-US"/>
          </a:p>
        </p:txBody>
      </p:sp>
    </p:spTree>
    <p:extLst>
      <p:ext uri="{BB962C8B-B14F-4D97-AF65-F5344CB8AC3E}">
        <p14:creationId xmlns:p14="http://schemas.microsoft.com/office/powerpoint/2010/main" val="3405048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762000" y="304800"/>
            <a:ext cx="7772400" cy="1219200"/>
          </a:xfrm>
        </p:spPr>
        <p:txBody>
          <a:bodyPr/>
          <a:lstStyle/>
          <a:p>
            <a:pPr eaLnBrk="1" hangingPunct="1"/>
            <a:r>
              <a:rPr lang="en-US" altLang="en-US"/>
              <a:t>In Vivo Procedures</a:t>
            </a:r>
          </a:p>
        </p:txBody>
      </p:sp>
      <p:sp>
        <p:nvSpPr>
          <p:cNvPr id="23555" name="Rectangle 5"/>
          <p:cNvSpPr>
            <a:spLocks noGrp="1" noChangeArrowheads="1"/>
          </p:cNvSpPr>
          <p:nvPr>
            <p:ph idx="1"/>
          </p:nvPr>
        </p:nvSpPr>
        <p:spPr>
          <a:xfrm>
            <a:off x="762000" y="1717675"/>
            <a:ext cx="7772400" cy="4454525"/>
          </a:xfrm>
        </p:spPr>
        <p:txBody>
          <a:bodyPr/>
          <a:lstStyle/>
          <a:p>
            <a:pPr eaLnBrk="1" hangingPunct="1"/>
            <a:r>
              <a:rPr lang="en-US" altLang="en-US"/>
              <a:t>Radioactive substance given directly to patient to evaluate organ function or image</a:t>
            </a:r>
          </a:p>
          <a:p>
            <a:pPr lvl="1" eaLnBrk="1" hangingPunct="1">
              <a:buFont typeface="Wingdings" panose="05000000000000000000" pitchFamily="2" charset="2"/>
              <a:buChar char="Ø"/>
            </a:pPr>
            <a:r>
              <a:rPr lang="en-US" altLang="en-US"/>
              <a:t>Radiopharmaceutical (labeled compound) concentrates in organ</a:t>
            </a:r>
          </a:p>
          <a:p>
            <a:pPr lvl="1" eaLnBrk="1" hangingPunct="1">
              <a:buFont typeface="Wingdings" panose="05000000000000000000" pitchFamily="2" charset="2"/>
              <a:buChar char="Ø"/>
            </a:pPr>
            <a:r>
              <a:rPr lang="en-US" altLang="en-US"/>
              <a:t>Scintiscanner (gamma camera) detection instrument produces picture (scintiscan)</a:t>
            </a:r>
          </a:p>
        </p:txBody>
      </p:sp>
    </p:spTree>
    <p:extLst>
      <p:ext uri="{BB962C8B-B14F-4D97-AF65-F5344CB8AC3E}">
        <p14:creationId xmlns:p14="http://schemas.microsoft.com/office/powerpoint/2010/main" val="210693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5"/>
          <p:cNvSpPr>
            <a:spLocks noGrp="1" noChangeArrowheads="1"/>
          </p:cNvSpPr>
          <p:nvPr>
            <p:ph type="title"/>
          </p:nvPr>
        </p:nvSpPr>
        <p:spPr>
          <a:xfrm>
            <a:off x="762000" y="228600"/>
            <a:ext cx="7772400" cy="1219200"/>
          </a:xfrm>
        </p:spPr>
        <p:txBody>
          <a:bodyPr/>
          <a:lstStyle/>
          <a:p>
            <a:pPr eaLnBrk="1" hangingPunct="1"/>
            <a:r>
              <a:rPr lang="en-US" altLang="en-US"/>
              <a:t>Procedures Using Radionuclides</a:t>
            </a:r>
          </a:p>
        </p:txBody>
      </p:sp>
      <p:sp>
        <p:nvSpPr>
          <p:cNvPr id="24579" name="Rectangle 6"/>
          <p:cNvSpPr>
            <a:spLocks noGrp="1" noChangeArrowheads="1"/>
          </p:cNvSpPr>
          <p:nvPr>
            <p:ph sz="half" idx="1"/>
          </p:nvPr>
        </p:nvSpPr>
        <p:spPr>
          <a:xfrm>
            <a:off x="533400" y="1641475"/>
            <a:ext cx="4038600" cy="4454525"/>
          </a:xfrm>
        </p:spPr>
        <p:txBody>
          <a:bodyPr/>
          <a:lstStyle/>
          <a:p>
            <a:pPr eaLnBrk="1" hangingPunct="1"/>
            <a:r>
              <a:rPr lang="en-US" altLang="en-US" sz="3200"/>
              <a:t>Bone scan</a:t>
            </a:r>
          </a:p>
          <a:p>
            <a:pPr eaLnBrk="1" hangingPunct="1"/>
            <a:r>
              <a:rPr lang="en-US" altLang="en-US" sz="3200"/>
              <a:t>Lymphoscintigraphy</a:t>
            </a:r>
          </a:p>
          <a:p>
            <a:pPr eaLnBrk="1" hangingPunct="1"/>
            <a:r>
              <a:rPr lang="en-US" altLang="en-US" sz="3200"/>
              <a:t>Positron emission tomography (PET) scan</a:t>
            </a:r>
          </a:p>
          <a:p>
            <a:pPr eaLnBrk="1" hangingPunct="1"/>
            <a:r>
              <a:rPr lang="en-US" altLang="en-US" sz="3200"/>
              <a:t>PET/CT scan</a:t>
            </a:r>
          </a:p>
          <a:p>
            <a:pPr eaLnBrk="1" hangingPunct="1"/>
            <a:endParaRPr lang="en-US" altLang="en-US" sz="3200"/>
          </a:p>
        </p:txBody>
      </p:sp>
      <p:sp>
        <p:nvSpPr>
          <p:cNvPr id="24580" name="Rectangle 7"/>
          <p:cNvSpPr>
            <a:spLocks noGrp="1" noChangeArrowheads="1"/>
          </p:cNvSpPr>
          <p:nvPr>
            <p:ph sz="half" idx="2"/>
          </p:nvPr>
        </p:nvSpPr>
        <p:spPr>
          <a:xfrm>
            <a:off x="4646613" y="1676400"/>
            <a:ext cx="3811587" cy="4454525"/>
          </a:xfrm>
        </p:spPr>
        <p:txBody>
          <a:bodyPr/>
          <a:lstStyle/>
          <a:p>
            <a:pPr eaLnBrk="1" hangingPunct="1"/>
            <a:r>
              <a:rPr lang="en-US" altLang="en-US" sz="3200"/>
              <a:t>Single-photon emission computed tomography (SPECT)</a:t>
            </a:r>
          </a:p>
          <a:p>
            <a:pPr eaLnBrk="1" hangingPunct="1"/>
            <a:r>
              <a:rPr lang="en-US" altLang="en-US" sz="3200"/>
              <a:t>Technetium Tc-99m sestamibi (Cardiolite) scan</a:t>
            </a:r>
          </a:p>
          <a:p>
            <a:pPr eaLnBrk="1" hangingPunct="1"/>
            <a:r>
              <a:rPr lang="en-US" altLang="en-US" sz="3200"/>
              <a:t>Thallium (Tl) scan</a:t>
            </a:r>
          </a:p>
          <a:p>
            <a:pPr eaLnBrk="1" hangingPunct="1"/>
            <a:r>
              <a:rPr lang="en-US" altLang="en-US" sz="3200"/>
              <a:t>Thyroid scan</a:t>
            </a:r>
          </a:p>
        </p:txBody>
      </p:sp>
    </p:spTree>
    <p:extLst>
      <p:ext uri="{BB962C8B-B14F-4D97-AF65-F5344CB8AC3E}">
        <p14:creationId xmlns:p14="http://schemas.microsoft.com/office/powerpoint/2010/main" val="2269793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762000" y="304800"/>
            <a:ext cx="7772400" cy="1219200"/>
          </a:xfrm>
        </p:spPr>
        <p:txBody>
          <a:bodyPr/>
          <a:lstStyle/>
          <a:p>
            <a:pPr eaLnBrk="1" hangingPunct="1"/>
            <a:r>
              <a:rPr lang="en-US" altLang="en-US"/>
              <a:t>Focus on PET Scan</a:t>
            </a:r>
          </a:p>
        </p:txBody>
      </p:sp>
      <p:sp>
        <p:nvSpPr>
          <p:cNvPr id="25603" name="Rectangle 5"/>
          <p:cNvSpPr>
            <a:spLocks noGrp="1" noChangeArrowheads="1"/>
          </p:cNvSpPr>
          <p:nvPr>
            <p:ph idx="1"/>
          </p:nvPr>
        </p:nvSpPr>
        <p:spPr>
          <a:xfrm>
            <a:off x="762000" y="1717675"/>
            <a:ext cx="7772400" cy="4454525"/>
          </a:xfrm>
        </p:spPr>
        <p:txBody>
          <a:bodyPr/>
          <a:lstStyle/>
          <a:p>
            <a:pPr eaLnBrk="1" hangingPunct="1"/>
            <a:r>
              <a:rPr lang="en-US" altLang="en-US" sz="2800"/>
              <a:t>Radioisotopes (emission of positrons) instead of contrast x-rays</a:t>
            </a:r>
          </a:p>
          <a:p>
            <a:pPr eaLnBrk="1" hangingPunct="1"/>
            <a:r>
              <a:rPr lang="en-US" altLang="en-US" sz="2800"/>
              <a:t>Intravenous injection</a:t>
            </a:r>
          </a:p>
          <a:p>
            <a:pPr eaLnBrk="1" hangingPunct="1"/>
            <a:r>
              <a:rPr lang="en-US" altLang="en-US" sz="2800"/>
              <a:t>Concentrates radioisotopes in tissues where the radionuclide is or is not being metabolized</a:t>
            </a:r>
          </a:p>
          <a:p>
            <a:pPr eaLnBrk="1" hangingPunct="1"/>
            <a:r>
              <a:rPr lang="en-US" altLang="en-US" sz="2800"/>
              <a:t>Useful in treating stroke, epilepsy, Alzheimer disease, brain tumors, abdominal and pulmonary malignancies</a:t>
            </a:r>
          </a:p>
        </p:txBody>
      </p:sp>
    </p:spTree>
    <p:extLst>
      <p:ext uri="{BB962C8B-B14F-4D97-AF65-F5344CB8AC3E}">
        <p14:creationId xmlns:p14="http://schemas.microsoft.com/office/powerpoint/2010/main" val="3501581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762000" y="304800"/>
            <a:ext cx="7772400" cy="1219200"/>
          </a:xfrm>
        </p:spPr>
        <p:txBody>
          <a:bodyPr/>
          <a:lstStyle/>
          <a:p>
            <a:pPr eaLnBrk="1" hangingPunct="1"/>
            <a:r>
              <a:rPr lang="en-US" altLang="en-US"/>
              <a:t>Focus on SPECT</a:t>
            </a:r>
          </a:p>
        </p:txBody>
      </p:sp>
      <p:sp>
        <p:nvSpPr>
          <p:cNvPr id="26627" name="Rectangle 5"/>
          <p:cNvSpPr>
            <a:spLocks noGrp="1" noChangeArrowheads="1"/>
          </p:cNvSpPr>
          <p:nvPr>
            <p:ph idx="1"/>
          </p:nvPr>
        </p:nvSpPr>
        <p:spPr>
          <a:xfrm>
            <a:off x="762000" y="1717675"/>
            <a:ext cx="7772400" cy="4454525"/>
          </a:xfrm>
        </p:spPr>
        <p:txBody>
          <a:bodyPr/>
          <a:lstStyle/>
          <a:p>
            <a:pPr eaLnBrk="1" hangingPunct="1"/>
            <a:r>
              <a:rPr lang="en-US" altLang="en-US" dirty="0"/>
              <a:t>Intravenous injection of radioactive tracer</a:t>
            </a:r>
          </a:p>
          <a:p>
            <a:pPr eaLnBrk="1" hangingPunct="1"/>
            <a:r>
              <a:rPr lang="en-US" altLang="en-US" dirty="0"/>
              <a:t>Computer reconstruction of 3-D image based on many views</a:t>
            </a:r>
          </a:p>
          <a:p>
            <a:pPr eaLnBrk="1" hangingPunct="1"/>
            <a:r>
              <a:rPr lang="en-US" altLang="en-US" dirty="0"/>
              <a:t>Detects liver tumors, cardiac ischemia, diseases of bone and spine</a:t>
            </a:r>
          </a:p>
        </p:txBody>
      </p:sp>
    </p:spTree>
    <p:extLst>
      <p:ext uri="{BB962C8B-B14F-4D97-AF65-F5344CB8AC3E}">
        <p14:creationId xmlns:p14="http://schemas.microsoft.com/office/powerpoint/2010/main" val="1788207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8)</a:t>
            </a:r>
          </a:p>
        </p:txBody>
      </p:sp>
      <p:graphicFrame>
        <p:nvGraphicFramePr>
          <p:cNvPr id="8" name="Content Placeholder 7" descr="Group 1 of 8.  List of vocabulary terms  with corresponding meanings or definitions."/>
          <p:cNvGraphicFramePr>
            <a:graphicFrameLocks noGrp="1"/>
          </p:cNvGraphicFramePr>
          <p:nvPr>
            <p:ph idx="1"/>
            <p:extLst>
              <p:ext uri="{D42A27DB-BD31-4B8C-83A1-F6EECF244321}">
                <p14:modId xmlns:p14="http://schemas.microsoft.com/office/powerpoint/2010/main" val="2647417"/>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computed tomography (CT)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Diagnostic x-ray procedure that produces a cross-sectional image of a specific body segment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contrast studies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Radiopaque materials are injected to obtain contrast with surrounding tissue when shown on x-ray film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gamma camera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Machine to detect gamma rays emitted from radiopharmaceuticals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gamma rays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High-energy rays emitted by radioactive substances in tracer studies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91221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8)</a:t>
            </a:r>
          </a:p>
        </p:txBody>
      </p:sp>
      <p:graphicFrame>
        <p:nvGraphicFramePr>
          <p:cNvPr id="8" name="Content Placeholder 7" descr="Group 2 of 8.  List of vocabulary terms  with corresponding meanings or definitions."/>
          <p:cNvGraphicFramePr>
            <a:graphicFrameLocks noGrp="1"/>
          </p:cNvGraphicFramePr>
          <p:nvPr>
            <p:ph idx="1"/>
            <p:extLst>
              <p:ext uri="{D42A27DB-BD31-4B8C-83A1-F6EECF244321}">
                <p14:modId xmlns:p14="http://schemas.microsoft.com/office/powerpoint/2010/main" val="3385408080"/>
              </p:ext>
            </p:extLst>
          </p:nvPr>
        </p:nvGraphicFramePr>
        <p:xfrm>
          <a:off x="457200" y="1600200"/>
          <a:ext cx="8229600" cy="47091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half-life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Time required for a radioactive substance to lose half its radioactivity by disintegration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interventional radiology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Therapeutic or diagnostic procedures performed by a radiologist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 vitro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Process, test, or procedure performed, measured, or observed </a:t>
                      </a:r>
                      <a:r>
                        <a:rPr lang="en-US" altLang="en-US" sz="2300" i="1" dirty="0"/>
                        <a:t>outside</a:t>
                      </a:r>
                      <a:r>
                        <a:rPr lang="en-US" altLang="en-US" sz="2300" dirty="0"/>
                        <a:t> a living organism</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 vivo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Process, test, or procedure is performed, measured, or observed </a:t>
                      </a:r>
                      <a:r>
                        <a:rPr lang="en-US" altLang="en-US" sz="2300" i="1" dirty="0"/>
                        <a:t>within</a:t>
                      </a:r>
                      <a:r>
                        <a:rPr lang="en-US" altLang="en-US" sz="2300" dirty="0"/>
                        <a:t> a living organism</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760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8)</a:t>
            </a:r>
          </a:p>
        </p:txBody>
      </p:sp>
      <p:graphicFrame>
        <p:nvGraphicFramePr>
          <p:cNvPr id="8" name="Content Placeholder 7" descr="Group 3 of 8.  List of vocabulary terms  with corresponding meanings or definitions."/>
          <p:cNvGraphicFramePr>
            <a:graphicFrameLocks noGrp="1"/>
          </p:cNvGraphicFramePr>
          <p:nvPr>
            <p:ph idx="1"/>
            <p:extLst>
              <p:ext uri="{D42A27DB-BD31-4B8C-83A1-F6EECF244321}">
                <p14:modId xmlns:p14="http://schemas.microsoft.com/office/powerpoint/2010/main" val="1558997158"/>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ionization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Transformation of electrically neutral substances into electrically charged particles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magnetic resonance imaging (MRI)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Use of magnetic field and radio waves to produce sagittal, coronal, and axial images of the body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nuclear medicine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Medical specialty that studies uses of radioactive substances in diagnosis of disease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54905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8)</a:t>
            </a:r>
          </a:p>
        </p:txBody>
      </p:sp>
      <p:graphicFrame>
        <p:nvGraphicFramePr>
          <p:cNvPr id="8" name="Content Placeholder 7" descr="Group 4 of 8.  List of vocabulary terms  with corresponding meanings or definitions."/>
          <p:cNvGraphicFramePr>
            <a:graphicFrameLocks noGrp="1"/>
          </p:cNvGraphicFramePr>
          <p:nvPr>
            <p:ph idx="1"/>
            <p:extLst>
              <p:ext uri="{D42A27DB-BD31-4B8C-83A1-F6EECF244321}">
                <p14:modId xmlns:p14="http://schemas.microsoft.com/office/powerpoint/2010/main" val="83034640"/>
              </p:ext>
            </p:extLst>
          </p:nvPr>
        </p:nvGraphicFramePr>
        <p:xfrm>
          <a:off x="457200" y="1600200"/>
          <a:ext cx="8229600" cy="43891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positron emission tomography (PET)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Use of positron-emitting radioactive substances given intravenously to create a cross-sectional image of cellular metabolism </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radioimmunoassay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Test that combines radioactive chemicals and antibodies to detect minute quantities of substances in a patient’s blood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radioisotope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Radioactive form of an element ; radionuclide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95149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8)</a:t>
            </a:r>
          </a:p>
        </p:txBody>
      </p:sp>
      <p:graphicFrame>
        <p:nvGraphicFramePr>
          <p:cNvPr id="8" name="Content Placeholder 7" descr="Group 5 of 8.  List of vocabulary terms  with corresponding meanings or definitions."/>
          <p:cNvGraphicFramePr>
            <a:graphicFrameLocks noGrp="1"/>
          </p:cNvGraphicFramePr>
          <p:nvPr>
            <p:ph idx="1"/>
            <p:extLst>
              <p:ext uri="{D42A27DB-BD31-4B8C-83A1-F6EECF244321}">
                <p14:modId xmlns:p14="http://schemas.microsoft.com/office/powerpoint/2010/main" val="3589828463"/>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radiolabeled compound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Radiopharmaceutical; used in nuclear medicine studies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Medical specialty concerned with the study of x-rays and their use in diagnosis of disease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radiolucent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Permitting the passage of x-rays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radionuclide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Radioactive form of an element; radioisotope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40267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8)</a:t>
            </a:r>
          </a:p>
        </p:txBody>
      </p:sp>
      <p:graphicFrame>
        <p:nvGraphicFramePr>
          <p:cNvPr id="8" name="Content Placeholder 7" descr="Group 6 of 8.  List of vocabulary terms  with corresponding meanings or definitions."/>
          <p:cNvGraphicFramePr>
            <a:graphicFrameLocks noGrp="1"/>
          </p:cNvGraphicFramePr>
          <p:nvPr>
            <p:ph idx="1"/>
            <p:extLst>
              <p:ext uri="{D42A27DB-BD31-4B8C-83A1-F6EECF244321}">
                <p14:modId xmlns:p14="http://schemas.microsoft.com/office/powerpoint/2010/main" val="284111104"/>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radiopaque</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Obstructing the passage of x-rays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radiopharmaceutical</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Radioactive drug used for diagnostic and therapeutic purposes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scan</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Image of an area, organ or tissue of the body obtained from ultrasound, radioactive tracer studies, CT, or MRI</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ea typeface="MS PGothic" panose="020B0600070205080204" pitchFamily="34" charset="-128"/>
                        </a:rPr>
                        <a:t>scintigraphy</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Diagnostic nuclear medicine test using radiopharmaceuticals and gamma cameras to create images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85634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8)</a:t>
            </a:r>
          </a:p>
        </p:txBody>
      </p:sp>
      <p:graphicFrame>
        <p:nvGraphicFramePr>
          <p:cNvPr id="8" name="Content Placeholder 7" descr="Group 7 of 8.  List of vocabulary terms  with corresponding meanings or definitions."/>
          <p:cNvGraphicFramePr>
            <a:graphicFrameLocks noGrp="1"/>
          </p:cNvGraphicFramePr>
          <p:nvPr>
            <p:ph idx="1"/>
            <p:extLst>
              <p:ext uri="{D42A27DB-BD31-4B8C-83A1-F6EECF244321}">
                <p14:modId xmlns:p14="http://schemas.microsoft.com/office/powerpoint/2010/main" val="237514780"/>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single photon emission computed tomography (SPECT)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Radioactive tracer is injected intravenously and a computer reconstructs a 3D-image based on a composite of many views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tagging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Attaching a radionuclide to a chemical and following its path in the body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tracer studies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Use of radionuclide tags attached to chemicals and followed as they travel through the body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5301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8)</a:t>
            </a:r>
          </a:p>
        </p:txBody>
      </p:sp>
      <p:graphicFrame>
        <p:nvGraphicFramePr>
          <p:cNvPr id="8" name="Content Placeholder 7" descr="Group 8 of 8.  List of vocabulary terms  with corresponding meanings or definitions."/>
          <p:cNvGraphicFramePr>
            <a:graphicFrameLocks noGrp="1"/>
          </p:cNvGraphicFramePr>
          <p:nvPr>
            <p:ph idx="1"/>
            <p:extLst>
              <p:ext uri="{D42A27DB-BD31-4B8C-83A1-F6EECF244321}">
                <p14:modId xmlns:p14="http://schemas.microsoft.com/office/powerpoint/2010/main" val="645570977"/>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ultrasonography (US, 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Diagnostic technique that projects and retrieves high-frequency sound waves as they echo off body parts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ultrasound transducer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Handheld device that sends and receives ultrasound signals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uptake</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Rate of absorption of a radionuclide into an organ or tissue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ventilation-perfusion studies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Ventilation and perfusion of a radiopharmaceutical followed by imaging its passage through the respiratory tract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52454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09600" y="228600"/>
            <a:ext cx="7772400" cy="1219200"/>
          </a:xfrm>
        </p:spPr>
        <p:txBody>
          <a:bodyPr/>
          <a:lstStyle/>
          <a:p>
            <a:pPr eaLnBrk="1" hangingPunct="1"/>
            <a:r>
              <a:rPr lang="en-US" altLang="en-US" dirty="0"/>
              <a:t>      </a:t>
            </a:r>
            <a:r>
              <a:rPr lang="en-US" altLang="en-US" u="sng" dirty="0"/>
              <a:t>QUICK QUIZ</a:t>
            </a:r>
            <a:r>
              <a:rPr lang="en-US" altLang="en-US" dirty="0"/>
              <a:t> (Slide 2 of 4)</a:t>
            </a:r>
          </a:p>
        </p:txBody>
      </p:sp>
      <p:sp>
        <p:nvSpPr>
          <p:cNvPr id="44035" name="Rectangle 3"/>
          <p:cNvSpPr>
            <a:spLocks noGrp="1" noChangeArrowheads="1"/>
          </p:cNvSpPr>
          <p:nvPr>
            <p:ph idx="1"/>
          </p:nvPr>
        </p:nvSpPr>
        <p:spPr>
          <a:xfrm>
            <a:off x="762000" y="1676400"/>
            <a:ext cx="6934200" cy="4524375"/>
          </a:xfrm>
        </p:spPr>
        <p:txBody>
          <a:bodyPr>
            <a:spAutoFit/>
          </a:bodyPr>
          <a:lstStyle/>
          <a:p>
            <a:pPr marL="533400" indent="-533400" eaLnBrk="1" hangingPunct="1">
              <a:buFont typeface="Arial" panose="020B0604020202020204" pitchFamily="34" charset="0"/>
              <a:buAutoNum type="arabicPeriod" startAt="2"/>
            </a:pPr>
            <a:r>
              <a:rPr lang="en-US" altLang="en-US" b="1"/>
              <a:t>Which of the following is a handheld device that sends and receives ultrasound signals?</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Gamma camera</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Roentgenology</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Radioisotope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Transducer</a:t>
            </a:r>
            <a:endParaRPr lang="en-US" altLang="en-US">
              <a:ea typeface="MS PGothic" panose="020B0600070205080204" pitchFamily="34" charset="-128"/>
            </a:endParaRPr>
          </a:p>
        </p:txBody>
      </p:sp>
    </p:spTree>
    <p:extLst>
      <p:ext uri="{BB962C8B-B14F-4D97-AF65-F5344CB8AC3E}">
        <p14:creationId xmlns:p14="http://schemas.microsoft.com/office/powerpoint/2010/main" val="1606952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Combining Forms, Suffixes, Prefixes, and Terminology  (Slide 1 of 4)</a:t>
            </a:r>
          </a:p>
        </p:txBody>
      </p:sp>
      <p:graphicFrame>
        <p:nvGraphicFramePr>
          <p:cNvPr id="8" name="Content Placeholder 7" descr="Group 1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1885125350"/>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fluor</a:t>
                      </a:r>
                      <a:r>
                        <a:rPr lang="en-US" altLang="en-US" sz="2400" b="1" dirty="0"/>
                        <a:t>/o</a:t>
                      </a:r>
                      <a:endParaRPr lang="en-US" altLang="en-US" sz="2400" dirty="0"/>
                    </a:p>
                  </a:txBody>
                  <a:tcPr/>
                </a:tc>
                <a:tc>
                  <a:txBody>
                    <a:bodyPr/>
                    <a:lstStyle/>
                    <a:p>
                      <a:r>
                        <a:rPr lang="en-US" altLang="en-US" sz="2400" dirty="0"/>
                        <a:t>luminous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is/o</a:t>
                      </a:r>
                      <a:endParaRPr lang="en-US" altLang="en-US" sz="2400" dirty="0"/>
                    </a:p>
                  </a:txBody>
                  <a:tcPr/>
                </a:tc>
                <a:tc>
                  <a:txBody>
                    <a:bodyPr/>
                    <a:lstStyle/>
                    <a:p>
                      <a:r>
                        <a:rPr lang="en-US" altLang="en-US" sz="2400" dirty="0"/>
                        <a:t>same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pharmaceut</a:t>
                      </a:r>
                      <a:r>
                        <a:rPr lang="en-US" altLang="en-US" sz="2400" b="1" dirty="0"/>
                        <a:t>/o</a:t>
                      </a:r>
                      <a:endParaRPr lang="en-US" altLang="en-US" sz="2400" dirty="0"/>
                    </a:p>
                  </a:txBody>
                  <a:tcPr/>
                </a:tc>
                <a:tc>
                  <a:txBody>
                    <a:bodyPr/>
                    <a:lstStyle/>
                    <a:p>
                      <a:r>
                        <a:rPr lang="en-US" altLang="en-US" sz="2400" dirty="0"/>
                        <a:t>drug</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radi</a:t>
                      </a:r>
                      <a:r>
                        <a:rPr lang="en-US" altLang="en-US" sz="2400" b="1" dirty="0"/>
                        <a:t>/o</a:t>
                      </a:r>
                      <a:endParaRPr lang="en-US" altLang="en-US" sz="2400" dirty="0"/>
                    </a:p>
                  </a:txBody>
                  <a:tcPr/>
                </a:tc>
                <a:tc>
                  <a:txBody>
                    <a:bodyPr/>
                    <a:lstStyle/>
                    <a:p>
                      <a:r>
                        <a:rPr lang="en-US" altLang="en-US" sz="2400" dirty="0"/>
                        <a:t>x-rays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roentgen/o</a:t>
                      </a:r>
                      <a:endParaRPr lang="en-US" sz="2400" dirty="0"/>
                    </a:p>
                  </a:txBody>
                  <a:tcPr/>
                </a:tc>
                <a:tc>
                  <a:txBody>
                    <a:bodyPr/>
                    <a:lstStyle/>
                    <a:p>
                      <a:r>
                        <a:rPr lang="en-US" altLang="en-US" sz="2400" dirty="0"/>
                        <a:t>x-rays</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45369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Combining Forms, Suffixes, Prefixes, and Terminology  (Slide 2 of 4)</a:t>
            </a:r>
          </a:p>
        </p:txBody>
      </p:sp>
      <p:graphicFrame>
        <p:nvGraphicFramePr>
          <p:cNvPr id="8" name="Content Placeholder 7" descr="Group 2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2840577061"/>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son/o</a:t>
                      </a:r>
                      <a:endParaRPr lang="en-US" altLang="en-US" sz="2400" dirty="0"/>
                    </a:p>
                  </a:txBody>
                  <a:tcPr/>
                </a:tc>
                <a:tc>
                  <a:txBody>
                    <a:bodyPr/>
                    <a:lstStyle/>
                    <a:p>
                      <a:r>
                        <a:rPr lang="en-US" altLang="en-US" sz="2400" dirty="0"/>
                        <a:t>sound</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therapeut</a:t>
                      </a:r>
                      <a:r>
                        <a:rPr lang="en-US" altLang="en-US" sz="2400" b="1" dirty="0"/>
                        <a:t>/o</a:t>
                      </a:r>
                      <a:endParaRPr lang="en-US" altLang="en-US" sz="2400" dirty="0"/>
                    </a:p>
                  </a:txBody>
                  <a:tcPr/>
                </a:tc>
                <a:tc>
                  <a:txBody>
                    <a:bodyPr/>
                    <a:lstStyle/>
                    <a:p>
                      <a:r>
                        <a:rPr lang="en-US" altLang="en-US" sz="2400" dirty="0"/>
                        <a:t>treatment</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vitr</a:t>
                      </a:r>
                      <a:r>
                        <a:rPr lang="en-US" altLang="en-US" sz="2400" b="1" dirty="0"/>
                        <a:t>/o</a:t>
                      </a:r>
                      <a:endParaRPr lang="en-US" altLang="en-US" sz="2400" dirty="0"/>
                    </a:p>
                  </a:txBody>
                  <a:tcPr/>
                </a:tc>
                <a:tc>
                  <a:txBody>
                    <a:bodyPr/>
                    <a:lstStyle/>
                    <a:p>
                      <a:r>
                        <a:rPr lang="en-US" altLang="en-US" sz="2400" dirty="0"/>
                        <a:t>glass</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viv</a:t>
                      </a:r>
                      <a:r>
                        <a:rPr lang="en-US" altLang="en-US" sz="2400" b="1" dirty="0"/>
                        <a:t>/o</a:t>
                      </a:r>
                      <a:endParaRPr lang="en-US" altLang="en-US" sz="2400" dirty="0"/>
                    </a:p>
                  </a:txBody>
                  <a:tcPr/>
                </a:tc>
                <a:tc>
                  <a:txBody>
                    <a:bodyPr/>
                    <a:lstStyle/>
                    <a:p>
                      <a:r>
                        <a:rPr lang="en-US" altLang="en-US" sz="2400" dirty="0"/>
                        <a:t>life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35411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Combining Forms, Suffixes, Prefixes, and Terminology  (Slide 3 of 4)</a:t>
            </a:r>
          </a:p>
        </p:txBody>
      </p:sp>
      <p:graphicFrame>
        <p:nvGraphicFramePr>
          <p:cNvPr id="8" name="Content Placeholder 7" descr="Group 3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3172461180"/>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-gram</a:t>
                      </a:r>
                      <a:endParaRPr lang="en-US" altLang="en-US" sz="2400" dirty="0"/>
                    </a:p>
                  </a:txBody>
                  <a:tcPr/>
                </a:tc>
                <a:tc>
                  <a:txBody>
                    <a:bodyPr/>
                    <a:lstStyle/>
                    <a:p>
                      <a:r>
                        <a:rPr lang="en-US" altLang="en-US" sz="2400" dirty="0"/>
                        <a:t>record</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graphy</a:t>
                      </a:r>
                      <a:endParaRPr lang="en-US" altLang="en-US" sz="2400" dirty="0"/>
                    </a:p>
                  </a:txBody>
                  <a:tcPr/>
                </a:tc>
                <a:tc>
                  <a:txBody>
                    <a:bodyPr/>
                    <a:lstStyle/>
                    <a:p>
                      <a:r>
                        <a:rPr lang="en-US" altLang="en-US" sz="2400" dirty="0"/>
                        <a:t>process of recording</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-lucent</a:t>
                      </a:r>
                      <a:endParaRPr lang="en-US" altLang="en-US" sz="2400" dirty="0"/>
                    </a:p>
                  </a:txBody>
                  <a:tcPr/>
                </a:tc>
                <a:tc>
                  <a:txBody>
                    <a:bodyPr/>
                    <a:lstStyle/>
                    <a:p>
                      <a:r>
                        <a:rPr lang="en-US" altLang="en-US" sz="2400" dirty="0"/>
                        <a:t>to shine</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-opaque</a:t>
                      </a:r>
                      <a:endParaRPr lang="en-US" altLang="en-US" sz="2400" dirty="0"/>
                    </a:p>
                  </a:txBody>
                  <a:tcPr/>
                </a:tc>
                <a:tc>
                  <a:txBody>
                    <a:bodyPr/>
                    <a:lstStyle/>
                    <a:p>
                      <a:r>
                        <a:rPr lang="en-US" altLang="en-US" sz="2400" dirty="0"/>
                        <a:t>obscure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71177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Combining Forms, Suffixes, Prefixes, and Terminology  (Slide 4 of 4)</a:t>
            </a:r>
          </a:p>
        </p:txBody>
      </p:sp>
      <p:graphicFrame>
        <p:nvGraphicFramePr>
          <p:cNvPr id="8" name="Content Placeholder 7" descr="Group 4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166535368"/>
              </p:ext>
            </p:extLst>
          </p:nvPr>
        </p:nvGraphicFramePr>
        <p:xfrm>
          <a:off x="457200" y="1600200"/>
          <a:ext cx="8229600" cy="18288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cine-</a:t>
                      </a:r>
                      <a:endParaRPr lang="en-US" altLang="en-US" sz="2400" dirty="0"/>
                    </a:p>
                  </a:txBody>
                  <a:tcPr/>
                </a:tc>
                <a:tc>
                  <a:txBody>
                    <a:bodyPr/>
                    <a:lstStyle/>
                    <a:p>
                      <a:r>
                        <a:rPr lang="en-US" altLang="en-US" sz="2400" dirty="0"/>
                        <a:t>movement</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echo-</a:t>
                      </a:r>
                      <a:endParaRPr lang="en-US" altLang="en-US" sz="2400" dirty="0"/>
                    </a:p>
                  </a:txBody>
                  <a:tcPr/>
                </a:tc>
                <a:tc>
                  <a:txBody>
                    <a:bodyPr/>
                    <a:lstStyle/>
                    <a:p>
                      <a:r>
                        <a:rPr lang="en-US" altLang="en-US" sz="2400" dirty="0"/>
                        <a:t>a repeated sound</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ultra-</a:t>
                      </a:r>
                      <a:endParaRPr lang="en-US" altLang="en-US" sz="2400" dirty="0"/>
                    </a:p>
                  </a:txBody>
                  <a:tcPr/>
                </a:tc>
                <a:tc>
                  <a:txBody>
                    <a:bodyPr/>
                    <a:lstStyle/>
                    <a:p>
                      <a:r>
                        <a:rPr lang="en-US" altLang="en-US" sz="2400" dirty="0"/>
                        <a:t>beyond</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4726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600" dirty="0"/>
              <a:t>Abbreviations (Slide 1 of 4)</a:t>
            </a:r>
          </a:p>
        </p:txBody>
      </p:sp>
      <p:graphicFrame>
        <p:nvGraphicFramePr>
          <p:cNvPr id="8" name="Content Placeholder 7" descr="Group 1 of 4 Abbreviations with corresponding meanings."/>
          <p:cNvGraphicFramePr>
            <a:graphicFrameLocks noGrp="1"/>
          </p:cNvGraphicFramePr>
          <p:nvPr>
            <p:ph idx="1"/>
            <p:extLst>
              <p:ext uri="{D42A27DB-BD31-4B8C-83A1-F6EECF244321}">
                <p14:modId xmlns:p14="http://schemas.microsoft.com/office/powerpoint/2010/main" val="1459232394"/>
              </p:ext>
            </p:extLst>
          </p:nvPr>
        </p:nvGraphicFramePr>
        <p:xfrm>
          <a:off x="457200" y="1371600"/>
          <a:ext cx="8229600" cy="48768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err="1"/>
                        <a:t>Angio</a:t>
                      </a:r>
                      <a:endParaRPr lang="en-US" altLang="en-US" sz="2300" dirty="0"/>
                    </a:p>
                  </a:txBody>
                  <a:tcPr/>
                </a:tc>
                <a:tc>
                  <a:txBody>
                    <a:bodyPr/>
                    <a:lstStyle/>
                    <a:p>
                      <a:r>
                        <a:rPr lang="en-US" altLang="en-US" sz="2300" dirty="0"/>
                        <a:t>Angiography</a:t>
                      </a:r>
                      <a:endParaRPr lang="en-US" sz="23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AP</a:t>
                      </a:r>
                    </a:p>
                  </a:txBody>
                  <a:tcPr/>
                </a:tc>
                <a:tc>
                  <a:txBody>
                    <a:bodyPr/>
                    <a:lstStyle/>
                    <a:p>
                      <a:r>
                        <a:rPr lang="en-US" altLang="en-US" sz="2300" dirty="0" err="1"/>
                        <a:t>Anteroposterior</a:t>
                      </a:r>
                      <a:endParaRPr lang="en-US" sz="23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Ba</a:t>
                      </a:r>
                    </a:p>
                  </a:txBody>
                  <a:tcPr/>
                </a:tc>
                <a:tc>
                  <a:txBody>
                    <a:bodyPr/>
                    <a:lstStyle/>
                    <a:p>
                      <a:r>
                        <a:rPr lang="en-US" altLang="en-US" sz="2300" dirty="0"/>
                        <a:t>Barium</a:t>
                      </a:r>
                      <a:endParaRPr lang="en-US" sz="23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BE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Barium enema</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C-spine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Cervical spine films</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Computed tomography</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CXR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Chest x-ray (film)</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err="1"/>
                        <a:t>Decub</a:t>
                      </a:r>
                      <a:endParaRPr lang="en-US" altLang="en-US" sz="23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Decubitus – lying down</a:t>
                      </a:r>
                    </a:p>
                  </a:txBody>
                  <a:tcPr/>
                </a:tc>
                <a:extLst>
                  <a:ext uri="{0D108BD9-81ED-4DB2-BD59-A6C34878D82A}">
                    <a16:rowId xmlns:a16="http://schemas.microsoft.com/office/drawing/2014/main" val="10008"/>
                  </a:ext>
                </a:extLst>
              </a:tr>
              <a:tr h="370840">
                <a:tc>
                  <a:txBody>
                    <a:bodyPr/>
                    <a:lstStyle/>
                    <a:p>
                      <a:r>
                        <a:rPr lang="en-US" altLang="en-US" sz="2300" dirty="0"/>
                        <a:t>DICOM</a:t>
                      </a:r>
                      <a:endParaRPr lang="en-US" sz="23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Digital image communication in medicine</a:t>
                      </a:r>
                    </a:p>
                  </a:txBody>
                  <a:tcPr/>
                </a:tc>
                <a:extLst>
                  <a:ext uri="{0D108BD9-81ED-4DB2-BD59-A6C34878D82A}">
                    <a16:rowId xmlns:a16="http://schemas.microsoft.com/office/drawing/2014/main" val="10009"/>
                  </a:ext>
                </a:extLst>
              </a:tr>
              <a:tr h="370840">
                <a:tc>
                  <a:txBody>
                    <a:bodyPr/>
                    <a:lstStyle/>
                    <a:p>
                      <a:r>
                        <a:rPr lang="en-US" altLang="en-US" sz="2300" dirty="0"/>
                        <a:t>DI</a:t>
                      </a:r>
                      <a:endParaRPr lang="en-US" sz="23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Diagnostic imaging</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71906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600" dirty="0"/>
              <a:t>Abbreviations (Slide 2 of 4)</a:t>
            </a:r>
          </a:p>
        </p:txBody>
      </p:sp>
      <p:graphicFrame>
        <p:nvGraphicFramePr>
          <p:cNvPr id="8" name="Content Placeholder 7" descr="Group 2 of 4 Abbreviations with corresponding meanings."/>
          <p:cNvGraphicFramePr>
            <a:graphicFrameLocks noGrp="1"/>
          </p:cNvGraphicFramePr>
          <p:nvPr>
            <p:ph idx="1"/>
            <p:extLst>
              <p:ext uri="{D42A27DB-BD31-4B8C-83A1-F6EECF244321}">
                <p14:modId xmlns:p14="http://schemas.microsoft.com/office/powerpoint/2010/main" val="3676428854"/>
              </p:ext>
            </p:extLst>
          </p:nvPr>
        </p:nvGraphicFramePr>
        <p:xfrm>
          <a:off x="457200" y="1371600"/>
          <a:ext cx="8229600" cy="48768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DSA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Digital subtraction angiography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ECHO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Echocardiography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EUS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Endoscopic ultrasonography</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baseline="30000" dirty="0"/>
                        <a:t>18</a:t>
                      </a:r>
                      <a:r>
                        <a:rPr lang="en-US" altLang="en-US" sz="2300" dirty="0"/>
                        <a:t>F-FDG</a:t>
                      </a:r>
                    </a:p>
                  </a:txBody>
                  <a:tcPr/>
                </a:tc>
                <a:tc>
                  <a:txBody>
                    <a:bodyPr/>
                    <a:lstStyle/>
                    <a:p>
                      <a:r>
                        <a:rPr lang="en-US" altLang="en-US" sz="2000" dirty="0" err="1"/>
                        <a:t>Fluorodeoxyglucose</a:t>
                      </a:r>
                      <a:endParaRPr lang="en-US" sz="23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err="1"/>
                        <a:t>Gd</a:t>
                      </a:r>
                      <a:endParaRPr lang="en-US" altLang="en-US" sz="2300" dirty="0"/>
                    </a:p>
                  </a:txBody>
                  <a:tcPr/>
                </a:tc>
                <a:tc>
                  <a:txBody>
                    <a:bodyPr/>
                    <a:lstStyle/>
                    <a:p>
                      <a:r>
                        <a:rPr lang="en-US" altLang="en-US" sz="2000" dirty="0"/>
                        <a:t>Gadolinium</a:t>
                      </a:r>
                      <a:endParaRPr lang="en-US" sz="2300"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baseline="30000" dirty="0"/>
                        <a:t>123</a:t>
                      </a:r>
                      <a:r>
                        <a:rPr lang="en-US" altLang="en-US" sz="2300" dirty="0"/>
                        <a:t>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Isotope of radioactive iodine</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baseline="30000" dirty="0"/>
                        <a:t>131</a:t>
                      </a:r>
                      <a:r>
                        <a:rPr lang="en-US" altLang="en-US" sz="2300" dirty="0"/>
                        <a:t>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Isotope of radioactive iodine</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IVP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Intravenous </a:t>
                      </a:r>
                      <a:r>
                        <a:rPr lang="en-US" altLang="en-US" sz="2000" dirty="0" err="1"/>
                        <a:t>pyelogram</a:t>
                      </a:r>
                      <a:endParaRPr lang="en-US" altLang="en-US" sz="2000" dirty="0"/>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300" dirty="0"/>
                        <a:t>KUB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Kidneys, ureters, bladder (series)</a:t>
                      </a:r>
                    </a:p>
                  </a:txBody>
                  <a:tcPr/>
                </a:tc>
                <a:extLst>
                  <a:ext uri="{0D108BD9-81ED-4DB2-BD59-A6C34878D82A}">
                    <a16:rowId xmlns:a16="http://schemas.microsoft.com/office/drawing/2014/main" val="10009"/>
                  </a:ext>
                </a:extLst>
              </a:tr>
              <a:tr h="370840">
                <a:tc>
                  <a:txBody>
                    <a:bodyPr/>
                    <a:lstStyle/>
                    <a:p>
                      <a:r>
                        <a:rPr lang="en-US" altLang="en-US" sz="2300" dirty="0"/>
                        <a:t>LAT</a:t>
                      </a:r>
                      <a:endParaRPr lang="en-US" sz="2300" dirty="0"/>
                    </a:p>
                  </a:txBody>
                  <a:tcPr/>
                </a:tc>
                <a:tc>
                  <a:txBody>
                    <a:bodyPr/>
                    <a:lstStyle/>
                    <a:p>
                      <a:r>
                        <a:rPr lang="en-US" altLang="en-US" sz="2000" dirty="0"/>
                        <a:t>Lateral</a:t>
                      </a:r>
                      <a:endParaRPr lang="en-US" sz="23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00243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30635"/>
            <a:ext cx="8229600" cy="1143000"/>
          </a:xfrm>
        </p:spPr>
        <p:txBody>
          <a:bodyPr/>
          <a:lstStyle/>
          <a:p>
            <a:r>
              <a:rPr lang="en-US" sz="4600" dirty="0"/>
              <a:t>Abbreviations (Slide 3 of 4)</a:t>
            </a:r>
          </a:p>
        </p:txBody>
      </p:sp>
      <p:graphicFrame>
        <p:nvGraphicFramePr>
          <p:cNvPr id="8" name="Content Placeholder 7" descr="Group 3 of 4 Abbreviations with corresponding meanings."/>
          <p:cNvGraphicFramePr>
            <a:graphicFrameLocks noGrp="1"/>
          </p:cNvGraphicFramePr>
          <p:nvPr>
            <p:ph idx="1"/>
            <p:extLst>
              <p:ext uri="{D42A27DB-BD31-4B8C-83A1-F6EECF244321}">
                <p14:modId xmlns:p14="http://schemas.microsoft.com/office/powerpoint/2010/main" val="3576778254"/>
              </p:ext>
            </p:extLst>
          </p:nvPr>
        </p:nvGraphicFramePr>
        <p:xfrm>
          <a:off x="457200" y="1143000"/>
          <a:ext cx="8229600" cy="5212080"/>
        </p:xfrm>
        <a:graphic>
          <a:graphicData uri="http://schemas.openxmlformats.org/drawingml/2006/table">
            <a:tbl>
              <a:tblPr firstRow="1" bandRow="1">
                <a:tableStyleId>{C083E6E3-FA7D-4D7B-A595-EF9225AFEA82}</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LS films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Lumbosacral (spine) films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L-spine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Lumbar spine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MDCT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Multidetector</a:t>
                      </a:r>
                      <a:r>
                        <a:rPr lang="en-US" altLang="en-US" sz="2000" dirty="0"/>
                        <a:t> CT scanner</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MR, MRI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Magnetic resonance, magnetic resonance imaging</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MRA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Magnetic resonance angiography</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MRV</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Magnetic resonance venography</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MUGA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Multiple-gated acquisitions (scan)</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PA</a:t>
                      </a:r>
                    </a:p>
                  </a:txBody>
                  <a:tcPr/>
                </a:tc>
                <a:tc>
                  <a:txBody>
                    <a:bodyPr/>
                    <a:lstStyle/>
                    <a:p>
                      <a:r>
                        <a:rPr lang="en-US" altLang="en-US" sz="2000" dirty="0" err="1"/>
                        <a:t>Posteroanterior</a:t>
                      </a:r>
                      <a:endParaRPr lang="en-US" sz="2000" dirty="0"/>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PACS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Picture archival and communications system</a:t>
                      </a:r>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PET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Positron emission tomography</a:t>
                      </a:r>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PET/CT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Positron emission tomography/computed tomography</a:t>
                      </a:r>
                    </a:p>
                  </a:txBody>
                  <a:tcPr/>
                </a:tc>
                <a:extLst>
                  <a:ext uri="{0D108BD9-81ED-4DB2-BD59-A6C34878D82A}">
                    <a16:rowId xmlns:a16="http://schemas.microsoft.com/office/drawing/2014/main" val="10011"/>
                  </a:ext>
                </a:extLst>
              </a:tr>
              <a:tr h="370840">
                <a:tc>
                  <a:txBody>
                    <a:bodyPr/>
                    <a:lstStyle/>
                    <a:p>
                      <a:r>
                        <a:rPr lang="en-US" altLang="en-US" sz="2000" dirty="0"/>
                        <a:t>RAIU</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Radioactive iodine uptake (test)</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617747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600" dirty="0"/>
              <a:t>Abbreviations (Slide 4 of 4)</a:t>
            </a:r>
          </a:p>
        </p:txBody>
      </p:sp>
      <p:graphicFrame>
        <p:nvGraphicFramePr>
          <p:cNvPr id="8" name="Content Placeholder 7" descr="Group 4 of 4 Abbreviations with corresponding meanings."/>
          <p:cNvGraphicFramePr>
            <a:graphicFrameLocks noGrp="1"/>
          </p:cNvGraphicFramePr>
          <p:nvPr>
            <p:ph idx="1"/>
            <p:extLst>
              <p:ext uri="{D42A27DB-BD31-4B8C-83A1-F6EECF244321}">
                <p14:modId xmlns:p14="http://schemas.microsoft.com/office/powerpoint/2010/main" val="3365825636"/>
              </p:ext>
            </p:extLst>
          </p:nvPr>
        </p:nvGraphicFramePr>
        <p:xfrm>
          <a:off x="457200" y="1600200"/>
          <a:ext cx="8229600" cy="457200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RFA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Radiofrequency ablation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SBFT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bowel follow-through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Singe photon emission computed tomography</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aseline="30000" dirty="0"/>
                        <a:t>99</a:t>
                      </a:r>
                      <a:r>
                        <a:rPr lang="en-US" altLang="en-US" sz="2400" dirty="0"/>
                        <a:t>TC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Radioactive technetium</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aseline="30000" dirty="0"/>
                        <a:t>201</a:t>
                      </a:r>
                      <a:r>
                        <a:rPr lang="en-US" altLang="en-US" sz="2400" dirty="0"/>
                        <a:t>Tl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Thallium-201</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T-spine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Thoracic spine</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UGI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Upper gastrointestinal (series)</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 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Ultrasound; ultrasonography</a:t>
                      </a: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V/Q scan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Ventilation-perfusion scan of the lungs</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12442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dirty="0"/>
              <a:t>      QUICK QUIZ:</a:t>
            </a:r>
            <a:r>
              <a:rPr lang="en-US" altLang="en-US" sz="4800" dirty="0"/>
              <a:t> (Slide 3 of 4)</a:t>
            </a:r>
          </a:p>
        </p:txBody>
      </p:sp>
      <p:sp>
        <p:nvSpPr>
          <p:cNvPr id="61443" name="Rectangle 3"/>
          <p:cNvSpPr>
            <a:spLocks noGrp="1" noChangeArrowheads="1"/>
          </p:cNvSpPr>
          <p:nvPr>
            <p:ph idx="1"/>
          </p:nvPr>
        </p:nvSpPr>
        <p:spPr>
          <a:xfrm>
            <a:off x="762000" y="1676400"/>
            <a:ext cx="7696200" cy="4032250"/>
          </a:xfrm>
        </p:spPr>
        <p:txBody>
          <a:bodyPr>
            <a:spAutoFit/>
          </a:bodyPr>
          <a:lstStyle/>
          <a:p>
            <a:pPr marL="533400" indent="-533400" eaLnBrk="1" hangingPunct="1">
              <a:buFont typeface="Arial" panose="020B0604020202020204" pitchFamily="34" charset="0"/>
              <a:buAutoNum type="arabicPeriod" startAt="3"/>
            </a:pPr>
            <a:r>
              <a:rPr lang="en-US" altLang="en-US" b="1"/>
              <a:t>Which term refers to movement away from the midline of the body?</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Adduction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Abduction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PA</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Inversion</a:t>
            </a:r>
            <a:endParaRPr lang="en-US" altLang="en-US">
              <a:ea typeface="MS PGothic" panose="020B0600070205080204" pitchFamily="34" charset="-128"/>
            </a:endParaRPr>
          </a:p>
        </p:txBody>
      </p:sp>
    </p:spTree>
    <p:extLst>
      <p:ext uri="{BB962C8B-B14F-4D97-AF65-F5344CB8AC3E}">
        <p14:creationId xmlns:p14="http://schemas.microsoft.com/office/powerpoint/2010/main" val="3239481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990600" y="228600"/>
            <a:ext cx="7391400" cy="1173162"/>
          </a:xfrm>
        </p:spPr>
        <p:txBody>
          <a:bodyPr/>
          <a:lstStyle/>
          <a:p>
            <a:pPr eaLnBrk="1" hangingPunct="1"/>
            <a:r>
              <a:rPr lang="en-US" altLang="en-US" dirty="0"/>
              <a:t>QUICK QUIZ (Slide 4 of 4)</a:t>
            </a:r>
            <a:r>
              <a:rPr lang="en-US" altLang="ja-JP" dirty="0"/>
              <a:t>	</a:t>
            </a:r>
            <a:endParaRPr lang="en-US" altLang="en-US" dirty="0"/>
          </a:p>
        </p:txBody>
      </p:sp>
      <p:sp>
        <p:nvSpPr>
          <p:cNvPr id="62467" name="Rectangle 3"/>
          <p:cNvSpPr>
            <a:spLocks noGrp="1" noChangeArrowheads="1"/>
          </p:cNvSpPr>
          <p:nvPr>
            <p:ph idx="1"/>
          </p:nvPr>
        </p:nvSpPr>
        <p:spPr>
          <a:xfrm>
            <a:off x="762000" y="1676400"/>
            <a:ext cx="6934200" cy="4032250"/>
          </a:xfrm>
        </p:spPr>
        <p:txBody>
          <a:bodyPr>
            <a:spAutoFit/>
          </a:bodyPr>
          <a:lstStyle/>
          <a:p>
            <a:pPr marL="533400" indent="-533400" eaLnBrk="1" hangingPunct="1">
              <a:buFont typeface="Arial" panose="020B0604020202020204" pitchFamily="34" charset="0"/>
              <a:buAutoNum type="arabicPeriod" startAt="4"/>
            </a:pPr>
            <a:r>
              <a:rPr lang="en-US" altLang="en-US" b="1"/>
              <a:t>Which term refers to a patient lying on the back?</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Prone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Supine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Flexion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Decubitus</a:t>
            </a:r>
            <a:endParaRPr lang="en-US" altLang="en-US">
              <a:ea typeface="MS PGothic" panose="020B0600070205080204" pitchFamily="34" charset="-128"/>
            </a:endParaRPr>
          </a:p>
        </p:txBody>
      </p:sp>
    </p:spTree>
    <p:extLst>
      <p:ext uri="{BB962C8B-B14F-4D97-AF65-F5344CB8AC3E}">
        <p14:creationId xmlns:p14="http://schemas.microsoft.com/office/powerpoint/2010/main" val="1697958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4240</TotalTime>
  <Words>2160</Words>
  <Application>Microsoft Office PowerPoint</Application>
  <PresentationFormat>On-screen Show (4:3)</PresentationFormat>
  <Paragraphs>411</Paragraphs>
  <Slides>43</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MS PGothic</vt:lpstr>
      <vt:lpstr>MS PGothic</vt:lpstr>
      <vt:lpstr>Arial</vt:lpstr>
      <vt:lpstr>Calibri</vt:lpstr>
      <vt:lpstr>Times New Roman</vt:lpstr>
      <vt:lpstr>Wingdings</vt:lpstr>
      <vt:lpstr>Wingdings 2</vt:lpstr>
      <vt:lpstr>Office Theme</vt:lpstr>
      <vt:lpstr>The Language of Medicine 13th edition</vt:lpstr>
      <vt:lpstr>Chapter 20 Radiology and  Nuclear Medicine</vt:lpstr>
      <vt:lpstr>Chapter Goals (Slide 1 of 2)</vt:lpstr>
      <vt:lpstr>Chapter Goals (Slide 2 of 2)</vt:lpstr>
      <vt:lpstr>Chapter 20 Lesson 20.1</vt:lpstr>
      <vt:lpstr>Introduction</vt:lpstr>
      <vt:lpstr>Personnel in This Medical Field</vt:lpstr>
      <vt:lpstr>Characteristics of X-rays </vt:lpstr>
      <vt:lpstr>Diagnostic Techniques (Slide 1 of 2) </vt:lpstr>
      <vt:lpstr>Diagnostic Techniques (Slide 2 of 2)</vt:lpstr>
      <vt:lpstr> X-ray Positioning (Slide 1 of 6)</vt:lpstr>
      <vt:lpstr> X-ray Positioning (Slide 2 of 6)</vt:lpstr>
      <vt:lpstr>X-ray Positioning (Slide 3 of 6)</vt:lpstr>
      <vt:lpstr>X-ray Positioning (Slide 4 of 6)</vt:lpstr>
      <vt:lpstr>X-ray Positioning (Slide 5 of 6)</vt:lpstr>
      <vt:lpstr>X-ray Positioning (Slide 6 of 6)</vt:lpstr>
      <vt:lpstr>      QUICK QUIZ (Slide 1 of 4) </vt:lpstr>
      <vt:lpstr>Chapter 20 Lesson 20.2</vt:lpstr>
      <vt:lpstr>Nuclear Medicine </vt:lpstr>
      <vt:lpstr>In Vitro Procedures</vt:lpstr>
      <vt:lpstr>In Vivo Procedures</vt:lpstr>
      <vt:lpstr>Procedures Using Radionuclides</vt:lpstr>
      <vt:lpstr>Focus on PET Scan</vt:lpstr>
      <vt:lpstr>Focus on SPECT</vt:lpstr>
      <vt:lpstr>Vocabulary (Slide 1 of 8)</vt:lpstr>
      <vt:lpstr>Vocabulary (Slide 2 of 8)</vt:lpstr>
      <vt:lpstr>Vocabulary (Slide 3 of 8)</vt:lpstr>
      <vt:lpstr>Vocabulary (Slide 4 of 8)</vt:lpstr>
      <vt:lpstr>Vocabulary (Slide 5 of 8)</vt:lpstr>
      <vt:lpstr>Vocabulary (Slide 6 of 8)</vt:lpstr>
      <vt:lpstr>Vocabulary (Slide 7 of 8)</vt:lpstr>
      <vt:lpstr>Vocabulary (Slide 8 of 8)</vt:lpstr>
      <vt:lpstr>      QUICK QUIZ (Slide 2 of 4)</vt:lpstr>
      <vt:lpstr>Combining Forms, Suffixes, Prefixes, and Terminology  (Slide 1 of 4)</vt:lpstr>
      <vt:lpstr>Combining Forms, Suffixes, Prefixes, and Terminology  (Slide 2 of 4)</vt:lpstr>
      <vt:lpstr>Combining Forms, Suffixes, Prefixes, and Terminology  (Slide 3 of 4)</vt:lpstr>
      <vt:lpstr>Combining Forms, Suffixes, Prefixes, and Terminology  (Slide 4 of 4)</vt:lpstr>
      <vt:lpstr>Abbreviations (Slide 1 of 4)</vt:lpstr>
      <vt:lpstr>Abbreviations (Slide 2 of 4)</vt:lpstr>
      <vt:lpstr>Abbreviations (Slide 3 of 4)</vt:lpstr>
      <vt:lpstr>Abbreviations (Slide 4 of 4)</vt:lpstr>
      <vt:lpstr>      QUICK QUIZ: (Slide 3 of 4)</vt:lpstr>
      <vt:lpstr>QUICK QUIZ (Slide 4 of 4)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296</cp:revision>
  <cp:lastPrinted>2007-04-13T22:20:09Z</cp:lastPrinted>
  <dcterms:created xsi:type="dcterms:W3CDTF">2004-11-01T16:15:23Z</dcterms:created>
  <dcterms:modified xsi:type="dcterms:W3CDTF">2023-12-07T04:23:12Z</dcterms:modified>
</cp:coreProperties>
</file>