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2" r:id="rId1"/>
  </p:sldMasterIdLst>
  <p:notesMasterIdLst>
    <p:notesMasterId r:id="rId55"/>
  </p:notesMasterIdLst>
  <p:handoutMasterIdLst>
    <p:handoutMasterId r:id="rId56"/>
  </p:handoutMasterIdLst>
  <p:sldIdLst>
    <p:sldId id="332" r:id="rId2"/>
    <p:sldId id="338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56" r:id="rId18"/>
    <p:sldId id="357" r:id="rId19"/>
    <p:sldId id="358" r:id="rId20"/>
    <p:sldId id="359" r:id="rId21"/>
    <p:sldId id="360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1" r:id="rId32"/>
    <p:sldId id="373" r:id="rId33"/>
    <p:sldId id="375" r:id="rId34"/>
    <p:sldId id="377" r:id="rId35"/>
    <p:sldId id="379" r:id="rId36"/>
    <p:sldId id="381" r:id="rId37"/>
    <p:sldId id="383" r:id="rId38"/>
    <p:sldId id="385" r:id="rId39"/>
    <p:sldId id="387" r:id="rId40"/>
    <p:sldId id="389" r:id="rId41"/>
    <p:sldId id="391" r:id="rId42"/>
    <p:sldId id="393" r:id="rId43"/>
    <p:sldId id="395" r:id="rId44"/>
    <p:sldId id="397" r:id="rId45"/>
    <p:sldId id="399" r:id="rId46"/>
    <p:sldId id="401" r:id="rId47"/>
    <p:sldId id="403" r:id="rId48"/>
    <p:sldId id="405" r:id="rId49"/>
    <p:sldId id="408" r:id="rId50"/>
    <p:sldId id="410" r:id="rId51"/>
    <p:sldId id="412" r:id="rId52"/>
    <p:sldId id="414" r:id="rId53"/>
    <p:sldId id="416" r:id="rId5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8">
          <p15:clr>
            <a:srgbClr val="A4A3A4"/>
          </p15:clr>
        </p15:guide>
        <p15:guide id="2" pos="4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92" autoAdjust="0"/>
    <p:restoredTop sz="80777" autoAdjust="0"/>
  </p:normalViewPr>
  <p:slideViewPr>
    <p:cSldViewPr>
      <p:cViewPr varScale="1">
        <p:scale>
          <a:sx n="51" d="100"/>
          <a:sy n="51" d="100"/>
        </p:scale>
        <p:origin x="1496" y="40"/>
      </p:cViewPr>
      <p:guideLst>
        <p:guide orient="horz" pos="1008"/>
        <p:guide pos="432"/>
      </p:guideLst>
    </p:cSldViewPr>
  </p:slideViewPr>
  <p:outlineViewPr>
    <p:cViewPr>
      <p:scale>
        <a:sx n="33" d="100"/>
        <a:sy n="33" d="100"/>
      </p:scale>
      <p:origin x="0" y="11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Pfeifer" userId="fb68dd40a6c6cee7" providerId="LiveId" clId="{B62D35CD-4887-456E-B5B1-35E47F0D5167}"/>
    <pc:docChg chg="undo custSel modSld modMainMaster">
      <pc:chgData name="Ben Pfeifer" userId="fb68dd40a6c6cee7" providerId="LiveId" clId="{B62D35CD-4887-456E-B5B1-35E47F0D5167}" dt="2023-09-26T09:25:27.769" v="741" actId="12385"/>
      <pc:docMkLst>
        <pc:docMk/>
      </pc:docMkLst>
      <pc:sldChg chg="modSp mod">
        <pc:chgData name="Ben Pfeifer" userId="fb68dd40a6c6cee7" providerId="LiveId" clId="{B62D35CD-4887-456E-B5B1-35E47F0D5167}" dt="2023-09-26T09:04:23.082" v="1" actId="20577"/>
        <pc:sldMkLst>
          <pc:docMk/>
          <pc:sldMk cId="1428288934" sldId="332"/>
        </pc:sldMkLst>
        <pc:spChg chg="mod">
          <ac:chgData name="Ben Pfeifer" userId="fb68dd40a6c6cee7" providerId="LiveId" clId="{B62D35CD-4887-456E-B5B1-35E47F0D5167}" dt="2023-09-26T09:04:23.082" v="1" actId="20577"/>
          <ac:spMkLst>
            <pc:docMk/>
            <pc:sldMk cId="1428288934" sldId="332"/>
            <ac:spMk id="2" creationId="{00000000-0000-0000-0000-000000000000}"/>
          </ac:spMkLst>
        </pc:spChg>
      </pc:sldChg>
      <pc:sldChg chg="addSp delSp modSp mod">
        <pc:chgData name="Ben Pfeifer" userId="fb68dd40a6c6cee7" providerId="LiveId" clId="{B62D35CD-4887-456E-B5B1-35E47F0D5167}" dt="2023-09-26T09:21:43.226" v="224" actId="962"/>
        <pc:sldMkLst>
          <pc:docMk/>
          <pc:sldMk cId="1042329349" sldId="350"/>
        </pc:sldMkLst>
        <pc:spChg chg="add del mod">
          <ac:chgData name="Ben Pfeifer" userId="fb68dd40a6c6cee7" providerId="LiveId" clId="{B62D35CD-4887-456E-B5B1-35E47F0D5167}" dt="2023-09-26T09:10:53.589" v="14" actId="478"/>
          <ac:spMkLst>
            <pc:docMk/>
            <pc:sldMk cId="1042329349" sldId="350"/>
            <ac:spMk id="3" creationId="{2CE7D6F6-F926-7B81-6728-676C23D5D4FA}"/>
          </ac:spMkLst>
        </pc:spChg>
        <pc:picChg chg="del">
          <ac:chgData name="Ben Pfeifer" userId="fb68dd40a6c6cee7" providerId="LiveId" clId="{B62D35CD-4887-456E-B5B1-35E47F0D5167}" dt="2023-09-26T09:10:19.670" v="12" actId="478"/>
          <ac:picMkLst>
            <pc:docMk/>
            <pc:sldMk cId="1042329349" sldId="350"/>
            <ac:picMk id="5" creationId="{00000000-0000-0000-0000-000000000000}"/>
          </ac:picMkLst>
        </pc:picChg>
        <pc:picChg chg="add mod">
          <ac:chgData name="Ben Pfeifer" userId="fb68dd40a6c6cee7" providerId="LiveId" clId="{B62D35CD-4887-456E-B5B1-35E47F0D5167}" dt="2023-09-26T09:21:43.226" v="224" actId="962"/>
          <ac:picMkLst>
            <pc:docMk/>
            <pc:sldMk cId="1042329349" sldId="350"/>
            <ac:picMk id="6" creationId="{64544E09-7215-1305-E898-237D2E0DD285}"/>
          </ac:picMkLst>
        </pc:picChg>
      </pc:sldChg>
      <pc:sldChg chg="addSp delSp modSp mod">
        <pc:chgData name="Ben Pfeifer" userId="fb68dd40a6c6cee7" providerId="LiveId" clId="{B62D35CD-4887-456E-B5B1-35E47F0D5167}" dt="2023-09-26T09:24:43" v="667" actId="962"/>
        <pc:sldMkLst>
          <pc:docMk/>
          <pc:sldMk cId="2359541645" sldId="354"/>
        </pc:sldMkLst>
        <pc:spChg chg="add del mod">
          <ac:chgData name="Ben Pfeifer" userId="fb68dd40a6c6cee7" providerId="LiveId" clId="{B62D35CD-4887-456E-B5B1-35E47F0D5167}" dt="2023-09-26T09:13:03.560" v="20" actId="478"/>
          <ac:spMkLst>
            <pc:docMk/>
            <pc:sldMk cId="2359541645" sldId="354"/>
            <ac:spMk id="3" creationId="{E1C0EDEA-ABD0-CC11-238B-45C05D5EB3AD}"/>
          </ac:spMkLst>
        </pc:spChg>
        <pc:picChg chg="del">
          <ac:chgData name="Ben Pfeifer" userId="fb68dd40a6c6cee7" providerId="LiveId" clId="{B62D35CD-4887-456E-B5B1-35E47F0D5167}" dt="2023-09-26T09:11:36.552" v="19" actId="478"/>
          <ac:picMkLst>
            <pc:docMk/>
            <pc:sldMk cId="2359541645" sldId="354"/>
            <ac:picMk id="5" creationId="{00000000-0000-0000-0000-000000000000}"/>
          </ac:picMkLst>
        </pc:picChg>
        <pc:picChg chg="add mod">
          <ac:chgData name="Ben Pfeifer" userId="fb68dd40a6c6cee7" providerId="LiveId" clId="{B62D35CD-4887-456E-B5B1-35E47F0D5167}" dt="2023-09-26T09:24:43" v="667" actId="962"/>
          <ac:picMkLst>
            <pc:docMk/>
            <pc:sldMk cId="2359541645" sldId="354"/>
            <ac:picMk id="6" creationId="{3E7905E7-4314-EA4E-D36A-E2BE2544CC6E}"/>
          </ac:picMkLst>
        </pc:picChg>
      </pc:sldChg>
      <pc:sldChg chg="addSp delSp modSp mod">
        <pc:chgData name="Ben Pfeifer" userId="fb68dd40a6c6cee7" providerId="LiveId" clId="{B62D35CD-4887-456E-B5B1-35E47F0D5167}" dt="2023-09-26T09:25:09.991" v="737" actId="962"/>
        <pc:sldMkLst>
          <pc:docMk/>
          <pc:sldMk cId="1043252160" sldId="355"/>
        </pc:sldMkLst>
        <pc:spChg chg="add del mod">
          <ac:chgData name="Ben Pfeifer" userId="fb68dd40a6c6cee7" providerId="LiveId" clId="{B62D35CD-4887-456E-B5B1-35E47F0D5167}" dt="2023-09-26T09:13:35.419" v="25" actId="478"/>
          <ac:spMkLst>
            <pc:docMk/>
            <pc:sldMk cId="1043252160" sldId="355"/>
            <ac:spMk id="3" creationId="{73A45C2B-0CB5-FE90-DDB4-B0B275EFBF97}"/>
          </ac:spMkLst>
        </pc:spChg>
        <pc:picChg chg="add mod">
          <ac:chgData name="Ben Pfeifer" userId="fb68dd40a6c6cee7" providerId="LiveId" clId="{B62D35CD-4887-456E-B5B1-35E47F0D5167}" dt="2023-09-26T09:25:09.991" v="737" actId="962"/>
          <ac:picMkLst>
            <pc:docMk/>
            <pc:sldMk cId="1043252160" sldId="355"/>
            <ac:picMk id="5" creationId="{F802D3A8-4A80-E010-7708-4FEF54C88F3F}"/>
          </ac:picMkLst>
        </pc:picChg>
        <pc:picChg chg="del">
          <ac:chgData name="Ben Pfeifer" userId="fb68dd40a6c6cee7" providerId="LiveId" clId="{B62D35CD-4887-456E-B5B1-35E47F0D5167}" dt="2023-09-26T09:13:24.016" v="24" actId="478"/>
          <ac:picMkLst>
            <pc:docMk/>
            <pc:sldMk cId="1043252160" sldId="355"/>
            <ac:picMk id="6" creationId="{00000000-0000-0000-0000-000000000000}"/>
          </ac:picMkLst>
        </pc:picChg>
      </pc:sldChg>
      <pc:sldChg chg="addSp delSp modSp mod">
        <pc:chgData name="Ben Pfeifer" userId="fb68dd40a6c6cee7" providerId="LiveId" clId="{B62D35CD-4887-456E-B5B1-35E47F0D5167}" dt="2023-09-26T09:23:47.729" v="513" actId="962"/>
        <pc:sldMkLst>
          <pc:docMk/>
          <pc:sldMk cId="419529662" sldId="368"/>
        </pc:sldMkLst>
        <pc:spChg chg="add del mod">
          <ac:chgData name="Ben Pfeifer" userId="fb68dd40a6c6cee7" providerId="LiveId" clId="{B62D35CD-4887-456E-B5B1-35E47F0D5167}" dt="2023-09-26T09:16:55.972" v="30" actId="478"/>
          <ac:spMkLst>
            <pc:docMk/>
            <pc:sldMk cId="419529662" sldId="368"/>
            <ac:spMk id="3" creationId="{57F3CAA8-FCE1-1598-6BE4-656F0F25A5C7}"/>
          </ac:spMkLst>
        </pc:spChg>
        <pc:picChg chg="del">
          <ac:chgData name="Ben Pfeifer" userId="fb68dd40a6c6cee7" providerId="LiveId" clId="{B62D35CD-4887-456E-B5B1-35E47F0D5167}" dt="2023-09-26T09:16:52.440" v="29" actId="478"/>
          <ac:picMkLst>
            <pc:docMk/>
            <pc:sldMk cId="419529662" sldId="368"/>
            <ac:picMk id="5" creationId="{00000000-0000-0000-0000-000000000000}"/>
          </ac:picMkLst>
        </pc:picChg>
        <pc:picChg chg="add del mod modCrop">
          <ac:chgData name="Ben Pfeifer" userId="fb68dd40a6c6cee7" providerId="LiveId" clId="{B62D35CD-4887-456E-B5B1-35E47F0D5167}" dt="2023-09-26T09:23:47.729" v="513" actId="962"/>
          <ac:picMkLst>
            <pc:docMk/>
            <pc:sldMk cId="419529662" sldId="368"/>
            <ac:picMk id="6" creationId="{F0A69D05-0EA7-C5DF-6D09-824413CA35C3}"/>
          </ac:picMkLst>
        </pc:picChg>
      </pc:sldChg>
      <pc:sldChg chg="addSp delSp modSp mod">
        <pc:chgData name="Ben Pfeifer" userId="fb68dd40a6c6cee7" providerId="LiveId" clId="{B62D35CD-4887-456E-B5B1-35E47F0D5167}" dt="2023-09-26T09:23:08.311" v="355" actId="962"/>
        <pc:sldMkLst>
          <pc:docMk/>
          <pc:sldMk cId="1735960567" sldId="369"/>
        </pc:sldMkLst>
        <pc:spChg chg="add del mod">
          <ac:chgData name="Ben Pfeifer" userId="fb68dd40a6c6cee7" providerId="LiveId" clId="{B62D35CD-4887-456E-B5B1-35E47F0D5167}" dt="2023-09-26T09:17:42.499" v="36" actId="478"/>
          <ac:spMkLst>
            <pc:docMk/>
            <pc:sldMk cId="1735960567" sldId="369"/>
            <ac:spMk id="3" creationId="{D9817E99-4BE8-4AD1-70FC-F704D7225671}"/>
          </ac:spMkLst>
        </pc:spChg>
        <pc:picChg chg="del">
          <ac:chgData name="Ben Pfeifer" userId="fb68dd40a6c6cee7" providerId="LiveId" clId="{B62D35CD-4887-456E-B5B1-35E47F0D5167}" dt="2023-09-26T09:17:35.109" v="35" actId="478"/>
          <ac:picMkLst>
            <pc:docMk/>
            <pc:sldMk cId="1735960567" sldId="369"/>
            <ac:picMk id="5" creationId="{00000000-0000-0000-0000-000000000000}"/>
          </ac:picMkLst>
        </pc:picChg>
        <pc:picChg chg="add mod modCrop">
          <ac:chgData name="Ben Pfeifer" userId="fb68dd40a6c6cee7" providerId="LiveId" clId="{B62D35CD-4887-456E-B5B1-35E47F0D5167}" dt="2023-09-26T09:23:08.311" v="355" actId="962"/>
          <ac:picMkLst>
            <pc:docMk/>
            <pc:sldMk cId="1735960567" sldId="369"/>
            <ac:picMk id="6" creationId="{ABF078D5-6CEF-1D16-AEFC-C688A379B3E5}"/>
          </ac:picMkLst>
        </pc:picChg>
        <pc:picChg chg="add mod modCrop">
          <ac:chgData name="Ben Pfeifer" userId="fb68dd40a6c6cee7" providerId="LiveId" clId="{B62D35CD-4887-456E-B5B1-35E47F0D5167}" dt="2023-09-26T09:22:44.804" v="342" actId="962"/>
          <ac:picMkLst>
            <pc:docMk/>
            <pc:sldMk cId="1735960567" sldId="369"/>
            <ac:picMk id="8" creationId="{F0109139-BBE3-22DF-C31F-E5C640F7150B}"/>
          </ac:picMkLst>
        </pc:picChg>
      </pc:sldChg>
      <pc:sldChg chg="modSp mod">
        <pc:chgData name="Ben Pfeifer" userId="fb68dd40a6c6cee7" providerId="LiveId" clId="{B62D35CD-4887-456E-B5B1-35E47F0D5167}" dt="2023-09-26T09:25:17.504" v="738" actId="12385"/>
        <pc:sldMkLst>
          <pc:docMk/>
          <pc:sldMk cId="3504767766" sldId="410"/>
        </pc:sldMkLst>
        <pc:graphicFrameChg chg="modGraphic">
          <ac:chgData name="Ben Pfeifer" userId="fb68dd40a6c6cee7" providerId="LiveId" clId="{B62D35CD-4887-456E-B5B1-35E47F0D5167}" dt="2023-09-26T09:25:17.504" v="738" actId="12385"/>
          <ac:graphicFrameMkLst>
            <pc:docMk/>
            <pc:sldMk cId="3504767766" sldId="410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B62D35CD-4887-456E-B5B1-35E47F0D5167}" dt="2023-09-26T09:25:21.190" v="739" actId="12385"/>
        <pc:sldMkLst>
          <pc:docMk/>
          <pc:sldMk cId="1823783193" sldId="412"/>
        </pc:sldMkLst>
        <pc:graphicFrameChg chg="modGraphic">
          <ac:chgData name="Ben Pfeifer" userId="fb68dd40a6c6cee7" providerId="LiveId" clId="{B62D35CD-4887-456E-B5B1-35E47F0D5167}" dt="2023-09-26T09:25:21.190" v="739" actId="12385"/>
          <ac:graphicFrameMkLst>
            <pc:docMk/>
            <pc:sldMk cId="1823783193" sldId="412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B62D35CD-4887-456E-B5B1-35E47F0D5167}" dt="2023-09-26T09:25:24.454" v="740" actId="12385"/>
        <pc:sldMkLst>
          <pc:docMk/>
          <pc:sldMk cId="3471514468" sldId="414"/>
        </pc:sldMkLst>
        <pc:graphicFrameChg chg="modGraphic">
          <ac:chgData name="Ben Pfeifer" userId="fb68dd40a6c6cee7" providerId="LiveId" clId="{B62D35CD-4887-456E-B5B1-35E47F0D5167}" dt="2023-09-26T09:25:24.454" v="740" actId="12385"/>
          <ac:graphicFrameMkLst>
            <pc:docMk/>
            <pc:sldMk cId="3471514468" sldId="414"/>
            <ac:graphicFrameMk id="8" creationId="{00000000-0000-0000-0000-000000000000}"/>
          </ac:graphicFrameMkLst>
        </pc:graphicFrameChg>
      </pc:sldChg>
      <pc:sldChg chg="modSp mod">
        <pc:chgData name="Ben Pfeifer" userId="fb68dd40a6c6cee7" providerId="LiveId" clId="{B62D35CD-4887-456E-B5B1-35E47F0D5167}" dt="2023-09-26T09:25:27.769" v="741" actId="12385"/>
        <pc:sldMkLst>
          <pc:docMk/>
          <pc:sldMk cId="509398188" sldId="416"/>
        </pc:sldMkLst>
        <pc:graphicFrameChg chg="modGraphic">
          <ac:chgData name="Ben Pfeifer" userId="fb68dd40a6c6cee7" providerId="LiveId" clId="{B62D35CD-4887-456E-B5B1-35E47F0D5167}" dt="2023-09-26T09:25:27.769" v="741" actId="12385"/>
          <ac:graphicFrameMkLst>
            <pc:docMk/>
            <pc:sldMk cId="509398188" sldId="416"/>
            <ac:graphicFrameMk id="8" creationId="{00000000-0000-0000-0000-000000000000}"/>
          </ac:graphicFrameMkLst>
        </pc:graphicFrameChg>
      </pc:sldChg>
      <pc:sldMasterChg chg="modSp mod">
        <pc:chgData name="Ben Pfeifer" userId="fb68dd40a6c6cee7" providerId="LiveId" clId="{B62D35CD-4887-456E-B5B1-35E47F0D5167}" dt="2023-09-26T09:04:53.662" v="11" actId="20577"/>
        <pc:sldMasterMkLst>
          <pc:docMk/>
          <pc:sldMasterMk cId="0" sldId="2147483762"/>
        </pc:sldMasterMkLst>
        <pc:spChg chg="mod">
          <ac:chgData name="Ben Pfeifer" userId="fb68dd40a6c6cee7" providerId="LiveId" clId="{B62D35CD-4887-456E-B5B1-35E47F0D5167}" dt="2023-09-26T09:04:53.662" v="11" actId="20577"/>
          <ac:spMkLst>
            <pc:docMk/>
            <pc:sldMasterMk cId="0" sldId="2147483762"/>
            <ac:spMk id="1031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8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80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FB9E71A-E6C8-4FD3-B040-DCC6247393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74650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68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9DD8956B-8F79-4131-A174-E4232C94513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3619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52621E74-7961-4406-8AA3-943176BBB40F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958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957E495C-F409-4B58-885D-C5E48A642F37}" type="slidenum">
              <a:rPr lang="en-US" altLang="en-US" sz="1200"/>
              <a:pPr/>
              <a:t>3</a:t>
            </a:fld>
            <a:endParaRPr lang="en-US" altLang="en-US" sz="1200"/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67910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C88DE5A-7042-46B9-8B22-ABC24A985165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85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2C8EE610-1F69-48B2-9932-B46C4222F247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3072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20C758E-69C9-4A37-BBFC-22E114C936DB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Go over recent morbidity numbers that you can obtain from the NIH website.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How do cancer cells spread throughout the body?</a:t>
            </a:r>
          </a:p>
        </p:txBody>
      </p:sp>
    </p:spTree>
    <p:extLst>
      <p:ext uri="{BB962C8B-B14F-4D97-AF65-F5344CB8AC3E}">
        <p14:creationId xmlns:p14="http://schemas.microsoft.com/office/powerpoint/2010/main" val="2024594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1E36E81-C8A0-4998-99F8-CB2209DAFCAB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the most common causes of cancer death in the U.S.? In men? In women?</a:t>
            </a:r>
          </a:p>
        </p:txBody>
      </p:sp>
    </p:spTree>
    <p:extLst>
      <p:ext uri="{BB962C8B-B14F-4D97-AF65-F5344CB8AC3E}">
        <p14:creationId xmlns:p14="http://schemas.microsoft.com/office/powerpoint/2010/main" val="210547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82FE8578-46B8-4072-81DA-81819521D2FC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The correct answer is A. For women, it is lung, breast, then colorectal that are the most common causes of death from cancer</a:t>
            </a:r>
          </a:p>
        </p:txBody>
      </p:sp>
    </p:spTree>
    <p:extLst>
      <p:ext uri="{BB962C8B-B14F-4D97-AF65-F5344CB8AC3E}">
        <p14:creationId xmlns:p14="http://schemas.microsoft.com/office/powerpoint/2010/main" val="20238822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68A8F624-ECB7-42C1-8B77-94120856F7F5}" type="slidenum">
              <a:rPr lang="en-US" altLang="en-US" sz="1200"/>
              <a:pPr/>
              <a:t>9</a:t>
            </a:fld>
            <a:endParaRPr lang="en-US" altLang="en-US" sz="120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Times New Roman" panose="02020603050405020304" pitchFamily="18" charset="0"/>
              </a:rPr>
              <a:t>The correct answer is B. For men it is lung, colorectal, then prostate that are the most common causes of cancer death for men.</a:t>
            </a:r>
          </a:p>
        </p:txBody>
      </p:sp>
    </p:spTree>
    <p:extLst>
      <p:ext uri="{BB962C8B-B14F-4D97-AF65-F5344CB8AC3E}">
        <p14:creationId xmlns:p14="http://schemas.microsoft.com/office/powerpoint/2010/main" val="14688598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4A852ADA-749E-4717-BAFD-334E1B72B106}" type="slidenum">
              <a:rPr lang="en-US" altLang="en-US" sz="1200"/>
              <a:pPr/>
              <a:t>10</a:t>
            </a:fld>
            <a:endParaRPr lang="en-US" altLang="en-US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some chemical carcinogens? </a:t>
            </a:r>
            <a:r>
              <a:rPr lang="en-US" altLang="en-US" i="1">
                <a:latin typeface="Times New Roman" panose="02020603050405020304" pitchFamily="18" charset="0"/>
              </a:rPr>
              <a:t>(Cigarette smoke, exhaust, insecticides, etc.)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Name some sources of radiation. </a:t>
            </a:r>
            <a:r>
              <a:rPr lang="en-US" altLang="en-US" i="1">
                <a:latin typeface="Times New Roman" panose="02020603050405020304" pitchFamily="18" charset="0"/>
              </a:rPr>
              <a:t>(Sunlight, x-rays, etc</a:t>
            </a:r>
            <a:r>
              <a:rPr lang="en-US" altLang="en-US">
                <a:latin typeface="Times New Roman" panose="02020603050405020304" pitchFamily="18" charset="0"/>
              </a:rPr>
              <a:t>.</a:t>
            </a:r>
            <a:r>
              <a:rPr lang="en-US" altLang="en-US" i="1">
                <a:latin typeface="Times New Roman" panose="02020603050405020304" pitchFamily="18" charset="0"/>
              </a:rPr>
              <a:t>)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oncogenes? </a:t>
            </a:r>
            <a:r>
              <a:rPr lang="en-US" altLang="en-US" i="1">
                <a:latin typeface="Times New Roman" panose="02020603050405020304" pitchFamily="18" charset="0"/>
              </a:rPr>
              <a:t>(Pieces of normal DNA that cause normal cells to become malignant when activated by mutation)</a:t>
            </a:r>
          </a:p>
          <a:p>
            <a:pPr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5296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A1AAAC6-E4AF-4A76-8A12-B072E84008B8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genetic screening? </a:t>
            </a:r>
            <a:r>
              <a:rPr lang="en-US" altLang="en-US" i="1">
                <a:latin typeface="Times New Roman" panose="02020603050405020304" pitchFamily="18" charset="0"/>
              </a:rPr>
              <a:t>(Testing family members</a:t>
            </a:r>
            <a:r>
              <a:rPr lang="ja-JP" altLang="en-US" i="1">
                <a:latin typeface="Times New Roman" panose="02020603050405020304" pitchFamily="18" charset="0"/>
              </a:rPr>
              <a:t>’</a:t>
            </a:r>
            <a:r>
              <a:rPr lang="en-US" altLang="ja-JP" i="1">
                <a:latin typeface="Times New Roman" panose="02020603050405020304" pitchFamily="18" charset="0"/>
              </a:rPr>
              <a:t> blood to determine whether the cancer is inherited)</a:t>
            </a:r>
            <a:endParaRPr lang="en-US" altLang="en-US" i="1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6017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16C9442-140C-473A-8BF4-1168B36072C8}" type="slidenum">
              <a:rPr lang="en-US" altLang="en-US" sz="1200"/>
              <a:pPr/>
              <a:t>12</a:t>
            </a:fld>
            <a:endParaRPr lang="en-US" altLang="en-US" sz="120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does histogenesis mean? 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type of tissue are carcinomas derived from?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the name for benign tumors? Malignant tumors?</a:t>
            </a:r>
          </a:p>
        </p:txBody>
      </p:sp>
    </p:spTree>
    <p:extLst>
      <p:ext uri="{BB962C8B-B14F-4D97-AF65-F5344CB8AC3E}">
        <p14:creationId xmlns:p14="http://schemas.microsoft.com/office/powerpoint/2010/main" val="3336956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057FFF1-7D3C-429E-9D7D-D670ADC0772D}" type="slidenum">
              <a:rPr lang="en-US" altLang="en-US" sz="1200"/>
              <a:pPr/>
              <a:t>13</a:t>
            </a:fld>
            <a:endParaRPr lang="en-US" altLang="en-US" sz="120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07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55B004D-97E6-453A-A1E4-0F62F899AFAA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type of tissue are sarcomas derived from? Give specific examples.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benign tumors called? Malignant tumors?</a:t>
            </a:r>
          </a:p>
        </p:txBody>
      </p:sp>
    </p:spTree>
    <p:extLst>
      <p:ext uri="{BB962C8B-B14F-4D97-AF65-F5344CB8AC3E}">
        <p14:creationId xmlns:p14="http://schemas.microsoft.com/office/powerpoint/2010/main" val="1960176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F640B78B-0B44-48D5-B7C4-07035E8B02E2}" type="slidenum">
              <a:rPr lang="en-US" altLang="en-US" sz="1200"/>
              <a:pPr/>
              <a:t>15</a:t>
            </a:fld>
            <a:endParaRPr lang="en-US" altLang="en-US" sz="120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2171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3139BE5-A7AF-4005-9CDC-BC4AD71F8E7B}" type="slidenum">
              <a:rPr lang="en-US" altLang="en-US" sz="1200"/>
              <a:pPr/>
              <a:t>16</a:t>
            </a:fld>
            <a:endParaRPr lang="en-US" altLang="en-US" sz="1200"/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Where are mixed-tissue tumors commonly found?</a:t>
            </a:r>
          </a:p>
        </p:txBody>
      </p:sp>
    </p:spTree>
    <p:extLst>
      <p:ext uri="{BB962C8B-B14F-4D97-AF65-F5344CB8AC3E}">
        <p14:creationId xmlns:p14="http://schemas.microsoft.com/office/powerpoint/2010/main" val="2190352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B391251-9195-48B5-AAA5-44FD4EFD662F}" type="slidenum">
              <a:rPr lang="en-US" altLang="en-US" sz="1200"/>
              <a:pPr/>
              <a:t>17</a:t>
            </a:fld>
            <a:endParaRPr lang="en-US" altLang="en-US" sz="1200"/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0120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9AF0B11-1696-4118-A3C6-3F148B0967BD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06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Describe each of the above types of tumors. Where is each likely to be found?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List and describe the two types of polypoid tumors and cystic tumors.</a:t>
            </a:r>
          </a:p>
        </p:txBody>
      </p:sp>
    </p:spTree>
    <p:extLst>
      <p:ext uri="{BB962C8B-B14F-4D97-AF65-F5344CB8AC3E}">
        <p14:creationId xmlns:p14="http://schemas.microsoft.com/office/powerpoint/2010/main" val="7908919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E09BFF2-A198-4CCF-B4F0-73135BB6FD4D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1075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alveolar tumors?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dysplastic tumors?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does </a:t>
            </a:r>
            <a:r>
              <a:rPr lang="en-US" altLang="en-US" i="1">
                <a:latin typeface="Times New Roman" panose="02020603050405020304" pitchFamily="18" charset="0"/>
              </a:rPr>
              <a:t>scirrhous</a:t>
            </a:r>
            <a:r>
              <a:rPr lang="en-US" altLang="en-US">
                <a:latin typeface="Times New Roman" panose="02020603050405020304" pitchFamily="18" charset="0"/>
              </a:rPr>
              <a:t> mean when referring to tumors?</a:t>
            </a:r>
          </a:p>
        </p:txBody>
      </p:sp>
    </p:spTree>
    <p:extLst>
      <p:ext uri="{BB962C8B-B14F-4D97-AF65-F5344CB8AC3E}">
        <p14:creationId xmlns:p14="http://schemas.microsoft.com/office/powerpoint/2010/main" val="4133396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DF1D8AF1-D1D2-4949-8ED1-B229F18A2841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Describe how a tumor is graded and staged. 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Explain how this relates to therapy and prognosis.</a:t>
            </a:r>
          </a:p>
        </p:txBody>
      </p:sp>
    </p:spTree>
    <p:extLst>
      <p:ext uri="{BB962C8B-B14F-4D97-AF65-F5344CB8AC3E}">
        <p14:creationId xmlns:p14="http://schemas.microsoft.com/office/powerpoint/2010/main" val="1312365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DCD3BA3-AB1A-463A-9006-DA3940320E5C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94013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1DE53D8E-ED06-4A42-9926-19C19C1F9412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What is adjuvant chemotherapy?</a:t>
            </a:r>
          </a:p>
        </p:txBody>
      </p:sp>
    </p:spTree>
    <p:extLst>
      <p:ext uri="{BB962C8B-B14F-4D97-AF65-F5344CB8AC3E}">
        <p14:creationId xmlns:p14="http://schemas.microsoft.com/office/powerpoint/2010/main" val="34465620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FA18755-F8B4-4445-AB0D-5C875C06E5BD}" type="slidenum">
              <a:rPr lang="en-US" altLang="en-US" sz="1200"/>
              <a:pPr/>
              <a:t>25</a:t>
            </a:fld>
            <a:endParaRPr lang="en-US" altLang="en-US" sz="120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normal cell damage referred to in radiation? </a:t>
            </a:r>
            <a:r>
              <a:rPr lang="en-US" altLang="en-US" i="1">
                <a:latin typeface="Times New Roman" panose="02020603050405020304" pitchFamily="18" charset="0"/>
              </a:rPr>
              <a:t>(Morbidity)</a:t>
            </a:r>
          </a:p>
        </p:txBody>
      </p:sp>
    </p:spTree>
    <p:extLst>
      <p:ext uri="{BB962C8B-B14F-4D97-AF65-F5344CB8AC3E}">
        <p14:creationId xmlns:p14="http://schemas.microsoft.com/office/powerpoint/2010/main" val="1859001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336F5AD1-D048-4850-9A36-119CD87F35A0}" type="slidenum">
              <a:rPr lang="en-US" altLang="en-US" sz="1200"/>
              <a:pPr/>
              <a:t>26</a:t>
            </a:fld>
            <a:endParaRPr lang="en-US" altLang="en-US" sz="120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Discuss the possible causes of these side effects.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Which side effects reverse after treatment is discontinued?</a:t>
            </a:r>
          </a:p>
        </p:txBody>
      </p:sp>
    </p:spTree>
    <p:extLst>
      <p:ext uri="{BB962C8B-B14F-4D97-AF65-F5344CB8AC3E}">
        <p14:creationId xmlns:p14="http://schemas.microsoft.com/office/powerpoint/2010/main" val="20922960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B137E383-71CE-4AE7-AD8D-FAC57894ADFA}" type="slidenum">
              <a:rPr lang="en-US" altLang="en-US" sz="1200"/>
              <a:pPr/>
              <a:t>27</a:t>
            </a:fld>
            <a:endParaRPr lang="en-US" altLang="en-US" sz="120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8916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E098E6B7-C4C6-4F95-A281-8E30BDF2FD24}" type="slidenum">
              <a:rPr lang="en-US" altLang="en-US" sz="1200"/>
              <a:pPr/>
              <a:t>28</a:t>
            </a:fld>
            <a:endParaRPr lang="en-US" altLang="en-US" sz="120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common side effects of alkylating agents?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How do antibiotic drugs work in cancer therapy?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are antimitotics derived from?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Name a particular type of cancer on which hormonal agents might be effective.</a:t>
            </a:r>
          </a:p>
        </p:txBody>
      </p:sp>
    </p:spTree>
    <p:extLst>
      <p:ext uri="{BB962C8B-B14F-4D97-AF65-F5344CB8AC3E}">
        <p14:creationId xmlns:p14="http://schemas.microsoft.com/office/powerpoint/2010/main" val="10200299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CD81C144-9D6C-4BA6-808A-F6ECA52397EE}" type="slidenum">
              <a:rPr lang="en-US" altLang="en-US" sz="1200"/>
              <a:pPr/>
              <a:t>29</a:t>
            </a:fld>
            <a:endParaRPr lang="en-US" altLang="en-US" sz="120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57415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025942EC-5E1B-4689-843D-67654D23AD1C}" type="slidenum">
              <a:rPr lang="en-US" altLang="en-US" sz="1200"/>
              <a:pPr/>
              <a:t>30</a:t>
            </a:fld>
            <a:endParaRPr lang="en-US" altLang="en-US" sz="120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None/>
            </a:pPr>
            <a:endParaRPr lang="en-GB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57284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fld id="{7913B08D-E447-46DC-8D75-34416BF7A47A}" type="slidenum">
              <a:rPr lang="en-US" altLang="en-US" sz="1200"/>
              <a:pPr/>
              <a:t>49</a:t>
            </a:fld>
            <a:endParaRPr lang="en-US" altLang="en-US" sz="120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Describe a bone marrow biopsy and how it can detect cancer. 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exfoliative cytology and what types of cancer does it detect?</a:t>
            </a:r>
          </a:p>
          <a:p>
            <a:pPr eaLnBrk="1" hangingPunct="1">
              <a:buFont typeface="Times" panose="02020603050405020304" pitchFamily="18" charset="0"/>
              <a:buChar char="•"/>
            </a:pPr>
            <a:r>
              <a:rPr lang="en-US" altLang="en-US">
                <a:latin typeface="Times New Roman" panose="02020603050405020304" pitchFamily="18" charset="0"/>
              </a:rPr>
              <a:t> What is a needle biopsy and what types of cancer can it detect?</a:t>
            </a:r>
          </a:p>
        </p:txBody>
      </p:sp>
    </p:spTree>
    <p:extLst>
      <p:ext uri="{BB962C8B-B14F-4D97-AF65-F5344CB8AC3E}">
        <p14:creationId xmlns:p14="http://schemas.microsoft.com/office/powerpoint/2010/main" val="410424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4F46A433-53BE-44F2-B0BE-CD4AA7F6F7B2}" type="slidenum"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3124200" y="5859295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Rectangle 8"/>
          <p:cNvSpPr txBox="1">
            <a:spLocks noGrp="1" noChangeArrowheads="1"/>
          </p:cNvSpPr>
          <p:nvPr userDrawn="1"/>
        </p:nvSpPr>
        <p:spPr bwMode="auto">
          <a:xfrm>
            <a:off x="917575" y="6444916"/>
            <a:ext cx="77692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38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419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659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2D8646-B954-479C-A337-986E442FC1A9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C3B6F8-FB65-40D1-9D78-3B0834AA29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255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26FB1C-0B93-4FFC-AFAC-202B5BB6FD8D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D0EB3D-4C75-400C-847F-27CED06B60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659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1BE0B-DC10-4A86-884B-421A21A3786F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7988B2-9A38-4469-A73A-3A8A3875C8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4110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8196F-BB54-4DF1-9DDF-EB61181FD455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69FD97-2CE7-4101-9BDA-A6CDF9D7F1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81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01F176B-337D-4B0C-9E0F-CF98E924232A}" type="datetimeFigureOut">
              <a:rPr lang="en-US" smtClean="0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3EFAA-5F29-4212-A320-E00D10714EB8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01134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F424A-0666-4F8A-AE0B-042263A2F523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 sz="1000" baseline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923256-9629-4751-9FC7-D9A617797B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222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BC957C-8A28-4346-A91E-3181E23B9FC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223BBEA-FBE4-4D1C-948E-35E3FD648AC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125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D414B3-CE71-4CAC-BF20-28E9BC6B1BB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C2544-6AE1-4FFD-9204-B2754DEAA11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0667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89D59-B1E6-4DCF-8F4C-326D6ED2C2B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B8DA79-2483-40AE-83CF-C031752A90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0537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BF2560-A50C-4A12-98A3-C5D77FC1843E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28CD66-7605-4E45-9E45-CFA0ED8972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5669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1F176B-337D-4B0C-9E0F-CF98E924232A}" type="datetimeFigureOut">
              <a:rPr lang="en-US"/>
              <a:pPr>
                <a:defRPr/>
              </a:pPr>
              <a:t>12/7/2023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28A3EFAA-5F29-4212-A320-E00D10714EB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Text Box 5"/>
          <p:cNvSpPr txBox="1">
            <a:spLocks noChangeArrowheads="1"/>
          </p:cNvSpPr>
          <p:nvPr userDrawn="1"/>
        </p:nvSpPr>
        <p:spPr bwMode="auto">
          <a:xfrm>
            <a:off x="7696200" y="6461125"/>
            <a:ext cx="1143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fld id="{0FF5DB33-233E-420C-BB96-6F4A112866E6}" type="slidenum">
              <a:rPr lang="en-US" altLang="en-US" sz="1000"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50000"/>
                </a:spcBef>
              </a:pPr>
              <a:t>‹#›</a:t>
            </a:fld>
            <a:endParaRPr lang="en-US" altLang="en-US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7D28CC-BE1C-AEDA-2111-5050B5868E4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041871" y="6478581"/>
            <a:ext cx="3118010" cy="20956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51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9" r:id="rId8"/>
    <p:sldLayoutId id="2147483944" r:id="rId9"/>
    <p:sldLayoutId id="2147483945" r:id="rId10"/>
    <p:sldLayoutId id="2147483946" r:id="rId11"/>
    <p:sldLayoutId id="2147483947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Language of Medicine</a:t>
            </a:r>
            <a:br>
              <a:rPr lang="en-US" dirty="0"/>
            </a:br>
            <a:r>
              <a:rPr lang="en-US" dirty="0"/>
              <a:t>13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tx1"/>
                </a:solidFill>
              </a:rPr>
              <a:t>Davi</a:t>
            </a:r>
            <a:r>
              <a:rPr lang="en-US" dirty="0">
                <a:solidFill>
                  <a:schemeClr val="tx1"/>
                </a:solidFill>
              </a:rPr>
              <a:t>-Ellen </a:t>
            </a:r>
            <a:r>
              <a:rPr lang="en-US" dirty="0" err="1">
                <a:solidFill>
                  <a:schemeClr val="tx1"/>
                </a:solidFill>
              </a:rPr>
              <a:t>Chabner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288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2"/>
          <p:cNvSpPr>
            <a:spLocks noGrp="1" noChangeArrowheads="1"/>
          </p:cNvSpPr>
          <p:nvPr>
            <p:ph type="title"/>
          </p:nvPr>
        </p:nvSpPr>
        <p:spPr>
          <a:xfrm>
            <a:off x="762000" y="76200"/>
            <a:ext cx="8382000" cy="1447800"/>
          </a:xfrm>
        </p:spPr>
        <p:txBody>
          <a:bodyPr/>
          <a:lstStyle/>
          <a:p>
            <a:pPr eaLnBrk="1" hangingPunct="1"/>
            <a:r>
              <a:rPr lang="en-US" altLang="en-US"/>
              <a:t>Chapter 19</a:t>
            </a:r>
            <a:br>
              <a:rPr lang="en-US" altLang="en-US"/>
            </a:br>
            <a:r>
              <a:rPr lang="en-US" altLang="en-US"/>
              <a:t>Cancer Medicine (Oncology)</a:t>
            </a:r>
          </a:p>
        </p:txBody>
      </p:sp>
    </p:spTree>
    <p:extLst>
      <p:ext uri="{BB962C8B-B14F-4D97-AF65-F5344CB8AC3E}">
        <p14:creationId xmlns:p14="http://schemas.microsoft.com/office/powerpoint/2010/main" val="3223155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591425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Goals (Slide 1 of 2)</a:t>
            </a:r>
          </a:p>
        </p:txBody>
      </p:sp>
      <p:sp>
        <p:nvSpPr>
          <p:cNvPr id="5123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717675"/>
            <a:ext cx="7591425" cy="4454525"/>
          </a:xfrm>
        </p:spPr>
        <p:txBody>
          <a:bodyPr/>
          <a:lstStyle/>
          <a:p>
            <a:pPr eaLnBrk="1" hangingPunct="1"/>
            <a:r>
              <a:rPr lang="en-US" altLang="en-US"/>
              <a:t>Identify medical terms that describe the growth and spread of tumors.</a:t>
            </a:r>
          </a:p>
          <a:p>
            <a:pPr eaLnBrk="1" hangingPunct="1"/>
            <a:r>
              <a:rPr lang="en-US" altLang="en-US"/>
              <a:t>Recognize terms related to the causes, diagnosis, and treatment of cancer.</a:t>
            </a:r>
          </a:p>
          <a:p>
            <a:pPr eaLnBrk="1" hangingPunct="1"/>
            <a:r>
              <a:rPr lang="en-US" altLang="en-US"/>
              <a:t>Review how tumors are classified and described by pathologists.</a:t>
            </a:r>
          </a:p>
        </p:txBody>
      </p:sp>
    </p:spTree>
    <p:extLst>
      <p:ext uri="{BB962C8B-B14F-4D97-AF65-F5344CB8AC3E}">
        <p14:creationId xmlns:p14="http://schemas.microsoft.com/office/powerpoint/2010/main" val="3724938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Goals (Slide 2 of 2</a:t>
            </a:r>
            <a:r>
              <a:rPr lang="en-US" altLang="ja-JP" dirty="0"/>
              <a:t>)</a:t>
            </a:r>
            <a:endParaRPr lang="en-US" altLang="en-US" dirty="0"/>
          </a:p>
        </p:txBody>
      </p:sp>
      <p:sp>
        <p:nvSpPr>
          <p:cNvPr id="6147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717675"/>
            <a:ext cx="7772400" cy="44545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Describe x-ray studies, laboratory tests, and other procedures used by physicians for determining the presence and extent of spread (staging) of tumors.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Apply your new knowledge to understanding medical terms in their proper contexts, such as medical reports and records.</a:t>
            </a:r>
          </a:p>
        </p:txBody>
      </p:sp>
    </p:spTree>
    <p:extLst>
      <p:ext uri="{BB962C8B-B14F-4D97-AF65-F5344CB8AC3E}">
        <p14:creationId xmlns:p14="http://schemas.microsoft.com/office/powerpoint/2010/main" val="1278699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772400" cy="1219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Chapter 19</a:t>
            </a:r>
            <a:br>
              <a:rPr lang="en-US" dirty="0"/>
            </a:br>
            <a:r>
              <a:rPr lang="en-US" dirty="0"/>
              <a:t>Lesson 19.1</a:t>
            </a:r>
          </a:p>
        </p:txBody>
      </p:sp>
    </p:spTree>
    <p:extLst>
      <p:ext uri="{BB962C8B-B14F-4D97-AF65-F5344CB8AC3E}">
        <p14:creationId xmlns:p14="http://schemas.microsoft.com/office/powerpoint/2010/main" val="1376493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/>
              <a:t>Introduction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717675"/>
            <a:ext cx="7772400" cy="445452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Cancer:</a:t>
            </a:r>
            <a:r>
              <a:rPr lang="en-US" altLang="en-US"/>
              <a:t> characterized by unrestrained and excessive growth of cells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Malignant tumors:</a:t>
            </a:r>
            <a:r>
              <a:rPr lang="en-US" altLang="en-US"/>
              <a:t> compress, invade, and destroy surrounding tissues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08569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/>
              <a:t>Cancer</a:t>
            </a:r>
          </a:p>
        </p:txBody>
      </p:sp>
      <p:sp>
        <p:nvSpPr>
          <p:cNvPr id="9219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717675"/>
            <a:ext cx="7772400" cy="4454525"/>
          </a:xfrm>
        </p:spPr>
        <p:txBody>
          <a:bodyPr/>
          <a:lstStyle/>
          <a:p>
            <a:pPr eaLnBrk="1" hangingPunct="1"/>
            <a:r>
              <a:rPr lang="en-US" altLang="en-US"/>
              <a:t>Cancer is responsible for 20% of all deaths in the United States.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More than half of people who develop cancer are cured.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3770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      QUICK QUIZ (Slide 1 of 2)</a:t>
            </a:r>
            <a:r>
              <a:rPr lang="en-US" altLang="en-US" sz="4800" dirty="0"/>
              <a:t>	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676400"/>
            <a:ext cx="7391400" cy="4032250"/>
          </a:xfrm>
        </p:spPr>
        <p:txBody>
          <a:bodyPr>
            <a:spAutoFit/>
          </a:bodyPr>
          <a:lstStyle/>
          <a:p>
            <a:pPr marL="533400" indent="-533400" eaLnBrk="1" hangingPunct="1">
              <a:buFont typeface="Arial" panose="020B0604020202020204" pitchFamily="34" charset="0"/>
              <a:buAutoNum type="arabicPeriod"/>
            </a:pPr>
            <a:r>
              <a:rPr lang="en-US" altLang="en-US" b="1"/>
              <a:t>Which cancers are the most common causes of cancer death for women?</a:t>
            </a:r>
          </a:p>
          <a:p>
            <a:pPr marL="533400" indent="-533400" eaLnBrk="1" hangingPunct="1">
              <a:buFont typeface="Arial" panose="020B0604020202020204" pitchFamily="34" charset="0"/>
              <a:buAutoNum type="arabicPeriod"/>
            </a:pPr>
            <a:endParaRPr lang="en-US" altLang="en-US" b="1"/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Lung, breast, colorectal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Lung, colorectal, breast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Breast, lung, colorectal</a:t>
            </a:r>
          </a:p>
          <a:p>
            <a:pPr marL="914400" lvl="1" indent="-457200" eaLnBrk="1" hangingPunct="1">
              <a:buFont typeface="Arial" panose="020B0604020202020204" pitchFamily="34" charset="0"/>
              <a:buAutoNum type="alphaUcPeriod"/>
            </a:pPr>
            <a:r>
              <a:rPr lang="en-US" altLang="en-US" sz="3200">
                <a:ea typeface="MS PGothic" panose="020B0600070205080204" pitchFamily="34" charset="-128"/>
              </a:rPr>
              <a:t>Colorectal, breast, lung</a:t>
            </a:r>
            <a:endParaRPr lang="en-US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36284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      QUICK QUIZ (Slide 2 of 2</a:t>
            </a:r>
            <a:r>
              <a:rPr lang="en-US" altLang="ja-JP" dirty="0"/>
              <a:t>)	</a:t>
            </a:r>
            <a:endParaRPr lang="en-US" alt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3400" indent="-533400" eaLnBrk="1" hangingPunct="1">
              <a:buFont typeface="Arial" charset="0"/>
              <a:buAutoNum type="arabicPeriod" startAt="2"/>
              <a:defRPr/>
            </a:pPr>
            <a:r>
              <a:rPr lang="en-US" b="1" kern="0" dirty="0"/>
              <a:t>Which cancers are the most common causes of cancer death for men?</a:t>
            </a:r>
          </a:p>
          <a:p>
            <a:pPr marL="914400" lvl="1" indent="-457200" eaLnBrk="1" hangingPunct="1">
              <a:buFont typeface="Arial" charset="0"/>
              <a:buAutoNum type="arabicPeriod"/>
              <a:defRPr/>
            </a:pPr>
            <a:endParaRPr lang="en-US" sz="3200" kern="0" dirty="0"/>
          </a:p>
          <a:p>
            <a:pPr marL="914400" lvl="1" indent="-457200" eaLnBrk="1" hangingPunct="1">
              <a:buFont typeface="Arial" charset="0"/>
              <a:buAutoNum type="alphaUcPeriod"/>
              <a:defRPr/>
            </a:pPr>
            <a:r>
              <a:rPr lang="en-US" sz="3200" kern="0" dirty="0"/>
              <a:t>Lung, prostate, colorectal</a:t>
            </a:r>
          </a:p>
          <a:p>
            <a:pPr marL="914400" lvl="1" indent="-457200" eaLnBrk="1" hangingPunct="1">
              <a:buFont typeface="Arial" charset="0"/>
              <a:buAutoNum type="alphaUcPeriod"/>
              <a:defRPr/>
            </a:pPr>
            <a:r>
              <a:rPr lang="en-US" sz="3200" kern="0" dirty="0"/>
              <a:t>Lung, colorectal, prostate</a:t>
            </a:r>
          </a:p>
          <a:p>
            <a:pPr marL="914400" lvl="1" indent="-457200" eaLnBrk="1" hangingPunct="1">
              <a:buFont typeface="Arial" charset="0"/>
              <a:buAutoNum type="alphaUcPeriod"/>
              <a:defRPr/>
            </a:pPr>
            <a:r>
              <a:rPr lang="en-US" sz="3200" kern="0" dirty="0"/>
              <a:t>Prostate, lung, colorectal</a:t>
            </a:r>
          </a:p>
          <a:p>
            <a:pPr marL="914400" lvl="1" indent="-457200" eaLnBrk="1" hangingPunct="1">
              <a:buFont typeface="Arial" charset="0"/>
              <a:buAutoNum type="alphaUcPeriod"/>
              <a:defRPr/>
            </a:pPr>
            <a:r>
              <a:rPr lang="en-US" sz="3200" kern="0" dirty="0"/>
              <a:t>Colorectal, prostate, lung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4265174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/>
              <a:t>Carcinogenesis</a:t>
            </a:r>
          </a:p>
        </p:txBody>
      </p:sp>
      <p:sp>
        <p:nvSpPr>
          <p:cNvPr id="15363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641475"/>
            <a:ext cx="7772400" cy="44545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b="1"/>
              <a:t>Environmental agents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>
                <a:ea typeface="MS PGothic" panose="020B0600070205080204" pitchFamily="34" charset="-128"/>
              </a:rPr>
              <a:t>Chemical carcinogens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>
                <a:ea typeface="MS PGothic" panose="020B0600070205080204" pitchFamily="34" charset="-128"/>
              </a:rPr>
              <a:t>Radiation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>
                <a:ea typeface="MS PGothic" panose="020B0600070205080204" pitchFamily="34" charset="-128"/>
              </a:rPr>
              <a:t>Viruses (RNA and DNA)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>
                <a:ea typeface="MS PGothic" panose="020B0600070205080204" pitchFamily="34" charset="-128"/>
              </a:rPr>
              <a:t>Oncogenes (ras/colon cancer, myc/lymphoma, and bcr-abl/chronic myelogenous leukemia)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b="1"/>
              <a:t>Heredity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en-US">
                <a:ea typeface="MS PGothic" panose="020B0600070205080204" pitchFamily="34" charset="-128"/>
              </a:rPr>
              <a:t>Retinoblastoma, polyposis coli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0283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Genes Implicated in Hereditary Cancers</a:t>
            </a:r>
          </a:p>
        </p:txBody>
      </p:sp>
      <p:pic>
        <p:nvPicPr>
          <p:cNvPr id="6" name="Picture 5" descr="Table 19-2 Examples of genes implicated in hereditary cancers.">
            <a:extLst>
              <a:ext uri="{FF2B5EF4-FFF2-40B4-BE49-F238E27FC236}">
                <a16:creationId xmlns:a16="http://schemas.microsoft.com/office/drawing/2014/main" id="{64544E09-7215-1305-E898-237D2E0DD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521" y="1627616"/>
            <a:ext cx="6292958" cy="36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29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/>
              <a:t>Classification of Cancerous Tumors</a:t>
            </a:r>
          </a:p>
        </p:txBody>
      </p:sp>
      <p:sp>
        <p:nvSpPr>
          <p:cNvPr id="17411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703388"/>
            <a:ext cx="7772400" cy="1649412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Carcinomas:</a:t>
            </a:r>
            <a:r>
              <a:rPr lang="en-US" altLang="en-US"/>
              <a:t> epithelial cell origin, 90% of all malignancies are carcinomas</a:t>
            </a:r>
          </a:p>
        </p:txBody>
      </p:sp>
    </p:spTree>
    <p:extLst>
      <p:ext uri="{BB962C8B-B14F-4D97-AF65-F5344CB8AC3E}">
        <p14:creationId xmlns:p14="http://schemas.microsoft.com/office/powerpoint/2010/main" val="1599345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Carcinomas and the Epithelial Tissues from Which They Derive</a:t>
            </a:r>
          </a:p>
        </p:txBody>
      </p:sp>
      <p:pic>
        <p:nvPicPr>
          <p:cNvPr id="5" name="Content Placeholder 4" descr="Table 19-3. Carcinomas and the epithelial tissues from which they derive&#10;&#10;Gastrointestinal tract&#10;Colon: Adenocarcinoma of the colon&#10;Esophagus: Esophageal carcinoma&#10;Liver: Hepatocellular carcinoma (hepatoma)&#10;Stomach: Gastric adenocarcinoma&#10;&#10;Glandular tissue&#10;Adrenal gland: Carcinoma of the adrenals (adrenocortical carcinoma)&#10;Breast: Carcinoma of the breast&#10;Pancreas: Carcinoma of the pancreas (pancreatic adenocarcinoma)&#10;Prostate: Carcinoma of the prostate&#10;Salivary glands: Adenoid cystic carcinoma&#10;Thyroid: Carcinoma of the thyroid&#10;&#10;Kidney and bladder: Renal cell carcinoma; Transitional cell carcinoma of the bladder&#10;&#10;Lung: Adenocarcinoma (bronchioloalveolar); Large cell carcinoma; Small cell carcinoma; Squamous cell carcinoma (epidermoid)&#10;&#10;Reproductive organs: Adenocarcinoma of the uterus; Squamous carcinoma of the penis; Choriocarcinoma of the uterus of testes; Cystadenocarcinoma (mucinous or serous) of the ovaries; Seminoma and embryonal cell carcinoma (testes); Squamous cell (epidermoid) carcinoma of the vagina or cervix&#10;&#10;Skin&#10;Basal cell layer: Basal cell carcinoma&#10;Melanocyte: Malignant melanoma&#10;Squamous cell layer: Squamous cell carcinoma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6843" y="1600200"/>
            <a:ext cx="3690314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7986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Classification of Cancerous Tumors (Slide 1 of 2)</a:t>
            </a:r>
          </a:p>
        </p:txBody>
      </p:sp>
      <p:sp>
        <p:nvSpPr>
          <p:cNvPr id="19459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2133600"/>
            <a:ext cx="7772400" cy="4038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Sarcomas:</a:t>
            </a:r>
            <a:r>
              <a:rPr lang="en-US" altLang="en-US"/>
              <a:t> connective tissue origin, 5% of all malignancies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499743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Sarcomas and the Connective Tissues from Which They Derive</a:t>
            </a:r>
          </a:p>
        </p:txBody>
      </p:sp>
      <p:pic>
        <p:nvPicPr>
          <p:cNvPr id="6" name="Picture 5" descr="Table 19-3:  Carcinomas and the epithelial tissues from which they derive">
            <a:extLst>
              <a:ext uri="{FF2B5EF4-FFF2-40B4-BE49-F238E27FC236}">
                <a16:creationId xmlns:a16="http://schemas.microsoft.com/office/drawing/2014/main" id="{3E7905E7-4314-EA4E-D36A-E2BE2544C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1600200"/>
            <a:ext cx="3657600" cy="476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5416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Classification of Cancerous Tumors (Slide 2 of 2)</a:t>
            </a:r>
          </a:p>
        </p:txBody>
      </p:sp>
      <p:sp>
        <p:nvSpPr>
          <p:cNvPr id="21507" name="Rectangle 5"/>
          <p:cNvSpPr>
            <a:spLocks noGrp="1" noChangeArrowheads="1"/>
          </p:cNvSpPr>
          <p:nvPr>
            <p:ph sz="half" idx="1"/>
          </p:nvPr>
        </p:nvSpPr>
        <p:spPr>
          <a:xfrm>
            <a:off x="457200" y="1600201"/>
            <a:ext cx="8686800" cy="1371600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 dirty="0"/>
              <a:t>Mixed tissue tumors:</a:t>
            </a:r>
            <a:r>
              <a:rPr lang="en-US" altLang="en-US" dirty="0"/>
              <a:t> tissues capable of differentiating into epithelial and connective tissue</a:t>
            </a:r>
          </a:p>
        </p:txBody>
      </p:sp>
      <p:pic>
        <p:nvPicPr>
          <p:cNvPr id="5" name="Picture 4" descr="Table 19-5  Mixed-tissue tumors">
            <a:extLst>
              <a:ext uri="{FF2B5EF4-FFF2-40B4-BE49-F238E27FC236}">
                <a16:creationId xmlns:a16="http://schemas.microsoft.com/office/drawing/2014/main" id="{F802D3A8-4A80-E010-7708-4FEF54C88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83" y="2825378"/>
            <a:ext cx="7719205" cy="220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52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Chapter 19</a:t>
            </a:r>
            <a:br>
              <a:rPr lang="en-US" dirty="0"/>
            </a:br>
            <a:r>
              <a:rPr lang="en-US" dirty="0"/>
              <a:t>Lesson 19.2</a:t>
            </a:r>
          </a:p>
        </p:txBody>
      </p:sp>
    </p:spTree>
    <p:extLst>
      <p:ext uri="{BB962C8B-B14F-4D97-AF65-F5344CB8AC3E}">
        <p14:creationId xmlns:p14="http://schemas.microsoft.com/office/powerpoint/2010/main" val="1808956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458200" cy="1219200"/>
          </a:xfrm>
        </p:spPr>
        <p:txBody>
          <a:bodyPr/>
          <a:lstStyle/>
          <a:p>
            <a:pPr eaLnBrk="1" hangingPunct="1"/>
            <a:r>
              <a:rPr lang="en-US" altLang="en-US"/>
              <a:t>Pathological Descriptions</a:t>
            </a:r>
            <a:br>
              <a:rPr lang="en-US" altLang="en-US"/>
            </a:br>
            <a:r>
              <a:rPr lang="en-US" altLang="en-US"/>
              <a:t>Gross</a:t>
            </a:r>
          </a:p>
        </p:txBody>
      </p:sp>
      <p:sp>
        <p:nvSpPr>
          <p:cNvPr id="23555" name="Rectangle 6"/>
          <p:cNvSpPr>
            <a:spLocks noGrp="1" noChangeArrowheads="1"/>
          </p:cNvSpPr>
          <p:nvPr>
            <p:ph sz="half" idx="1"/>
          </p:nvPr>
        </p:nvSpPr>
        <p:spPr>
          <a:xfrm>
            <a:off x="763588" y="1717675"/>
            <a:ext cx="3808412" cy="4454525"/>
          </a:xfrm>
        </p:spPr>
        <p:txBody>
          <a:bodyPr/>
          <a:lstStyle/>
          <a:p>
            <a:pPr eaLnBrk="1" hangingPunct="1"/>
            <a:r>
              <a:rPr lang="en-US" altLang="en-US"/>
              <a:t>Cystic</a:t>
            </a:r>
          </a:p>
          <a:p>
            <a:pPr eaLnBrk="1" hangingPunct="1"/>
            <a:r>
              <a:rPr lang="en-US" altLang="en-US"/>
              <a:t>Fungating</a:t>
            </a:r>
          </a:p>
          <a:p>
            <a:pPr eaLnBrk="1" hangingPunct="1"/>
            <a:r>
              <a:rPr lang="en-US" altLang="en-US"/>
              <a:t>Inflammatory</a:t>
            </a:r>
          </a:p>
          <a:p>
            <a:pPr eaLnBrk="1" hangingPunct="1"/>
            <a:r>
              <a:rPr lang="en-US" altLang="en-US"/>
              <a:t>Medullary</a:t>
            </a:r>
          </a:p>
        </p:txBody>
      </p:sp>
      <p:sp>
        <p:nvSpPr>
          <p:cNvPr id="23556" name="Rectangle 7"/>
          <p:cNvSpPr>
            <a:spLocks noGrp="1" noChangeArrowheads="1"/>
          </p:cNvSpPr>
          <p:nvPr>
            <p:ph sz="half" idx="2"/>
          </p:nvPr>
        </p:nvSpPr>
        <p:spPr>
          <a:xfrm>
            <a:off x="4649788" y="1717675"/>
            <a:ext cx="3808412" cy="4454525"/>
          </a:xfrm>
        </p:spPr>
        <p:txBody>
          <a:bodyPr/>
          <a:lstStyle/>
          <a:p>
            <a:pPr eaLnBrk="1" hangingPunct="1"/>
            <a:r>
              <a:rPr lang="en-US" altLang="en-US"/>
              <a:t>Necrotic</a:t>
            </a:r>
          </a:p>
          <a:p>
            <a:pPr eaLnBrk="1" hangingPunct="1"/>
            <a:r>
              <a:rPr lang="en-US" altLang="en-US"/>
              <a:t>Polypoid</a:t>
            </a:r>
          </a:p>
          <a:p>
            <a:pPr eaLnBrk="1" hangingPunct="1"/>
            <a:r>
              <a:rPr lang="en-US" altLang="en-US"/>
              <a:t>Ulcerating </a:t>
            </a:r>
          </a:p>
          <a:p>
            <a:pPr eaLnBrk="1" hangingPunct="1"/>
            <a:r>
              <a:rPr lang="en-US" altLang="en-US"/>
              <a:t>Verrucous</a:t>
            </a:r>
          </a:p>
        </p:txBody>
      </p:sp>
    </p:spTree>
    <p:extLst>
      <p:ext uri="{BB962C8B-B14F-4D97-AF65-F5344CB8AC3E}">
        <p14:creationId xmlns:p14="http://schemas.microsoft.com/office/powerpoint/2010/main" val="41319076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5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/>
              <a:t>Pathological Descriptions</a:t>
            </a:r>
            <a:br>
              <a:rPr lang="en-US" altLang="en-US"/>
            </a:br>
            <a:r>
              <a:rPr lang="en-US" altLang="en-US"/>
              <a:t>Microscopic</a:t>
            </a:r>
          </a:p>
        </p:txBody>
      </p:sp>
      <p:sp>
        <p:nvSpPr>
          <p:cNvPr id="24579" name="Rectangle 6"/>
          <p:cNvSpPr>
            <a:spLocks noGrp="1" noChangeArrowheads="1"/>
          </p:cNvSpPr>
          <p:nvPr>
            <p:ph sz="half" idx="1"/>
          </p:nvPr>
        </p:nvSpPr>
        <p:spPr>
          <a:xfrm>
            <a:off x="763588" y="1717675"/>
            <a:ext cx="3808412" cy="4454525"/>
          </a:xfrm>
        </p:spPr>
        <p:txBody>
          <a:bodyPr/>
          <a:lstStyle/>
          <a:p>
            <a:pPr eaLnBrk="1" hangingPunct="1"/>
            <a:r>
              <a:rPr lang="en-US" altLang="en-US"/>
              <a:t>Alveolar</a:t>
            </a:r>
          </a:p>
          <a:p>
            <a:pPr eaLnBrk="1" hangingPunct="1"/>
            <a:r>
              <a:rPr lang="en-US" altLang="en-US"/>
              <a:t>Carcinoma in situ</a:t>
            </a:r>
          </a:p>
          <a:p>
            <a:pPr eaLnBrk="1" hangingPunct="1"/>
            <a:r>
              <a:rPr lang="en-US" altLang="en-US"/>
              <a:t>Diffuse</a:t>
            </a:r>
          </a:p>
          <a:p>
            <a:pPr eaLnBrk="1" hangingPunct="1"/>
            <a:r>
              <a:rPr lang="en-US" altLang="en-US"/>
              <a:t>Dysplastic</a:t>
            </a:r>
          </a:p>
          <a:p>
            <a:pPr eaLnBrk="1" hangingPunct="1"/>
            <a:r>
              <a:rPr lang="en-US" altLang="en-US"/>
              <a:t>Epidermoid</a:t>
            </a:r>
          </a:p>
          <a:p>
            <a:pPr eaLnBrk="1" hangingPunct="1"/>
            <a:r>
              <a:rPr lang="en-US" altLang="en-US"/>
              <a:t>Follicular</a:t>
            </a:r>
          </a:p>
        </p:txBody>
      </p:sp>
      <p:sp>
        <p:nvSpPr>
          <p:cNvPr id="24580" name="Rectangle 7"/>
          <p:cNvSpPr>
            <a:spLocks noGrp="1" noChangeArrowheads="1"/>
          </p:cNvSpPr>
          <p:nvPr>
            <p:ph sz="half" idx="2"/>
          </p:nvPr>
        </p:nvSpPr>
        <p:spPr>
          <a:xfrm>
            <a:off x="4648200" y="1717675"/>
            <a:ext cx="3808413" cy="4454525"/>
          </a:xfrm>
        </p:spPr>
        <p:txBody>
          <a:bodyPr/>
          <a:lstStyle/>
          <a:p>
            <a:pPr eaLnBrk="1" hangingPunct="1"/>
            <a:r>
              <a:rPr lang="en-US" altLang="en-US"/>
              <a:t>Nodular</a:t>
            </a:r>
          </a:p>
          <a:p>
            <a:pPr eaLnBrk="1" hangingPunct="1"/>
            <a:r>
              <a:rPr lang="en-US" altLang="en-US"/>
              <a:t>Papillary</a:t>
            </a:r>
          </a:p>
          <a:p>
            <a:pPr eaLnBrk="1" hangingPunct="1"/>
            <a:r>
              <a:rPr lang="en-US" altLang="en-US"/>
              <a:t>Pleomorphic</a:t>
            </a:r>
          </a:p>
          <a:p>
            <a:pPr eaLnBrk="1" hangingPunct="1"/>
            <a:r>
              <a:rPr lang="en-US" altLang="en-US"/>
              <a:t>Scirrhous</a:t>
            </a:r>
          </a:p>
          <a:p>
            <a:pPr eaLnBrk="1" hangingPunct="1"/>
            <a:r>
              <a:rPr lang="en-US" altLang="en-US"/>
              <a:t>Undifferentiated</a:t>
            </a:r>
          </a:p>
        </p:txBody>
      </p:sp>
    </p:spTree>
    <p:extLst>
      <p:ext uri="{BB962C8B-B14F-4D97-AF65-F5344CB8AC3E}">
        <p14:creationId xmlns:p14="http://schemas.microsoft.com/office/powerpoint/2010/main" val="24333380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/>
              <a:t>Grading and Staging of Tumors</a:t>
            </a:r>
          </a:p>
        </p:txBody>
      </p:sp>
      <p:sp>
        <p:nvSpPr>
          <p:cNvPr id="25603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1717675"/>
            <a:ext cx="7772400" cy="445452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Grade:</a:t>
            </a:r>
            <a:r>
              <a:rPr lang="en-US" altLang="en-US"/>
              <a:t> degree of maturity or differentiation under the microscope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b="1"/>
              <a:t>Stage:</a:t>
            </a:r>
            <a:r>
              <a:rPr lang="en-US" altLang="en-US"/>
              <a:t> extent of spread in the body</a:t>
            </a:r>
          </a:p>
        </p:txBody>
      </p:sp>
    </p:spTree>
    <p:extLst>
      <p:ext uri="{BB962C8B-B14F-4D97-AF65-F5344CB8AC3E}">
        <p14:creationId xmlns:p14="http://schemas.microsoft.com/office/powerpoint/2010/main" val="8641763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International TNM Staging System for Lung Cancer</a:t>
            </a:r>
          </a:p>
        </p:txBody>
      </p:sp>
      <p:pic>
        <p:nvPicPr>
          <p:cNvPr id="5" name="Picture 6" descr="Reginal Lymph Nodes (N)&#10;N0, No node involvement&#10;N1, Ipsilateral (same side as for the primary tumor) bronchopulmonary or hilar nodes involved&#10;N2, Ipsilateral mediastinal nodes or ligament involved&#10;N3, Contralateral mediastinal, hilar nodes, or supraclavicular (collarbone) nodes involved&#10;&#10;Distant Metastasis (M)&#10;M0, No metastasis&#10;M1: Metastases present with site specified (e.g., brain, liver)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31"/>
          <a:stretch>
            <a:fillRect/>
          </a:stretch>
        </p:blipFill>
        <p:spPr bwMode="auto">
          <a:xfrm>
            <a:off x="538796" y="2242332"/>
            <a:ext cx="8376603" cy="2484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44691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Chapter 19</a:t>
            </a:r>
            <a:br>
              <a:rPr lang="en-US" dirty="0"/>
            </a:br>
            <a:r>
              <a:rPr lang="en-US" dirty="0"/>
              <a:t>Lesson 19.3</a:t>
            </a:r>
          </a:p>
        </p:txBody>
      </p:sp>
    </p:spTree>
    <p:extLst>
      <p:ext uri="{BB962C8B-B14F-4D97-AF65-F5344CB8AC3E}">
        <p14:creationId xmlns:p14="http://schemas.microsoft.com/office/powerpoint/2010/main" val="8283285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Cancer Treatment: Surgery </a:t>
            </a:r>
            <a:br>
              <a:rPr lang="en-US" altLang="en-US" dirty="0"/>
            </a:br>
            <a:r>
              <a:rPr lang="en-US" altLang="en-US" dirty="0"/>
              <a:t>(Slide 1 of 2)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MS PGothic" panose="020B0600070205080204" pitchFamily="34" charset="-128"/>
              </a:rPr>
              <a:t>Debulking procedure</a:t>
            </a:r>
            <a:r>
              <a:rPr lang="en-US" altLang="en-US">
                <a:ea typeface="MS PGothic" panose="020B0600070205080204" pitchFamily="34" charset="-128"/>
              </a:rPr>
              <a:t>: may be used to remove as much of primary tumor mass as possible</a:t>
            </a:r>
          </a:p>
          <a:p>
            <a:pPr eaLnBrk="1" hangingPunct="1">
              <a:buFont typeface="Wingdings 2" panose="05020102010507070707" pitchFamily="18" charset="2"/>
              <a:buChar char=""/>
            </a:pPr>
            <a:endParaRPr lang="en-US" altLang="en-US">
              <a:ea typeface="MS PGothic" panose="020B0600070205080204" pitchFamily="34" charset="-128"/>
            </a:endParaRPr>
          </a:p>
          <a:p>
            <a:pPr eaLnBrk="1" hangingPunct="1"/>
            <a:r>
              <a:rPr lang="en-US" altLang="en-US" b="1">
                <a:ea typeface="MS PGothic" panose="020B0600070205080204" pitchFamily="34" charset="-128"/>
              </a:rPr>
              <a:t>Adjuvant </a:t>
            </a:r>
            <a:r>
              <a:rPr lang="en-US" altLang="en-US">
                <a:ea typeface="MS PGothic" panose="020B0600070205080204" pitchFamily="34" charset="-128"/>
              </a:rPr>
              <a:t>(assisting) radiation therapy and/or chemotherapy: after removal of primary tumor to prevent recurrence at distant sites</a:t>
            </a:r>
            <a:endParaRPr lang="en-US" altLang="en-US" b="1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4026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5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 dirty="0"/>
              <a:t>Cancer Treatment: Surgery </a:t>
            </a:r>
            <a:br>
              <a:rPr lang="en-US" altLang="en-US" dirty="0"/>
            </a:br>
            <a:r>
              <a:rPr lang="en-US" altLang="en-US" dirty="0"/>
              <a:t>(Slide 2 of 2)</a:t>
            </a:r>
          </a:p>
        </p:txBody>
      </p:sp>
      <p:sp>
        <p:nvSpPr>
          <p:cNvPr id="29699" name="Rectangle 6"/>
          <p:cNvSpPr>
            <a:spLocks noGrp="1" noChangeArrowheads="1"/>
          </p:cNvSpPr>
          <p:nvPr>
            <p:ph sz="half" idx="1"/>
          </p:nvPr>
        </p:nvSpPr>
        <p:spPr>
          <a:xfrm>
            <a:off x="533400" y="1905000"/>
            <a:ext cx="3581400" cy="3886200"/>
          </a:xfrm>
        </p:spPr>
        <p:txBody>
          <a:bodyPr/>
          <a:lstStyle/>
          <a:p>
            <a:pPr eaLnBrk="1" hangingPunct="1"/>
            <a:r>
              <a:rPr lang="en-US" altLang="en-US"/>
              <a:t>Cauterization</a:t>
            </a:r>
          </a:p>
          <a:p>
            <a:pPr eaLnBrk="1" hangingPunct="1"/>
            <a:r>
              <a:rPr lang="en-US" altLang="en-US"/>
              <a:t>Core needle biopsy</a:t>
            </a:r>
          </a:p>
          <a:p>
            <a:pPr eaLnBrk="1" hangingPunct="1"/>
            <a:r>
              <a:rPr lang="en-US" altLang="en-US"/>
              <a:t>Cryosurgery</a:t>
            </a:r>
          </a:p>
          <a:p>
            <a:pPr eaLnBrk="1" hangingPunct="1"/>
            <a:r>
              <a:rPr lang="en-US" altLang="en-US"/>
              <a:t>En bloc resection</a:t>
            </a:r>
          </a:p>
        </p:txBody>
      </p:sp>
      <p:sp>
        <p:nvSpPr>
          <p:cNvPr id="29700" name="Rectangle 7"/>
          <p:cNvSpPr>
            <a:spLocks noGrp="1" noChangeArrowheads="1"/>
          </p:cNvSpPr>
          <p:nvPr>
            <p:ph sz="half" idx="2"/>
          </p:nvPr>
        </p:nvSpPr>
        <p:spPr>
          <a:xfrm>
            <a:off x="3886200" y="1828800"/>
            <a:ext cx="4724400" cy="4149725"/>
          </a:xfrm>
        </p:spPr>
        <p:txBody>
          <a:bodyPr/>
          <a:lstStyle/>
          <a:p>
            <a:pPr eaLnBrk="1" hangingPunct="1"/>
            <a:r>
              <a:rPr lang="en-US" altLang="en-US"/>
              <a:t>Excisional biopsy</a:t>
            </a:r>
          </a:p>
          <a:p>
            <a:pPr eaLnBrk="1" hangingPunct="1"/>
            <a:r>
              <a:rPr lang="en-US" altLang="en-US"/>
              <a:t>Exenteration</a:t>
            </a:r>
          </a:p>
          <a:p>
            <a:pPr eaLnBrk="1" hangingPunct="1"/>
            <a:r>
              <a:rPr lang="en-US" altLang="en-US"/>
              <a:t>Fine needle aspiration biopsy</a:t>
            </a:r>
          </a:p>
          <a:p>
            <a:pPr eaLnBrk="1" hangingPunct="1"/>
            <a:r>
              <a:rPr lang="en-US" altLang="en-US"/>
              <a:t>Fulguration</a:t>
            </a:r>
          </a:p>
          <a:p>
            <a:pPr eaLnBrk="1" hangingPunct="1"/>
            <a:r>
              <a:rPr lang="en-US" altLang="en-US"/>
              <a:t>Incisional biopsy</a:t>
            </a:r>
          </a:p>
        </p:txBody>
      </p:sp>
    </p:spTree>
    <p:extLst>
      <p:ext uri="{BB962C8B-B14F-4D97-AF65-F5344CB8AC3E}">
        <p14:creationId xmlns:p14="http://schemas.microsoft.com/office/powerpoint/2010/main" val="1990849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5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/>
              <a:t>Cancer Treatment: Radiation Therapy (Radiation Oncology)</a:t>
            </a:r>
          </a:p>
        </p:txBody>
      </p:sp>
      <p:sp>
        <p:nvSpPr>
          <p:cNvPr id="30723" name="Rectangle 6"/>
          <p:cNvSpPr>
            <a:spLocks noGrp="1" noChangeArrowheads="1"/>
          </p:cNvSpPr>
          <p:nvPr>
            <p:ph sz="half" idx="1"/>
          </p:nvPr>
        </p:nvSpPr>
        <p:spPr>
          <a:xfrm>
            <a:off x="763588" y="1717675"/>
            <a:ext cx="3808412" cy="4454525"/>
          </a:xfrm>
        </p:spPr>
        <p:txBody>
          <a:bodyPr/>
          <a:lstStyle/>
          <a:p>
            <a:pPr eaLnBrk="1" hangingPunct="1"/>
            <a:r>
              <a:rPr lang="en-US" altLang="en-US"/>
              <a:t>Brachytherapy</a:t>
            </a:r>
          </a:p>
          <a:p>
            <a:pPr eaLnBrk="1" hangingPunct="1"/>
            <a:r>
              <a:rPr lang="en-US" altLang="en-US"/>
              <a:t>Electron beams</a:t>
            </a:r>
          </a:p>
          <a:p>
            <a:pPr eaLnBrk="1" hangingPunct="1"/>
            <a:r>
              <a:rPr lang="en-US" altLang="en-US"/>
              <a:t>External beam radiation (teletherapy)</a:t>
            </a:r>
          </a:p>
          <a:p>
            <a:pPr eaLnBrk="1" hangingPunct="1"/>
            <a:r>
              <a:rPr lang="en-US" altLang="en-US"/>
              <a:t>Fields</a:t>
            </a:r>
          </a:p>
          <a:p>
            <a:pPr eaLnBrk="1" hangingPunct="1"/>
            <a:r>
              <a:rPr lang="en-US" altLang="en-US"/>
              <a:t>Fractionation</a:t>
            </a:r>
          </a:p>
          <a:p>
            <a:pPr eaLnBrk="1" hangingPunct="1"/>
            <a:r>
              <a:rPr lang="en-US" altLang="en-US"/>
              <a:t>Gray (Gy)</a:t>
            </a:r>
          </a:p>
          <a:p>
            <a:pPr eaLnBrk="1" hangingPunct="1"/>
            <a:r>
              <a:rPr lang="en-US" altLang="en-US"/>
              <a:t>Linear accelerator</a:t>
            </a:r>
          </a:p>
        </p:txBody>
      </p:sp>
      <p:sp>
        <p:nvSpPr>
          <p:cNvPr id="30724" name="Rectangle 7"/>
          <p:cNvSpPr>
            <a:spLocks noGrp="1" noChangeArrowheads="1"/>
          </p:cNvSpPr>
          <p:nvPr>
            <p:ph sz="half" idx="2"/>
          </p:nvPr>
        </p:nvSpPr>
        <p:spPr>
          <a:xfrm>
            <a:off x="4649788" y="1717675"/>
            <a:ext cx="4113212" cy="4454525"/>
          </a:xfrm>
        </p:spPr>
        <p:txBody>
          <a:bodyPr/>
          <a:lstStyle/>
          <a:p>
            <a:pPr eaLnBrk="1" hangingPunct="1"/>
            <a:r>
              <a:rPr lang="en-US" altLang="en-US"/>
              <a:t>Photon therapy</a:t>
            </a:r>
          </a:p>
          <a:p>
            <a:pPr eaLnBrk="1" hangingPunct="1"/>
            <a:r>
              <a:rPr lang="en-US" altLang="en-US"/>
              <a:t>Proton therapy</a:t>
            </a:r>
          </a:p>
          <a:p>
            <a:pPr eaLnBrk="1" hangingPunct="1"/>
            <a:r>
              <a:rPr lang="en-US" altLang="en-US"/>
              <a:t>Radiocurable tumor</a:t>
            </a:r>
          </a:p>
          <a:p>
            <a:pPr eaLnBrk="1" hangingPunct="1"/>
            <a:r>
              <a:rPr lang="en-US" altLang="en-US"/>
              <a:t>Radioresistant tumor</a:t>
            </a:r>
          </a:p>
          <a:p>
            <a:pPr eaLnBrk="1" hangingPunct="1"/>
            <a:r>
              <a:rPr lang="en-US" altLang="en-US"/>
              <a:t>Radiosensitive tumor</a:t>
            </a:r>
          </a:p>
          <a:p>
            <a:pPr eaLnBrk="1" hangingPunct="1"/>
            <a:r>
              <a:rPr lang="en-US" altLang="en-US"/>
              <a:t>Radiosensitizers</a:t>
            </a:r>
          </a:p>
          <a:p>
            <a:pPr eaLnBrk="1" hangingPunct="1"/>
            <a:r>
              <a:rPr lang="en-US" altLang="en-US"/>
              <a:t>Simulation</a:t>
            </a:r>
          </a:p>
          <a:p>
            <a:pPr eaLnBrk="1" hangingPunct="1"/>
            <a:r>
              <a:rPr lang="en-US" altLang="en-US"/>
              <a:t>Stereotactic radiosurgery</a:t>
            </a:r>
          </a:p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4718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/>
              <a:t>Radiation Therapy Side Effects</a:t>
            </a:r>
          </a:p>
        </p:txBody>
      </p:sp>
      <p:sp>
        <p:nvSpPr>
          <p:cNvPr id="31747" name="Rectangle 5"/>
          <p:cNvSpPr>
            <a:spLocks noGrp="1" noChangeArrowheads="1"/>
          </p:cNvSpPr>
          <p:nvPr>
            <p:ph idx="1"/>
          </p:nvPr>
        </p:nvSpPr>
        <p:spPr>
          <a:xfrm>
            <a:off x="381000" y="1447800"/>
            <a:ext cx="8458200" cy="472440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sz="2800"/>
              <a:t>Alopecia (baldness)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/>
              <a:t>Fibrosis (increase in connective tissue)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/>
              <a:t>Infertility (inability to contribute to conception of a child)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/>
              <a:t>Mucositis (inflammation and ulceration of mucous membranes)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/>
              <a:t>Myelosuppression (bone marrow depression)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/>
              <a:t>Nausea and vomiting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/>
              <a:t>Pneumonitis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/>
              <a:t>Secondary tumors (new types of tumors)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sz="2800"/>
              <a:t>Xerostomia (dryness of mouth)</a:t>
            </a:r>
          </a:p>
        </p:txBody>
      </p:sp>
    </p:spTree>
    <p:extLst>
      <p:ext uri="{BB962C8B-B14F-4D97-AF65-F5344CB8AC3E}">
        <p14:creationId xmlns:p14="http://schemas.microsoft.com/office/powerpoint/2010/main" val="3328490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Chapter 19</a:t>
            </a:r>
            <a:br>
              <a:rPr lang="en-US" dirty="0"/>
            </a:br>
            <a:r>
              <a:rPr lang="en-US" dirty="0"/>
              <a:t>Lesson 19.4</a:t>
            </a:r>
          </a:p>
        </p:txBody>
      </p:sp>
    </p:spTree>
    <p:extLst>
      <p:ext uri="{BB962C8B-B14F-4D97-AF65-F5344CB8AC3E}">
        <p14:creationId xmlns:p14="http://schemas.microsoft.com/office/powerpoint/2010/main" val="28895362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382000" cy="1295400"/>
          </a:xfrm>
        </p:spPr>
        <p:txBody>
          <a:bodyPr/>
          <a:lstStyle/>
          <a:p>
            <a:pPr eaLnBrk="1" hangingPunct="1"/>
            <a:r>
              <a:rPr lang="en-US" altLang="en-US"/>
              <a:t>Chemotherapy, Biological Therapy, and Differentiating Agents</a:t>
            </a:r>
          </a:p>
        </p:txBody>
      </p:sp>
      <p:sp>
        <p:nvSpPr>
          <p:cNvPr id="33795" name="Rectangle 5"/>
          <p:cNvSpPr>
            <a:spLocks noGrp="1" noChangeArrowheads="1"/>
          </p:cNvSpPr>
          <p:nvPr>
            <p:ph idx="1"/>
          </p:nvPr>
        </p:nvSpPr>
        <p:spPr>
          <a:xfrm>
            <a:off x="762000" y="2057400"/>
            <a:ext cx="7772400" cy="4114800"/>
          </a:xfrm>
        </p:spPr>
        <p:txBody>
          <a:bodyPr/>
          <a:lstStyle/>
          <a:p>
            <a:pPr eaLnBrk="1" hangingPunct="1"/>
            <a:r>
              <a:rPr lang="en-US" altLang="en-US"/>
              <a:t>Alkylating agents</a:t>
            </a:r>
          </a:p>
          <a:p>
            <a:pPr eaLnBrk="1" hangingPunct="1"/>
            <a:r>
              <a:rPr lang="en-US" altLang="en-US"/>
              <a:t>Antibiotics</a:t>
            </a:r>
          </a:p>
          <a:p>
            <a:pPr eaLnBrk="1" hangingPunct="1"/>
            <a:r>
              <a:rPr lang="en-US" altLang="en-US"/>
              <a:t>Antimetabolites</a:t>
            </a:r>
          </a:p>
          <a:p>
            <a:pPr eaLnBrk="1" hangingPunct="1"/>
            <a:r>
              <a:rPr lang="en-US" altLang="en-US"/>
              <a:t>Antimitotics</a:t>
            </a:r>
          </a:p>
          <a:p>
            <a:pPr eaLnBrk="1" hangingPunct="1"/>
            <a:r>
              <a:rPr lang="en-US" altLang="en-US"/>
              <a:t>Hormonal agents</a:t>
            </a:r>
          </a:p>
        </p:txBody>
      </p:sp>
    </p:spTree>
    <p:extLst>
      <p:ext uri="{BB962C8B-B14F-4D97-AF65-F5344CB8AC3E}">
        <p14:creationId xmlns:p14="http://schemas.microsoft.com/office/powerpoint/2010/main" val="13304606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Cancer Chemotherapeutic Agents and the Cancers They Treat (slide 1 of 2)</a:t>
            </a:r>
          </a:p>
        </p:txBody>
      </p:sp>
      <p:pic>
        <p:nvPicPr>
          <p:cNvPr id="6" name="Picture 5" descr="Table 19-7 part 1 Chemotherapeutic agents and the type of cancers they treat.">
            <a:extLst>
              <a:ext uri="{FF2B5EF4-FFF2-40B4-BE49-F238E27FC236}">
                <a16:creationId xmlns:a16="http://schemas.microsoft.com/office/drawing/2014/main" id="{F0A69D05-0EA7-C5DF-6D09-824413CA35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1890"/>
          <a:stretch/>
        </p:blipFill>
        <p:spPr>
          <a:xfrm>
            <a:off x="1790700" y="1785841"/>
            <a:ext cx="5562600" cy="3286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296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Cancer Chemotherapeutic Agents and the Cancers They Treat (slide 2 of 2</a:t>
            </a:r>
            <a:r>
              <a:rPr lang="en-US" altLang="ja-JP" dirty="0"/>
              <a:t>)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F078D5-6CEF-1D16-AEFC-C688A379B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8000"/>
          <a:stretch/>
        </p:blipFill>
        <p:spPr>
          <a:xfrm>
            <a:off x="1828799" y="2289717"/>
            <a:ext cx="6553201" cy="682083"/>
          </a:xfrm>
          <a:prstGeom prst="rect">
            <a:avLst/>
          </a:prstGeom>
        </p:spPr>
      </p:pic>
      <p:pic>
        <p:nvPicPr>
          <p:cNvPr id="8" name="Picture 7" descr="Table 19-7 part 2--Hormonal agents and the type of cancers.">
            <a:extLst>
              <a:ext uri="{FF2B5EF4-FFF2-40B4-BE49-F238E27FC236}">
                <a16:creationId xmlns:a16="http://schemas.microsoft.com/office/drawing/2014/main" id="{F0109139-BBE3-22DF-C31F-E5C640F7150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533"/>
          <a:stretch/>
        </p:blipFill>
        <p:spPr>
          <a:xfrm>
            <a:off x="1828800" y="3128734"/>
            <a:ext cx="6748124" cy="1900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9605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 of 18)</a:t>
            </a:r>
          </a:p>
        </p:txBody>
      </p:sp>
      <p:graphicFrame>
        <p:nvGraphicFramePr>
          <p:cNvPr id="8" name="Content Placeholder 7" descr="Group 1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7261178"/>
              </p:ext>
            </p:extLst>
          </p:nvPr>
        </p:nvGraphicFramePr>
        <p:xfrm>
          <a:off x="457200" y="1600200"/>
          <a:ext cx="82296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a typeface="ＭＳ Ｐゴシック" charset="0"/>
                        </a:rPr>
                        <a:t>adjuvant chemotherapy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Assisting primary treatment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ea typeface="ＭＳ Ｐゴシック" charset="0"/>
                        </a:rPr>
                        <a:t>alkylating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Synthetic chemicals containing alkyl groups that attack DNA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err="1">
                          <a:ea typeface="ＭＳ Ｐゴシック" charset="0"/>
                        </a:rPr>
                        <a:t>anaplasia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Loss of differentiation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ea typeface="ＭＳ Ｐゴシック" charset="0"/>
                        </a:rPr>
                        <a:t>angiogenesis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Process of forming new blood vessels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90939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2 of 18)</a:t>
            </a:r>
          </a:p>
        </p:txBody>
      </p:sp>
      <p:graphicFrame>
        <p:nvGraphicFramePr>
          <p:cNvPr id="8" name="Content Placeholder 7" descr="Group 2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512962"/>
              </p:ext>
            </p:extLst>
          </p:nvPr>
        </p:nvGraphicFramePr>
        <p:xfrm>
          <a:off x="457200" y="1600200"/>
          <a:ext cx="8229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antibiotics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Chemicals produced by bacteria or primitive plants; inhibit growth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antimetabolites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Chemicals that prevent cell division; inhibit formation of substances needed to make DNA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 err="1"/>
                        <a:t>antimitotics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Drugs that block cell division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apoptosis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Programmed cell death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1911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3 of 18)</a:t>
            </a:r>
          </a:p>
        </p:txBody>
      </p:sp>
      <p:graphicFrame>
        <p:nvGraphicFramePr>
          <p:cNvPr id="8" name="Content Placeholder 7" descr="Group 3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2616927"/>
              </p:ext>
            </p:extLst>
          </p:nvPr>
        </p:nvGraphicFramePr>
        <p:xfrm>
          <a:off x="457200" y="1600200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benign tumor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Noncancerous growth (neoplasm)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biological response modifiers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Produced by normal cells; directly block tumor growth or stimulate immune system to fight cancer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biological 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Use of the body’s own defenses to destroy tumor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brachytherapy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Use of radiation placed directly on or within the cancer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0178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4 of 18)</a:t>
            </a:r>
          </a:p>
        </p:txBody>
      </p:sp>
      <p:graphicFrame>
        <p:nvGraphicFramePr>
          <p:cNvPr id="8" name="Content Placeholder 7" descr="Group 4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0595797"/>
              </p:ext>
            </p:extLst>
          </p:nvPr>
        </p:nvGraphicFramePr>
        <p:xfrm>
          <a:off x="457200" y="1600200"/>
          <a:ext cx="8229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carcinogens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Agents that cause cancer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carcinoma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Cancerous tumor made up of cells of epithelial origin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cellular oncogenes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Pieces of DNA, activated by mutations or dislocation, that can cause a normal cell to become malignant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chemotherapy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Treatment with drugs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8582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5 of 18)</a:t>
            </a:r>
          </a:p>
        </p:txBody>
      </p:sp>
      <p:graphicFrame>
        <p:nvGraphicFramePr>
          <p:cNvPr id="8" name="Content Placeholder 7" descr="Group 5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7602332"/>
              </p:ext>
            </p:extLst>
          </p:nvPr>
        </p:nvGraphicFramePr>
        <p:xfrm>
          <a:off x="457200" y="1600200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combination chemotherapy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Use of several chemotherapeutic agents together in treatment of tumors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dedifferentiation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Loss of differentiation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deoxyribonucleic acid (DNA)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Genetic material within the nucleus of a cell; controls cell division and protein synthesis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differentiating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Drugs that promote tumor cells to differentiate, stop growing, and die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02075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6 of 18)</a:t>
            </a:r>
          </a:p>
        </p:txBody>
      </p:sp>
      <p:graphicFrame>
        <p:nvGraphicFramePr>
          <p:cNvPr id="8" name="Content Placeholder 7" descr="Group 6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6262890"/>
              </p:ext>
            </p:extLst>
          </p:nvPr>
        </p:nvGraphicFramePr>
        <p:xfrm>
          <a:off x="457200" y="1600200"/>
          <a:ext cx="8229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differentiation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Specialization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electron beams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Low-energy beams of radiation for treatment of skin or surface tumors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encapsulated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Surrounded by a capsule; benign tumors are encapsulated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external beam irradiation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Applying radiation to a tumor from a source outside the body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13069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7 of 18)</a:t>
            </a:r>
          </a:p>
        </p:txBody>
      </p:sp>
      <p:graphicFrame>
        <p:nvGraphicFramePr>
          <p:cNvPr id="8" name="Content Placeholder 7" descr="Group 7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9734502"/>
              </p:ext>
            </p:extLst>
          </p:nvPr>
        </p:nvGraphicFramePr>
        <p:xfrm>
          <a:off x="457200" y="1600200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Dimensions of body areas undergoing irradiation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fractionation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Giving radiation in small, repeated doses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genetic screening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Testing family members to determine if they have inherited a cancer-causing gene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grading tumors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Evaluating the degree of maturity of tumor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54966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8 of 18)</a:t>
            </a:r>
          </a:p>
        </p:txBody>
      </p:sp>
      <p:graphicFrame>
        <p:nvGraphicFramePr>
          <p:cNvPr id="8" name="Content Placeholder 7" descr="Group 8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0518198"/>
              </p:ext>
            </p:extLst>
          </p:nvPr>
        </p:nvGraphicFramePr>
        <p:xfrm>
          <a:off x="457200" y="1600200"/>
          <a:ext cx="8229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gray (</a:t>
                      </a:r>
                      <a:r>
                        <a:rPr lang="en-US" altLang="en-US" sz="2400" dirty="0" err="1"/>
                        <a:t>gy</a:t>
                      </a:r>
                      <a:r>
                        <a:rPr lang="en-US" altLang="en-US" sz="24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Unit of absorbed radiation dose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gross description of tumors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Visual appearance of tumors to the naked eye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infiltrative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Extending beyond normal tissue boundaries into adjacent tissues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invasive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Having the ability to enter and destroy surrounding tissue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39115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9 of 18)</a:t>
            </a:r>
          </a:p>
        </p:txBody>
      </p:sp>
      <p:graphicFrame>
        <p:nvGraphicFramePr>
          <p:cNvPr id="8" name="Content Placeholder 7" descr="Group 9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415791"/>
              </p:ext>
            </p:extLst>
          </p:nvPr>
        </p:nvGraphicFramePr>
        <p:xfrm>
          <a:off x="457200" y="16002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irradiation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Exposure to any form of radiant energy such as light, heat, or x-rays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linear accelerator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Large electronic device that produces high-energy x-ray beams for treatment of deep-seated tumors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malignant tumor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Tumor having the characteristics of continuous growth, invasiveness, and metastasis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 err="1"/>
                        <a:t>mesenchymal</a:t>
                      </a:r>
                      <a:endParaRPr lang="en-US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Embryonic connective tissue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139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10 of 18)</a:t>
            </a:r>
          </a:p>
        </p:txBody>
      </p:sp>
      <p:graphicFrame>
        <p:nvGraphicFramePr>
          <p:cNvPr id="8" name="Content Placeholder 7" descr="Group 10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8937325"/>
              </p:ext>
            </p:extLst>
          </p:nvPr>
        </p:nvGraphicFramePr>
        <p:xfrm>
          <a:off x="457200" y="1600200"/>
          <a:ext cx="8229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metastasis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Spread of a malignant tumor to a secondary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microscopic description of tumors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Appearance of tumors when viewed under a microscope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mitosis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Replication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mixed-tissue tumors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Tumors composed of different types of tissue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96223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11 of 18)</a:t>
            </a:r>
          </a:p>
        </p:txBody>
      </p:sp>
      <p:graphicFrame>
        <p:nvGraphicFramePr>
          <p:cNvPr id="8" name="Content Placeholder 7" descr="Group 11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84557846"/>
              </p:ext>
            </p:extLst>
          </p:nvPr>
        </p:nvGraphicFramePr>
        <p:xfrm>
          <a:off x="457200" y="16002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modality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Method of treatment, such as surgery, chemotherapy, or irradiation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molecularly targeted therapy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Anticancer drugs designed to block the function of growth factors, their receptors, and signaling pathways in specific tumor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morbidity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Condition of being unwell; deficient in normal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mucinous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Containing mucus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21905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12 of 18)</a:t>
            </a:r>
          </a:p>
        </p:txBody>
      </p:sp>
      <p:graphicFrame>
        <p:nvGraphicFramePr>
          <p:cNvPr id="8" name="Content Placeholder 7" descr="Group 12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5280969"/>
              </p:ext>
            </p:extLst>
          </p:nvPr>
        </p:nvGraphicFramePr>
        <p:xfrm>
          <a:off x="457200" y="1600200"/>
          <a:ext cx="8229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mutation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Change in DNA; may be spontaneous or caused by chemicals, radiation, or viruses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neoplasm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New growth; benign or malignant tumors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nucleotide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Unit of DNA composed of a sugar, phosphate, and a 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oncogene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Region of DNA in tumor cells or in viruses that causes cancer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58290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13 of 18)</a:t>
            </a:r>
          </a:p>
        </p:txBody>
      </p:sp>
      <p:graphicFrame>
        <p:nvGraphicFramePr>
          <p:cNvPr id="8" name="Content Placeholder 7" descr="Group 13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7592417"/>
              </p:ext>
            </p:extLst>
          </p:nvPr>
        </p:nvGraphicFramePr>
        <p:xfrm>
          <a:off x="457200" y="1600200"/>
          <a:ext cx="82296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palliative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Relieving, but not curing symptoms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 err="1"/>
                        <a:t>pedunculated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Possessing a stem or stalk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photon 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Radiation therapy using energy in the form of x-rays or gamma rays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Detailed plan for treatment of an illness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72109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14 of 18)</a:t>
            </a:r>
          </a:p>
        </p:txBody>
      </p:sp>
      <p:graphicFrame>
        <p:nvGraphicFramePr>
          <p:cNvPr id="8" name="Content Placeholder 7" descr="Group 14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1503573"/>
              </p:ext>
            </p:extLst>
          </p:nvPr>
        </p:nvGraphicFramePr>
        <p:xfrm>
          <a:off x="457200" y="1600200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proton 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Use of protons produced by a cyclotron to deposit a dose of radiation at a tightly focused point in the body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radiation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Energy carried by a stream of particles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 err="1"/>
                        <a:t>radiocurable</a:t>
                      </a:r>
                      <a:r>
                        <a:rPr lang="en-US" altLang="en-US" sz="2400" dirty="0"/>
                        <a:t> tumor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Tumor that is destroyed by radiation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 err="1"/>
                        <a:t>radioresistant</a:t>
                      </a:r>
                      <a:r>
                        <a:rPr lang="en-US" altLang="en-US" sz="2400" dirty="0"/>
                        <a:t> tumor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Tumor that requires large doses of radiation to be destroyed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13362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15 of 18)</a:t>
            </a:r>
          </a:p>
        </p:txBody>
      </p:sp>
      <p:graphicFrame>
        <p:nvGraphicFramePr>
          <p:cNvPr id="8" name="Content Placeholder 7" descr="Group 15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79487514"/>
              </p:ext>
            </p:extLst>
          </p:nvPr>
        </p:nvGraphicFramePr>
        <p:xfrm>
          <a:off x="457200" y="1600200"/>
          <a:ext cx="82296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radiosensitive tumor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Tumor in which radiation can cause the death of cells without serious damage to surrounding tissue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 err="1"/>
                        <a:t>radiosensitizers</a:t>
                      </a:r>
                      <a:endParaRPr lang="en-US" sz="2400" dirty="0">
                        <a:ea typeface="ＭＳ Ｐゴシック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Drugs that increase the sensitivity of tumors to x-rays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radiotherapy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Treatment of tumors using doses or radiation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relapse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Recurrence of tumor after treatment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77261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16 of 18)</a:t>
            </a:r>
          </a:p>
        </p:txBody>
      </p:sp>
      <p:graphicFrame>
        <p:nvGraphicFramePr>
          <p:cNvPr id="8" name="Content Placeholder 7" descr="Group 16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9286290"/>
              </p:ext>
            </p:extLst>
          </p:nvPr>
        </p:nvGraphicFramePr>
        <p:xfrm>
          <a:off x="457200" y="1600200"/>
          <a:ext cx="8229600" cy="4432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remission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eaLnBrk="1" hangingPunct="1">
                        <a:lnSpc>
                          <a:spcPct val="80000"/>
                        </a:lnSpc>
                        <a:buFont typeface="Wingdings 2" panose="05020102010507070707" pitchFamily="18" charset="2"/>
                        <a:buNone/>
                      </a:pPr>
                      <a:r>
                        <a:rPr lang="en-US" altLang="en-US" sz="2400" dirty="0"/>
                        <a:t>Partial or complete disappearance of symptoms of disease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 err="1"/>
                        <a:t>ribonucleis</a:t>
                      </a:r>
                      <a:r>
                        <a:rPr lang="en-US" altLang="en-US" sz="2400" dirty="0"/>
                        <a:t> acid (RNA)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Cellular substance that represents a copy of DNA; directs formation of new protein inside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sarcoma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Cancerous tumor derived from connective or flesh tissue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serous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Having the appearance of a thin, watery fluid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sessile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Having no 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035720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17 of 18)</a:t>
            </a:r>
          </a:p>
        </p:txBody>
      </p:sp>
      <p:graphicFrame>
        <p:nvGraphicFramePr>
          <p:cNvPr id="8" name="Content Placeholder 7" descr="Group 17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7361875"/>
              </p:ext>
            </p:extLst>
          </p:nvPr>
        </p:nvGraphicFramePr>
        <p:xfrm>
          <a:off x="457200" y="1600200"/>
          <a:ext cx="8229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simulation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400" dirty="0"/>
                        <a:t>Study using CT scan or MRI to map treatment before RT is g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solid tumor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Tumor composed of a mass of cells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staging of tumors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System of evaluating the extent of spread of tumors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stereotactic radiosurgery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Delivery of dose of radiation under stereotactic guidance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4309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 (Slide 18 of 18)</a:t>
            </a:r>
          </a:p>
        </p:txBody>
      </p:sp>
      <p:graphicFrame>
        <p:nvGraphicFramePr>
          <p:cNvPr id="8" name="Content Placeholder 7" descr="Group 18 of 18.  List of vocabulary terms  with corresponding meanings or definition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9393047"/>
              </p:ext>
            </p:extLst>
          </p:nvPr>
        </p:nvGraphicFramePr>
        <p:xfrm>
          <a:off x="457200" y="1600200"/>
          <a:ext cx="8229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5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Meaning/Definition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steroids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Complex, naturally occurring chemicals derived from cholesterol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surgical procedures to treat cancer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Methods of removing cancerous tissue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viral oncogenes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Pieces of DNA from viruses that infect a normal cell and cause it to become malignant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virus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400" dirty="0"/>
                        <a:t>Infectious agent that reproduces by entering a host cell and using the host’s genetic material to copy itself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728316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5"/>
          <p:cNvSpPr>
            <a:spLocks noGrp="1" noChangeArrowheads="1"/>
          </p:cNvSpPr>
          <p:nvPr>
            <p:ph type="title"/>
          </p:nvPr>
        </p:nvSpPr>
        <p:spPr>
          <a:xfrm>
            <a:off x="762000" y="304800"/>
            <a:ext cx="7772400" cy="1219200"/>
          </a:xfrm>
        </p:spPr>
        <p:txBody>
          <a:bodyPr/>
          <a:lstStyle/>
          <a:p>
            <a:pPr eaLnBrk="1" hangingPunct="1"/>
            <a:r>
              <a:rPr lang="en-US" altLang="en-US"/>
              <a:t>Clinical Procedures to Detect or Treat Malignancies</a:t>
            </a:r>
          </a:p>
        </p:txBody>
      </p:sp>
      <p:sp>
        <p:nvSpPr>
          <p:cNvPr id="75779" name="Rectangle 6"/>
          <p:cNvSpPr>
            <a:spLocks noGrp="1" noChangeArrowheads="1"/>
          </p:cNvSpPr>
          <p:nvPr>
            <p:ph sz="half" idx="1"/>
          </p:nvPr>
        </p:nvSpPr>
        <p:spPr>
          <a:xfrm>
            <a:off x="763588" y="1717675"/>
            <a:ext cx="3808412" cy="44545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Bone marrow biopsy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Bone marrow or stem cell transplant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CT scans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Fiberoptic colonoscopy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Exfoliative cytology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endParaRPr lang="en-US" altLang="en-US" sz="2400"/>
          </a:p>
        </p:txBody>
      </p:sp>
      <p:sp>
        <p:nvSpPr>
          <p:cNvPr id="75780" name="Rectangle 7"/>
          <p:cNvSpPr>
            <a:spLocks noGrp="1" noChangeArrowheads="1"/>
          </p:cNvSpPr>
          <p:nvPr>
            <p:ph sz="half" idx="2"/>
          </p:nvPr>
        </p:nvSpPr>
        <p:spPr>
          <a:xfrm>
            <a:off x="4725988" y="1676400"/>
            <a:ext cx="3808412" cy="4454525"/>
          </a:xfrm>
        </p:spPr>
        <p:txBody>
          <a:bodyPr/>
          <a:lstStyle/>
          <a:p>
            <a:pPr eaLnBrk="1" hangingPunct="1"/>
            <a:r>
              <a:rPr lang="en-US" altLang="en-US"/>
              <a:t>Laparoscopy</a:t>
            </a:r>
          </a:p>
          <a:p>
            <a:pPr eaLnBrk="1" hangingPunct="1"/>
            <a:r>
              <a:rPr lang="en-US" altLang="en-US"/>
              <a:t>Mammography</a:t>
            </a:r>
          </a:p>
          <a:p>
            <a:pPr eaLnBrk="1" hangingPunct="1"/>
            <a:r>
              <a:rPr lang="en-US" altLang="en-US"/>
              <a:t>MRI</a:t>
            </a:r>
          </a:p>
          <a:p>
            <a:pPr eaLnBrk="1" hangingPunct="1"/>
            <a:r>
              <a:rPr lang="en-US" altLang="en-US"/>
              <a:t>Needle biopsy</a:t>
            </a:r>
          </a:p>
          <a:p>
            <a:pPr eaLnBrk="1" hangingPunct="1"/>
            <a:r>
              <a:rPr lang="en-US" altLang="en-US"/>
              <a:t>Radionuclide scans</a:t>
            </a:r>
          </a:p>
          <a:p>
            <a:pPr eaLnBrk="1" hangingPunct="1"/>
            <a:r>
              <a:rPr lang="en-US" altLang="en-US"/>
              <a:t>Ultrasound</a:t>
            </a:r>
          </a:p>
          <a:p>
            <a:pPr eaLnBrk="1" hangingPunct="1"/>
            <a:r>
              <a:rPr lang="en-US" altLang="en-US"/>
              <a:t>X-rays</a:t>
            </a:r>
          </a:p>
        </p:txBody>
      </p:sp>
    </p:spTree>
    <p:extLst>
      <p:ext uri="{BB962C8B-B14F-4D97-AF65-F5344CB8AC3E}">
        <p14:creationId xmlns:p14="http://schemas.microsoft.com/office/powerpoint/2010/main" val="36461307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1233"/>
            <a:ext cx="8229600" cy="1143000"/>
          </a:xfrm>
        </p:spPr>
        <p:txBody>
          <a:bodyPr/>
          <a:lstStyle/>
          <a:p>
            <a:r>
              <a:rPr lang="en-US" dirty="0"/>
              <a:t>Abbreviations (Slide 1 of 4)</a:t>
            </a:r>
          </a:p>
        </p:txBody>
      </p:sp>
      <p:graphicFrame>
        <p:nvGraphicFramePr>
          <p:cNvPr id="8" name="Content Placeholder 7" descr="Group 1 of 4 Abbreviation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0071079"/>
              </p:ext>
            </p:extLst>
          </p:nvPr>
        </p:nvGraphicFramePr>
        <p:xfrm>
          <a:off x="533400" y="990600"/>
          <a:ext cx="8229600" cy="54000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AFP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Alpha-fetoprotein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ATRA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All-</a:t>
                      </a:r>
                      <a:r>
                        <a:rPr lang="en-US" altLang="en-US" sz="1800" dirty="0" err="1"/>
                        <a:t>transretinoic</a:t>
                      </a:r>
                      <a:r>
                        <a:rPr lang="en-US" altLang="en-US" sz="1800" dirty="0"/>
                        <a:t> acid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BMT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Bone marrow transplantation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BRC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breakpoint cluster region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err="1"/>
                        <a:t>bx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/>
                        <a:t>Biopsy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/>
                        <a:t>Cancer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CEA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 err="1"/>
                        <a:t>Carcinoembryonic</a:t>
                      </a:r>
                      <a:r>
                        <a:rPr lang="en-US" altLang="en-US" sz="1800" dirty="0"/>
                        <a:t> antigen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 err="1"/>
                        <a:t>cGy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 err="1"/>
                        <a:t>Centigray</a:t>
                      </a:r>
                      <a:r>
                        <a:rPr lang="en-US" altLang="en-US" sz="1800" dirty="0"/>
                        <a:t> (one hundredth of a gray) or rad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chemo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/>
                        <a:t>Chemotherapy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Complete response – disappearance of all tumor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CSF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Colony-stimulating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900" dirty="0"/>
                        <a:t>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1800" dirty="0"/>
                        <a:t>Diethylstilbestrol</a:t>
                      </a:r>
                      <a:endParaRPr lang="en-US" sz="1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DNA</a:t>
                      </a:r>
                      <a:endParaRPr lang="en-US" sz="1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dirty="0"/>
                        <a:t>Deoxyribonucleic acid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47677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1233"/>
            <a:ext cx="8229600" cy="1143000"/>
          </a:xfrm>
        </p:spPr>
        <p:txBody>
          <a:bodyPr/>
          <a:lstStyle/>
          <a:p>
            <a:r>
              <a:rPr lang="en-US" dirty="0"/>
              <a:t>Abbreviations (Slide 2 of 4)</a:t>
            </a:r>
          </a:p>
        </p:txBody>
      </p:sp>
      <p:graphicFrame>
        <p:nvGraphicFramePr>
          <p:cNvPr id="8" name="Content Placeholder 7" descr="Group 2 of 4 Abbreviation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310193"/>
              </p:ext>
            </p:extLst>
          </p:nvPr>
        </p:nvGraphicFramePr>
        <p:xfrm>
          <a:off x="533400" y="990600"/>
          <a:ext cx="8229600" cy="512064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EGFR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Epidermal growth factor receptor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ER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Estrogen receptor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EPO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Erythropoietin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FNA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Fine needle aspiration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5-FU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5-fluorouracil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 err="1"/>
                        <a:t>Ga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Gallium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GIST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Gastrointestinal stromal tumor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 err="1"/>
                        <a:t>Gy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Gray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H &amp; 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 err="1"/>
                        <a:t>Hematoxylin</a:t>
                      </a:r>
                      <a:r>
                        <a:rPr lang="en-US" altLang="en-US" sz="2000" dirty="0"/>
                        <a:t> and eosin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HER2-neu</a:t>
                      </a:r>
                      <a:endParaRPr lang="en-US" altLang="en-US" sz="200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Growth factor gene highly activated on certain types of breast cancer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HNPCC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Hereditary non-polyposis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37831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1233"/>
            <a:ext cx="8229600" cy="1143000"/>
          </a:xfrm>
        </p:spPr>
        <p:txBody>
          <a:bodyPr/>
          <a:lstStyle/>
          <a:p>
            <a:r>
              <a:rPr lang="en-US" dirty="0"/>
              <a:t>Abbreviations (Slide 3 of 4)</a:t>
            </a:r>
          </a:p>
        </p:txBody>
      </p:sp>
      <p:graphicFrame>
        <p:nvGraphicFramePr>
          <p:cNvPr id="8" name="Content Placeholder 7" descr="Group 3 of 4 Abbreviation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0452220"/>
              </p:ext>
            </p:extLst>
          </p:nvPr>
        </p:nvGraphicFramePr>
        <p:xfrm>
          <a:off x="533400" y="990600"/>
          <a:ext cx="8229600" cy="521208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IGRT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Intensity-modulated gated radiation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IHC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Immunohistochemistry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IMRT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Intensity-modulated radiation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IORT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Intraoperative radiation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Mets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Metastases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 err="1"/>
                        <a:t>MoAb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Monoclonal antibody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NED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No evidence of disease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NF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 err="1"/>
                        <a:t>Neurofirbromatosis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NHL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Non–Hodgkin lymphoma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NSCLC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Non-small cell lung cancer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Pap smear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 err="1"/>
                        <a:t>Papanicolaou</a:t>
                      </a:r>
                      <a:r>
                        <a:rPr lang="en-US" altLang="en-US" sz="2000" dirty="0"/>
                        <a:t> smear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PD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Progressive disease – tumor increases in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15144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457200" y="21233"/>
            <a:ext cx="8229600" cy="1143000"/>
          </a:xfrm>
        </p:spPr>
        <p:txBody>
          <a:bodyPr/>
          <a:lstStyle/>
          <a:p>
            <a:r>
              <a:rPr lang="en-US" dirty="0"/>
              <a:t>Abbreviations (Slide 4 of 4)</a:t>
            </a:r>
          </a:p>
        </p:txBody>
      </p:sp>
      <p:graphicFrame>
        <p:nvGraphicFramePr>
          <p:cNvPr id="8" name="Content Placeholder 7" descr="Group 4 of 4 Abbreviations with corresponding meanings.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4438082"/>
              </p:ext>
            </p:extLst>
          </p:nvPr>
        </p:nvGraphicFramePr>
        <p:xfrm>
          <a:off x="533400" y="990600"/>
          <a:ext cx="8229600" cy="48768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Abbreviation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PR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Partial response – tumor one half its original size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 err="1"/>
                        <a:t>prot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Protocol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PSA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Prostate-specific antigen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PSCT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Peripheral stem cell transplantation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PSRS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Proton stereotactic radiosurgery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RNA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Ribonucleic acid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RT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Radiation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SD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Stable disease – tumor does not shrink or grow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TNM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Tumor, nodes, metastases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en-US" sz="2000" dirty="0"/>
                        <a:t>VEGF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Vascular endothelial growth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XRT, RT</a:t>
                      </a:r>
                      <a:endParaRPr lang="en-US" altLang="en-US" sz="2000" dirty="0">
                        <a:ea typeface="MS PGothic" panose="020B060007020508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2000" dirty="0"/>
                        <a:t>Radiation therapy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93981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4264</TotalTime>
  <Words>2389</Words>
  <Application>Microsoft Office PowerPoint</Application>
  <PresentationFormat>On-screen Show (4:3)</PresentationFormat>
  <Paragraphs>505</Paragraphs>
  <Slides>53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ＭＳ Ｐゴシック</vt:lpstr>
      <vt:lpstr>Arial</vt:lpstr>
      <vt:lpstr>Calibri</vt:lpstr>
      <vt:lpstr>Times</vt:lpstr>
      <vt:lpstr>Times New Roman</vt:lpstr>
      <vt:lpstr>Wingdings</vt:lpstr>
      <vt:lpstr>Wingdings 2</vt:lpstr>
      <vt:lpstr>Office Theme</vt:lpstr>
      <vt:lpstr>The Language of Medicine 13th edition</vt:lpstr>
      <vt:lpstr>Chapter 19 Cancer Medicine (Oncology)</vt:lpstr>
      <vt:lpstr>Chapter Goals (Slide 1 of 2)</vt:lpstr>
      <vt:lpstr>Chapter Goals (Slide 2 of 2)</vt:lpstr>
      <vt:lpstr>Chapter 19 Lesson 19.1</vt:lpstr>
      <vt:lpstr>Introduction</vt:lpstr>
      <vt:lpstr>Cancer</vt:lpstr>
      <vt:lpstr>      QUICK QUIZ (Slide 1 of 2) </vt:lpstr>
      <vt:lpstr>      QUICK QUIZ (Slide 2 of 2) </vt:lpstr>
      <vt:lpstr>Carcinogenesis</vt:lpstr>
      <vt:lpstr>Genes Implicated in Hereditary Cancers</vt:lpstr>
      <vt:lpstr>Classification of Cancerous Tumors</vt:lpstr>
      <vt:lpstr>Carcinomas and the Epithelial Tissues from Which They Derive</vt:lpstr>
      <vt:lpstr>Classification of Cancerous Tumors (Slide 1 of 2)</vt:lpstr>
      <vt:lpstr>Sarcomas and the Connective Tissues from Which They Derive</vt:lpstr>
      <vt:lpstr>Classification of Cancerous Tumors (Slide 2 of 2)</vt:lpstr>
      <vt:lpstr>Chapter 19 Lesson 19.2</vt:lpstr>
      <vt:lpstr>Pathological Descriptions Gross</vt:lpstr>
      <vt:lpstr>Pathological Descriptions Microscopic</vt:lpstr>
      <vt:lpstr>Grading and Staging of Tumors</vt:lpstr>
      <vt:lpstr>International TNM Staging System for Lung Cancer</vt:lpstr>
      <vt:lpstr>Chapter 19 Lesson 19.3</vt:lpstr>
      <vt:lpstr>Cancer Treatment: Surgery  (Slide 1 of 2)</vt:lpstr>
      <vt:lpstr>Cancer Treatment: Surgery  (Slide 2 of 2)</vt:lpstr>
      <vt:lpstr>Cancer Treatment: Radiation Therapy (Radiation Oncology)</vt:lpstr>
      <vt:lpstr>Radiation Therapy Side Effects</vt:lpstr>
      <vt:lpstr>Chapter 19 Lesson 19.4</vt:lpstr>
      <vt:lpstr>Chemotherapy, Biological Therapy, and Differentiating Agents</vt:lpstr>
      <vt:lpstr>Cancer Chemotherapeutic Agents and the Cancers They Treat (slide 1 of 2)</vt:lpstr>
      <vt:lpstr>Cancer Chemotherapeutic Agents and the Cancers They Treat (slide 2 of 2)</vt:lpstr>
      <vt:lpstr>Vocabulary (Slide 1 of 18)</vt:lpstr>
      <vt:lpstr>Vocabulary (Slide 2 of 18)</vt:lpstr>
      <vt:lpstr>Vocabulary (Slide 3 of 18)</vt:lpstr>
      <vt:lpstr>Vocabulary (Slide 4 of 18)</vt:lpstr>
      <vt:lpstr>Vocabulary (Slide 5 of 18)</vt:lpstr>
      <vt:lpstr>Vocabulary (Slide 6 of 18)</vt:lpstr>
      <vt:lpstr>Vocabulary (Slide 7 of 18)</vt:lpstr>
      <vt:lpstr>Vocabulary (Slide 8 of 18)</vt:lpstr>
      <vt:lpstr>Vocabulary (Slide 9 of 18)</vt:lpstr>
      <vt:lpstr>Vocabulary (Slide 10 of 18)</vt:lpstr>
      <vt:lpstr>Vocabulary (Slide 11 of 18)</vt:lpstr>
      <vt:lpstr>Vocabulary (Slide 12 of 18)</vt:lpstr>
      <vt:lpstr>Vocabulary (Slide 13 of 18)</vt:lpstr>
      <vt:lpstr>Vocabulary (Slide 14 of 18)</vt:lpstr>
      <vt:lpstr>Vocabulary (Slide 15 of 18)</vt:lpstr>
      <vt:lpstr>Vocabulary (Slide 16 of 18)</vt:lpstr>
      <vt:lpstr>Vocabulary (Slide 17 of 18)</vt:lpstr>
      <vt:lpstr>Vocabulary (Slide 18 of 18)</vt:lpstr>
      <vt:lpstr>Clinical Procedures to Detect or Treat Malignancies</vt:lpstr>
      <vt:lpstr>Abbreviations (Slide 1 of 4)</vt:lpstr>
      <vt:lpstr>Abbreviations (Slide 2 of 4)</vt:lpstr>
      <vt:lpstr>Abbreviations (Slide 3 of 4)</vt:lpstr>
      <vt:lpstr>Abbreviations (Slide 4 of 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Language of Medicine A Write-in Text Explaining Medical Terms 7th Edition Davi-Ellen Chabner, B.A., M.A.T.</dc:title>
  <dc:creator>dell</dc:creator>
  <cp:lastModifiedBy>Jyoti Tyagi (IL-IN)</cp:lastModifiedBy>
  <cp:revision>297</cp:revision>
  <cp:lastPrinted>2007-04-13T22:20:09Z</cp:lastPrinted>
  <dcterms:created xsi:type="dcterms:W3CDTF">2004-11-01T16:15:23Z</dcterms:created>
  <dcterms:modified xsi:type="dcterms:W3CDTF">2023-12-07T04:20:37Z</dcterms:modified>
</cp:coreProperties>
</file>