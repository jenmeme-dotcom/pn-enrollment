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100"/>
  </p:notesMasterIdLst>
  <p:handoutMasterIdLst>
    <p:handoutMasterId r:id="rId101"/>
  </p:handoutMasterIdLst>
  <p:sldIdLst>
    <p:sldId id="332" r:id="rId2"/>
    <p:sldId id="338" r:id="rId3"/>
    <p:sldId id="339" r:id="rId4"/>
    <p:sldId id="340" r:id="rId5"/>
    <p:sldId id="341" r:id="rId6"/>
    <p:sldId id="342" r:id="rId7"/>
    <p:sldId id="343" r:id="rId8"/>
    <p:sldId id="344" r:id="rId9"/>
    <p:sldId id="345"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404" r:id="rId67"/>
    <p:sldId id="405" r:id="rId68"/>
    <p:sldId id="406" r:id="rId69"/>
    <p:sldId id="407" r:id="rId70"/>
    <p:sldId id="408" r:id="rId71"/>
    <p:sldId id="409" r:id="rId72"/>
    <p:sldId id="410" r:id="rId73"/>
    <p:sldId id="411" r:id="rId74"/>
    <p:sldId id="412" r:id="rId75"/>
    <p:sldId id="413" r:id="rId76"/>
    <p:sldId id="414" r:id="rId77"/>
    <p:sldId id="415" r:id="rId78"/>
    <p:sldId id="416" r:id="rId79"/>
    <p:sldId id="417" r:id="rId80"/>
    <p:sldId id="418" r:id="rId81"/>
    <p:sldId id="419" r:id="rId82"/>
    <p:sldId id="420" r:id="rId83"/>
    <p:sldId id="421" r:id="rId84"/>
    <p:sldId id="422" r:id="rId85"/>
    <p:sldId id="423" r:id="rId86"/>
    <p:sldId id="424" r:id="rId87"/>
    <p:sldId id="425" r:id="rId88"/>
    <p:sldId id="427" r:id="rId89"/>
    <p:sldId id="429" r:id="rId90"/>
    <p:sldId id="431" r:id="rId91"/>
    <p:sldId id="433" r:id="rId92"/>
    <p:sldId id="435" r:id="rId93"/>
    <p:sldId id="437" r:id="rId94"/>
    <p:sldId id="439" r:id="rId95"/>
    <p:sldId id="441" r:id="rId96"/>
    <p:sldId id="443" r:id="rId97"/>
    <p:sldId id="445" r:id="rId98"/>
    <p:sldId id="446" r:id="rId9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0E062EF9-D944-404F-845A-8AEA44D36B5F}"/>
    <pc:docChg chg="modSld modMainMaster">
      <pc:chgData name="Ben Pfeifer" userId="fb68dd40a6c6cee7" providerId="LiveId" clId="{0E062EF9-D944-404F-845A-8AEA44D36B5F}" dt="2023-09-26T09:03:39.565" v="16" actId="12385"/>
      <pc:docMkLst>
        <pc:docMk/>
      </pc:docMkLst>
      <pc:sldChg chg="modSp mod">
        <pc:chgData name="Ben Pfeifer" userId="fb68dd40a6c6cee7" providerId="LiveId" clId="{0E062EF9-D944-404F-845A-8AEA44D36B5F}" dt="2023-09-26T09:01:22.137" v="1" actId="20577"/>
        <pc:sldMkLst>
          <pc:docMk/>
          <pc:sldMk cId="1428288934" sldId="332"/>
        </pc:sldMkLst>
        <pc:spChg chg="mod">
          <ac:chgData name="Ben Pfeifer" userId="fb68dd40a6c6cee7" providerId="LiveId" clId="{0E062EF9-D944-404F-845A-8AEA44D36B5F}" dt="2023-09-26T09:01:22.137" v="1" actId="20577"/>
          <ac:spMkLst>
            <pc:docMk/>
            <pc:sldMk cId="1428288934" sldId="332"/>
            <ac:spMk id="2" creationId="{00000000-0000-0000-0000-000000000000}"/>
          </ac:spMkLst>
        </pc:spChg>
      </pc:sldChg>
      <pc:sldChg chg="modSp mod">
        <pc:chgData name="Ben Pfeifer" userId="fb68dd40a6c6cee7" providerId="LiveId" clId="{0E062EF9-D944-404F-845A-8AEA44D36B5F}" dt="2023-09-26T09:03:12.285" v="7" actId="12385"/>
        <pc:sldMkLst>
          <pc:docMk/>
          <pc:sldMk cId="1172841561" sldId="404"/>
        </pc:sldMkLst>
        <pc:graphicFrameChg chg="modGraphic">
          <ac:chgData name="Ben Pfeifer" userId="fb68dd40a6c6cee7" providerId="LiveId" clId="{0E062EF9-D944-404F-845A-8AEA44D36B5F}" dt="2023-09-26T09:03:12.285" v="7" actId="12385"/>
          <ac:graphicFrameMkLst>
            <pc:docMk/>
            <pc:sldMk cId="1172841561" sldId="404"/>
            <ac:graphicFrameMk id="8" creationId="{00000000-0000-0000-0000-000000000000}"/>
          </ac:graphicFrameMkLst>
        </pc:graphicFrameChg>
      </pc:sldChg>
      <pc:sldChg chg="modSp mod">
        <pc:chgData name="Ben Pfeifer" userId="fb68dd40a6c6cee7" providerId="LiveId" clId="{0E062EF9-D944-404F-845A-8AEA44D36B5F}" dt="2023-09-26T09:03:15.449" v="8" actId="12385"/>
        <pc:sldMkLst>
          <pc:docMk/>
          <pc:sldMk cId="3925762541" sldId="405"/>
        </pc:sldMkLst>
        <pc:graphicFrameChg chg="modGraphic">
          <ac:chgData name="Ben Pfeifer" userId="fb68dd40a6c6cee7" providerId="LiveId" clId="{0E062EF9-D944-404F-845A-8AEA44D36B5F}" dt="2023-09-26T09:03:15.449" v="8" actId="12385"/>
          <ac:graphicFrameMkLst>
            <pc:docMk/>
            <pc:sldMk cId="3925762541" sldId="405"/>
            <ac:graphicFrameMk id="8" creationId="{00000000-0000-0000-0000-000000000000}"/>
          </ac:graphicFrameMkLst>
        </pc:graphicFrameChg>
      </pc:sldChg>
      <pc:sldChg chg="modSp mod">
        <pc:chgData name="Ben Pfeifer" userId="fb68dd40a6c6cee7" providerId="LiveId" clId="{0E062EF9-D944-404F-845A-8AEA44D36B5F}" dt="2023-09-26T09:03:18.334" v="9" actId="12385"/>
        <pc:sldMkLst>
          <pc:docMk/>
          <pc:sldMk cId="3678576808" sldId="406"/>
        </pc:sldMkLst>
        <pc:graphicFrameChg chg="modGraphic">
          <ac:chgData name="Ben Pfeifer" userId="fb68dd40a6c6cee7" providerId="LiveId" clId="{0E062EF9-D944-404F-845A-8AEA44D36B5F}" dt="2023-09-26T09:03:18.334" v="9" actId="12385"/>
          <ac:graphicFrameMkLst>
            <pc:docMk/>
            <pc:sldMk cId="3678576808" sldId="406"/>
            <ac:graphicFrameMk id="8" creationId="{00000000-0000-0000-0000-000000000000}"/>
          </ac:graphicFrameMkLst>
        </pc:graphicFrameChg>
      </pc:sldChg>
      <pc:sldChg chg="modSp mod">
        <pc:chgData name="Ben Pfeifer" userId="fb68dd40a6c6cee7" providerId="LiveId" clId="{0E062EF9-D944-404F-845A-8AEA44D36B5F}" dt="2023-09-26T09:03:21.010" v="10" actId="12385"/>
        <pc:sldMkLst>
          <pc:docMk/>
          <pc:sldMk cId="2416511082" sldId="407"/>
        </pc:sldMkLst>
        <pc:graphicFrameChg chg="modGraphic">
          <ac:chgData name="Ben Pfeifer" userId="fb68dd40a6c6cee7" providerId="LiveId" clId="{0E062EF9-D944-404F-845A-8AEA44D36B5F}" dt="2023-09-26T09:03:21.010" v="10" actId="12385"/>
          <ac:graphicFrameMkLst>
            <pc:docMk/>
            <pc:sldMk cId="2416511082" sldId="407"/>
            <ac:graphicFrameMk id="8" creationId="{00000000-0000-0000-0000-000000000000}"/>
          </ac:graphicFrameMkLst>
        </pc:graphicFrameChg>
      </pc:sldChg>
      <pc:sldChg chg="modSp mod">
        <pc:chgData name="Ben Pfeifer" userId="fb68dd40a6c6cee7" providerId="LiveId" clId="{0E062EF9-D944-404F-845A-8AEA44D36B5F}" dt="2023-09-26T09:03:24.192" v="11" actId="12385"/>
        <pc:sldMkLst>
          <pc:docMk/>
          <pc:sldMk cId="3316806828" sldId="408"/>
        </pc:sldMkLst>
        <pc:graphicFrameChg chg="modGraphic">
          <ac:chgData name="Ben Pfeifer" userId="fb68dd40a6c6cee7" providerId="LiveId" clId="{0E062EF9-D944-404F-845A-8AEA44D36B5F}" dt="2023-09-26T09:03:24.192" v="11" actId="12385"/>
          <ac:graphicFrameMkLst>
            <pc:docMk/>
            <pc:sldMk cId="3316806828" sldId="408"/>
            <ac:graphicFrameMk id="8" creationId="{00000000-0000-0000-0000-000000000000}"/>
          </ac:graphicFrameMkLst>
        </pc:graphicFrameChg>
      </pc:sldChg>
      <pc:sldChg chg="modSp mod">
        <pc:chgData name="Ben Pfeifer" userId="fb68dd40a6c6cee7" providerId="LiveId" clId="{0E062EF9-D944-404F-845A-8AEA44D36B5F}" dt="2023-09-26T09:03:27.297" v="12" actId="12385"/>
        <pc:sldMkLst>
          <pc:docMk/>
          <pc:sldMk cId="1005749940" sldId="409"/>
        </pc:sldMkLst>
        <pc:graphicFrameChg chg="modGraphic">
          <ac:chgData name="Ben Pfeifer" userId="fb68dd40a6c6cee7" providerId="LiveId" clId="{0E062EF9-D944-404F-845A-8AEA44D36B5F}" dt="2023-09-26T09:03:27.297" v="12" actId="12385"/>
          <ac:graphicFrameMkLst>
            <pc:docMk/>
            <pc:sldMk cId="1005749940" sldId="409"/>
            <ac:graphicFrameMk id="8" creationId="{00000000-0000-0000-0000-000000000000}"/>
          </ac:graphicFrameMkLst>
        </pc:graphicFrameChg>
      </pc:sldChg>
      <pc:sldChg chg="modSp mod">
        <pc:chgData name="Ben Pfeifer" userId="fb68dd40a6c6cee7" providerId="LiveId" clId="{0E062EF9-D944-404F-845A-8AEA44D36B5F}" dt="2023-09-26T09:03:29.645" v="13" actId="12385"/>
        <pc:sldMkLst>
          <pc:docMk/>
          <pc:sldMk cId="1598580252" sldId="410"/>
        </pc:sldMkLst>
        <pc:graphicFrameChg chg="modGraphic">
          <ac:chgData name="Ben Pfeifer" userId="fb68dd40a6c6cee7" providerId="LiveId" clId="{0E062EF9-D944-404F-845A-8AEA44D36B5F}" dt="2023-09-26T09:03:29.645" v="13" actId="12385"/>
          <ac:graphicFrameMkLst>
            <pc:docMk/>
            <pc:sldMk cId="1598580252" sldId="410"/>
            <ac:graphicFrameMk id="8" creationId="{00000000-0000-0000-0000-000000000000}"/>
          </ac:graphicFrameMkLst>
        </pc:graphicFrameChg>
      </pc:sldChg>
      <pc:sldChg chg="modSp mod">
        <pc:chgData name="Ben Pfeifer" userId="fb68dd40a6c6cee7" providerId="LiveId" clId="{0E062EF9-D944-404F-845A-8AEA44D36B5F}" dt="2023-09-26T09:03:33.777" v="14" actId="12385"/>
        <pc:sldMkLst>
          <pc:docMk/>
          <pc:sldMk cId="3931309680" sldId="427"/>
        </pc:sldMkLst>
        <pc:graphicFrameChg chg="modGraphic">
          <ac:chgData name="Ben Pfeifer" userId="fb68dd40a6c6cee7" providerId="LiveId" clId="{0E062EF9-D944-404F-845A-8AEA44D36B5F}" dt="2023-09-26T09:03:33.777" v="14" actId="12385"/>
          <ac:graphicFrameMkLst>
            <pc:docMk/>
            <pc:sldMk cId="3931309680" sldId="427"/>
            <ac:graphicFrameMk id="8" creationId="{00000000-0000-0000-0000-000000000000}"/>
          </ac:graphicFrameMkLst>
        </pc:graphicFrameChg>
      </pc:sldChg>
      <pc:sldChg chg="modSp mod">
        <pc:chgData name="Ben Pfeifer" userId="fb68dd40a6c6cee7" providerId="LiveId" clId="{0E062EF9-D944-404F-845A-8AEA44D36B5F}" dt="2023-09-26T09:03:36.806" v="15" actId="12385"/>
        <pc:sldMkLst>
          <pc:docMk/>
          <pc:sldMk cId="81745822" sldId="429"/>
        </pc:sldMkLst>
        <pc:graphicFrameChg chg="modGraphic">
          <ac:chgData name="Ben Pfeifer" userId="fb68dd40a6c6cee7" providerId="LiveId" clId="{0E062EF9-D944-404F-845A-8AEA44D36B5F}" dt="2023-09-26T09:03:36.806" v="15" actId="12385"/>
          <ac:graphicFrameMkLst>
            <pc:docMk/>
            <pc:sldMk cId="81745822" sldId="429"/>
            <ac:graphicFrameMk id="8" creationId="{00000000-0000-0000-0000-000000000000}"/>
          </ac:graphicFrameMkLst>
        </pc:graphicFrameChg>
      </pc:sldChg>
      <pc:sldChg chg="modSp mod">
        <pc:chgData name="Ben Pfeifer" userId="fb68dd40a6c6cee7" providerId="LiveId" clId="{0E062EF9-D944-404F-845A-8AEA44D36B5F}" dt="2023-09-26T09:03:39.565" v="16" actId="12385"/>
        <pc:sldMkLst>
          <pc:docMk/>
          <pc:sldMk cId="1570718235" sldId="431"/>
        </pc:sldMkLst>
        <pc:graphicFrameChg chg="modGraphic">
          <ac:chgData name="Ben Pfeifer" userId="fb68dd40a6c6cee7" providerId="LiveId" clId="{0E062EF9-D944-404F-845A-8AEA44D36B5F}" dt="2023-09-26T09:03:39.565" v="16" actId="12385"/>
          <ac:graphicFrameMkLst>
            <pc:docMk/>
            <pc:sldMk cId="1570718235" sldId="431"/>
            <ac:graphicFrameMk id="8" creationId="{00000000-0000-0000-0000-000000000000}"/>
          </ac:graphicFrameMkLst>
        </pc:graphicFrameChg>
      </pc:sldChg>
      <pc:sldMasterChg chg="modSp mod">
        <pc:chgData name="Ben Pfeifer" userId="fb68dd40a6c6cee7" providerId="LiveId" clId="{0E062EF9-D944-404F-845A-8AEA44D36B5F}" dt="2023-09-26T09:01:43.876" v="6" actId="20577"/>
        <pc:sldMasterMkLst>
          <pc:docMk/>
          <pc:sldMasterMk cId="0" sldId="2147483762"/>
        </pc:sldMasterMkLst>
        <pc:spChg chg="mod">
          <ac:chgData name="Ben Pfeifer" userId="fb68dd40a6c6cee7" providerId="LiveId" clId="{0E062EF9-D944-404F-845A-8AEA44D36B5F}" dt="2023-09-26T09:01:43.876" v="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3E51D395-A031-49F4-803F-21BB850C60C0}" type="slidenum">
              <a:rPr lang="en-US" altLang="en-US" sz="1200" b="0"/>
              <a:pPr/>
              <a:t>2</a:t>
            </a:fld>
            <a:endParaRPr lang="en-US" altLang="en-US" sz="1200" b="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008391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815EED3-032F-4221-86BC-D55C44E53125}" type="slidenum">
              <a:rPr lang="en-US" altLang="en-US" sz="1200" b="0"/>
              <a:pPr/>
              <a:t>3</a:t>
            </a:fld>
            <a:endParaRPr lang="en-US" altLang="en-US" sz="1200" b="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911614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AB8060F-8C14-4B79-88D6-A2D94B9634E9}" type="slidenum">
              <a:rPr lang="en-US" altLang="en-US" sz="1200" b="0"/>
              <a:pPr/>
              <a:t>4</a:t>
            </a:fld>
            <a:endParaRPr lang="en-US" altLang="en-US" sz="1200" b="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297777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7118E0A-88A7-4E93-A26E-722189872300}" type="slidenum">
              <a:rPr lang="en-US" altLang="en-US" sz="1200" b="0"/>
              <a:pPr/>
              <a:t>5</a:t>
            </a:fld>
            <a:endParaRPr lang="en-US" altLang="en-US" sz="1200" b="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960729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EAB8FE2-CBD6-4A7E-AF1B-DD4FABC01D5A}" type="slidenum">
              <a:rPr lang="en-US" altLang="en-US" sz="1200" b="0"/>
              <a:pPr/>
              <a:t>6</a:t>
            </a:fld>
            <a:endParaRPr lang="en-US" altLang="en-US" sz="1200" b="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643055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8F87CBD2-76A9-48EB-B2ED-6B41FD8952DB}" type="slidenum">
              <a:rPr lang="en-US" altLang="en-US" sz="1200" b="0"/>
              <a:pPr/>
              <a:t>7</a:t>
            </a:fld>
            <a:endParaRPr lang="en-US" altLang="en-US" sz="1200" b="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65101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DA9CD550-98E4-4D2D-AC9B-E1ECD9B5E223}" type="slidenum">
              <a:rPr lang="en-US" altLang="en-US" sz="1200" b="0"/>
              <a:pPr/>
              <a:t>8</a:t>
            </a:fld>
            <a:endParaRPr lang="en-US" altLang="en-US" sz="1200" b="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are endocrine glands different from exocrine glands?</a:t>
            </a:r>
          </a:p>
          <a:p>
            <a:pPr eaLnBrk="1" hangingPunct="1">
              <a:buFontTx/>
              <a:buChar char="•"/>
            </a:pPr>
            <a:r>
              <a:rPr lang="en-US" altLang="en-US">
                <a:latin typeface="Times New Roman" panose="02020603050405020304" pitchFamily="18" charset="0"/>
              </a:rPr>
              <a:t> Endocrine glands secrete hormones directly into the bloodstream; exocrine glands send their chemical substances into ducts and out of the body.</a:t>
            </a:r>
          </a:p>
        </p:txBody>
      </p:sp>
    </p:spTree>
    <p:extLst>
      <p:ext uri="{BB962C8B-B14F-4D97-AF65-F5344CB8AC3E}">
        <p14:creationId xmlns:p14="http://schemas.microsoft.com/office/powerpoint/2010/main" val="3826891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1E3604D2-16E7-448C-ADC0-E501B161B5F4}" type="slidenum">
              <a:rPr lang="en-US" altLang="en-US" sz="1200" b="0"/>
              <a:pPr/>
              <a:t>9</a:t>
            </a:fld>
            <a:endParaRPr lang="en-US" altLang="en-US" sz="1200" b="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Ask students to label the figure. </a:t>
            </a:r>
          </a:p>
        </p:txBody>
      </p:sp>
    </p:spTree>
    <p:extLst>
      <p:ext uri="{BB962C8B-B14F-4D97-AF65-F5344CB8AC3E}">
        <p14:creationId xmlns:p14="http://schemas.microsoft.com/office/powerpoint/2010/main" val="4126980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B51B6AD2-9C9C-4483-B508-832FCE0A52CE}" type="slidenum">
              <a:rPr lang="en-US" altLang="en-US" sz="1200" b="0"/>
              <a:pPr/>
              <a:t>10</a:t>
            </a:fld>
            <a:endParaRPr lang="en-US" altLang="en-US" sz="1200" b="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Identify other locations (tissues) in the body that secrete hormones apart from the major glands.</a:t>
            </a:r>
          </a:p>
          <a:p>
            <a:pPr eaLnBrk="1" hangingPunct="1">
              <a:buFontTx/>
              <a:buChar char="•"/>
            </a:pPr>
            <a:r>
              <a:rPr lang="en-US" altLang="en-US">
                <a:latin typeface="Times New Roman" panose="02020603050405020304" pitchFamily="18" charset="0"/>
              </a:rPr>
              <a:t> Hormones are secreted from endocrine tissue throughout the body. These hormones play an important role in body functions and they should not be understated or ignored just because they are produced by cells in organs that are not endocrine. </a:t>
            </a:r>
          </a:p>
          <a:p>
            <a:pPr eaLnBrk="1" hangingPunct="1">
              <a:buFontTx/>
              <a:buChar char="•"/>
            </a:pPr>
            <a:r>
              <a:rPr lang="en-US" altLang="en-US">
                <a:latin typeface="Times New Roman" panose="02020603050405020304" pitchFamily="18" charset="0"/>
              </a:rPr>
              <a:t> Many of these organs have both endocrine and exocrine functions, and should be examined by students who later report their findings to the class.</a:t>
            </a:r>
          </a:p>
        </p:txBody>
      </p:sp>
    </p:spTree>
    <p:extLst>
      <p:ext uri="{BB962C8B-B14F-4D97-AF65-F5344CB8AC3E}">
        <p14:creationId xmlns:p14="http://schemas.microsoft.com/office/powerpoint/2010/main" val="3275396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68399F9F-6A40-47B9-8110-B56597D2B9C5}" type="slidenum">
              <a:rPr lang="en-US" altLang="en-US" sz="1200" b="0"/>
              <a:pPr/>
              <a:t>11</a:t>
            </a:fld>
            <a:endParaRPr lang="en-US" altLang="en-US" sz="1200" b="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Right and left lobes are located on either side of the trachea.</a:t>
            </a:r>
          </a:p>
          <a:p>
            <a:pPr eaLnBrk="1" hangingPunct="1">
              <a:buFontTx/>
              <a:buChar char="•"/>
            </a:pPr>
            <a:r>
              <a:rPr lang="en-US" altLang="en-US">
                <a:latin typeface="Times New Roman" panose="02020603050405020304" pitchFamily="18" charset="0"/>
              </a:rPr>
              <a:t> Thyroid cartilage produces the </a:t>
            </a:r>
            <a:r>
              <a:rPr lang="ja-JP" altLang="en-US">
                <a:latin typeface="Times New Roman" panose="02020603050405020304" pitchFamily="18" charset="0"/>
              </a:rPr>
              <a:t>“</a:t>
            </a:r>
            <a:r>
              <a:rPr lang="en-US" altLang="ja-JP">
                <a:latin typeface="Times New Roman" panose="02020603050405020304" pitchFamily="18" charset="0"/>
              </a:rPr>
              <a:t>Adam</a:t>
            </a:r>
            <a:r>
              <a:rPr lang="ja-JP" altLang="en-US">
                <a:latin typeface="Times New Roman" panose="02020603050405020304" pitchFamily="18" charset="0"/>
              </a:rPr>
              <a:t>’</a:t>
            </a:r>
            <a:r>
              <a:rPr lang="en-US" altLang="ja-JP">
                <a:latin typeface="Times New Roman" panose="02020603050405020304" pitchFamily="18" charset="0"/>
              </a:rPr>
              <a:t>s apple.</a:t>
            </a:r>
            <a:r>
              <a:rPr lang="ja-JP" altLang="en-US">
                <a:latin typeface="Times New Roman" panose="02020603050405020304" pitchFamily="18" charset="0"/>
              </a:rPr>
              <a:t>”</a:t>
            </a:r>
            <a:endParaRPr lang="en-US" altLang="ja-JP">
              <a:latin typeface="Times New Roman" panose="02020603050405020304" pitchFamily="18" charset="0"/>
            </a:endParaRPr>
          </a:p>
          <a:p>
            <a:pPr eaLnBrk="1" hangingPunct="1">
              <a:buFontTx/>
              <a:buChar char="•"/>
            </a:pPr>
            <a:r>
              <a:rPr lang="en-US" altLang="en-US">
                <a:latin typeface="Times New Roman" panose="02020603050405020304" pitchFamily="18" charset="0"/>
              </a:rPr>
              <a:t> An isthmus connects the two lobes.</a:t>
            </a:r>
          </a:p>
        </p:txBody>
      </p:sp>
    </p:spTree>
    <p:extLst>
      <p:ext uri="{BB962C8B-B14F-4D97-AF65-F5344CB8AC3E}">
        <p14:creationId xmlns:p14="http://schemas.microsoft.com/office/powerpoint/2010/main" val="1166244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9C170FB7-D0AB-4338-84EB-21F37C093497}" type="slidenum">
              <a:rPr lang="en-US" altLang="en-US" sz="1200" b="0"/>
              <a:pPr/>
              <a:t>12</a:t>
            </a:fld>
            <a:endParaRPr lang="en-US" altLang="en-US" sz="1200" b="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Right and left lobes are located on either side of the trachea.</a:t>
            </a:r>
          </a:p>
          <a:p>
            <a:pPr eaLnBrk="1" hangingPunct="1">
              <a:buFontTx/>
              <a:buChar char="•"/>
            </a:pPr>
            <a:r>
              <a:rPr lang="en-US" altLang="en-US">
                <a:latin typeface="Times New Roman" panose="02020603050405020304" pitchFamily="18" charset="0"/>
              </a:rPr>
              <a:t> Thyroid cartilage produces the </a:t>
            </a:r>
            <a:r>
              <a:rPr lang="ja-JP" altLang="en-US">
                <a:latin typeface="Times New Roman" panose="02020603050405020304" pitchFamily="18" charset="0"/>
              </a:rPr>
              <a:t>“</a:t>
            </a:r>
            <a:r>
              <a:rPr lang="en-US" altLang="ja-JP">
                <a:latin typeface="Times New Roman" panose="02020603050405020304" pitchFamily="18" charset="0"/>
              </a:rPr>
              <a:t>Adam</a:t>
            </a:r>
            <a:r>
              <a:rPr lang="ja-JP" altLang="en-US">
                <a:latin typeface="Times New Roman" panose="02020603050405020304" pitchFamily="18" charset="0"/>
              </a:rPr>
              <a:t>’</a:t>
            </a:r>
            <a:r>
              <a:rPr lang="en-US" altLang="ja-JP">
                <a:latin typeface="Times New Roman" panose="02020603050405020304" pitchFamily="18" charset="0"/>
              </a:rPr>
              <a:t>s apple.</a:t>
            </a:r>
            <a:r>
              <a:rPr lang="ja-JP" altLang="en-US">
                <a:latin typeface="Times New Roman" panose="02020603050405020304" pitchFamily="18" charset="0"/>
              </a:rPr>
              <a:t>”</a:t>
            </a:r>
            <a:endParaRPr lang="en-US" altLang="ja-JP">
              <a:latin typeface="Times New Roman" panose="02020603050405020304" pitchFamily="18" charset="0"/>
            </a:endParaRPr>
          </a:p>
          <a:p>
            <a:pPr eaLnBrk="1" hangingPunct="1">
              <a:buFontTx/>
              <a:buChar char="•"/>
            </a:pPr>
            <a:r>
              <a:rPr lang="en-US" altLang="en-US">
                <a:latin typeface="Times New Roman" panose="02020603050405020304" pitchFamily="18" charset="0"/>
              </a:rPr>
              <a:t> An isthmus connects the two lobes.</a:t>
            </a:r>
          </a:p>
        </p:txBody>
      </p:sp>
    </p:spTree>
    <p:extLst>
      <p:ext uri="{BB962C8B-B14F-4D97-AF65-F5344CB8AC3E}">
        <p14:creationId xmlns:p14="http://schemas.microsoft.com/office/powerpoint/2010/main" val="2341725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384EC562-AC69-451C-B9B6-8F9A1510E341}" type="slidenum">
              <a:rPr lang="en-US" altLang="en-US" sz="1200" b="0"/>
              <a:pPr/>
              <a:t>13</a:t>
            </a:fld>
            <a:endParaRPr lang="en-US" altLang="en-US" sz="1200" b="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some of the hormones secreted by the thyroid gland?</a:t>
            </a:r>
          </a:p>
        </p:txBody>
      </p:sp>
    </p:spTree>
    <p:extLst>
      <p:ext uri="{BB962C8B-B14F-4D97-AF65-F5344CB8AC3E}">
        <p14:creationId xmlns:p14="http://schemas.microsoft.com/office/powerpoint/2010/main" val="3485919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B24A87FE-44EC-4395-B144-AC4E7057F4B4}" type="slidenum">
              <a:rPr lang="en-US" altLang="en-US" sz="1200" b="0"/>
              <a:pPr/>
              <a:t>14</a:t>
            </a:fld>
            <a:endParaRPr lang="en-US" altLang="en-US" sz="1200" b="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some of the hormones secreted by the thyroid gland?</a:t>
            </a:r>
          </a:p>
        </p:txBody>
      </p:sp>
    </p:spTree>
    <p:extLst>
      <p:ext uri="{BB962C8B-B14F-4D97-AF65-F5344CB8AC3E}">
        <p14:creationId xmlns:p14="http://schemas.microsoft.com/office/powerpoint/2010/main" val="3174526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DE05FE4-0CBD-473D-8393-77177CAC9B2D}" type="slidenum">
              <a:rPr lang="en-US" altLang="en-US" sz="1200" b="0"/>
              <a:pPr/>
              <a:t>15</a:t>
            </a:fld>
            <a:endParaRPr lang="en-US" altLang="en-US" sz="1200" b="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some of the hormones secreted by the thyroid gland?</a:t>
            </a:r>
          </a:p>
        </p:txBody>
      </p:sp>
    </p:spTree>
    <p:extLst>
      <p:ext uri="{BB962C8B-B14F-4D97-AF65-F5344CB8AC3E}">
        <p14:creationId xmlns:p14="http://schemas.microsoft.com/office/powerpoint/2010/main" val="3414761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04446A7-A0A3-4AE2-A546-26955FFB208A}" type="slidenum">
              <a:rPr lang="en-US" altLang="en-US" sz="1200" b="0"/>
              <a:pPr/>
              <a:t>16</a:t>
            </a:fld>
            <a:endParaRPr lang="en-US" altLang="en-US" sz="1200" b="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some of the hormones secreted by the thyroid gland?</a:t>
            </a:r>
          </a:p>
        </p:txBody>
      </p:sp>
    </p:spTree>
    <p:extLst>
      <p:ext uri="{BB962C8B-B14F-4D97-AF65-F5344CB8AC3E}">
        <p14:creationId xmlns:p14="http://schemas.microsoft.com/office/powerpoint/2010/main" val="719391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3DAF24A-2ECE-4DDC-8123-1C7F4B03E87C}" type="slidenum">
              <a:rPr lang="en-US" altLang="en-US" sz="1200" b="0"/>
              <a:pPr/>
              <a:t>17</a:t>
            </a:fld>
            <a:endParaRPr lang="en-US" altLang="en-US" sz="1200" b="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Four glands located in the dorsal aspect of the thyroid gland. </a:t>
            </a:r>
          </a:p>
          <a:p>
            <a:pPr eaLnBrk="1" hangingPunct="1">
              <a:buFontTx/>
              <a:buChar char="•"/>
            </a:pPr>
            <a:r>
              <a:rPr lang="en-US" altLang="en-US">
                <a:latin typeface="Times New Roman" panose="02020603050405020304" pitchFamily="18" charset="0"/>
              </a:rPr>
              <a:t> What hormone is secreted by the parathyroid glands? What role does it play in regulating the level of calcium in the blood?</a:t>
            </a:r>
          </a:p>
          <a:p>
            <a:pPr eaLnBrk="1" hangingPunct="1">
              <a:buFontTx/>
              <a:buChar char="•"/>
            </a:pPr>
            <a:endParaRPr lang="en-US" altLang="en-US">
              <a:latin typeface="Times New Roman" panose="02020603050405020304" pitchFamily="18" charset="0"/>
            </a:endParaRPr>
          </a:p>
        </p:txBody>
      </p:sp>
    </p:spTree>
    <p:extLst>
      <p:ext uri="{BB962C8B-B14F-4D97-AF65-F5344CB8AC3E}">
        <p14:creationId xmlns:p14="http://schemas.microsoft.com/office/powerpoint/2010/main" val="2573868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F3CD933-476C-463E-82F2-DEF524E2025A}" type="slidenum">
              <a:rPr lang="en-US" altLang="en-US" sz="1200" b="0"/>
              <a:pPr/>
              <a:t>18</a:t>
            </a:fld>
            <a:endParaRPr lang="en-US" altLang="en-US" sz="1200" b="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is the adjustment of the level of calcium in the blood a good example of the way hormones control the homeostasis of the body?</a:t>
            </a:r>
          </a:p>
        </p:txBody>
      </p:sp>
    </p:spTree>
    <p:extLst>
      <p:ext uri="{BB962C8B-B14F-4D97-AF65-F5344CB8AC3E}">
        <p14:creationId xmlns:p14="http://schemas.microsoft.com/office/powerpoint/2010/main" val="808701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B73FCA32-51FD-42F4-9E12-FAFC0F524B7A}" type="slidenum">
              <a:rPr lang="en-US" altLang="en-US" sz="1200" b="0"/>
              <a:pPr/>
              <a:t>19</a:t>
            </a:fld>
            <a:endParaRPr lang="en-US" altLang="en-US" sz="1200" b="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Two small glands: one on top of each kidney</a:t>
            </a:r>
          </a:p>
        </p:txBody>
      </p:sp>
    </p:spTree>
    <p:extLst>
      <p:ext uri="{BB962C8B-B14F-4D97-AF65-F5344CB8AC3E}">
        <p14:creationId xmlns:p14="http://schemas.microsoft.com/office/powerpoint/2010/main" val="3467533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2F841D7-F3F4-45F5-ADBA-4F6BBABFBD95}" type="slidenum">
              <a:rPr lang="en-US" altLang="en-US" sz="1200" b="0"/>
              <a:pPr/>
              <a:t>20</a:t>
            </a:fld>
            <a:endParaRPr lang="en-US" altLang="en-US" sz="1200" b="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Two small glands: one on top of each kidney</a:t>
            </a:r>
          </a:p>
        </p:txBody>
      </p:sp>
    </p:spTree>
    <p:extLst>
      <p:ext uri="{BB962C8B-B14F-4D97-AF65-F5344CB8AC3E}">
        <p14:creationId xmlns:p14="http://schemas.microsoft.com/office/powerpoint/2010/main" val="2362252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536F5F72-0099-46E9-8666-912D75388E9C}" type="slidenum">
              <a:rPr lang="en-US" altLang="en-US" sz="1200" b="0"/>
              <a:pPr/>
              <a:t>21</a:t>
            </a:fld>
            <a:endParaRPr lang="en-US" altLang="en-US" sz="1200" b="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8748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DE301625-7F61-488B-AE58-DF18A5A5D876}" type="slidenum">
              <a:rPr lang="en-US" altLang="en-US" sz="1200" b="0"/>
              <a:pPr/>
              <a:t>22</a:t>
            </a:fld>
            <a:endParaRPr lang="en-US" altLang="en-US" sz="1200" b="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the three types of corticosteroids secreted by the adrenal cortex?</a:t>
            </a:r>
          </a:p>
          <a:p>
            <a:pPr eaLnBrk="1" hangingPunct="1">
              <a:buFontTx/>
              <a:buChar char="•"/>
            </a:pPr>
            <a:r>
              <a:rPr lang="en-US" altLang="en-US">
                <a:latin typeface="Times New Roman" panose="02020603050405020304" pitchFamily="18" charset="0"/>
              </a:rPr>
              <a:t> Glucocorticoids: influence metabolism of sugars, fats, and proteins. Antiinflammatory efffect.</a:t>
            </a:r>
          </a:p>
          <a:p>
            <a:pPr eaLnBrk="1" hangingPunct="1">
              <a:buFontTx/>
              <a:buChar char="•"/>
            </a:pPr>
            <a:r>
              <a:rPr lang="en-US" altLang="en-US">
                <a:latin typeface="Times New Roman" panose="02020603050405020304" pitchFamily="18" charset="0"/>
              </a:rPr>
              <a:t> Mineralocorticoids: regulate the level of mineral salts (electrolytes) in the body.</a:t>
            </a:r>
          </a:p>
          <a:p>
            <a:pPr eaLnBrk="1" hangingPunct="1">
              <a:buFontTx/>
              <a:buChar char="•"/>
            </a:pPr>
            <a:r>
              <a:rPr lang="en-US" altLang="en-US">
                <a:latin typeface="Times New Roman" panose="02020603050405020304" pitchFamily="18" charset="0"/>
              </a:rPr>
              <a:t> Sex Hormones:  androgends and estrogens influence secondary sex characteristics such as pubic and axillary hair.</a:t>
            </a:r>
          </a:p>
        </p:txBody>
      </p:sp>
    </p:spTree>
    <p:extLst>
      <p:ext uri="{BB962C8B-B14F-4D97-AF65-F5344CB8AC3E}">
        <p14:creationId xmlns:p14="http://schemas.microsoft.com/office/powerpoint/2010/main" val="2768537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F5CFFCB-A6B9-4152-BBD5-B935B4DA3EC9}" type="slidenum">
              <a:rPr lang="en-US" altLang="en-US" sz="1200" b="0"/>
              <a:pPr/>
              <a:t>23</a:t>
            </a:fld>
            <a:endParaRPr lang="en-US" altLang="en-US" sz="1200" b="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two types of catecholamine secreted by the adrenal medulla?</a:t>
            </a:r>
          </a:p>
          <a:p>
            <a:pPr eaLnBrk="1" hangingPunct="1">
              <a:buFontTx/>
              <a:buChar char="•"/>
            </a:pPr>
            <a:r>
              <a:rPr lang="en-US" altLang="en-US">
                <a:latin typeface="Times New Roman" panose="02020603050405020304" pitchFamily="18" charset="0"/>
              </a:rPr>
              <a:t> Epinephrine: increases cardiac rate, dilates bronchial tubes, stimulates glucose production.</a:t>
            </a:r>
          </a:p>
          <a:p>
            <a:pPr eaLnBrk="1" hangingPunct="1">
              <a:buFontTx/>
              <a:buChar char="•"/>
            </a:pPr>
            <a:r>
              <a:rPr lang="en-US" altLang="en-US">
                <a:latin typeface="Times New Roman" panose="02020603050405020304" pitchFamily="18" charset="0"/>
              </a:rPr>
              <a:t> Norepinephrine: constricts vessels, raises blood pressure.</a:t>
            </a:r>
          </a:p>
        </p:txBody>
      </p:sp>
    </p:spTree>
    <p:extLst>
      <p:ext uri="{BB962C8B-B14F-4D97-AF65-F5344CB8AC3E}">
        <p14:creationId xmlns:p14="http://schemas.microsoft.com/office/powerpoint/2010/main" val="127658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B1747D6-FB9B-4EEE-9CC8-B5C36FAE3BE5}" type="slidenum">
              <a:rPr lang="en-US" altLang="en-US" sz="1200" b="0"/>
              <a:pPr/>
              <a:t>24</a:t>
            </a:fld>
            <a:endParaRPr lang="en-US" altLang="en-US" sz="1200" b="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802429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17DF48D-7F6A-419C-9580-421EDAE048B8}" type="slidenum">
              <a:rPr lang="en-US" altLang="en-US" sz="1200" b="0"/>
              <a:pPr/>
              <a:t>25</a:t>
            </a:fld>
            <a:endParaRPr lang="en-US" altLang="en-US" sz="1200" b="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endocrine tissue of the pancreas consists of hormone-producing cells: islets of Langerhans.</a:t>
            </a:r>
          </a:p>
          <a:p>
            <a:pPr eaLnBrk="1" hangingPunct="1">
              <a:buFontTx/>
              <a:buChar char="•"/>
            </a:pPr>
            <a:r>
              <a:rPr lang="en-US" altLang="en-US">
                <a:latin typeface="Times New Roman" panose="02020603050405020304" pitchFamily="18" charset="0"/>
              </a:rPr>
              <a:t> Most of the pancreas consists of exocrine cells that secrete digestive enzymes.</a:t>
            </a:r>
          </a:p>
          <a:p>
            <a:pPr eaLnBrk="1" hangingPunct="1">
              <a:buFontTx/>
              <a:buChar char="•"/>
            </a:pPr>
            <a:r>
              <a:rPr lang="en-US" altLang="en-US">
                <a:latin typeface="Times New Roman" panose="02020603050405020304" pitchFamily="18" charset="0"/>
              </a:rPr>
              <a:t> What percent of the pancreas consists of exocrine cells? </a:t>
            </a:r>
            <a:r>
              <a:rPr lang="en-US" altLang="en-US" i="1">
                <a:latin typeface="Times New Roman" panose="02020603050405020304" pitchFamily="18" charset="0"/>
              </a:rPr>
              <a:t>(98%)</a:t>
            </a:r>
          </a:p>
        </p:txBody>
      </p:sp>
    </p:spTree>
    <p:extLst>
      <p:ext uri="{BB962C8B-B14F-4D97-AF65-F5344CB8AC3E}">
        <p14:creationId xmlns:p14="http://schemas.microsoft.com/office/powerpoint/2010/main" val="3716547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29A6D3B-0890-4480-B442-000EFDE02D19}" type="slidenum">
              <a:rPr lang="en-US" altLang="en-US" sz="1200" b="0"/>
              <a:pPr/>
              <a:t>26</a:t>
            </a:fld>
            <a:endParaRPr lang="en-US" altLang="en-US" sz="1200" b="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is the movement of glucose out of the blood and into cells promoted by insulin?</a:t>
            </a:r>
          </a:p>
          <a:p>
            <a:pPr eaLnBrk="1" hangingPunct="1">
              <a:buFontTx/>
              <a:buChar char="•"/>
            </a:pPr>
            <a:r>
              <a:rPr lang="en-US" altLang="en-US">
                <a:latin typeface="Times New Roman" panose="02020603050405020304" pitchFamily="18" charset="0"/>
              </a:rPr>
              <a:t> How is the movement of glucose into the blood promoted by glucagon?</a:t>
            </a:r>
          </a:p>
        </p:txBody>
      </p:sp>
    </p:spTree>
    <p:extLst>
      <p:ext uri="{BB962C8B-B14F-4D97-AF65-F5344CB8AC3E}">
        <p14:creationId xmlns:p14="http://schemas.microsoft.com/office/powerpoint/2010/main" val="23794593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5AD49E6C-B037-4092-BABD-9ABE4A9FC5EC}" type="slidenum">
              <a:rPr lang="en-US" altLang="en-US" sz="1200" b="0"/>
              <a:pPr/>
              <a:t>27</a:t>
            </a:fld>
            <a:endParaRPr lang="en-US" altLang="en-US" sz="1200" b="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is the movement of glucose out of the blood and into cells promoted by insulin?</a:t>
            </a:r>
          </a:p>
          <a:p>
            <a:pPr eaLnBrk="1" hangingPunct="1">
              <a:buFontTx/>
              <a:buChar char="•"/>
            </a:pPr>
            <a:r>
              <a:rPr lang="en-US" altLang="en-US">
                <a:latin typeface="Times New Roman" panose="02020603050405020304" pitchFamily="18" charset="0"/>
              </a:rPr>
              <a:t> How is the movement of glucose into the blood promoted by glucagon?</a:t>
            </a:r>
          </a:p>
        </p:txBody>
      </p:sp>
    </p:spTree>
    <p:extLst>
      <p:ext uri="{BB962C8B-B14F-4D97-AF65-F5344CB8AC3E}">
        <p14:creationId xmlns:p14="http://schemas.microsoft.com/office/powerpoint/2010/main" val="38073959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D6FB20E3-B080-49DB-9FF8-9517AC739ED0}" type="slidenum">
              <a:rPr lang="en-US" altLang="en-US" sz="1200" b="0"/>
              <a:pPr/>
              <a:t>28</a:t>
            </a:fld>
            <a:endParaRPr lang="en-US" altLang="en-US" sz="1200" b="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447011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BA83C34-B560-4F37-8023-C9F05DFDCCA4}" type="slidenum">
              <a:rPr lang="en-US" altLang="en-US" sz="1200" b="0"/>
              <a:pPr/>
              <a:t>29</a:t>
            </a:fld>
            <a:endParaRPr lang="en-US" altLang="en-US" sz="1200" b="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Describe the interactions between the hypothalamus and the pituitary gland that control the secretions by the pituitary gland.</a:t>
            </a:r>
          </a:p>
        </p:txBody>
      </p:sp>
    </p:spTree>
    <p:extLst>
      <p:ext uri="{BB962C8B-B14F-4D97-AF65-F5344CB8AC3E}">
        <p14:creationId xmlns:p14="http://schemas.microsoft.com/office/powerpoint/2010/main" val="1430655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981743A0-CB77-4DCF-A4CE-821D0AB3D50B}" type="slidenum">
              <a:rPr lang="en-US" altLang="en-US" sz="1200" b="0"/>
              <a:pPr/>
              <a:t>30</a:t>
            </a:fld>
            <a:endParaRPr lang="en-US" altLang="en-US" sz="1200" b="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2088662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58F55671-6786-4348-8F0F-5425809CAD7A}" type="slidenum">
              <a:rPr lang="en-US" altLang="en-US" sz="1200" b="0"/>
              <a:pPr/>
              <a:t>31</a:t>
            </a:fld>
            <a:endParaRPr lang="en-US" altLang="en-US" sz="1200" b="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535581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EA2AD195-2442-4C77-BDF7-285B41A07949}" type="slidenum">
              <a:rPr lang="en-US" altLang="en-US" sz="1200" b="0"/>
              <a:pPr/>
              <a:t>32</a:t>
            </a:fld>
            <a:endParaRPr lang="en-US" altLang="en-US" sz="1200" b="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08703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8B4EDF7D-6E57-4C8A-9BF3-3A763710F55C}" type="slidenum">
              <a:rPr lang="en-US" altLang="en-US" sz="1200" b="0"/>
              <a:pPr/>
              <a:t>33</a:t>
            </a:fld>
            <a:endParaRPr lang="en-US" altLang="en-US" sz="1200" b="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Go over the basic function of each of these hormones/factors. </a:t>
            </a:r>
          </a:p>
          <a:p>
            <a:pPr eaLnBrk="1" hangingPunct="1">
              <a:buFontTx/>
              <a:buChar char="•"/>
            </a:pPr>
            <a:r>
              <a:rPr lang="en-US" altLang="en-US">
                <a:latin typeface="Times New Roman" panose="02020603050405020304" pitchFamily="18" charset="0"/>
              </a:rPr>
              <a:t> Show where there is feedback inhibition. </a:t>
            </a:r>
          </a:p>
          <a:p>
            <a:pPr eaLnBrk="1" hangingPunct="1">
              <a:buFontTx/>
              <a:buChar char="•"/>
            </a:pPr>
            <a:r>
              <a:rPr lang="en-US" altLang="en-US">
                <a:latin typeface="Times New Roman" panose="02020603050405020304" pitchFamily="18" charset="0"/>
              </a:rPr>
              <a:t> Discuss how feedback from the targets regulates further release and the general concept of regulation. </a:t>
            </a:r>
          </a:p>
          <a:p>
            <a:pPr eaLnBrk="1" hangingPunct="1">
              <a:buFontTx/>
              <a:buChar char="•"/>
            </a:pPr>
            <a:endParaRPr lang="en-US" altLang="en-US">
              <a:latin typeface="Times New Roman" panose="02020603050405020304" pitchFamily="18" charset="0"/>
            </a:endParaRPr>
          </a:p>
        </p:txBody>
      </p:sp>
    </p:spTree>
    <p:extLst>
      <p:ext uri="{BB962C8B-B14F-4D97-AF65-F5344CB8AC3E}">
        <p14:creationId xmlns:p14="http://schemas.microsoft.com/office/powerpoint/2010/main" val="1396872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A8EC03B7-94AF-46D9-AA97-63DADAE93DC5}" type="slidenum">
              <a:rPr lang="en-US" altLang="en-US" sz="1200" b="0"/>
              <a:pPr/>
              <a:t>34</a:t>
            </a:fld>
            <a:endParaRPr lang="en-US" altLang="en-US" sz="1200" b="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two important hormones released by the posterior pituitary gland?</a:t>
            </a:r>
          </a:p>
          <a:p>
            <a:pPr eaLnBrk="1" hangingPunct="1">
              <a:buFontTx/>
              <a:buChar char="•"/>
            </a:pPr>
            <a:r>
              <a:rPr lang="en-US" altLang="en-US">
                <a:latin typeface="Times New Roman" panose="02020603050405020304" pitchFamily="18" charset="0"/>
              </a:rPr>
              <a:t> Antidiuretic hormone (ADH) and oxytocin (OT)</a:t>
            </a:r>
          </a:p>
        </p:txBody>
      </p:sp>
    </p:spTree>
    <p:extLst>
      <p:ext uri="{BB962C8B-B14F-4D97-AF65-F5344CB8AC3E}">
        <p14:creationId xmlns:p14="http://schemas.microsoft.com/office/powerpoint/2010/main" val="4904743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A79FAE0-3273-482F-A047-35CA861ABA7E}" type="slidenum">
              <a:rPr lang="en-US" altLang="en-US" sz="1200" b="0"/>
              <a:pPr/>
              <a:t>35</a:t>
            </a:fld>
            <a:endParaRPr lang="en-US" altLang="en-US" sz="1200" b="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2270005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F10BFA33-0C7F-4B5B-AB2F-F7B33E6302ED}" type="slidenum">
              <a:rPr lang="en-US" altLang="en-US" sz="1200" b="0"/>
              <a:pPr/>
              <a:t>36</a:t>
            </a:fld>
            <a:endParaRPr lang="en-US" altLang="en-US" sz="1200" b="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t>
            </a:r>
          </a:p>
        </p:txBody>
      </p:sp>
    </p:spTree>
    <p:extLst>
      <p:ext uri="{BB962C8B-B14F-4D97-AF65-F5344CB8AC3E}">
        <p14:creationId xmlns:p14="http://schemas.microsoft.com/office/powerpoint/2010/main" val="10502063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94FC7511-C5B6-4C03-B413-BE880C1CC425}" type="slidenum">
              <a:rPr lang="en-US" altLang="en-US" sz="1200" b="0"/>
              <a:pPr/>
              <a:t>37</a:t>
            </a:fld>
            <a:endParaRPr lang="en-US" altLang="en-US" sz="1200" b="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the menstrual cycle and a graph of changes of levels of estrogen and progesterone during the cycle. </a:t>
            </a:r>
          </a:p>
          <a:p>
            <a:pPr eaLnBrk="1" hangingPunct="1">
              <a:buFontTx/>
              <a:buChar char="•"/>
            </a:pPr>
            <a:r>
              <a:rPr lang="en-US" altLang="en-US">
                <a:latin typeface="Times New Roman" panose="02020603050405020304" pitchFamily="18" charset="0"/>
              </a:rPr>
              <a:t> Describe how these hormones promote the ovulation and development of the uterus for potential pregnancy.</a:t>
            </a:r>
          </a:p>
        </p:txBody>
      </p:sp>
    </p:spTree>
    <p:extLst>
      <p:ext uri="{BB962C8B-B14F-4D97-AF65-F5344CB8AC3E}">
        <p14:creationId xmlns:p14="http://schemas.microsoft.com/office/powerpoint/2010/main" val="32265931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633923D9-F951-4A26-9F5F-A9CB90D3B14C}" type="slidenum">
              <a:rPr lang="en-US" altLang="en-US" sz="1200" b="0"/>
              <a:pPr/>
              <a:t>64</a:t>
            </a:fld>
            <a:endParaRPr lang="en-US" altLang="en-US" sz="1200" b="0"/>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adrenal cortex.</a:t>
            </a:r>
          </a:p>
        </p:txBody>
      </p:sp>
    </p:spTree>
    <p:extLst>
      <p:ext uri="{BB962C8B-B14F-4D97-AF65-F5344CB8AC3E}">
        <p14:creationId xmlns:p14="http://schemas.microsoft.com/office/powerpoint/2010/main" val="3462771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5D28D290-64ED-40D9-A926-7B5DE58FFF38}" type="slidenum">
              <a:rPr lang="en-US" altLang="en-US" sz="1200" b="0"/>
              <a:pPr/>
              <a:t>65</a:t>
            </a:fld>
            <a:endParaRPr lang="en-US" altLang="en-US" sz="1200" b="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luteinizing hormone (LH). </a:t>
            </a:r>
          </a:p>
        </p:txBody>
      </p:sp>
    </p:spTree>
    <p:extLst>
      <p:ext uri="{BB962C8B-B14F-4D97-AF65-F5344CB8AC3E}">
        <p14:creationId xmlns:p14="http://schemas.microsoft.com/office/powerpoint/2010/main" val="12577280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337DAA0-D774-4696-894C-0CCB393EA28F}" type="slidenum">
              <a:rPr lang="en-US" altLang="en-US" sz="1200" b="0"/>
              <a:pPr/>
              <a:t>73</a:t>
            </a:fld>
            <a:endParaRPr lang="en-US" altLang="en-US" sz="1200" b="0"/>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adrenalectomy.</a:t>
            </a:r>
          </a:p>
        </p:txBody>
      </p:sp>
    </p:spTree>
    <p:extLst>
      <p:ext uri="{BB962C8B-B14F-4D97-AF65-F5344CB8AC3E}">
        <p14:creationId xmlns:p14="http://schemas.microsoft.com/office/powerpoint/2010/main" val="21061400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151CD01A-FB6B-4A87-84E6-FEC5E01B9907}" type="slidenum">
              <a:rPr lang="en-US" altLang="en-US" sz="1200" b="0"/>
              <a:pPr/>
              <a:t>74</a:t>
            </a:fld>
            <a:endParaRPr lang="en-US" altLang="en-US" sz="1200" b="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D: hypokalemia.</a:t>
            </a:r>
          </a:p>
        </p:txBody>
      </p:sp>
    </p:spTree>
    <p:extLst>
      <p:ext uri="{BB962C8B-B14F-4D97-AF65-F5344CB8AC3E}">
        <p14:creationId xmlns:p14="http://schemas.microsoft.com/office/powerpoint/2010/main" val="14524009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DFB10B9-8A46-4F6B-8A34-C25B3B3D063F}" type="slidenum">
              <a:rPr lang="en-US" altLang="en-US" sz="1200" b="0"/>
              <a:pPr/>
              <a:t>75</a:t>
            </a:fld>
            <a:endParaRPr lang="en-US" altLang="en-US" sz="1200" b="0"/>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2561526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B4AA401E-CC9A-4AC5-801E-4A8444BF1558}" type="slidenum">
              <a:rPr lang="en-US" altLang="en-US" sz="1200" b="0"/>
              <a:pPr/>
              <a:t>76</a:t>
            </a:fld>
            <a:endParaRPr lang="en-US" altLang="en-US" sz="1200" b="0"/>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some treatment options for goiter?</a:t>
            </a:r>
          </a:p>
          <a:p>
            <a:pPr eaLnBrk="1" hangingPunct="1">
              <a:buFontTx/>
              <a:buChar char="•"/>
            </a:pPr>
            <a:r>
              <a:rPr lang="en-US" altLang="en-US">
                <a:latin typeface="Times New Roman" panose="02020603050405020304" pitchFamily="18" charset="0"/>
              </a:rPr>
              <a:t> Increased supply of iodine, thyroid-blocking drugs, radioactive iodine.</a:t>
            </a:r>
          </a:p>
          <a:p>
            <a:pPr eaLnBrk="1" hangingPunct="1">
              <a:buFontTx/>
              <a:buChar char="•"/>
            </a:pPr>
            <a:r>
              <a:rPr lang="en-US" altLang="en-US">
                <a:latin typeface="Times New Roman" panose="02020603050405020304" pitchFamily="18" charset="0"/>
              </a:rPr>
              <a:t> What are some conditions that can produce hypothyroidism?</a:t>
            </a:r>
          </a:p>
          <a:p>
            <a:pPr eaLnBrk="1" hangingPunct="1">
              <a:buFontTx/>
              <a:buChar char="•"/>
            </a:pPr>
            <a:r>
              <a:rPr lang="en-US" altLang="en-US">
                <a:latin typeface="Times New Roman" panose="02020603050405020304" pitchFamily="18" charset="0"/>
              </a:rPr>
              <a:t> What symptoms are associated with hypothyroidism? </a:t>
            </a:r>
            <a:r>
              <a:rPr lang="en-US" altLang="en-US" i="1">
                <a:latin typeface="Times New Roman" panose="02020603050405020304" pitchFamily="18" charset="0"/>
              </a:rPr>
              <a:t>(fatigue, muscular and mental sluggishness, weight gain, fluid retention, slow heart rate, low body temperature, constipation)</a:t>
            </a:r>
          </a:p>
        </p:txBody>
      </p:sp>
    </p:spTree>
    <p:extLst>
      <p:ext uri="{BB962C8B-B14F-4D97-AF65-F5344CB8AC3E}">
        <p14:creationId xmlns:p14="http://schemas.microsoft.com/office/powerpoint/2010/main" val="28340055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A7A4CD58-F0A5-41D5-A2B6-74FEFE374D29}" type="slidenum">
              <a:rPr lang="en-US" altLang="en-US" sz="1200" b="0"/>
              <a:pPr/>
              <a:t>77</a:t>
            </a:fld>
            <a:endParaRPr lang="en-US" altLang="en-US" sz="1200" b="0"/>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hypercalcemia and what are its effects?</a:t>
            </a:r>
          </a:p>
          <a:p>
            <a:pPr eaLnBrk="1" hangingPunct="1">
              <a:buFontTx/>
              <a:buChar char="•"/>
            </a:pPr>
            <a:r>
              <a:rPr lang="en-US" altLang="en-US">
                <a:latin typeface="Times New Roman" panose="02020603050405020304" pitchFamily="18" charset="0"/>
              </a:rPr>
              <a:t> What is hypocalcemia and what are its effects?</a:t>
            </a:r>
          </a:p>
        </p:txBody>
      </p:sp>
    </p:spTree>
    <p:extLst>
      <p:ext uri="{BB962C8B-B14F-4D97-AF65-F5344CB8AC3E}">
        <p14:creationId xmlns:p14="http://schemas.microsoft.com/office/powerpoint/2010/main" val="13204997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7A689C22-E4AA-44B6-9ECD-2C7887530C51}" type="slidenum">
              <a:rPr lang="en-US" altLang="en-US" sz="1200" b="0"/>
              <a:pPr/>
              <a:t>78</a:t>
            </a:fld>
            <a:endParaRPr lang="en-US" altLang="en-US" sz="1200" b="0"/>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Have students state the potential causes of these abnormalities and whether or not they can be treated. </a:t>
            </a:r>
          </a:p>
          <a:p>
            <a:pPr eaLnBrk="1" hangingPunct="1">
              <a:buFontTx/>
              <a:buChar char="•"/>
            </a:pPr>
            <a:r>
              <a:rPr lang="en-US" altLang="en-US">
                <a:latin typeface="Times New Roman" panose="02020603050405020304" pitchFamily="18" charset="0"/>
              </a:rPr>
              <a:t> If so, how are they treated and what is the prognosis?</a:t>
            </a:r>
          </a:p>
        </p:txBody>
      </p:sp>
    </p:spTree>
    <p:extLst>
      <p:ext uri="{BB962C8B-B14F-4D97-AF65-F5344CB8AC3E}">
        <p14:creationId xmlns:p14="http://schemas.microsoft.com/office/powerpoint/2010/main" val="9376579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17593324-C6E7-4C78-A3BD-02F134F04AF8}" type="slidenum">
              <a:rPr lang="en-US" altLang="en-US" sz="1200" b="0"/>
              <a:pPr/>
              <a:t>79</a:t>
            </a:fld>
            <a:endParaRPr lang="en-US" altLang="en-US" sz="1200" b="0"/>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1737839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2555A08D-3EA7-499A-93A2-66727581F150}" type="slidenum">
              <a:rPr lang="en-US" altLang="en-US" sz="1200" b="0"/>
              <a:pPr/>
              <a:t>80</a:t>
            </a:fld>
            <a:endParaRPr lang="en-US" altLang="en-US" sz="1200" b="0"/>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1765244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1F3FAB7-DDBF-4050-A10F-49CD6E9C0AB0}" type="slidenum">
              <a:rPr lang="en-US" altLang="en-US" sz="1200" b="0"/>
              <a:pPr/>
              <a:t>81</a:t>
            </a:fld>
            <a:endParaRPr lang="en-US" altLang="en-US" sz="1200" b="0"/>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After reviewing the table, discuss the secondary complications of diabetes.</a:t>
            </a:r>
          </a:p>
        </p:txBody>
      </p:sp>
    </p:spTree>
    <p:extLst>
      <p:ext uri="{BB962C8B-B14F-4D97-AF65-F5344CB8AC3E}">
        <p14:creationId xmlns:p14="http://schemas.microsoft.com/office/powerpoint/2010/main" val="5086737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AFE19DB-851C-46A1-A1DD-3FD96BAF9F11}" type="slidenum">
              <a:rPr lang="en-US" altLang="en-US" sz="1200" b="0"/>
              <a:pPr/>
              <a:t>82</a:t>
            </a:fld>
            <a:endParaRPr lang="en-US" altLang="en-US" sz="1200" b="0"/>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6952864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1CCC3073-962F-4180-9335-5D5273DE17F1}" type="slidenum">
              <a:rPr lang="en-US" altLang="en-US" sz="1200" b="0"/>
              <a:pPr/>
              <a:t>83</a:t>
            </a:fld>
            <a:endParaRPr lang="en-US" altLang="en-US" sz="1200" b="0"/>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5145481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47F5CA53-27DB-4EA5-969A-9D23BE261C9F}" type="slidenum">
              <a:rPr lang="en-US" altLang="en-US" sz="1200" b="0"/>
              <a:pPr/>
              <a:t>84</a:t>
            </a:fld>
            <a:endParaRPr lang="en-US" altLang="en-US" sz="1200" b="0"/>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all the abnormalities. </a:t>
            </a:r>
          </a:p>
          <a:p>
            <a:pPr eaLnBrk="1" hangingPunct="1">
              <a:buFontTx/>
              <a:buChar char="•"/>
            </a:pPr>
            <a:r>
              <a:rPr lang="en-US" altLang="en-US">
                <a:latin typeface="Times New Roman" panose="02020603050405020304" pitchFamily="18" charset="0"/>
              </a:rPr>
              <a:t> Ask students to create the table first and then show this slide to review.</a:t>
            </a:r>
          </a:p>
        </p:txBody>
      </p:sp>
    </p:spTree>
    <p:extLst>
      <p:ext uri="{BB962C8B-B14F-4D97-AF65-F5344CB8AC3E}">
        <p14:creationId xmlns:p14="http://schemas.microsoft.com/office/powerpoint/2010/main" val="16183902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09F827E6-C72A-417F-985B-C163C3F89E4E}" type="slidenum">
              <a:rPr lang="en-US" altLang="en-US" sz="1200" b="0"/>
              <a:pPr/>
              <a:t>85</a:t>
            </a:fld>
            <a:endParaRPr lang="en-US" altLang="en-US" sz="1200" b="0"/>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25871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1E7EA4CB-1C16-46BD-A915-D4C052B6AE47}" type="slidenum">
              <a:rPr lang="en-US" altLang="en-US" sz="1200" b="0"/>
              <a:pPr/>
              <a:t>86</a:t>
            </a:fld>
            <a:endParaRPr lang="en-US" altLang="en-US" sz="1200" b="0"/>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symptoms would prompt these tests to be ordered? </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69782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2B47D7A0-3F04-48A3-8515-D31D5A84BE15}" type="slidenum">
              <a:rPr lang="en-US" altLang="en-US" sz="1200" b="0"/>
              <a:pPr/>
              <a:t>87</a:t>
            </a:fld>
            <a:endParaRPr lang="en-US" altLang="en-US" sz="1200" b="0"/>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When would these procedures be ordered? </a:t>
            </a:r>
          </a:p>
          <a:p>
            <a:pPr eaLnBrk="1" hangingPunct="1">
              <a:buFontTx/>
              <a:buChar char="•"/>
            </a:pPr>
            <a:r>
              <a:rPr lang="en-US" altLang="en-US">
                <a:latin typeface="Times New Roman" panose="02020603050405020304" pitchFamily="18" charset="0"/>
              </a:rPr>
              <a:t> For what symptoms? </a:t>
            </a:r>
          </a:p>
          <a:p>
            <a:pPr eaLnBrk="1" hangingPunct="1">
              <a:buFontTx/>
              <a:buChar char="•"/>
            </a:pPr>
            <a:r>
              <a:rPr lang="en-US" altLang="en-US">
                <a:latin typeface="Times New Roman" panose="02020603050405020304" pitchFamily="18" charset="0"/>
              </a:rPr>
              <a:t> Review previous lessons.</a:t>
            </a:r>
          </a:p>
        </p:txBody>
      </p:sp>
    </p:spTree>
    <p:extLst>
      <p:ext uri="{BB962C8B-B14F-4D97-AF65-F5344CB8AC3E}">
        <p14:creationId xmlns:p14="http://schemas.microsoft.com/office/powerpoint/2010/main" val="8653017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MS PGothic" panose="020B0600070205080204" pitchFamily="34" charset="-128"/>
              </a:defRPr>
            </a:lvl1pPr>
            <a:lvl2pPr marL="742950" indent="-285750">
              <a:defRPr sz="2400" b="1">
                <a:solidFill>
                  <a:schemeClr val="tx1"/>
                </a:solidFill>
                <a:latin typeface="Times New Roman" panose="02020603050405020304" pitchFamily="18" charset="0"/>
                <a:ea typeface="MS PGothic" panose="020B0600070205080204" pitchFamily="34" charset="-128"/>
              </a:defRPr>
            </a:lvl2pPr>
            <a:lvl3pPr marL="1143000" indent="-228600">
              <a:defRPr sz="2400" b="1">
                <a:solidFill>
                  <a:schemeClr val="tx1"/>
                </a:solidFill>
                <a:latin typeface="Times New Roman" panose="02020603050405020304" pitchFamily="18" charset="0"/>
                <a:ea typeface="MS PGothic" panose="020B0600070205080204" pitchFamily="34" charset="-128"/>
              </a:defRPr>
            </a:lvl3pPr>
            <a:lvl4pPr marL="1600200" indent="-228600">
              <a:defRPr sz="2400" b="1">
                <a:solidFill>
                  <a:schemeClr val="tx1"/>
                </a:solidFill>
                <a:latin typeface="Times New Roman" panose="02020603050405020304" pitchFamily="18" charset="0"/>
                <a:ea typeface="MS PGothic" panose="020B0600070205080204" pitchFamily="34" charset="-128"/>
              </a:defRPr>
            </a:lvl4pPr>
            <a:lvl5pPr marL="2057400" indent="-228600">
              <a:defRPr sz="24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MS PGothic" panose="020B0600070205080204" pitchFamily="34" charset="-128"/>
              </a:defRPr>
            </a:lvl9pPr>
          </a:lstStyle>
          <a:p>
            <a:fld id="{C1762BA6-C6D2-4599-8DAF-A6E3F1AAC8C0}" type="slidenum">
              <a:rPr lang="en-US" altLang="en-US" sz="1200" b="0"/>
              <a:pPr/>
              <a:t>98</a:t>
            </a:fld>
            <a:endParaRPr lang="en-US" altLang="en-US" sz="1200" b="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acromegaly. </a:t>
            </a:r>
          </a:p>
        </p:txBody>
      </p:sp>
    </p:spTree>
    <p:extLst>
      <p:ext uri="{BB962C8B-B14F-4D97-AF65-F5344CB8AC3E}">
        <p14:creationId xmlns:p14="http://schemas.microsoft.com/office/powerpoint/2010/main" val="2481642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7102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7772400" cy="2151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44938"/>
            <a:ext cx="7772400" cy="215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955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980A9124-D5F8-6E27-7F60-8240673BCC3D}"/>
              </a:ext>
            </a:extLst>
          </p:cNvPr>
          <p:cNvPicPr>
            <a:picLocks noChangeAspect="1"/>
          </p:cNvPicPr>
          <p:nvPr userDrawn="1"/>
        </p:nvPicPr>
        <p:blipFill>
          <a:blip r:embed="rId16"/>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 id="2147483953" r:id="rId14"/>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30"/>
          <p:cNvSpPr>
            <a:spLocks noGrp="1" noChangeArrowheads="1"/>
          </p:cNvSpPr>
          <p:nvPr>
            <p:ph type="title"/>
          </p:nvPr>
        </p:nvSpPr>
        <p:spPr>
          <a:xfrm>
            <a:off x="838200" y="304800"/>
            <a:ext cx="7848600" cy="1524000"/>
          </a:xfrm>
        </p:spPr>
        <p:txBody>
          <a:bodyPr/>
          <a:lstStyle/>
          <a:p>
            <a:pPr eaLnBrk="1" hangingPunct="1"/>
            <a:r>
              <a:rPr lang="en-US" altLang="en-US" sz="4000"/>
              <a:t>Chapter 18</a:t>
            </a:r>
            <a:br>
              <a:rPr lang="en-US" altLang="en-US" sz="4000"/>
            </a:br>
            <a:r>
              <a:rPr lang="en-US" altLang="en-US" sz="4000"/>
              <a:t>Endocrine System</a:t>
            </a:r>
          </a:p>
        </p:txBody>
      </p:sp>
    </p:spTree>
    <p:extLst>
      <p:ext uri="{BB962C8B-B14F-4D97-AF65-F5344CB8AC3E}">
        <p14:creationId xmlns:p14="http://schemas.microsoft.com/office/powerpoint/2010/main" val="3584959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762000" y="381000"/>
            <a:ext cx="6705600" cy="1143000"/>
          </a:xfrm>
        </p:spPr>
        <p:txBody>
          <a:bodyPr/>
          <a:lstStyle/>
          <a:p>
            <a:pPr eaLnBrk="1" hangingPunct="1"/>
            <a:r>
              <a:rPr lang="en-US" altLang="en-US" dirty="0"/>
              <a:t>Chapter Goals (Slide 1 of 2)</a:t>
            </a:r>
          </a:p>
        </p:txBody>
      </p:sp>
      <p:sp>
        <p:nvSpPr>
          <p:cNvPr id="7171" name="Rectangle 5"/>
          <p:cNvSpPr>
            <a:spLocks noGrp="1" noChangeArrowheads="1"/>
          </p:cNvSpPr>
          <p:nvPr>
            <p:ph idx="1"/>
          </p:nvPr>
        </p:nvSpPr>
        <p:spPr>
          <a:xfrm>
            <a:off x="762000" y="1676400"/>
            <a:ext cx="7239000" cy="4114800"/>
          </a:xfrm>
        </p:spPr>
        <p:txBody>
          <a:bodyPr/>
          <a:lstStyle/>
          <a:p>
            <a:pPr eaLnBrk="1" hangingPunct="1"/>
            <a:r>
              <a:rPr lang="en-US" altLang="en-US"/>
              <a:t>Identify the endocrine glands and their hormones.</a:t>
            </a:r>
          </a:p>
          <a:p>
            <a:pPr eaLnBrk="1" hangingPunct="1"/>
            <a:r>
              <a:rPr lang="en-US" altLang="en-US"/>
              <a:t>Gain an understanding of the functions of these hormones in the body.</a:t>
            </a:r>
          </a:p>
          <a:p>
            <a:pPr eaLnBrk="1" hangingPunct="1"/>
            <a:r>
              <a:rPr lang="en-US" altLang="en-US"/>
              <a:t>Analyze medical terms related to the endocrine glands and their hormones.</a:t>
            </a:r>
          </a:p>
        </p:txBody>
      </p:sp>
    </p:spTree>
    <p:extLst>
      <p:ext uri="{BB962C8B-B14F-4D97-AF65-F5344CB8AC3E}">
        <p14:creationId xmlns:p14="http://schemas.microsoft.com/office/powerpoint/2010/main" val="3185834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a:xfrm>
            <a:off x="762000" y="381000"/>
            <a:ext cx="6705600" cy="1143000"/>
          </a:xfrm>
        </p:spPr>
        <p:txBody>
          <a:bodyPr/>
          <a:lstStyle/>
          <a:p>
            <a:pPr eaLnBrk="1" hangingPunct="1"/>
            <a:r>
              <a:rPr lang="en-US" altLang="en-US" dirty="0"/>
              <a:t>Chapter Goals (Slide 2 of 2</a:t>
            </a:r>
            <a:r>
              <a:rPr lang="en-US" altLang="ja-JP" dirty="0"/>
              <a:t>)</a:t>
            </a:r>
            <a:endParaRPr lang="en-US" altLang="en-US" dirty="0"/>
          </a:p>
        </p:txBody>
      </p:sp>
      <p:sp>
        <p:nvSpPr>
          <p:cNvPr id="4101" name="Rectangle 5"/>
          <p:cNvSpPr>
            <a:spLocks noGrp="1" noChangeArrowheads="1"/>
          </p:cNvSpPr>
          <p:nvPr>
            <p:ph idx="1"/>
          </p:nvPr>
        </p:nvSpPr>
        <p:spPr>
          <a:xfrm>
            <a:off x="762000" y="1676400"/>
            <a:ext cx="7543800" cy="4114800"/>
          </a:xfrm>
        </p:spPr>
        <p:txBody>
          <a:bodyPr rtlCol="0">
            <a:normAutofit fontScale="92500"/>
          </a:bodyPr>
          <a:lstStyle/>
          <a:p>
            <a:pPr eaLnBrk="1" fontAlgn="auto" hangingPunct="1">
              <a:lnSpc>
                <a:spcPct val="90000"/>
              </a:lnSpc>
              <a:spcAft>
                <a:spcPts val="0"/>
              </a:spcAft>
              <a:defRPr/>
            </a:pPr>
            <a:r>
              <a:rPr lang="en-US" dirty="0"/>
              <a:t>Identify abnormal conditions resulting from excessive and deficient secretions of the endocrine glands.</a:t>
            </a:r>
          </a:p>
          <a:p>
            <a:pPr eaLnBrk="1" fontAlgn="auto" hangingPunct="1">
              <a:lnSpc>
                <a:spcPct val="90000"/>
              </a:lnSpc>
              <a:spcAft>
                <a:spcPts val="0"/>
              </a:spcAft>
              <a:defRPr/>
            </a:pPr>
            <a:r>
              <a:rPr lang="en-US" dirty="0"/>
              <a:t>Describe laboratory tests and clinical procedures related to endocrinology, and recognize relevant abbreviations.</a:t>
            </a:r>
          </a:p>
          <a:p>
            <a:pPr eaLnBrk="1" fontAlgn="auto" hangingPunct="1">
              <a:lnSpc>
                <a:spcPct val="90000"/>
              </a:lnSpc>
              <a:spcAft>
                <a:spcPts val="0"/>
              </a:spcAft>
              <a:defRPr/>
            </a:pPr>
            <a:r>
              <a:rPr lang="en-US" dirty="0"/>
              <a:t>Apply your new knowledge to understanding medical terms in their proper contexts, such as medical reports and records.</a:t>
            </a:r>
          </a:p>
        </p:txBody>
      </p:sp>
    </p:spTree>
    <p:extLst>
      <p:ext uri="{BB962C8B-B14F-4D97-AF65-F5344CB8AC3E}">
        <p14:creationId xmlns:p14="http://schemas.microsoft.com/office/powerpoint/2010/main" val="2074524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Rectangle 1029"/>
          <p:cNvSpPr>
            <a:spLocks noGrp="1" noChangeArrowheads="1"/>
          </p:cNvSpPr>
          <p:nvPr>
            <p:ph type="title"/>
          </p:nvPr>
        </p:nvSpPr>
        <p:spPr>
          <a:xfrm>
            <a:off x="762000" y="304800"/>
            <a:ext cx="7772400" cy="1219200"/>
          </a:xfrm>
        </p:spPr>
        <p:txBody>
          <a:bodyPr rtlCol="0">
            <a:normAutofit fontScale="90000"/>
          </a:bodyPr>
          <a:lstStyle/>
          <a:p>
            <a:pPr eaLnBrk="1" fontAlgn="auto" hangingPunct="1">
              <a:spcAft>
                <a:spcPts val="0"/>
              </a:spcAft>
              <a:defRPr/>
            </a:pPr>
            <a:r>
              <a:rPr lang="en-US" dirty="0"/>
              <a:t>Chapter 18</a:t>
            </a:r>
            <a:br>
              <a:rPr lang="en-US" dirty="0"/>
            </a:br>
            <a:r>
              <a:rPr lang="en-US" dirty="0"/>
              <a:t>Lesson 18.1</a:t>
            </a:r>
          </a:p>
        </p:txBody>
      </p:sp>
    </p:spTree>
    <p:extLst>
      <p:ext uri="{BB962C8B-B14F-4D97-AF65-F5344CB8AC3E}">
        <p14:creationId xmlns:p14="http://schemas.microsoft.com/office/powerpoint/2010/main" val="2025580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62000" y="304800"/>
            <a:ext cx="7772400" cy="1219200"/>
          </a:xfrm>
        </p:spPr>
        <p:txBody>
          <a:bodyPr/>
          <a:lstStyle/>
          <a:p>
            <a:pPr eaLnBrk="1" hangingPunct="1"/>
            <a:r>
              <a:rPr lang="en-US" altLang="en-US" dirty="0"/>
              <a:t>Introduction</a:t>
            </a:r>
            <a:br>
              <a:rPr lang="en-US" altLang="en-US" dirty="0"/>
            </a:br>
            <a:r>
              <a:rPr lang="en-US" altLang="en-US" dirty="0"/>
              <a:t> Endocrine System (Slide 1 of 2)	</a:t>
            </a:r>
          </a:p>
        </p:txBody>
      </p:sp>
      <p:sp>
        <p:nvSpPr>
          <p:cNvPr id="10243" name="Rectangle 3"/>
          <p:cNvSpPr>
            <a:spLocks noGrp="1" noChangeArrowheads="1"/>
          </p:cNvSpPr>
          <p:nvPr>
            <p:ph idx="1"/>
          </p:nvPr>
        </p:nvSpPr>
        <p:spPr>
          <a:xfrm>
            <a:off x="762000" y="1717675"/>
            <a:ext cx="7772400" cy="4454525"/>
          </a:xfrm>
        </p:spPr>
        <p:txBody>
          <a:bodyPr/>
          <a:lstStyle/>
          <a:p>
            <a:pPr eaLnBrk="1" hangingPunct="1"/>
            <a:r>
              <a:rPr lang="en-US" altLang="en-US"/>
              <a:t>Glands release hormones.</a:t>
            </a:r>
          </a:p>
          <a:p>
            <a:pPr eaLnBrk="1" hangingPunct="1"/>
            <a:r>
              <a:rPr lang="en-US" altLang="en-US"/>
              <a:t>Hormones regulate the many and varied functions of an organism.</a:t>
            </a:r>
          </a:p>
          <a:p>
            <a:pPr eaLnBrk="1" hangingPunct="1"/>
            <a:r>
              <a:rPr lang="en-US" altLang="en-US"/>
              <a:t>Hormones bind to receptors.</a:t>
            </a:r>
          </a:p>
          <a:p>
            <a:pPr eaLnBrk="1" hangingPunct="1"/>
            <a:r>
              <a:rPr lang="en-US" altLang="en-US"/>
              <a:t>Receptors are recognition sites in the various target tissues on which hormones act.</a:t>
            </a:r>
          </a:p>
        </p:txBody>
      </p:sp>
    </p:spTree>
    <p:extLst>
      <p:ext uri="{BB962C8B-B14F-4D97-AF65-F5344CB8AC3E}">
        <p14:creationId xmlns:p14="http://schemas.microsoft.com/office/powerpoint/2010/main" val="2323972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a:xfrm>
            <a:off x="762000" y="304800"/>
            <a:ext cx="7772400" cy="1219200"/>
          </a:xfrm>
        </p:spPr>
        <p:txBody>
          <a:bodyPr/>
          <a:lstStyle/>
          <a:p>
            <a:pPr eaLnBrk="1" hangingPunct="1"/>
            <a:r>
              <a:rPr lang="en-US" altLang="en-US" dirty="0"/>
              <a:t>Introduction</a:t>
            </a:r>
            <a:br>
              <a:rPr lang="en-US" altLang="en-US" dirty="0"/>
            </a:br>
            <a:r>
              <a:rPr lang="en-US" altLang="en-US" dirty="0"/>
              <a:t> Endocrine System (Slide 2 of 2</a:t>
            </a:r>
            <a:r>
              <a:rPr lang="en-US" altLang="ja-JP" dirty="0"/>
              <a:t>)	</a:t>
            </a:r>
            <a:endParaRPr lang="en-US" altLang="en-US" dirty="0"/>
          </a:p>
        </p:txBody>
      </p:sp>
      <p:sp>
        <p:nvSpPr>
          <p:cNvPr id="105475" name="Rectangle 1027"/>
          <p:cNvSpPr>
            <a:spLocks noGrp="1" noChangeArrowheads="1"/>
          </p:cNvSpPr>
          <p:nvPr>
            <p:ph idx="1"/>
          </p:nvPr>
        </p:nvSpPr>
        <p:spPr>
          <a:xfrm>
            <a:off x="762000" y="1676400"/>
            <a:ext cx="7543800" cy="3657600"/>
          </a:xfrm>
        </p:spPr>
        <p:txBody>
          <a:bodyPr rtlCol="0">
            <a:normAutofit lnSpcReduction="10000"/>
          </a:bodyPr>
          <a:lstStyle/>
          <a:p>
            <a:pPr eaLnBrk="1" fontAlgn="auto" hangingPunct="1">
              <a:spcAft>
                <a:spcPts val="0"/>
              </a:spcAft>
              <a:defRPr/>
            </a:pPr>
            <a:r>
              <a:rPr lang="en-US" b="1" dirty="0"/>
              <a:t>ENDOCRINE </a:t>
            </a:r>
            <a:r>
              <a:rPr lang="en-US" dirty="0"/>
              <a:t>glands—</a:t>
            </a:r>
          </a:p>
          <a:p>
            <a:pPr eaLnBrk="1" fontAlgn="auto" hangingPunct="1">
              <a:spcAft>
                <a:spcPts val="0"/>
              </a:spcAft>
              <a:buFont typeface="Wingdings 2" pitchFamily="18" charset="2"/>
              <a:buNone/>
              <a:defRPr/>
            </a:pPr>
            <a:r>
              <a:rPr lang="en-US" dirty="0"/>
              <a:t>	Secrete their hormones directly into the bloodstream</a:t>
            </a:r>
          </a:p>
          <a:p>
            <a:pPr eaLnBrk="1" fontAlgn="auto" hangingPunct="1">
              <a:spcAft>
                <a:spcPts val="0"/>
              </a:spcAft>
              <a:buFont typeface="Wingdings 2" pitchFamily="18" charset="2"/>
              <a:buNone/>
              <a:defRPr/>
            </a:pPr>
            <a:endParaRPr lang="en-US" sz="1200" dirty="0"/>
          </a:p>
          <a:p>
            <a:pPr eaLnBrk="1" fontAlgn="auto" hangingPunct="1">
              <a:spcAft>
                <a:spcPts val="0"/>
              </a:spcAft>
              <a:defRPr/>
            </a:pPr>
            <a:r>
              <a:rPr lang="en-US" b="1" dirty="0"/>
              <a:t>EXOCRINE</a:t>
            </a:r>
            <a:r>
              <a:rPr lang="en-US" dirty="0"/>
              <a:t> glands—</a:t>
            </a:r>
          </a:p>
          <a:p>
            <a:pPr eaLnBrk="1" fontAlgn="auto" hangingPunct="1">
              <a:spcAft>
                <a:spcPts val="0"/>
              </a:spcAft>
              <a:buFont typeface="Wingdings 2" pitchFamily="18" charset="2"/>
              <a:buNone/>
              <a:defRPr/>
            </a:pPr>
            <a:r>
              <a:rPr lang="en-US" dirty="0"/>
              <a:t>	Send chemical substances (tears, sweat, milk, saliva) via ducts to the outside of the body</a:t>
            </a:r>
          </a:p>
        </p:txBody>
      </p:sp>
    </p:spTree>
    <p:extLst>
      <p:ext uri="{BB962C8B-B14F-4D97-AF65-F5344CB8AC3E}">
        <p14:creationId xmlns:p14="http://schemas.microsoft.com/office/powerpoint/2010/main" val="294361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a:xfrm>
            <a:off x="762000" y="381000"/>
            <a:ext cx="6948488" cy="1143000"/>
          </a:xfrm>
        </p:spPr>
        <p:txBody>
          <a:bodyPr/>
          <a:lstStyle/>
          <a:p>
            <a:pPr eaLnBrk="1" hangingPunct="1"/>
            <a:r>
              <a:rPr lang="en-US" altLang="en-US"/>
              <a:t>Endocrine Glands</a:t>
            </a:r>
          </a:p>
        </p:txBody>
      </p:sp>
      <p:sp>
        <p:nvSpPr>
          <p:cNvPr id="12291" name="Rectangle 6"/>
          <p:cNvSpPr>
            <a:spLocks noGrp="1" noChangeArrowheads="1"/>
          </p:cNvSpPr>
          <p:nvPr>
            <p:ph sz="half" idx="1"/>
          </p:nvPr>
        </p:nvSpPr>
        <p:spPr>
          <a:xfrm>
            <a:off x="762000" y="1676400"/>
            <a:ext cx="6113463" cy="2133600"/>
          </a:xfrm>
        </p:spPr>
        <p:txBody>
          <a:bodyPr/>
          <a:lstStyle/>
          <a:p>
            <a:pPr eaLnBrk="1" hangingPunct="1">
              <a:lnSpc>
                <a:spcPct val="90000"/>
              </a:lnSpc>
            </a:pPr>
            <a:r>
              <a:rPr lang="en-US" altLang="en-US"/>
              <a:t>Thyroid gland</a:t>
            </a:r>
          </a:p>
          <a:p>
            <a:pPr eaLnBrk="1" hangingPunct="1">
              <a:lnSpc>
                <a:spcPct val="90000"/>
              </a:lnSpc>
            </a:pPr>
            <a:r>
              <a:rPr lang="en-US" altLang="en-US"/>
              <a:t>Parathyroid glands (four glands)</a:t>
            </a:r>
          </a:p>
          <a:p>
            <a:pPr eaLnBrk="1" hangingPunct="1">
              <a:lnSpc>
                <a:spcPct val="90000"/>
              </a:lnSpc>
            </a:pPr>
            <a:r>
              <a:rPr lang="en-US" altLang="en-US"/>
              <a:t>Adrenal glands (one pair)</a:t>
            </a:r>
          </a:p>
          <a:p>
            <a:pPr eaLnBrk="1" hangingPunct="1">
              <a:lnSpc>
                <a:spcPct val="90000"/>
              </a:lnSpc>
            </a:pPr>
            <a:r>
              <a:rPr lang="en-US" altLang="en-US"/>
              <a:t>Pancreas (islets of Langerhans)</a:t>
            </a:r>
          </a:p>
          <a:p>
            <a:pPr eaLnBrk="1" hangingPunct="1">
              <a:lnSpc>
                <a:spcPct val="90000"/>
              </a:lnSpc>
            </a:pPr>
            <a:r>
              <a:rPr lang="en-US" altLang="en-US"/>
              <a:t>Pituitary gland</a:t>
            </a:r>
          </a:p>
        </p:txBody>
      </p:sp>
      <p:sp>
        <p:nvSpPr>
          <p:cNvPr id="12292" name="Rectangle 7"/>
          <p:cNvSpPr>
            <a:spLocks noGrp="1" noChangeArrowheads="1"/>
          </p:cNvSpPr>
          <p:nvPr>
            <p:ph sz="half" idx="2"/>
          </p:nvPr>
        </p:nvSpPr>
        <p:spPr>
          <a:xfrm>
            <a:off x="762000" y="4038600"/>
            <a:ext cx="5638800" cy="2286000"/>
          </a:xfrm>
        </p:spPr>
        <p:txBody>
          <a:bodyPr/>
          <a:lstStyle/>
          <a:p>
            <a:pPr eaLnBrk="1" hangingPunct="1">
              <a:lnSpc>
                <a:spcPct val="90000"/>
              </a:lnSpc>
            </a:pPr>
            <a:r>
              <a:rPr lang="en-US" altLang="en-US"/>
              <a:t>Ovaries (one pair)</a:t>
            </a:r>
          </a:p>
          <a:p>
            <a:pPr eaLnBrk="1" hangingPunct="1">
              <a:lnSpc>
                <a:spcPct val="90000"/>
              </a:lnSpc>
            </a:pPr>
            <a:r>
              <a:rPr lang="en-US" altLang="en-US"/>
              <a:t>Testes (one pair)</a:t>
            </a:r>
          </a:p>
          <a:p>
            <a:pPr eaLnBrk="1" hangingPunct="1">
              <a:lnSpc>
                <a:spcPct val="90000"/>
              </a:lnSpc>
            </a:pPr>
            <a:r>
              <a:rPr lang="en-US" altLang="en-US"/>
              <a:t>Pineal gland</a:t>
            </a:r>
          </a:p>
        </p:txBody>
      </p:sp>
    </p:spTree>
    <p:extLst>
      <p:ext uri="{BB962C8B-B14F-4D97-AF65-F5344CB8AC3E}">
        <p14:creationId xmlns:p14="http://schemas.microsoft.com/office/powerpoint/2010/main" val="1477579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4"/>
          <p:cNvSpPr>
            <a:spLocks noGrp="1" noChangeArrowheads="1"/>
          </p:cNvSpPr>
          <p:nvPr>
            <p:ph type="title"/>
          </p:nvPr>
        </p:nvSpPr>
        <p:spPr/>
        <p:txBody>
          <a:bodyPr/>
          <a:lstStyle/>
          <a:p>
            <a:pPr eaLnBrk="1" hangingPunct="1"/>
            <a:r>
              <a:rPr lang="en-US" altLang="en-US" dirty="0"/>
              <a:t>The Endocrine System </a:t>
            </a:r>
          </a:p>
        </p:txBody>
      </p:sp>
      <p:sp>
        <p:nvSpPr>
          <p:cNvPr id="2" name="Content Placeholder 1"/>
          <p:cNvSpPr>
            <a:spLocks noGrp="1"/>
          </p:cNvSpPr>
          <p:nvPr>
            <p:ph idx="1"/>
          </p:nvPr>
        </p:nvSpPr>
        <p:spPr>
          <a:xfrm>
            <a:off x="1447800" y="1600200"/>
            <a:ext cx="6248400" cy="4525963"/>
          </a:xfrm>
        </p:spPr>
        <p:txBody>
          <a:bodyPr/>
          <a:lstStyle/>
          <a:p>
            <a:r>
              <a:rPr lang="en-US" sz="2800" dirty="0"/>
              <a:t>Exocrine glands include the following:</a:t>
            </a:r>
          </a:p>
          <a:p>
            <a:r>
              <a:rPr lang="en-US" sz="2800" dirty="0"/>
              <a:t> Thyroid gland</a:t>
            </a:r>
          </a:p>
          <a:p>
            <a:r>
              <a:rPr lang="en-US" sz="2800" dirty="0"/>
              <a:t> </a:t>
            </a:r>
            <a:r>
              <a:rPr lang="en-US" sz="2800" dirty="0" err="1"/>
              <a:t>Parathroid</a:t>
            </a:r>
            <a:r>
              <a:rPr lang="en-US" sz="2800" dirty="0"/>
              <a:t> glands (four glands)</a:t>
            </a:r>
          </a:p>
          <a:p>
            <a:r>
              <a:rPr lang="en-US" sz="2800" dirty="0"/>
              <a:t> Adrenal glands (one pair)</a:t>
            </a:r>
          </a:p>
          <a:p>
            <a:r>
              <a:rPr lang="en-US" sz="2800" dirty="0"/>
              <a:t> Pancreas (islet of Langerhans)</a:t>
            </a:r>
          </a:p>
          <a:p>
            <a:r>
              <a:rPr lang="en-US" sz="2800" dirty="0"/>
              <a:t> Pituitary gland</a:t>
            </a:r>
          </a:p>
          <a:p>
            <a:r>
              <a:rPr lang="en-US" sz="2800" dirty="0"/>
              <a:t> Ovaries in female (one pair)</a:t>
            </a:r>
          </a:p>
          <a:p>
            <a:r>
              <a:rPr lang="en-US" sz="2800" dirty="0"/>
              <a:t> Testes in male (one pair)</a:t>
            </a:r>
          </a:p>
          <a:p>
            <a:r>
              <a:rPr lang="en-US" sz="2800" dirty="0"/>
              <a:t> Pineal gland</a:t>
            </a:r>
          </a:p>
          <a:p>
            <a:endParaRPr lang="es-419" dirty="0"/>
          </a:p>
        </p:txBody>
      </p:sp>
    </p:spTree>
    <p:extLst>
      <p:ext uri="{BB962C8B-B14F-4D97-AF65-F5344CB8AC3E}">
        <p14:creationId xmlns:p14="http://schemas.microsoft.com/office/powerpoint/2010/main" val="4219191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Endocrine Tissue (Not including major glands)</a:t>
            </a:r>
          </a:p>
        </p:txBody>
      </p:sp>
      <p:pic>
        <p:nvPicPr>
          <p:cNvPr id="5" name="Picture 3" descr="Table 18-1. Endocrine Tissue (apart from Major Glands): Location, Secretion, and Action&#10;&#10;Columns are Location, Secretion, and Action(s). &#10;&#10;Body cells; prostaglandins; Aggregation of platelets, contract uterus, lower acide secretion in stomach, lower blood pressure&#10;&#10;Gastrointestinal tract; Cholecystokinin, gastrin, secretin; Contracts gallbladder, stimulates gastric secretion, stimulates pancreatic enzymes&#10;&#10;Kidney; Erythropoietin; Stimulates erythrocyte production&#10;&#10;Placenta; Human chorionic gonadotropin; Sustains pregnancy&#10;&#10;Skin; Vitamin D; Affects absoption of calciu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2147777"/>
            <a:ext cx="8229600" cy="34308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772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6"/>
          <p:cNvSpPr>
            <a:spLocks noGrp="1" noChangeArrowheads="1"/>
          </p:cNvSpPr>
          <p:nvPr>
            <p:ph type="title"/>
          </p:nvPr>
        </p:nvSpPr>
        <p:spPr/>
        <p:txBody>
          <a:bodyPr/>
          <a:lstStyle/>
          <a:p>
            <a:pPr eaLnBrk="1" hangingPunct="1"/>
            <a:r>
              <a:rPr lang="en-US" altLang="en-US" dirty="0"/>
              <a:t>Thyroid Gland (Slide 1 of 2)</a:t>
            </a:r>
          </a:p>
        </p:txBody>
      </p:sp>
      <p:sp>
        <p:nvSpPr>
          <p:cNvPr id="2" name="Content Placeholder 1"/>
          <p:cNvSpPr>
            <a:spLocks noGrp="1"/>
          </p:cNvSpPr>
          <p:nvPr>
            <p:ph idx="1"/>
          </p:nvPr>
        </p:nvSpPr>
        <p:spPr/>
        <p:txBody>
          <a:bodyPr/>
          <a:lstStyle/>
          <a:p>
            <a:r>
              <a:rPr lang="en-US" dirty="0"/>
              <a:t>Anatomical structures of the thyroid gland:</a:t>
            </a:r>
          </a:p>
          <a:p>
            <a:r>
              <a:rPr lang="en-US" dirty="0"/>
              <a:t> Thyroid</a:t>
            </a:r>
          </a:p>
          <a:p>
            <a:r>
              <a:rPr lang="en-US" dirty="0"/>
              <a:t> Trachea</a:t>
            </a:r>
          </a:p>
          <a:p>
            <a:r>
              <a:rPr lang="en-US" dirty="0"/>
              <a:t> Thyroid cartilage</a:t>
            </a:r>
          </a:p>
          <a:p>
            <a:r>
              <a:rPr lang="en-US" dirty="0"/>
              <a:t> Isthmus</a:t>
            </a:r>
          </a:p>
          <a:p>
            <a:endParaRPr lang="es-419" dirty="0"/>
          </a:p>
        </p:txBody>
      </p:sp>
    </p:spTree>
    <p:extLst>
      <p:ext uri="{BB962C8B-B14F-4D97-AF65-F5344CB8AC3E}">
        <p14:creationId xmlns:p14="http://schemas.microsoft.com/office/powerpoint/2010/main" val="1869553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dirty="0"/>
              <a:t>Thyroid Gland (Slide 2 of 2</a:t>
            </a:r>
            <a:r>
              <a:rPr lang="en-US" altLang="ja-JP" dirty="0"/>
              <a:t>)</a:t>
            </a:r>
            <a:endParaRPr lang="en-US" altLang="en-US" dirty="0"/>
          </a:p>
        </p:txBody>
      </p:sp>
      <p:pic>
        <p:nvPicPr>
          <p:cNvPr id="5" name="Picture 7" descr="The thyroid gland is composed of a right and a left lobe on either side of the trachea, just below a large piece of cartilage called the thyroid cartilage (which covers the larynx). The isthmus of the thyroid gland is a narrow strip of glandular tissue that connects the two lobes on the ventral (anterior) surface of the trache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23157" y="1981200"/>
            <a:ext cx="6497685" cy="40393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124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a:xfrm>
            <a:off x="762000" y="381000"/>
            <a:ext cx="6630988" cy="1143000"/>
          </a:xfrm>
        </p:spPr>
        <p:txBody>
          <a:bodyPr/>
          <a:lstStyle/>
          <a:p>
            <a:pPr eaLnBrk="1" hangingPunct="1"/>
            <a:r>
              <a:rPr lang="en-US" altLang="en-US"/>
              <a:t>Thyroid Function</a:t>
            </a:r>
          </a:p>
        </p:txBody>
      </p:sp>
      <p:sp>
        <p:nvSpPr>
          <p:cNvPr id="18435" name="Rectangle 5"/>
          <p:cNvSpPr>
            <a:spLocks noGrp="1" noChangeArrowheads="1"/>
          </p:cNvSpPr>
          <p:nvPr>
            <p:ph idx="1"/>
          </p:nvPr>
        </p:nvSpPr>
        <p:spPr>
          <a:xfrm>
            <a:off x="762000" y="1676400"/>
            <a:ext cx="7467600" cy="4114800"/>
          </a:xfrm>
        </p:spPr>
        <p:txBody>
          <a:bodyPr/>
          <a:lstStyle/>
          <a:p>
            <a:pPr eaLnBrk="1" hangingPunct="1"/>
            <a:r>
              <a:rPr lang="en-US" altLang="en-US"/>
              <a:t>There are two hormones: </a:t>
            </a:r>
          </a:p>
          <a:p>
            <a:pPr lvl="1" eaLnBrk="1" hangingPunct="1">
              <a:buFont typeface="Wingdings" panose="05000000000000000000" pitchFamily="2" charset="2"/>
              <a:buChar char="Ø"/>
            </a:pPr>
            <a:r>
              <a:rPr lang="en-US" altLang="en-US"/>
              <a:t>Thyroxine or tetraiodothyronine (</a:t>
            </a:r>
            <a:r>
              <a:rPr lang="en-US" altLang="en-US" b="1"/>
              <a:t>T</a:t>
            </a:r>
            <a:r>
              <a:rPr lang="en-US" altLang="en-US" b="1" baseline="-25000"/>
              <a:t>4</a:t>
            </a:r>
            <a:r>
              <a:rPr lang="en-US" altLang="en-US"/>
              <a:t>) </a:t>
            </a:r>
          </a:p>
          <a:p>
            <a:pPr lvl="1" eaLnBrk="1" hangingPunct="1">
              <a:buFont typeface="Wingdings" panose="05000000000000000000" pitchFamily="2" charset="2"/>
              <a:buChar char="Ø"/>
            </a:pPr>
            <a:r>
              <a:rPr lang="en-US" altLang="en-US"/>
              <a:t>Triiodothyronine (</a:t>
            </a:r>
            <a:r>
              <a:rPr lang="en-US" altLang="en-US" b="1"/>
              <a:t>T</a:t>
            </a:r>
            <a:r>
              <a:rPr lang="en-US" altLang="en-US" b="1" baseline="-25000"/>
              <a:t>3</a:t>
            </a:r>
            <a:r>
              <a:rPr lang="en-US" altLang="en-US"/>
              <a:t>).</a:t>
            </a:r>
          </a:p>
          <a:p>
            <a:pPr eaLnBrk="1" hangingPunct="1"/>
            <a:r>
              <a:rPr lang="en-US" altLang="en-US"/>
              <a:t>Thyroid hormones aid cells in their uptake of oxygen and regulate metabolic rate.</a:t>
            </a:r>
          </a:p>
          <a:p>
            <a:pPr eaLnBrk="1" hangingPunct="1"/>
            <a:r>
              <a:rPr lang="en-US" altLang="en-US" b="1"/>
              <a:t>Calcitonin:</a:t>
            </a:r>
            <a:r>
              <a:rPr lang="en-US" altLang="en-US"/>
              <a:t> stimulates calcium to leave the blood and enter the bone.</a:t>
            </a:r>
          </a:p>
        </p:txBody>
      </p:sp>
    </p:spTree>
    <p:extLst>
      <p:ext uri="{BB962C8B-B14F-4D97-AF65-F5344CB8AC3E}">
        <p14:creationId xmlns:p14="http://schemas.microsoft.com/office/powerpoint/2010/main" val="3842535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a:t>Thyroid Gland:  </a:t>
            </a:r>
            <a:br>
              <a:rPr lang="en-US" altLang="en-US"/>
            </a:br>
            <a:r>
              <a:rPr lang="en-US" altLang="en-US"/>
              <a:t>Hormones and Actions</a:t>
            </a:r>
          </a:p>
        </p:txBody>
      </p:sp>
      <p:pic>
        <p:nvPicPr>
          <p:cNvPr id="5" name="Picture 7" descr="Hormones secreted by the thyroid are triiodothyronine (T3) and thyroxine (T4), both of which are necessary to maintain a normal level of metabolism in all body cells. Calcitonin decreases blood calciu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90600" y="2108295"/>
            <a:ext cx="7205112" cy="35305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8256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pPr eaLnBrk="1" hangingPunct="1"/>
            <a:r>
              <a:rPr lang="en-US" altLang="en-US" dirty="0"/>
              <a:t>Parathyroid Glands (Slide 1 of 3)</a:t>
            </a:r>
          </a:p>
        </p:txBody>
      </p:sp>
      <p:sp>
        <p:nvSpPr>
          <p:cNvPr id="2" name="Content Placeholder 1"/>
          <p:cNvSpPr>
            <a:spLocks noGrp="1"/>
          </p:cNvSpPr>
          <p:nvPr>
            <p:ph idx="1"/>
          </p:nvPr>
        </p:nvSpPr>
        <p:spPr>
          <a:xfrm>
            <a:off x="876300" y="2057400"/>
            <a:ext cx="7391400" cy="2438400"/>
          </a:xfrm>
        </p:spPr>
        <p:txBody>
          <a:bodyPr/>
          <a:lstStyle/>
          <a:p>
            <a:r>
              <a:rPr lang="en-US" dirty="0"/>
              <a:t>Parathyroid glands are four small oval bodies located on the dorsal aspect of the thyroid gland.</a:t>
            </a:r>
          </a:p>
          <a:p>
            <a:endParaRPr lang="es-419" dirty="0"/>
          </a:p>
        </p:txBody>
      </p:sp>
    </p:spTree>
    <p:extLst>
      <p:ext uri="{BB962C8B-B14F-4D97-AF65-F5344CB8AC3E}">
        <p14:creationId xmlns:p14="http://schemas.microsoft.com/office/powerpoint/2010/main" val="172947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Grp="1" noChangeArrowheads="1"/>
          </p:cNvSpPr>
          <p:nvPr>
            <p:ph type="title"/>
          </p:nvPr>
        </p:nvSpPr>
        <p:spPr/>
        <p:txBody>
          <a:bodyPr/>
          <a:lstStyle/>
          <a:p>
            <a:pPr eaLnBrk="1" hangingPunct="1"/>
            <a:r>
              <a:rPr lang="en-US" altLang="en-US" dirty="0"/>
              <a:t>Parathyroid Glands (Slide 2 of 3</a:t>
            </a:r>
            <a:r>
              <a:rPr lang="en-US" altLang="ja-JP" dirty="0"/>
              <a:t>)  </a:t>
            </a:r>
            <a:endParaRPr lang="en-US" altLang="en-US" dirty="0"/>
          </a:p>
        </p:txBody>
      </p:sp>
      <p:pic>
        <p:nvPicPr>
          <p:cNvPr id="5" name="Picture 1031" descr="Parathyroid glands are four small oval bodies located on the dorsal aspect of the thyroid gland.&#1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52341" y="1600200"/>
            <a:ext cx="423931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15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title"/>
          </p:nvPr>
        </p:nvSpPr>
        <p:spPr/>
        <p:txBody>
          <a:bodyPr/>
          <a:lstStyle/>
          <a:p>
            <a:pPr eaLnBrk="1" hangingPunct="1"/>
            <a:r>
              <a:rPr lang="en-US" altLang="en-US" dirty="0"/>
              <a:t>Parathyroid Glands (slide 3 of 3)</a:t>
            </a:r>
          </a:p>
        </p:txBody>
      </p:sp>
      <p:pic>
        <p:nvPicPr>
          <p:cNvPr id="5" name="Picture 16" descr="Parathyroid hormone (PTH) is secreted by the parathyroid glands. This hormone mobilizes calcium  from bones into the bloodstream, where calcium is necessary for proper functioning of body tiusse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51569" y="1600200"/>
            <a:ext cx="4240862"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6320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a:xfrm>
            <a:off x="1284288" y="381000"/>
            <a:ext cx="6792912" cy="1143000"/>
          </a:xfrm>
        </p:spPr>
        <p:txBody>
          <a:bodyPr/>
          <a:lstStyle/>
          <a:p>
            <a:pPr eaLnBrk="1" hangingPunct="1"/>
            <a:r>
              <a:rPr lang="en-US" altLang="en-US"/>
              <a:t>Parathyroid Function</a:t>
            </a:r>
          </a:p>
        </p:txBody>
      </p:sp>
      <p:sp>
        <p:nvSpPr>
          <p:cNvPr id="23555" name="Rectangle 5"/>
          <p:cNvSpPr>
            <a:spLocks noGrp="1" noChangeArrowheads="1"/>
          </p:cNvSpPr>
          <p:nvPr>
            <p:ph idx="1"/>
          </p:nvPr>
        </p:nvSpPr>
        <p:spPr>
          <a:xfrm>
            <a:off x="762000" y="1717675"/>
            <a:ext cx="7772400" cy="4454525"/>
          </a:xfrm>
        </p:spPr>
        <p:txBody>
          <a:bodyPr/>
          <a:lstStyle/>
          <a:p>
            <a:pPr eaLnBrk="1" hangingPunct="1"/>
            <a:r>
              <a:rPr lang="en-US" altLang="en-US" b="1"/>
              <a:t>Parathyroid hormone (PTH):</a:t>
            </a:r>
            <a:r>
              <a:rPr lang="en-US" altLang="en-US"/>
              <a:t> causes calcium to mobilize from bones into the bloodstream</a:t>
            </a:r>
          </a:p>
        </p:txBody>
      </p:sp>
    </p:spTree>
    <p:extLst>
      <p:ext uri="{BB962C8B-B14F-4D97-AF65-F5344CB8AC3E}">
        <p14:creationId xmlns:p14="http://schemas.microsoft.com/office/powerpoint/2010/main" val="2116812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title"/>
          </p:nvPr>
        </p:nvSpPr>
        <p:spPr/>
        <p:txBody>
          <a:bodyPr/>
          <a:lstStyle/>
          <a:p>
            <a:pPr eaLnBrk="1" hangingPunct="1"/>
            <a:r>
              <a:rPr lang="en-US" altLang="en-US" dirty="0"/>
              <a:t>Adrenal Glands (Slide 1 of 2)</a:t>
            </a:r>
          </a:p>
        </p:txBody>
      </p:sp>
      <p:sp>
        <p:nvSpPr>
          <p:cNvPr id="2" name="Content Placeholder 1"/>
          <p:cNvSpPr>
            <a:spLocks noGrp="1"/>
          </p:cNvSpPr>
          <p:nvPr>
            <p:ph idx="1"/>
          </p:nvPr>
        </p:nvSpPr>
        <p:spPr>
          <a:xfrm>
            <a:off x="1447800" y="1600200"/>
            <a:ext cx="7239000" cy="4525963"/>
          </a:xfrm>
        </p:spPr>
        <p:txBody>
          <a:bodyPr/>
          <a:lstStyle/>
          <a:p>
            <a:r>
              <a:rPr lang="en-US" dirty="0"/>
              <a:t>Adrenal glands are located on top of each kidney. Each gland consists of two parts:</a:t>
            </a:r>
          </a:p>
          <a:p>
            <a:r>
              <a:rPr lang="en-US" dirty="0"/>
              <a:t> Adrenal cortex (outer portion)</a:t>
            </a:r>
          </a:p>
          <a:p>
            <a:r>
              <a:rPr lang="en-US" dirty="0"/>
              <a:t> Adrenal medulla (inner portion)</a:t>
            </a:r>
          </a:p>
          <a:p>
            <a:endParaRPr lang="es-419" dirty="0"/>
          </a:p>
        </p:txBody>
      </p:sp>
    </p:spTree>
    <p:extLst>
      <p:ext uri="{BB962C8B-B14F-4D97-AF65-F5344CB8AC3E}">
        <p14:creationId xmlns:p14="http://schemas.microsoft.com/office/powerpoint/2010/main" val="1702600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dirty="0"/>
              <a:t>Adrenal Glands (Slide 2 of 2</a:t>
            </a:r>
            <a:r>
              <a:rPr lang="en-US" altLang="ja-JP" dirty="0"/>
              <a:t>)</a:t>
            </a:r>
            <a:endParaRPr lang="en-US" altLang="en-US" dirty="0"/>
          </a:p>
        </p:txBody>
      </p:sp>
      <p:pic>
        <p:nvPicPr>
          <p:cNvPr id="5" name="Picture 8" descr="Adrenal glands are two small glands, one on top of each kidney. Each gland consists of 2 parts: an outer portion, the adrenal cortex, and an inner portion, the adrenal medull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14500" y="2101056"/>
            <a:ext cx="5715000" cy="3524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6563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304800"/>
            <a:ext cx="9144000" cy="1219200"/>
          </a:xfrm>
        </p:spPr>
        <p:txBody>
          <a:bodyPr/>
          <a:lstStyle/>
          <a:p>
            <a:pPr eaLnBrk="1" hangingPunct="1"/>
            <a:r>
              <a:rPr lang="en-US" altLang="en-US"/>
              <a:t>Adrenal Glands:  </a:t>
            </a:r>
            <a:br>
              <a:rPr lang="en-US" altLang="en-US"/>
            </a:br>
            <a:r>
              <a:rPr lang="en-US" altLang="en-US"/>
              <a:t>Location and Structure</a:t>
            </a:r>
          </a:p>
        </p:txBody>
      </p:sp>
      <p:sp>
        <p:nvSpPr>
          <p:cNvPr id="26627" name="Rectangle 3"/>
          <p:cNvSpPr>
            <a:spLocks noGrp="1" noChangeArrowheads="1"/>
          </p:cNvSpPr>
          <p:nvPr>
            <p:ph idx="1"/>
          </p:nvPr>
        </p:nvSpPr>
        <p:spPr>
          <a:xfrm>
            <a:off x="762000" y="1676400"/>
            <a:ext cx="7848600" cy="4114800"/>
          </a:xfrm>
        </p:spPr>
        <p:txBody>
          <a:bodyPr/>
          <a:lstStyle/>
          <a:p>
            <a:pPr eaLnBrk="1" hangingPunct="1">
              <a:buFont typeface="Wingdings 2" panose="05020102010507070707" pitchFamily="18" charset="2"/>
              <a:buNone/>
            </a:pPr>
            <a:r>
              <a:rPr lang="en-US" altLang="en-US"/>
              <a:t>Each gland has two parts</a:t>
            </a:r>
          </a:p>
          <a:p>
            <a:pPr eaLnBrk="1" hangingPunct="1">
              <a:buFont typeface="Wingdings 2" panose="05020102010507070707" pitchFamily="18" charset="2"/>
              <a:buNone/>
            </a:pPr>
            <a:endParaRPr lang="en-US" altLang="en-US" sz="900"/>
          </a:p>
          <a:p>
            <a:pPr lvl="1" eaLnBrk="1" hangingPunct="1">
              <a:buFont typeface="Wingdings" panose="05000000000000000000" pitchFamily="2" charset="2"/>
              <a:buChar char="Ø"/>
            </a:pPr>
            <a:r>
              <a:rPr lang="en-US" altLang="en-US">
                <a:ea typeface="MS PGothic" panose="020B0600070205080204" pitchFamily="34" charset="-128"/>
              </a:rPr>
              <a:t>An </a:t>
            </a:r>
            <a:r>
              <a:rPr lang="en-US" altLang="en-US" b="1">
                <a:ea typeface="MS PGothic" panose="020B0600070205080204" pitchFamily="34" charset="-128"/>
              </a:rPr>
              <a:t>outer</a:t>
            </a:r>
            <a:r>
              <a:rPr lang="en-US" altLang="en-US">
                <a:ea typeface="MS PGothic" panose="020B0600070205080204" pitchFamily="34" charset="-128"/>
              </a:rPr>
              <a:t> portion, the </a:t>
            </a:r>
            <a:r>
              <a:rPr lang="en-US" altLang="en-US" b="1">
                <a:ea typeface="MS PGothic" panose="020B0600070205080204" pitchFamily="34" charset="-128"/>
              </a:rPr>
              <a:t>adrenal cortex</a:t>
            </a:r>
          </a:p>
          <a:p>
            <a:pPr lvl="2" eaLnBrk="1" hangingPunct="1"/>
            <a:r>
              <a:rPr lang="en-US" altLang="en-US" sz="2800">
                <a:ea typeface="MS PGothic" panose="020B0600070205080204" pitchFamily="34" charset="-128"/>
              </a:rPr>
              <a:t>Secretes corticosteriods or steriods, chemicals derived from cholesterol</a:t>
            </a:r>
          </a:p>
          <a:p>
            <a:pPr lvl="2" eaLnBrk="1" hangingPunct="1"/>
            <a:endParaRPr lang="en-US" altLang="en-US" sz="2800">
              <a:ea typeface="MS PGothic" panose="020B0600070205080204" pitchFamily="34" charset="-128"/>
            </a:endParaRPr>
          </a:p>
          <a:p>
            <a:pPr lvl="1" eaLnBrk="1" hangingPunct="1">
              <a:buFont typeface="Wingdings" panose="05000000000000000000" pitchFamily="2" charset="2"/>
              <a:buChar char="Ø"/>
            </a:pPr>
            <a:r>
              <a:rPr lang="en-US" altLang="en-US">
                <a:ea typeface="MS PGothic" panose="020B0600070205080204" pitchFamily="34" charset="-128"/>
              </a:rPr>
              <a:t>An </a:t>
            </a:r>
            <a:r>
              <a:rPr lang="en-US" altLang="en-US" b="1">
                <a:ea typeface="MS PGothic" panose="020B0600070205080204" pitchFamily="34" charset="-128"/>
              </a:rPr>
              <a:t>inner</a:t>
            </a:r>
            <a:r>
              <a:rPr lang="en-US" altLang="en-US">
                <a:ea typeface="MS PGothic" panose="020B0600070205080204" pitchFamily="34" charset="-128"/>
              </a:rPr>
              <a:t> portion, </a:t>
            </a:r>
            <a:r>
              <a:rPr lang="en-US" altLang="en-US" b="1">
                <a:ea typeface="MS PGothic" panose="020B0600070205080204" pitchFamily="34" charset="-128"/>
              </a:rPr>
              <a:t>adrenal medulla</a:t>
            </a:r>
          </a:p>
          <a:p>
            <a:pPr lvl="2" eaLnBrk="1" hangingPunct="1"/>
            <a:r>
              <a:rPr lang="en-US" altLang="en-US" sz="2800">
                <a:ea typeface="MS PGothic" panose="020B0600070205080204" pitchFamily="34" charset="-128"/>
              </a:rPr>
              <a:t>Secretes catecholamines </a:t>
            </a:r>
          </a:p>
          <a:p>
            <a:pPr lvl="2" eaLnBrk="1" hangingPunct="1">
              <a:buFontTx/>
              <a:buNone/>
            </a:pPr>
            <a:r>
              <a:rPr lang="en-US" altLang="en-US" sz="2800">
                <a:ea typeface="MS PGothic" panose="020B0600070205080204" pitchFamily="34" charset="-128"/>
              </a:rPr>
              <a:t>   chemicals derived from amino acids</a:t>
            </a:r>
          </a:p>
          <a:p>
            <a:pPr eaLnBrk="1" hangingPunct="1"/>
            <a:endParaRPr lang="en-US" altLang="en-US"/>
          </a:p>
        </p:txBody>
      </p:sp>
    </p:spTree>
    <p:extLst>
      <p:ext uri="{BB962C8B-B14F-4D97-AF65-F5344CB8AC3E}">
        <p14:creationId xmlns:p14="http://schemas.microsoft.com/office/powerpoint/2010/main" val="3079720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Grp="1" noChangeArrowheads="1"/>
          </p:cNvSpPr>
          <p:nvPr>
            <p:ph type="title"/>
          </p:nvPr>
        </p:nvSpPr>
        <p:spPr>
          <a:xfrm>
            <a:off x="1370013" y="304800"/>
            <a:ext cx="6630987" cy="1143000"/>
          </a:xfrm>
        </p:spPr>
        <p:txBody>
          <a:bodyPr rtlCol="0">
            <a:normAutofit fontScale="90000"/>
          </a:bodyPr>
          <a:lstStyle/>
          <a:p>
            <a:pPr eaLnBrk="1" fontAlgn="auto" hangingPunct="1">
              <a:spcAft>
                <a:spcPts val="0"/>
              </a:spcAft>
              <a:defRPr/>
            </a:pPr>
            <a:r>
              <a:rPr lang="en-US" dirty="0"/>
              <a:t>Function:  </a:t>
            </a:r>
            <a:br>
              <a:rPr lang="en-US" dirty="0"/>
            </a:br>
            <a:r>
              <a:rPr lang="en-US" dirty="0"/>
              <a:t>Adrenal Cortex Secretes</a:t>
            </a:r>
          </a:p>
        </p:txBody>
      </p:sp>
      <p:sp>
        <p:nvSpPr>
          <p:cNvPr id="27651" name="Rectangle 5"/>
          <p:cNvSpPr>
            <a:spLocks noGrp="1" noChangeArrowheads="1"/>
          </p:cNvSpPr>
          <p:nvPr>
            <p:ph idx="1"/>
          </p:nvPr>
        </p:nvSpPr>
        <p:spPr>
          <a:xfrm>
            <a:off x="762000" y="1676400"/>
            <a:ext cx="7543800" cy="4267200"/>
          </a:xfrm>
        </p:spPr>
        <p:txBody>
          <a:bodyPr/>
          <a:lstStyle/>
          <a:p>
            <a:pPr eaLnBrk="1" hangingPunct="1">
              <a:lnSpc>
                <a:spcPct val="90000"/>
              </a:lnSpc>
            </a:pPr>
            <a:r>
              <a:rPr lang="en-US" altLang="en-US" b="1"/>
              <a:t>Glucocorticoids:</a:t>
            </a:r>
            <a:r>
              <a:rPr lang="en-US" altLang="en-US"/>
              <a:t> </a:t>
            </a:r>
            <a:r>
              <a:rPr lang="en-US" altLang="en-US" sz="2400"/>
              <a:t>influence metabolism of sugars, fats, and proteins (</a:t>
            </a:r>
            <a:r>
              <a:rPr lang="en-US" altLang="en-US" sz="2400" b="1"/>
              <a:t>cortisol</a:t>
            </a:r>
            <a:r>
              <a:rPr lang="en-US" altLang="en-US" sz="2400"/>
              <a:t>) and are anti-inflammatory (</a:t>
            </a:r>
            <a:r>
              <a:rPr lang="en-US" altLang="en-US" sz="2400" b="1"/>
              <a:t>cortisone</a:t>
            </a:r>
            <a:r>
              <a:rPr lang="en-US" altLang="en-US" sz="2400"/>
              <a:t>). Influences—</a:t>
            </a:r>
            <a:r>
              <a:rPr lang="en-US" altLang="en-US" sz="2400" b="1"/>
              <a:t>S</a:t>
            </a:r>
            <a:r>
              <a:rPr lang="en-US" altLang="en-US" sz="2400"/>
              <a:t>UGAR</a:t>
            </a:r>
          </a:p>
          <a:p>
            <a:pPr eaLnBrk="1" hangingPunct="1">
              <a:lnSpc>
                <a:spcPct val="90000"/>
              </a:lnSpc>
            </a:pPr>
            <a:endParaRPr lang="en-US" altLang="en-US" sz="1200"/>
          </a:p>
          <a:p>
            <a:pPr eaLnBrk="1" hangingPunct="1">
              <a:lnSpc>
                <a:spcPct val="90000"/>
              </a:lnSpc>
            </a:pPr>
            <a:r>
              <a:rPr lang="en-US" altLang="en-US" b="1"/>
              <a:t>Mineralocorticoids:</a:t>
            </a:r>
            <a:r>
              <a:rPr lang="en-US" altLang="en-US"/>
              <a:t> </a:t>
            </a:r>
            <a:r>
              <a:rPr lang="en-US" altLang="en-US" sz="2400"/>
              <a:t>regulate electrolytes</a:t>
            </a:r>
          </a:p>
          <a:p>
            <a:pPr lvl="1" eaLnBrk="1" hangingPunct="1">
              <a:lnSpc>
                <a:spcPct val="90000"/>
              </a:lnSpc>
              <a:buFont typeface="Wingdings" panose="05000000000000000000" pitchFamily="2" charset="2"/>
              <a:buChar char="Ø"/>
            </a:pPr>
            <a:r>
              <a:rPr lang="en-US" altLang="en-US" b="1"/>
              <a:t>Aldosterone:</a:t>
            </a:r>
            <a:r>
              <a:rPr lang="en-US" altLang="en-US"/>
              <a:t> reabsorption of sodium/excretion of potassium. Influences—</a:t>
            </a:r>
            <a:r>
              <a:rPr lang="en-US" altLang="en-US" b="1"/>
              <a:t>S</a:t>
            </a:r>
            <a:r>
              <a:rPr lang="en-US" altLang="en-US"/>
              <a:t>ALT</a:t>
            </a:r>
          </a:p>
          <a:p>
            <a:pPr lvl="1" eaLnBrk="1" hangingPunct="1">
              <a:lnSpc>
                <a:spcPct val="90000"/>
              </a:lnSpc>
            </a:pPr>
            <a:endParaRPr lang="en-US" altLang="en-US" sz="1200"/>
          </a:p>
          <a:p>
            <a:pPr eaLnBrk="1" hangingPunct="1">
              <a:lnSpc>
                <a:spcPct val="90000"/>
              </a:lnSpc>
            </a:pPr>
            <a:r>
              <a:rPr lang="en-US" altLang="en-US" b="1"/>
              <a:t>Sex Hormones:  </a:t>
            </a:r>
            <a:r>
              <a:rPr lang="en-US" altLang="en-US" sz="2800"/>
              <a:t>androgens (testosterone) and estrogens influence secondary sex characteristics </a:t>
            </a:r>
          </a:p>
        </p:txBody>
      </p:sp>
    </p:spTree>
    <p:extLst>
      <p:ext uri="{BB962C8B-B14F-4D97-AF65-F5344CB8AC3E}">
        <p14:creationId xmlns:p14="http://schemas.microsoft.com/office/powerpoint/2010/main" val="1866307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Grp="1" noChangeArrowheads="1"/>
          </p:cNvSpPr>
          <p:nvPr>
            <p:ph type="title"/>
          </p:nvPr>
        </p:nvSpPr>
        <p:spPr>
          <a:xfrm>
            <a:off x="0" y="304800"/>
            <a:ext cx="9144000" cy="1219200"/>
          </a:xfrm>
        </p:spPr>
        <p:txBody>
          <a:bodyPr rtlCol="0">
            <a:normAutofit fontScale="90000"/>
          </a:bodyPr>
          <a:lstStyle/>
          <a:p>
            <a:pPr eaLnBrk="1" fontAlgn="auto" hangingPunct="1">
              <a:spcAft>
                <a:spcPts val="0"/>
              </a:spcAft>
              <a:defRPr/>
            </a:pPr>
            <a:r>
              <a:rPr lang="en-US" dirty="0"/>
              <a:t>Function: </a:t>
            </a:r>
            <a:br>
              <a:rPr lang="en-US" dirty="0"/>
            </a:br>
            <a:r>
              <a:rPr lang="en-US" dirty="0"/>
              <a:t>Adrenal Medulla Secretes</a:t>
            </a:r>
          </a:p>
        </p:txBody>
      </p:sp>
      <p:sp>
        <p:nvSpPr>
          <p:cNvPr id="17413" name="Rectangle 5"/>
          <p:cNvSpPr>
            <a:spLocks noGrp="1" noChangeArrowheads="1"/>
          </p:cNvSpPr>
          <p:nvPr>
            <p:ph idx="1"/>
          </p:nvPr>
        </p:nvSpPr>
        <p:spPr>
          <a:xfrm>
            <a:off x="762000" y="1676400"/>
            <a:ext cx="7924800" cy="4343400"/>
          </a:xfrm>
        </p:spPr>
        <p:txBody>
          <a:bodyPr rtlCol="0">
            <a:normAutofit fontScale="92500" lnSpcReduction="20000"/>
          </a:bodyPr>
          <a:lstStyle/>
          <a:p>
            <a:pPr eaLnBrk="1" fontAlgn="auto" hangingPunct="1">
              <a:spcAft>
                <a:spcPts val="0"/>
              </a:spcAft>
              <a:defRPr/>
            </a:pPr>
            <a:r>
              <a:rPr lang="en-US" dirty="0"/>
              <a:t>Two types of</a:t>
            </a:r>
            <a:r>
              <a:rPr lang="en-US" b="1" dirty="0"/>
              <a:t> catecholamine </a:t>
            </a:r>
            <a:r>
              <a:rPr lang="en-US" dirty="0"/>
              <a:t>hormones</a:t>
            </a:r>
          </a:p>
          <a:p>
            <a:pPr eaLnBrk="1" fontAlgn="auto" hangingPunct="1">
              <a:spcAft>
                <a:spcPts val="0"/>
              </a:spcAft>
              <a:defRPr/>
            </a:pPr>
            <a:endParaRPr lang="en-US" sz="1500" dirty="0"/>
          </a:p>
          <a:p>
            <a:pPr lvl="1" eaLnBrk="1" fontAlgn="auto" hangingPunct="1">
              <a:spcAft>
                <a:spcPts val="0"/>
              </a:spcAft>
              <a:buFont typeface="Wingdings" pitchFamily="2" charset="2"/>
              <a:buChar char="Ø"/>
              <a:defRPr/>
            </a:pPr>
            <a:r>
              <a:rPr lang="en-US" sz="3300" b="1" dirty="0"/>
              <a:t>Epinephrine (adrenaline):</a:t>
            </a:r>
            <a:r>
              <a:rPr lang="en-US" sz="3300" dirty="0"/>
              <a:t> increases heart rate and blood pressure, dilates bronchial tubes, releases glucose from storage</a:t>
            </a:r>
          </a:p>
          <a:p>
            <a:pPr marL="457200" lvl="1" indent="0" eaLnBrk="1" fontAlgn="auto" hangingPunct="1">
              <a:spcAft>
                <a:spcPts val="0"/>
              </a:spcAft>
              <a:buFont typeface="Arial" charset="0"/>
              <a:buNone/>
              <a:defRPr/>
            </a:pPr>
            <a:endParaRPr lang="en-US" sz="3300" dirty="0"/>
          </a:p>
          <a:p>
            <a:pPr lvl="1" eaLnBrk="1" fontAlgn="auto" hangingPunct="1">
              <a:spcAft>
                <a:spcPts val="0"/>
              </a:spcAft>
              <a:buFont typeface="Wingdings" pitchFamily="2" charset="2"/>
              <a:buChar char="Ø"/>
              <a:defRPr/>
            </a:pPr>
            <a:r>
              <a:rPr lang="en-US" sz="3300" b="1" dirty="0"/>
              <a:t>Norepinephrine (noradrenaline):</a:t>
            </a:r>
            <a:r>
              <a:rPr lang="en-US" sz="3300" dirty="0"/>
              <a:t> constricts vessels to raise blood pressure</a:t>
            </a:r>
          </a:p>
          <a:p>
            <a:pPr lvl="1" eaLnBrk="1" fontAlgn="auto" hangingPunct="1">
              <a:spcAft>
                <a:spcPts val="0"/>
              </a:spcAft>
              <a:defRPr/>
            </a:pPr>
            <a:endParaRPr lang="en-US" sz="3300" dirty="0"/>
          </a:p>
          <a:p>
            <a:pPr lvl="1" eaLnBrk="1" fontAlgn="auto" hangingPunct="1">
              <a:spcAft>
                <a:spcPts val="0"/>
              </a:spcAft>
              <a:buFont typeface="Wingdings" pitchFamily="2" charset="2"/>
              <a:buChar char="Ø"/>
              <a:defRPr/>
            </a:pPr>
            <a:r>
              <a:rPr lang="en-US" sz="3300" b="1" dirty="0"/>
              <a:t>Both </a:t>
            </a:r>
            <a:r>
              <a:rPr lang="en-US" sz="3300" dirty="0"/>
              <a:t>are </a:t>
            </a:r>
            <a:r>
              <a:rPr lang="en-US" sz="3300" dirty="0" err="1"/>
              <a:t>sympathomimetic</a:t>
            </a:r>
            <a:r>
              <a:rPr lang="en-US" sz="3300" dirty="0"/>
              <a:t> agents.</a:t>
            </a:r>
          </a:p>
        </p:txBody>
      </p:sp>
    </p:spTree>
    <p:extLst>
      <p:ext uri="{BB962C8B-B14F-4D97-AF65-F5344CB8AC3E}">
        <p14:creationId xmlns:p14="http://schemas.microsoft.com/office/powerpoint/2010/main" val="705430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a:t>The Adrenal Cortex</a:t>
            </a:r>
            <a:br>
              <a:rPr lang="en-US"/>
            </a:br>
            <a:r>
              <a:rPr lang="en-US"/>
              <a:t>and Adrenal Medulla</a:t>
            </a:r>
          </a:p>
        </p:txBody>
      </p:sp>
      <p:pic>
        <p:nvPicPr>
          <p:cNvPr id="5" name="Picture 12" descr="Adrenal cortex secretes 3 types of corticosteroids: glucocorticoid (cortisol, increases blood glucose), mineralocorticoid (aldosterone, increases sodium reabsorption; regulates blood pressure), and sex hormones (androgen and estrogen, influence sex characteristics). Adrenal medulla secretes 2 types of catecholamine hormones: epinephrine (adrenaline) and norepinephrine (noradrenaline) both of which are sympathomimetic agent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1649" y="2286000"/>
            <a:ext cx="7951302" cy="33527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5904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7"/>
          <p:cNvSpPr>
            <a:spLocks noGrp="1" noChangeArrowheads="1"/>
          </p:cNvSpPr>
          <p:nvPr>
            <p:ph type="title"/>
          </p:nvPr>
        </p:nvSpPr>
        <p:spPr/>
        <p:txBody>
          <a:bodyPr/>
          <a:lstStyle/>
          <a:p>
            <a:pPr eaLnBrk="1" hangingPunct="1"/>
            <a:r>
              <a:rPr lang="en-US" altLang="en-US" dirty="0"/>
              <a:t>Pancreas</a:t>
            </a:r>
          </a:p>
        </p:txBody>
      </p:sp>
      <p:sp>
        <p:nvSpPr>
          <p:cNvPr id="30723" name="Rectangle 8"/>
          <p:cNvSpPr>
            <a:spLocks noGrp="1" noChangeArrowheads="1"/>
          </p:cNvSpPr>
          <p:nvPr>
            <p:ph idx="1"/>
          </p:nvPr>
        </p:nvSpPr>
        <p:spPr/>
        <p:txBody>
          <a:bodyPr/>
          <a:lstStyle/>
          <a:p>
            <a:pPr eaLnBrk="1" hangingPunct="1"/>
            <a:r>
              <a:rPr lang="en-US" altLang="en-US" dirty="0"/>
              <a:t>Located near and partially behind the stomach</a:t>
            </a:r>
          </a:p>
          <a:p>
            <a:pPr eaLnBrk="1" hangingPunct="1"/>
            <a:r>
              <a:rPr lang="en-US" altLang="en-US" dirty="0"/>
              <a:t>Exocrine and endocrine organ</a:t>
            </a:r>
          </a:p>
          <a:p>
            <a:pPr eaLnBrk="1" hangingPunct="1"/>
            <a:endParaRPr lang="en-US" altLang="en-US" sz="2400" dirty="0"/>
          </a:p>
        </p:txBody>
      </p:sp>
    </p:spTree>
    <p:extLst>
      <p:ext uri="{BB962C8B-B14F-4D97-AF65-F5344CB8AC3E}">
        <p14:creationId xmlns:p14="http://schemas.microsoft.com/office/powerpoint/2010/main" val="2896546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a:xfrm>
            <a:off x="762000" y="381000"/>
            <a:ext cx="8382000" cy="1143000"/>
          </a:xfrm>
        </p:spPr>
        <p:txBody>
          <a:bodyPr/>
          <a:lstStyle/>
          <a:p>
            <a:pPr eaLnBrk="1" hangingPunct="1"/>
            <a:r>
              <a:rPr lang="en-US" altLang="en-US" dirty="0"/>
              <a:t>Pancreas Function (Slide 1 of 2)</a:t>
            </a:r>
          </a:p>
        </p:txBody>
      </p:sp>
      <p:sp>
        <p:nvSpPr>
          <p:cNvPr id="32771" name="Rectangle 5"/>
          <p:cNvSpPr>
            <a:spLocks noGrp="1" noChangeArrowheads="1"/>
          </p:cNvSpPr>
          <p:nvPr>
            <p:ph idx="1"/>
          </p:nvPr>
        </p:nvSpPr>
        <p:spPr>
          <a:xfrm>
            <a:off x="762000" y="1676400"/>
            <a:ext cx="7467600" cy="4114800"/>
          </a:xfrm>
        </p:spPr>
        <p:txBody>
          <a:bodyPr/>
          <a:lstStyle/>
          <a:p>
            <a:pPr eaLnBrk="1" hangingPunct="1">
              <a:buFont typeface="Wingdings 2" panose="05020102010507070707" pitchFamily="18" charset="2"/>
              <a:buNone/>
            </a:pPr>
            <a:r>
              <a:rPr lang="en-US" altLang="en-US" b="1"/>
              <a:t>Endocrine</a:t>
            </a:r>
            <a:r>
              <a:rPr lang="en-US" altLang="en-US"/>
              <a:t> function </a:t>
            </a:r>
          </a:p>
          <a:p>
            <a:pPr eaLnBrk="1" hangingPunct="1"/>
            <a:r>
              <a:rPr lang="en-US" altLang="en-US"/>
              <a:t>Islets of Langerhans produce:</a:t>
            </a:r>
          </a:p>
          <a:p>
            <a:pPr lvl="1" eaLnBrk="1" hangingPunct="1">
              <a:buFont typeface="Wingdings" panose="05000000000000000000" pitchFamily="2" charset="2"/>
              <a:buChar char="Ø"/>
            </a:pPr>
            <a:r>
              <a:rPr lang="en-US" altLang="en-US" b="1"/>
              <a:t>Insulin:</a:t>
            </a:r>
            <a:r>
              <a:rPr lang="en-US" altLang="en-US"/>
              <a:t> promotes movement of glucose into cells and promotes storage as glycogen</a:t>
            </a:r>
          </a:p>
          <a:p>
            <a:pPr lvl="1" eaLnBrk="1" hangingPunct="1">
              <a:buFont typeface="Wingdings" panose="05000000000000000000" pitchFamily="2" charset="2"/>
              <a:buChar char="Ø"/>
            </a:pPr>
            <a:r>
              <a:rPr lang="en-US" altLang="en-US" b="1"/>
              <a:t>Glucagon:</a:t>
            </a:r>
            <a:r>
              <a:rPr lang="en-US" altLang="en-US"/>
              <a:t> promotes movement of glucose into the blood by breaking down glycogen stored in liver cells</a:t>
            </a:r>
          </a:p>
        </p:txBody>
      </p:sp>
    </p:spTree>
    <p:extLst>
      <p:ext uri="{BB962C8B-B14F-4D97-AF65-F5344CB8AC3E}">
        <p14:creationId xmlns:p14="http://schemas.microsoft.com/office/powerpoint/2010/main" val="224865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dirty="0"/>
              <a:t>Pancreas Function (Slide 2 of 2</a:t>
            </a:r>
            <a:r>
              <a:rPr lang="en-US" altLang="ja-JP" dirty="0"/>
              <a:t>)</a:t>
            </a:r>
            <a:endParaRPr lang="en-US" altLang="en-US" dirty="0"/>
          </a:p>
        </p:txBody>
      </p:sp>
      <p:pic>
        <p:nvPicPr>
          <p:cNvPr id="5" name="Picture 8" descr="The islets of Langerhans produce insulin (produced by beta cells) and glucagon (produced by alpha cells). Both play a role in regulating blood glucose (sugar) levels. Insulin lowers blood sugar by causing conversion of glucose to glycogen in the liver. If blood glucose levels fall too low, glucagon raises blood sugar by acting on the liver cells to promote conversion back to glucos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14500" y="2077244"/>
            <a:ext cx="5715000" cy="3571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0149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0" name="Rectangle 6"/>
          <p:cNvSpPr>
            <a:spLocks noGrp="1" noChangeArrowheads="1"/>
          </p:cNvSpPr>
          <p:nvPr>
            <p:ph type="title"/>
          </p:nvPr>
        </p:nvSpPr>
        <p:spPr>
          <a:xfrm>
            <a:off x="762000" y="304800"/>
            <a:ext cx="8153400" cy="1219200"/>
          </a:xfrm>
        </p:spPr>
        <p:txBody>
          <a:bodyPr rtlCol="0">
            <a:normAutofit fontScale="90000"/>
          </a:bodyPr>
          <a:lstStyle/>
          <a:p>
            <a:pPr eaLnBrk="1" fontAlgn="auto" hangingPunct="1">
              <a:spcAft>
                <a:spcPts val="0"/>
              </a:spcAft>
              <a:defRPr/>
            </a:pPr>
            <a:r>
              <a:rPr lang="en-US"/>
              <a:t>Chapter 18</a:t>
            </a:r>
            <a:br>
              <a:rPr lang="en-US"/>
            </a:br>
            <a:r>
              <a:rPr lang="en-US"/>
              <a:t>Lesson 18.2</a:t>
            </a:r>
          </a:p>
        </p:txBody>
      </p:sp>
    </p:spTree>
    <p:extLst>
      <p:ext uri="{BB962C8B-B14F-4D97-AF65-F5344CB8AC3E}">
        <p14:creationId xmlns:p14="http://schemas.microsoft.com/office/powerpoint/2010/main" val="3220815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title"/>
          </p:nvPr>
        </p:nvSpPr>
        <p:spPr>
          <a:xfrm>
            <a:off x="762000" y="381000"/>
            <a:ext cx="8229600" cy="1143000"/>
          </a:xfrm>
        </p:spPr>
        <p:txBody>
          <a:bodyPr/>
          <a:lstStyle/>
          <a:p>
            <a:pPr eaLnBrk="1" hangingPunct="1"/>
            <a:r>
              <a:rPr lang="en-US" altLang="en-US" dirty="0"/>
              <a:t>Pituitary Gland (Slide 1 of 3)</a:t>
            </a:r>
          </a:p>
        </p:txBody>
      </p:sp>
      <p:sp>
        <p:nvSpPr>
          <p:cNvPr id="35843" name="Rectangle 5"/>
          <p:cNvSpPr>
            <a:spLocks noGrp="1" noChangeArrowheads="1"/>
          </p:cNvSpPr>
          <p:nvPr>
            <p:ph idx="1"/>
          </p:nvPr>
        </p:nvSpPr>
        <p:spPr>
          <a:xfrm>
            <a:off x="762000" y="1676400"/>
            <a:ext cx="8001000" cy="4114800"/>
          </a:xfrm>
        </p:spPr>
        <p:txBody>
          <a:bodyPr/>
          <a:lstStyle/>
          <a:p>
            <a:pPr eaLnBrk="1" hangingPunct="1"/>
            <a:r>
              <a:rPr lang="en-US" altLang="en-US"/>
              <a:t>Pea-sized gland in depression of skull (sella turcica) also called the </a:t>
            </a:r>
            <a:r>
              <a:rPr lang="en-US" altLang="en-US" b="1"/>
              <a:t>hypophysis</a:t>
            </a:r>
          </a:p>
          <a:p>
            <a:pPr lvl="1" eaLnBrk="1" hangingPunct="1">
              <a:buFont typeface="Wingdings" panose="05000000000000000000" pitchFamily="2" charset="2"/>
              <a:buChar char="Ø"/>
            </a:pPr>
            <a:r>
              <a:rPr lang="en-US" altLang="en-US"/>
              <a:t>Anterior lobe (adenohypophysis)</a:t>
            </a:r>
          </a:p>
          <a:p>
            <a:pPr lvl="1" eaLnBrk="1" hangingPunct="1">
              <a:buFont typeface="Wingdings" panose="05000000000000000000" pitchFamily="2" charset="2"/>
              <a:buChar char="Ø"/>
            </a:pPr>
            <a:r>
              <a:rPr lang="en-US" altLang="en-US"/>
              <a:t>Posterior lobe (neurohypophysis)</a:t>
            </a:r>
          </a:p>
          <a:p>
            <a:pPr eaLnBrk="1" hangingPunct="1"/>
            <a:r>
              <a:rPr lang="en-US" altLang="en-US" b="1"/>
              <a:t>Hypothalamus</a:t>
            </a:r>
            <a:r>
              <a:rPr lang="en-US" altLang="en-US"/>
              <a:t> controls secretions of the pituitary via releasing factors (hormones)</a:t>
            </a:r>
          </a:p>
        </p:txBody>
      </p:sp>
    </p:spTree>
    <p:extLst>
      <p:ext uri="{BB962C8B-B14F-4D97-AF65-F5344CB8AC3E}">
        <p14:creationId xmlns:p14="http://schemas.microsoft.com/office/powerpoint/2010/main" val="34914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12"/>
          <p:cNvSpPr>
            <a:spLocks noGrp="1" noChangeArrowheads="1"/>
          </p:cNvSpPr>
          <p:nvPr>
            <p:ph type="title"/>
          </p:nvPr>
        </p:nvSpPr>
        <p:spPr/>
        <p:txBody>
          <a:bodyPr/>
          <a:lstStyle/>
          <a:p>
            <a:pPr eaLnBrk="1" hangingPunct="1"/>
            <a:r>
              <a:rPr lang="en-US" altLang="en-US" dirty="0"/>
              <a:t>Pituitary Gland (Slide 2 of 3</a:t>
            </a:r>
            <a:r>
              <a:rPr lang="en-US" altLang="ja-JP" dirty="0"/>
              <a:t>)</a:t>
            </a:r>
            <a:endParaRPr lang="en-US" altLang="en-US" dirty="0"/>
          </a:p>
        </p:txBody>
      </p:sp>
      <p:sp>
        <p:nvSpPr>
          <p:cNvPr id="2" name="Content Placeholder 1"/>
          <p:cNvSpPr>
            <a:spLocks noGrp="1"/>
          </p:cNvSpPr>
          <p:nvPr>
            <p:ph idx="1"/>
          </p:nvPr>
        </p:nvSpPr>
        <p:spPr>
          <a:xfrm>
            <a:off x="1488989" y="2133600"/>
            <a:ext cx="7162800" cy="2362200"/>
          </a:xfrm>
        </p:spPr>
        <p:txBody>
          <a:bodyPr/>
          <a:lstStyle/>
          <a:p>
            <a:r>
              <a:rPr lang="en-US" dirty="0"/>
              <a:t>The pituitary gland consists of two distinct parts:</a:t>
            </a:r>
          </a:p>
          <a:p>
            <a:r>
              <a:rPr lang="en-US" dirty="0"/>
              <a:t> Anterior lobe or adenohypophysis</a:t>
            </a:r>
          </a:p>
          <a:p>
            <a:r>
              <a:rPr lang="en-US" dirty="0"/>
              <a:t> Posterior lobe or neurohypophysis</a:t>
            </a:r>
          </a:p>
          <a:p>
            <a:endParaRPr lang="es-419" dirty="0"/>
          </a:p>
        </p:txBody>
      </p:sp>
    </p:spTree>
    <p:extLst>
      <p:ext uri="{BB962C8B-B14F-4D97-AF65-F5344CB8AC3E}">
        <p14:creationId xmlns:p14="http://schemas.microsoft.com/office/powerpoint/2010/main" val="2828779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dirty="0"/>
              <a:t>Pituitary Gland (Slide 3 of 3</a:t>
            </a:r>
            <a:r>
              <a:rPr lang="en-US" altLang="ja-JP" dirty="0"/>
              <a:t>)</a:t>
            </a:r>
            <a:endParaRPr lang="en-US" altLang="en-US" dirty="0"/>
          </a:p>
        </p:txBody>
      </p:sp>
      <p:pic>
        <p:nvPicPr>
          <p:cNvPr id="5" name="Picture 10" descr="The pituitary gland is a small pea-sized gland located at the base of the brain in a small pocketlike depression of the skull called the sella turcica. It consists of 2 distinct parts: an anterior lobe or adenohypophysis, and a posterior lobe or neurohypophysis. The hypothalamus is a region of the brain under the thalamus and above the pituitary glan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21202" y="1600200"/>
            <a:ext cx="7501596"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860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a:t>Relationship of the Hypothalamus to the Pituitary Gland</a:t>
            </a:r>
          </a:p>
        </p:txBody>
      </p:sp>
      <p:pic>
        <p:nvPicPr>
          <p:cNvPr id="5" name="Picture 5" descr="Signals transmitted from the hypothalamus control secretions by the pituitary gland. Special secretory neurons in the hypothalamus send releasing and inhibiting factors (hormones) via capillaries to the anterior pituitary gland. The hypothalamus also produces and secretes hormones directly to the posterior lobe of the pituitary gland, where the hormones are stored and then release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69437" y="1600200"/>
            <a:ext cx="7205125"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8533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ChangeArrowheads="1"/>
          </p:cNvSpPr>
          <p:nvPr>
            <p:ph type="title"/>
          </p:nvPr>
        </p:nvSpPr>
        <p:spPr>
          <a:xfrm>
            <a:off x="762000" y="304800"/>
            <a:ext cx="8153400" cy="1219200"/>
          </a:xfrm>
        </p:spPr>
        <p:txBody>
          <a:bodyPr/>
          <a:lstStyle/>
          <a:p>
            <a:pPr eaLnBrk="1" hangingPunct="1"/>
            <a:r>
              <a:rPr lang="en-US" altLang="en-US" dirty="0"/>
              <a:t>Pituitary Function (Slide 1 of 2)</a:t>
            </a:r>
          </a:p>
        </p:txBody>
      </p:sp>
      <p:sp>
        <p:nvSpPr>
          <p:cNvPr id="39939" name="Rectangle 7"/>
          <p:cNvSpPr>
            <a:spLocks noGrp="1" noChangeArrowheads="1"/>
          </p:cNvSpPr>
          <p:nvPr>
            <p:ph idx="1"/>
          </p:nvPr>
        </p:nvSpPr>
        <p:spPr>
          <a:xfrm>
            <a:off x="762000" y="1717675"/>
            <a:ext cx="8077200" cy="4454525"/>
          </a:xfrm>
        </p:spPr>
        <p:txBody>
          <a:bodyPr/>
          <a:lstStyle/>
          <a:p>
            <a:pPr eaLnBrk="1" hangingPunct="1"/>
            <a:r>
              <a:rPr lang="en-US" altLang="en-US" b="1" dirty="0"/>
              <a:t>Anterior pituitary</a:t>
            </a:r>
          </a:p>
          <a:p>
            <a:pPr lvl="1" eaLnBrk="1" hangingPunct="1">
              <a:buFont typeface="Wingdings" panose="05000000000000000000" pitchFamily="2" charset="2"/>
              <a:buChar char="Ø"/>
            </a:pPr>
            <a:r>
              <a:rPr lang="en-US" altLang="en-US" dirty="0"/>
              <a:t>Growth hormone (GH) or somatotropin (STH)</a:t>
            </a:r>
          </a:p>
          <a:p>
            <a:pPr lvl="1" eaLnBrk="1" hangingPunct="1">
              <a:buFont typeface="Wingdings" panose="05000000000000000000" pitchFamily="2" charset="2"/>
              <a:buChar char="Ø"/>
            </a:pPr>
            <a:r>
              <a:rPr lang="en-US" altLang="en-US" dirty="0"/>
              <a:t>Thyroid-stimulating hormone (TSH; thyrotropin)</a:t>
            </a:r>
          </a:p>
          <a:p>
            <a:pPr lvl="1" eaLnBrk="1" hangingPunct="1">
              <a:buFont typeface="Wingdings" panose="05000000000000000000" pitchFamily="2" charset="2"/>
              <a:buChar char="Ø"/>
            </a:pPr>
            <a:r>
              <a:rPr lang="en-US" altLang="en-US" dirty="0"/>
              <a:t>Adrenocorticotropic hormone (ACTH)</a:t>
            </a:r>
          </a:p>
          <a:p>
            <a:pPr lvl="1" eaLnBrk="1" hangingPunct="1">
              <a:buFont typeface="Wingdings" panose="05000000000000000000" pitchFamily="2" charset="2"/>
              <a:buChar char="Ø"/>
            </a:pPr>
            <a:r>
              <a:rPr lang="en-US" altLang="en-US" dirty="0"/>
              <a:t>Gonadotropic hormones (FSH, LH)</a:t>
            </a:r>
          </a:p>
          <a:p>
            <a:pPr lvl="1" eaLnBrk="1" hangingPunct="1">
              <a:buFont typeface="Wingdings" panose="05000000000000000000" pitchFamily="2" charset="2"/>
              <a:buChar char="Ø"/>
            </a:pPr>
            <a:r>
              <a:rPr lang="en-US" altLang="en-US" dirty="0"/>
              <a:t>Prolactin (PRL)</a:t>
            </a:r>
          </a:p>
        </p:txBody>
      </p:sp>
    </p:spTree>
    <p:extLst>
      <p:ext uri="{BB962C8B-B14F-4D97-AF65-F5344CB8AC3E}">
        <p14:creationId xmlns:p14="http://schemas.microsoft.com/office/powerpoint/2010/main" val="944530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p:nvPr>
        </p:nvSpPr>
        <p:spPr>
          <a:xfrm>
            <a:off x="762000" y="304800"/>
            <a:ext cx="8153400" cy="1219200"/>
          </a:xfrm>
        </p:spPr>
        <p:txBody>
          <a:bodyPr/>
          <a:lstStyle/>
          <a:p>
            <a:pPr eaLnBrk="1" hangingPunct="1"/>
            <a:r>
              <a:rPr lang="en-US" altLang="en-US" dirty="0"/>
              <a:t>Pituitary Function (Slide 2 of 2</a:t>
            </a:r>
            <a:r>
              <a:rPr lang="en-US" altLang="ja-JP" dirty="0"/>
              <a:t>)</a:t>
            </a:r>
            <a:endParaRPr lang="en-US" altLang="en-US" dirty="0"/>
          </a:p>
        </p:txBody>
      </p:sp>
      <p:sp>
        <p:nvSpPr>
          <p:cNvPr id="40963" name="Rectangle 5"/>
          <p:cNvSpPr>
            <a:spLocks noGrp="1" noChangeArrowheads="1"/>
          </p:cNvSpPr>
          <p:nvPr>
            <p:ph idx="1"/>
          </p:nvPr>
        </p:nvSpPr>
        <p:spPr>
          <a:xfrm>
            <a:off x="762000" y="1717675"/>
            <a:ext cx="7772400" cy="4454525"/>
          </a:xfrm>
        </p:spPr>
        <p:txBody>
          <a:bodyPr/>
          <a:lstStyle/>
          <a:p>
            <a:pPr eaLnBrk="1" hangingPunct="1"/>
            <a:r>
              <a:rPr lang="en-US" altLang="en-US" b="1"/>
              <a:t>Posterior pituitary:</a:t>
            </a:r>
            <a:r>
              <a:rPr lang="en-US" altLang="en-US"/>
              <a:t> stores and releases hormones synthesized in the hypothalamus</a:t>
            </a:r>
          </a:p>
          <a:p>
            <a:pPr lvl="1" eaLnBrk="1" hangingPunct="1">
              <a:buFont typeface="Wingdings" panose="05000000000000000000" pitchFamily="2" charset="2"/>
              <a:buChar char="Ø"/>
            </a:pPr>
            <a:r>
              <a:rPr lang="en-US" altLang="en-US" b="1"/>
              <a:t>Antidiuretic hormone  (ADH; vasopressin)</a:t>
            </a:r>
          </a:p>
          <a:p>
            <a:pPr lvl="1" eaLnBrk="1" hangingPunct="1">
              <a:buFont typeface="Wingdings" panose="05000000000000000000" pitchFamily="2" charset="2"/>
              <a:buChar char="Ø"/>
            </a:pPr>
            <a:r>
              <a:rPr lang="en-US" altLang="en-US" b="1"/>
              <a:t>Oxytocin (OT)</a:t>
            </a:r>
          </a:p>
        </p:txBody>
      </p:sp>
    </p:spTree>
    <p:extLst>
      <p:ext uri="{BB962C8B-B14F-4D97-AF65-F5344CB8AC3E}">
        <p14:creationId xmlns:p14="http://schemas.microsoft.com/office/powerpoint/2010/main" val="2138163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3" name="Rectangle 9"/>
          <p:cNvSpPr>
            <a:spLocks noGrp="1" noChangeArrowheads="1"/>
          </p:cNvSpPr>
          <p:nvPr>
            <p:ph type="title"/>
          </p:nvPr>
        </p:nvSpPr>
        <p:spPr/>
        <p:txBody>
          <a:bodyPr rtlCol="0">
            <a:normAutofit fontScale="90000"/>
          </a:bodyPr>
          <a:lstStyle/>
          <a:p>
            <a:pPr eaLnBrk="1" fontAlgn="auto" hangingPunct="1">
              <a:spcAft>
                <a:spcPts val="0"/>
              </a:spcAft>
              <a:defRPr/>
            </a:pPr>
            <a:r>
              <a:rPr lang="en-US" dirty="0"/>
              <a:t>Pituitary Gland: Hormones and Actions</a:t>
            </a:r>
          </a:p>
        </p:txBody>
      </p:sp>
      <p:pic>
        <p:nvPicPr>
          <p:cNvPr id="5" name="Picture 13" descr="The major hormones of the anterior pituitary gland are growth hormone (GH) or somatotropin (STH); thyroid-stimulating hormone (TSH) or thyrotropin; adrenocorticotropic hormone (ACTH) or adrenocorticotropin; gonadotropic hormone (in males), follicle-stimulating hormone (FSH) luteinizing hormone (LH) (in females); and prolactin (PRL) (in females). Posterior pituitary gland stores and release 2 important hormones: antidiuretic hormone (ADH) and oxytocin (O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29324" y="1600200"/>
            <a:ext cx="5085351"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1711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a:t>Ovaries and </a:t>
            </a:r>
            <a:br>
              <a:rPr lang="en-US"/>
            </a:br>
            <a:r>
              <a:rPr lang="en-US"/>
              <a:t>Testes: Hormones and Actions</a:t>
            </a:r>
          </a:p>
        </p:txBody>
      </p:sp>
      <p:pic>
        <p:nvPicPr>
          <p:cNvPr id="6" name="Picture 7" descr="The ovaries are 2 small glands located in the lower abdominal region of the female. Ovaries produce female gamete, ovum, and hormones responsible for female sex characteristics and regulation of menstrual cycle. Ovarian hormones are estrogen and progesterone. The testes are 2 small ovoid glands suspended from the inguinal region of the male. Testes produce male gametes, spermatozoa, and testerosterone hormon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66799" y="1600200"/>
            <a:ext cx="7332705" cy="45218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35917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304800"/>
            <a:ext cx="7772400" cy="1219200"/>
          </a:xfrm>
        </p:spPr>
        <p:txBody>
          <a:bodyPr/>
          <a:lstStyle/>
          <a:p>
            <a:pPr eaLnBrk="1" hangingPunct="1"/>
            <a:r>
              <a:rPr lang="en-US" altLang="en-US"/>
              <a:t>Male                    Female</a:t>
            </a:r>
          </a:p>
        </p:txBody>
      </p:sp>
      <p:sp>
        <p:nvSpPr>
          <p:cNvPr id="44035" name="Rectangle 3"/>
          <p:cNvSpPr>
            <a:spLocks noGrp="1" noChangeArrowheads="1"/>
          </p:cNvSpPr>
          <p:nvPr>
            <p:ph sz="half" idx="1"/>
          </p:nvPr>
        </p:nvSpPr>
        <p:spPr>
          <a:xfrm>
            <a:off x="762000" y="1676400"/>
            <a:ext cx="2743200" cy="4114800"/>
          </a:xfrm>
        </p:spPr>
        <p:txBody>
          <a:bodyPr/>
          <a:lstStyle/>
          <a:p>
            <a:pPr eaLnBrk="1" hangingPunct="1">
              <a:buFont typeface="Wingdings 2" panose="05020102010507070707" pitchFamily="18" charset="2"/>
              <a:buNone/>
            </a:pPr>
            <a:r>
              <a:rPr lang="en-US" altLang="en-US" sz="3200" b="1"/>
              <a:t>Testes</a:t>
            </a:r>
          </a:p>
          <a:p>
            <a:pPr eaLnBrk="1" hangingPunct="1"/>
            <a:r>
              <a:rPr lang="en-US" altLang="en-US" sz="2400"/>
              <a:t>Hormone: </a:t>
            </a:r>
            <a:r>
              <a:rPr lang="en-US" altLang="en-US" sz="2400" b="1"/>
              <a:t>testosterone</a:t>
            </a:r>
          </a:p>
          <a:p>
            <a:pPr eaLnBrk="1" hangingPunct="1">
              <a:buFont typeface="Wingdings 2" panose="05020102010507070707" pitchFamily="18" charset="2"/>
              <a:buNone/>
            </a:pPr>
            <a:r>
              <a:rPr lang="en-US" altLang="en-US" sz="2400"/>
              <a:t>     Maintains germ cell formation and secondary sexual characteristics</a:t>
            </a:r>
          </a:p>
        </p:txBody>
      </p:sp>
      <p:sp>
        <p:nvSpPr>
          <p:cNvPr id="44036" name="Rectangle 4"/>
          <p:cNvSpPr>
            <a:spLocks noGrp="1" noChangeArrowheads="1"/>
          </p:cNvSpPr>
          <p:nvPr>
            <p:ph sz="half" idx="2"/>
          </p:nvPr>
        </p:nvSpPr>
        <p:spPr>
          <a:xfrm>
            <a:off x="4800600" y="1676400"/>
            <a:ext cx="3505200" cy="4343400"/>
          </a:xfrm>
        </p:spPr>
        <p:txBody>
          <a:bodyPr/>
          <a:lstStyle/>
          <a:p>
            <a:pPr eaLnBrk="1" hangingPunct="1">
              <a:buFont typeface="Wingdings 2" panose="05020102010507070707" pitchFamily="18" charset="2"/>
              <a:buNone/>
            </a:pPr>
            <a:r>
              <a:rPr lang="en-US" altLang="en-US" sz="3200" b="1"/>
              <a:t>Ovaries</a:t>
            </a:r>
          </a:p>
          <a:p>
            <a:pPr eaLnBrk="1" hangingPunct="1"/>
            <a:r>
              <a:rPr lang="en-US" altLang="en-US" sz="2400"/>
              <a:t>Hormones: </a:t>
            </a:r>
            <a:r>
              <a:rPr lang="en-US" altLang="en-US" sz="2400" b="1"/>
              <a:t>estrogen</a:t>
            </a:r>
            <a:r>
              <a:rPr lang="en-US" altLang="en-US" sz="2400"/>
              <a:t> and </a:t>
            </a:r>
            <a:r>
              <a:rPr lang="en-US" altLang="en-US" sz="2400" b="1"/>
              <a:t>progesterone</a:t>
            </a:r>
          </a:p>
          <a:p>
            <a:pPr eaLnBrk="1" hangingPunct="1">
              <a:buFont typeface="Wingdings 2" panose="05020102010507070707" pitchFamily="18" charset="2"/>
              <a:buNone/>
            </a:pPr>
            <a:r>
              <a:rPr lang="en-US" altLang="en-US" sz="2400"/>
              <a:t>	Maintains menstrual cycle, release of ovum, secondary sexual characteristics, preparation of uterus for pregnancy</a:t>
            </a:r>
          </a:p>
        </p:txBody>
      </p:sp>
    </p:spTree>
    <p:extLst>
      <p:ext uri="{BB962C8B-B14F-4D97-AF65-F5344CB8AC3E}">
        <p14:creationId xmlns:p14="http://schemas.microsoft.com/office/powerpoint/2010/main" val="3340346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Vocabulary – Major Endocrine Glands (Slide 1 of 4)</a:t>
            </a:r>
          </a:p>
        </p:txBody>
      </p:sp>
      <p:graphicFrame>
        <p:nvGraphicFramePr>
          <p:cNvPr id="8" name="Content Placeholder 7" descr="Group 1 of 2:  This table lists a group of vocabulary--major endocrine gland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510118216"/>
              </p:ext>
            </p:extLst>
          </p:nvPr>
        </p:nvGraphicFramePr>
        <p:xfrm>
          <a:off x="3390900" y="2133600"/>
          <a:ext cx="2362200" cy="22860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0" dirty="0"/>
                        <a:t>adrenal cortex</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0" dirty="0"/>
                        <a:t>adrenal medulla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0" dirty="0"/>
                        <a:t>ovaries</a:t>
                      </a:r>
                    </a:p>
                  </a:txBody>
                  <a:tcPr/>
                </a:tc>
                <a:extLst>
                  <a:ext uri="{0D108BD9-81ED-4DB2-BD59-A6C34878D82A}">
                    <a16:rowId xmlns:a16="http://schemas.microsoft.com/office/drawing/2014/main" val="10003"/>
                  </a:ext>
                </a:extLst>
              </a:tr>
              <a:tr h="370840">
                <a:tc>
                  <a:txBody>
                    <a:bodyPr/>
                    <a:lstStyle/>
                    <a:p>
                      <a:r>
                        <a:rPr lang="en-US" altLang="en-US" sz="2400" b="0" dirty="0"/>
                        <a:t>pancreas</a:t>
                      </a:r>
                      <a:endParaRPr lang="en-US" sz="24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70065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Vocabulary – Major Endocrine Glands (Slide 2 of 4)</a:t>
            </a:r>
          </a:p>
        </p:txBody>
      </p:sp>
      <p:graphicFrame>
        <p:nvGraphicFramePr>
          <p:cNvPr id="8" name="Content Placeholder 7" descr="Group 1 of 2.  List of vocabulary-major endocrine glands  with corresponding meanings or definitions."/>
          <p:cNvGraphicFramePr>
            <a:graphicFrameLocks noGrp="1"/>
          </p:cNvGraphicFramePr>
          <p:nvPr>
            <p:ph idx="1"/>
            <p:extLst>
              <p:ext uri="{D42A27DB-BD31-4B8C-83A1-F6EECF244321}">
                <p14:modId xmlns:p14="http://schemas.microsoft.com/office/powerpoint/2010/main" val="593409287"/>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0" dirty="0"/>
                        <a:t>adrenal cortex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 section of each adrenal gland; secretes cortisol, aldosterone, and sex hormones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0" dirty="0"/>
                        <a:t>adrenal medulla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Inner section of each adrenal gland; secretes epinephrine and norepinephrine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0" dirty="0"/>
                        <a:t>ovaries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Located in the lower abdomen of female; responsible for egg production and estrogen and progesterone secretion</a:t>
                      </a:r>
                    </a:p>
                  </a:txBody>
                  <a:tcPr/>
                </a:tc>
                <a:extLst>
                  <a:ext uri="{0D108BD9-81ED-4DB2-BD59-A6C34878D82A}">
                    <a16:rowId xmlns:a16="http://schemas.microsoft.com/office/drawing/2014/main" val="10003"/>
                  </a:ext>
                </a:extLst>
              </a:tr>
              <a:tr h="370840">
                <a:tc>
                  <a:txBody>
                    <a:bodyPr/>
                    <a:lstStyle/>
                    <a:p>
                      <a:r>
                        <a:rPr lang="en-US" altLang="en-US" sz="2400" b="0" dirty="0"/>
                        <a:t>pancreas</a:t>
                      </a:r>
                      <a:endParaRPr lang="en-US" sz="24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Located behind the stomach</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64471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Vocabulary – Major Endocrine Glands (Slide 3 of 4)</a:t>
            </a:r>
          </a:p>
        </p:txBody>
      </p:sp>
      <p:graphicFrame>
        <p:nvGraphicFramePr>
          <p:cNvPr id="8" name="Content Placeholder 7" descr="Group 2 of 2:  This table lists a group of vocabulary--major endocrine gland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533801186"/>
              </p:ext>
            </p:extLst>
          </p:nvPr>
        </p:nvGraphicFramePr>
        <p:xfrm>
          <a:off x="2095500" y="2362200"/>
          <a:ext cx="4953000" cy="2438400"/>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parathyroid glands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pituitary gland (</a:t>
                      </a:r>
                      <a:r>
                        <a:rPr lang="en-US" altLang="en-US" sz="2600" b="0" dirty="0" err="1"/>
                        <a:t>hypophysis</a:t>
                      </a:r>
                      <a:r>
                        <a:rPr lang="en-US" altLang="en-US" sz="2600" b="0" dirty="0"/>
                        <a: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testes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thyroid gland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96867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Vocabulary – Major Endocrine Glands (Slide 4 of 4)</a:t>
            </a:r>
          </a:p>
        </p:txBody>
      </p:sp>
      <p:graphicFrame>
        <p:nvGraphicFramePr>
          <p:cNvPr id="8" name="Content Placeholder 7" descr="Group 2 of 2.  List of vocabulary-major endocrine glands  with corresponding meanings or definitions."/>
          <p:cNvGraphicFramePr>
            <a:graphicFrameLocks noGrp="1"/>
          </p:cNvGraphicFramePr>
          <p:nvPr>
            <p:ph idx="1"/>
            <p:extLst>
              <p:ext uri="{D42A27DB-BD31-4B8C-83A1-F6EECF244321}">
                <p14:modId xmlns:p14="http://schemas.microsoft.com/office/powerpoint/2010/main" val="1787224965"/>
              </p:ext>
            </p:extLst>
          </p:nvPr>
        </p:nvGraphicFramePr>
        <p:xfrm>
          <a:off x="457200" y="1600200"/>
          <a:ext cx="8229600" cy="48158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parathyroid glands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Four small glands on the posterior of the thyroid gland</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pituitary gland (</a:t>
                      </a:r>
                      <a:r>
                        <a:rPr lang="en-US" altLang="en-US" sz="2600" b="0" dirty="0" err="1"/>
                        <a:t>hypophysis</a:t>
                      </a:r>
                      <a:r>
                        <a:rPr lang="en-US" altLang="en-US" sz="2600" b="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Located at the base of brain in the </a:t>
                      </a:r>
                      <a:r>
                        <a:rPr lang="en-US" altLang="en-US" sz="2600" dirty="0" err="1"/>
                        <a:t>sella</a:t>
                      </a:r>
                      <a:r>
                        <a:rPr lang="en-US" altLang="en-US" sz="2600" dirty="0"/>
                        <a:t> </a:t>
                      </a:r>
                      <a:r>
                        <a:rPr lang="en-US" altLang="en-US" sz="2600" dirty="0" err="1"/>
                        <a:t>turcica</a:t>
                      </a:r>
                      <a:endParaRPr lang="en-US" alt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testes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Two glands enclosed in the scrotal sac of a male; responsible for sperm production and testosterone secretion</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thyroid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Located in the neck on either side of the trachea; secretes </a:t>
                      </a:r>
                      <a:r>
                        <a:rPr lang="en-US" altLang="en-US" sz="2600" dirty="0" err="1"/>
                        <a:t>thyroxine</a:t>
                      </a:r>
                      <a:r>
                        <a:rPr lang="en-US" altLang="en-US" sz="2600" dirty="0"/>
                        <a:t>, </a:t>
                      </a:r>
                      <a:r>
                        <a:rPr lang="en-US" altLang="en-US" sz="2600" dirty="0" err="1"/>
                        <a:t>triiodothyronine</a:t>
                      </a:r>
                      <a:r>
                        <a:rPr lang="en-US" altLang="en-US" sz="2600" dirty="0"/>
                        <a:t>, and calcitonin</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313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1 of 14)</a:t>
            </a:r>
          </a:p>
        </p:txBody>
      </p:sp>
      <p:graphicFrame>
        <p:nvGraphicFramePr>
          <p:cNvPr id="8" name="Content Placeholder 7" descr="Group 1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731702814"/>
              </p:ext>
            </p:extLst>
          </p:nvPr>
        </p:nvGraphicFramePr>
        <p:xfrm>
          <a:off x="3390900" y="1981200"/>
          <a:ext cx="2362200" cy="36271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adrenaline (epinephrine)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err="1">
                          <a:ea typeface="ＭＳ Ｐゴシック" charset="0"/>
                        </a:rPr>
                        <a:t>adrenocortico</a:t>
                      </a:r>
                      <a:r>
                        <a:rPr lang="en-US" sz="2600" b="0" dirty="0">
                          <a:ea typeface="ＭＳ Ｐゴシック" charset="0"/>
                        </a:rPr>
                        <a:t>-tropic hormone (ACTH)</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aldosterone</a:t>
                      </a:r>
                      <a:endParaRPr lang="en-US" altLang="en-US" sz="2600" b="0" dirty="0"/>
                    </a:p>
                  </a:txBody>
                  <a:tcPr/>
                </a:tc>
                <a:extLst>
                  <a:ext uri="{0D108BD9-81ED-4DB2-BD59-A6C34878D82A}">
                    <a16:rowId xmlns:a16="http://schemas.microsoft.com/office/drawing/2014/main" val="10003"/>
                  </a:ext>
                </a:extLst>
              </a:tr>
              <a:tr h="370840">
                <a:tc>
                  <a:txBody>
                    <a:bodyPr/>
                    <a:lstStyle/>
                    <a:p>
                      <a:r>
                        <a:rPr lang="en-US" sz="2600" b="0" dirty="0">
                          <a:ea typeface="ＭＳ Ｐゴシック" charset="0"/>
                        </a:rPr>
                        <a:t>androgen</a:t>
                      </a:r>
                      <a:endParaRPr lang="en-US" sz="26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54328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2 of 14)</a:t>
            </a:r>
          </a:p>
        </p:txBody>
      </p:sp>
      <p:graphicFrame>
        <p:nvGraphicFramePr>
          <p:cNvPr id="8" name="Content Placeholder 7" descr="Group 1 of 7.  List of vocabulary-hormones with corresponding meanings or definitions."/>
          <p:cNvGraphicFramePr>
            <a:graphicFrameLocks noGrp="1"/>
          </p:cNvGraphicFramePr>
          <p:nvPr>
            <p:ph idx="1"/>
            <p:extLst>
              <p:ext uri="{D42A27DB-BD31-4B8C-83A1-F6EECF244321}">
                <p14:modId xmlns:p14="http://schemas.microsoft.com/office/powerpoint/2010/main" val="3905217113"/>
              </p:ext>
            </p:extLst>
          </p:nvPr>
        </p:nvGraphicFramePr>
        <p:xfrm>
          <a:off x="457200" y="1600200"/>
          <a:ext cx="8229600" cy="4419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adrenaline (epinephrine)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adrenal medulla; increases heart rate and blood pressure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err="1">
                          <a:ea typeface="ＭＳ Ｐゴシック" charset="0"/>
                        </a:rPr>
                        <a:t>adrenocortico</a:t>
                      </a:r>
                      <a:r>
                        <a:rPr lang="en-US" sz="2600" b="0" dirty="0">
                          <a:ea typeface="ＭＳ Ｐゴシック" charset="0"/>
                        </a:rPr>
                        <a:t>-tropic hormone (ACTH)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the pituitary gland; stimulates adrenal cortex</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aldosterone</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adrenal cortex; increases salt reabsorption</a:t>
                      </a:r>
                    </a:p>
                  </a:txBody>
                  <a:tcPr/>
                </a:tc>
                <a:extLst>
                  <a:ext uri="{0D108BD9-81ED-4DB2-BD59-A6C34878D82A}">
                    <a16:rowId xmlns:a16="http://schemas.microsoft.com/office/drawing/2014/main" val="10003"/>
                  </a:ext>
                </a:extLst>
              </a:tr>
              <a:tr h="370840">
                <a:tc>
                  <a:txBody>
                    <a:bodyPr/>
                    <a:lstStyle/>
                    <a:p>
                      <a:r>
                        <a:rPr lang="en-US" sz="2600" b="0" dirty="0">
                          <a:ea typeface="ＭＳ Ｐゴシック" charset="0"/>
                        </a:rPr>
                        <a:t>androgen</a:t>
                      </a:r>
                      <a:endParaRPr 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Male hormone secreted by the testes and adrenal cortex (to a lesser extent)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45803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3 of 14)</a:t>
            </a:r>
          </a:p>
        </p:txBody>
      </p:sp>
      <p:graphicFrame>
        <p:nvGraphicFramePr>
          <p:cNvPr id="8" name="Content Placeholder 7" descr="Group 2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612743775"/>
              </p:ext>
            </p:extLst>
          </p:nvPr>
        </p:nvGraphicFramePr>
        <p:xfrm>
          <a:off x="3390900" y="2209800"/>
          <a:ext cx="2362200" cy="32308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antidiuretic hormone (ADH)</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calcitonin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cortisol</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epinephrine (adrenaline)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1437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4 of 14)</a:t>
            </a:r>
          </a:p>
        </p:txBody>
      </p:sp>
      <p:graphicFrame>
        <p:nvGraphicFramePr>
          <p:cNvPr id="8" name="Content Placeholder 7" descr="Group 2 of 7.  List of vocabulary-hormones with corresponding meanings or definitions."/>
          <p:cNvGraphicFramePr>
            <a:graphicFrameLocks noGrp="1"/>
          </p:cNvGraphicFramePr>
          <p:nvPr>
            <p:ph idx="1"/>
            <p:extLst>
              <p:ext uri="{D42A27DB-BD31-4B8C-83A1-F6EECF244321}">
                <p14:modId xmlns:p14="http://schemas.microsoft.com/office/powerpoint/2010/main" val="3580691533"/>
              </p:ext>
            </p:extLst>
          </p:nvPr>
        </p:nvGraphicFramePr>
        <p:xfrm>
          <a:off x="457200" y="1600200"/>
          <a:ext cx="8229600" cy="4419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antidiuretic hormone (ADH)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posterior lobe of the pituitary gland; increases reabsorption of water by kidney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calcitonin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thyroid gland; decreases blood calcium levels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cortisol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adrenal cortex; increases blood sugar</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epinephrine (adrenaline)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adrenal medulla; increases heart rate and blood pressure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702616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5 of 14)</a:t>
            </a:r>
          </a:p>
        </p:txBody>
      </p:sp>
      <p:graphicFrame>
        <p:nvGraphicFramePr>
          <p:cNvPr id="8" name="Content Placeholder 7" descr="Group 3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355829483"/>
              </p:ext>
            </p:extLst>
          </p:nvPr>
        </p:nvGraphicFramePr>
        <p:xfrm>
          <a:off x="3390900" y="1905000"/>
          <a:ext cx="2362200" cy="32308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ea typeface="MS PGothic" panose="020B0600070205080204" pitchFamily="34" charset="-128"/>
                        </a:rPr>
                        <a:t>estradiol</a:t>
                      </a:r>
                      <a:endParaRPr lang="en-US" altLang="en-US" sz="2600" b="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ea typeface="MS PGothic" panose="020B0600070205080204" pitchFamily="34" charset="-128"/>
                        </a:rPr>
                        <a:t>estrogen</a:t>
                      </a:r>
                      <a:endParaRPr lang="en-US" altLang="en-US" sz="2600" b="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ea typeface="MS PGothic" panose="020B0600070205080204" pitchFamily="34" charset="-128"/>
                        </a:rPr>
                        <a:t>follicle-stimulating hormone (FSH)</a:t>
                      </a:r>
                    </a:p>
                  </a:txBody>
                  <a:tcPr/>
                </a:tc>
                <a:extLst>
                  <a:ext uri="{0D108BD9-81ED-4DB2-BD59-A6C34878D82A}">
                    <a16:rowId xmlns:a16="http://schemas.microsoft.com/office/drawing/2014/main" val="10003"/>
                  </a:ext>
                </a:extLst>
              </a:tr>
              <a:tr h="370840">
                <a:tc>
                  <a:txBody>
                    <a:bodyPr/>
                    <a:lstStyle/>
                    <a:p>
                      <a:r>
                        <a:rPr lang="en-US" altLang="en-US" sz="2600" b="0" dirty="0" err="1">
                          <a:ea typeface="MS PGothic" panose="020B0600070205080204" pitchFamily="34" charset="-128"/>
                        </a:rPr>
                        <a:t>glucagons</a:t>
                      </a:r>
                      <a:endParaRPr lang="en-US" sz="26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06115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6 of 14)</a:t>
            </a:r>
          </a:p>
        </p:txBody>
      </p:sp>
      <p:graphicFrame>
        <p:nvGraphicFramePr>
          <p:cNvPr id="8" name="Content Placeholder 7" descr="Group 3 of 7.  List of vocabulary-hormones with corresponding meanings or definitions."/>
          <p:cNvGraphicFramePr>
            <a:graphicFrameLocks noGrp="1"/>
          </p:cNvGraphicFramePr>
          <p:nvPr>
            <p:ph idx="1"/>
            <p:extLst>
              <p:ext uri="{D42A27DB-BD31-4B8C-83A1-F6EECF244321}">
                <p14:modId xmlns:p14="http://schemas.microsoft.com/office/powerpoint/2010/main" val="3509595810"/>
              </p:ext>
            </p:extLst>
          </p:nvPr>
        </p:nvGraphicFramePr>
        <p:xfrm>
          <a:off x="457200" y="1600200"/>
          <a:ext cx="8229600" cy="4419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ea typeface="MS PGothic" panose="020B0600070205080204" pitchFamily="34" charset="-128"/>
                        </a:rPr>
                        <a:t>estradiol</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Estrogen secreted by the ovaries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ea typeface="MS PGothic" panose="020B0600070205080204" pitchFamily="34" charset="-128"/>
                        </a:rPr>
                        <a:t>estrogen</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Female hormone secreted by the ovaries and adrenal cortex (to lesser extent)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ea typeface="MS PGothic" panose="020B0600070205080204" pitchFamily="34" charset="-128"/>
                        </a:rPr>
                        <a:t>follicle-stimulating hormone (FSH)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the pituitary gland; stimulates hormone secretion and egg production by ovaries and sperm production by testes</a:t>
                      </a:r>
                    </a:p>
                  </a:txBody>
                  <a:tcPr/>
                </a:tc>
                <a:extLst>
                  <a:ext uri="{0D108BD9-81ED-4DB2-BD59-A6C34878D82A}">
                    <a16:rowId xmlns:a16="http://schemas.microsoft.com/office/drawing/2014/main" val="10003"/>
                  </a:ext>
                </a:extLst>
              </a:tr>
              <a:tr h="370840">
                <a:tc>
                  <a:txBody>
                    <a:bodyPr/>
                    <a:lstStyle/>
                    <a:p>
                      <a:r>
                        <a:rPr lang="en-US" altLang="en-US" sz="2600" b="0" dirty="0" err="1">
                          <a:ea typeface="MS PGothic" panose="020B0600070205080204" pitchFamily="34" charset="-128"/>
                        </a:rPr>
                        <a:t>glucagons</a:t>
                      </a:r>
                      <a:endParaRPr 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alpha islet cells of pancreas; increases blood sugar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893916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7 of 14)</a:t>
            </a:r>
          </a:p>
        </p:txBody>
      </p:sp>
      <p:graphicFrame>
        <p:nvGraphicFramePr>
          <p:cNvPr id="8" name="Content Placeholder 7" descr="Group 4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356631315"/>
              </p:ext>
            </p:extLst>
          </p:nvPr>
        </p:nvGraphicFramePr>
        <p:xfrm>
          <a:off x="3390900" y="1981200"/>
          <a:ext cx="2362200" cy="31394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growth hormone (GH); </a:t>
                      </a:r>
                      <a:r>
                        <a:rPr lang="en-US" sz="2600" b="0" dirty="0" err="1">
                          <a:ea typeface="ＭＳ Ｐゴシック" charset="0"/>
                        </a:rPr>
                        <a:t>somatotropin</a:t>
                      </a:r>
                      <a:endParaRPr lang="en-US" sz="2600" b="0" dirty="0">
                        <a:ea typeface="ＭＳ Ｐゴシック" charset="0"/>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insulin</a:t>
                      </a:r>
                      <a:endParaRPr lang="en-US" altLang="en-US" sz="2600" b="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luteinizing hormone (LH)</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45994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8 of 14)</a:t>
            </a:r>
          </a:p>
        </p:txBody>
      </p:sp>
      <p:graphicFrame>
        <p:nvGraphicFramePr>
          <p:cNvPr id="8" name="Content Placeholder 7" descr="Group 4 of 7.  List of vocabulary-hormones with corresponding meanings or definitions."/>
          <p:cNvGraphicFramePr>
            <a:graphicFrameLocks noGrp="1"/>
          </p:cNvGraphicFramePr>
          <p:nvPr>
            <p:ph idx="1"/>
            <p:extLst>
              <p:ext uri="{D42A27DB-BD31-4B8C-83A1-F6EECF244321}">
                <p14:modId xmlns:p14="http://schemas.microsoft.com/office/powerpoint/2010/main" val="2917763452"/>
              </p:ext>
            </p:extLst>
          </p:nvPr>
        </p:nvGraphicFramePr>
        <p:xfrm>
          <a:off x="457200" y="1600200"/>
          <a:ext cx="8229600" cy="43281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growth hormone (GH); </a:t>
                      </a:r>
                      <a:r>
                        <a:rPr lang="en-US" sz="2600" b="0" dirty="0" err="1">
                          <a:ea typeface="ＭＳ Ｐゴシック" charset="0"/>
                        </a:rPr>
                        <a:t>somatotropin</a:t>
                      </a:r>
                      <a:endParaRPr lang="en-US" sz="2600" b="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the pituitary gland; stimulates growth of bones and soft tissues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insulin</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beta islet cells of pancreas; helps glucose pass into cells and promotes conversion of glucose to glycogen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0" dirty="0">
                          <a:ea typeface="ＭＳ Ｐゴシック" charset="0"/>
                        </a:rPr>
                        <a:t>luteinizing hormone (LH)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pituitary gland; stimulates ovulation in females and testosterone secretion in males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70140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9 of 14)</a:t>
            </a:r>
          </a:p>
        </p:txBody>
      </p:sp>
      <p:graphicFrame>
        <p:nvGraphicFramePr>
          <p:cNvPr id="8" name="Content Placeholder 7" descr="Group 5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226113964"/>
              </p:ext>
            </p:extLst>
          </p:nvPr>
        </p:nvGraphicFramePr>
        <p:xfrm>
          <a:off x="3390900" y="2209800"/>
          <a:ext cx="2362200" cy="28346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norepinephrine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oxytocin (OT)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parathormone</a:t>
                      </a:r>
                      <a:r>
                        <a:rPr lang="en-US" altLang="en-US" sz="2600" b="0" dirty="0"/>
                        <a:t> (PTH)</a:t>
                      </a:r>
                    </a:p>
                  </a:txBody>
                  <a:tcPr/>
                </a:tc>
                <a:extLst>
                  <a:ext uri="{0D108BD9-81ED-4DB2-BD59-A6C34878D82A}">
                    <a16:rowId xmlns:a16="http://schemas.microsoft.com/office/drawing/2014/main" val="10003"/>
                  </a:ext>
                </a:extLst>
              </a:tr>
              <a:tr h="370840">
                <a:tc>
                  <a:txBody>
                    <a:bodyPr/>
                    <a:lstStyle/>
                    <a:p>
                      <a:r>
                        <a:rPr lang="en-US" altLang="en-US" sz="2600" b="0" dirty="0"/>
                        <a:t>progesterone</a:t>
                      </a:r>
                      <a:endParaRPr lang="en-US" sz="26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706800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10 of 14)</a:t>
            </a:r>
          </a:p>
        </p:txBody>
      </p:sp>
      <p:graphicFrame>
        <p:nvGraphicFramePr>
          <p:cNvPr id="8" name="Content Placeholder 7" descr="Group 5 of 7.  List of vocabulary-hormones with corresponding meanings or definitions."/>
          <p:cNvGraphicFramePr>
            <a:graphicFrameLocks noGrp="1"/>
          </p:cNvGraphicFramePr>
          <p:nvPr>
            <p:ph idx="1"/>
            <p:extLst>
              <p:ext uri="{D42A27DB-BD31-4B8C-83A1-F6EECF244321}">
                <p14:modId xmlns:p14="http://schemas.microsoft.com/office/powerpoint/2010/main" val="1032439435"/>
              </p:ext>
            </p:extLst>
          </p:nvPr>
        </p:nvGraphicFramePr>
        <p:xfrm>
          <a:off x="457200" y="1600200"/>
          <a:ext cx="8229600" cy="4419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norepinephrine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adrenal medulla; increases heart rate and blood pressure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oxytocin (OT)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posterior lobe of the pituitary gland; stimulates contraction of uterus during labor and childbirth</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parathormone</a:t>
                      </a:r>
                      <a:r>
                        <a:rPr lang="en-US" altLang="en-US" sz="2600" b="0" dirty="0"/>
                        <a:t> (PTH)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parathyroid glands; increases blood calcium</a:t>
                      </a:r>
                    </a:p>
                  </a:txBody>
                  <a:tcPr/>
                </a:tc>
                <a:extLst>
                  <a:ext uri="{0D108BD9-81ED-4DB2-BD59-A6C34878D82A}">
                    <a16:rowId xmlns:a16="http://schemas.microsoft.com/office/drawing/2014/main" val="10003"/>
                  </a:ext>
                </a:extLst>
              </a:tr>
              <a:tr h="370840">
                <a:tc>
                  <a:txBody>
                    <a:bodyPr/>
                    <a:lstStyle/>
                    <a:p>
                      <a:r>
                        <a:rPr lang="en-US" altLang="en-US" sz="2600" b="0" dirty="0"/>
                        <a:t>progesterone</a:t>
                      </a:r>
                      <a:endParaRPr 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ovaries; prepares the uterus for pregnancy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67425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11 of 14)</a:t>
            </a:r>
          </a:p>
        </p:txBody>
      </p:sp>
      <p:graphicFrame>
        <p:nvGraphicFramePr>
          <p:cNvPr id="8" name="Content Placeholder 7" descr="Group 6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794736657"/>
              </p:ext>
            </p:extLst>
          </p:nvPr>
        </p:nvGraphicFramePr>
        <p:xfrm>
          <a:off x="3390900" y="1905000"/>
          <a:ext cx="2362200" cy="40233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prolactin (PRL)</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somatotropin</a:t>
                      </a:r>
                      <a:r>
                        <a:rPr lang="en-US" altLang="en-US" sz="2600" b="0" dirty="0"/>
                        <a:t> (STH)</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testosterone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thyroid-stimulating hormone (TSH); </a:t>
                      </a:r>
                      <a:r>
                        <a:rPr lang="en-US" altLang="en-US" sz="2600" b="0" dirty="0" err="1"/>
                        <a:t>thyrotropin</a:t>
                      </a:r>
                      <a:endParaRPr lang="en-US" altLang="en-US" sz="26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1094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12 of 14)</a:t>
            </a:r>
          </a:p>
        </p:txBody>
      </p:sp>
      <p:graphicFrame>
        <p:nvGraphicFramePr>
          <p:cNvPr id="8" name="Content Placeholder 7" descr="Group 6 of 7.  List of vocabulary-hormones with corresponding meanings or definitions."/>
          <p:cNvGraphicFramePr>
            <a:graphicFrameLocks noGrp="1"/>
          </p:cNvGraphicFramePr>
          <p:nvPr>
            <p:ph idx="1"/>
            <p:extLst>
              <p:ext uri="{D42A27DB-BD31-4B8C-83A1-F6EECF244321}">
                <p14:modId xmlns:p14="http://schemas.microsoft.com/office/powerpoint/2010/main" val="839728511"/>
              </p:ext>
            </p:extLst>
          </p:nvPr>
        </p:nvGraphicFramePr>
        <p:xfrm>
          <a:off x="457200" y="1600200"/>
          <a:ext cx="8229600" cy="4419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prolactin (PRL)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the pituitary gland; promotes milk secretion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somatotropin</a:t>
                      </a:r>
                      <a:r>
                        <a:rPr lang="en-US" altLang="en-US" sz="2600" b="0" dirty="0"/>
                        <a:t> (STH)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the pituitary gland; </a:t>
                      </a:r>
                      <a:r>
                        <a:rPr lang="en-US" altLang="en-US" sz="2600" b="1" dirty="0"/>
                        <a:t>growth hormone</a:t>
                      </a:r>
                      <a:endParaRPr lang="en-US" alt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testosterone</a:t>
                      </a:r>
                    </a:p>
                  </a:txBody>
                  <a:tcPr/>
                </a:tc>
                <a:tc>
                  <a:txBody>
                    <a:bodyPr/>
                    <a:lstStyle/>
                    <a:p>
                      <a:pPr marL="0" indent="0" eaLnBrk="1" hangingPunct="1">
                        <a:buFont typeface="Wingdings 2" panose="05020102010507070707" pitchFamily="18" charset="2"/>
                        <a:buNone/>
                      </a:pPr>
                      <a:r>
                        <a:rPr lang="en-US" altLang="en-US" sz="2600" dirty="0"/>
                        <a:t>Male hormone secreted by the testes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thyroid-stimulating hormone (TSH); </a:t>
                      </a:r>
                      <a:r>
                        <a:rPr lang="en-US" altLang="en-US" sz="2600" b="0" dirty="0" err="1"/>
                        <a:t>thyrotropin</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anterior lobe of the pituitary gland; promotes thyroid function</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28804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13 of 14)</a:t>
            </a:r>
          </a:p>
        </p:txBody>
      </p:sp>
      <p:graphicFrame>
        <p:nvGraphicFramePr>
          <p:cNvPr id="8" name="Content Placeholder 7" descr="Group 7 of 7:  This table lists a group of vocabulary--hormon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244195600"/>
              </p:ext>
            </p:extLst>
          </p:nvPr>
        </p:nvGraphicFramePr>
        <p:xfrm>
          <a:off x="3390900" y="2133600"/>
          <a:ext cx="2362200" cy="23469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thyroxine</a:t>
                      </a:r>
                      <a:r>
                        <a:rPr lang="en-US" altLang="en-US" sz="2600" b="0" dirty="0"/>
                        <a:t> (T</a:t>
                      </a:r>
                      <a:r>
                        <a:rPr lang="en-US" altLang="en-US" sz="2600" b="0" baseline="-25000" dirty="0"/>
                        <a:t>4</a:t>
                      </a:r>
                      <a:r>
                        <a:rPr lang="en-US" altLang="en-US" sz="2600" b="0" dirty="0"/>
                        <a: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triiodothyronine</a:t>
                      </a:r>
                      <a:r>
                        <a:rPr lang="en-US" altLang="en-US" sz="2600" b="0" dirty="0"/>
                        <a:t> (T</a:t>
                      </a:r>
                      <a:r>
                        <a:rPr lang="en-US" altLang="en-US" sz="2600" b="0" baseline="-25000" dirty="0"/>
                        <a:t>3</a:t>
                      </a:r>
                      <a:r>
                        <a:rPr lang="en-US" altLang="en-US" sz="2600" b="0" dirty="0"/>
                        <a: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vasopressin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573587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Hormones (Slide 14 of 14)</a:t>
            </a:r>
          </a:p>
        </p:txBody>
      </p:sp>
      <p:graphicFrame>
        <p:nvGraphicFramePr>
          <p:cNvPr id="8" name="Content Placeholder 7" descr="Group 7 of 7.  List of vocabulary-hormones with corresponding meanings or definitions."/>
          <p:cNvGraphicFramePr>
            <a:graphicFrameLocks noGrp="1"/>
          </p:cNvGraphicFramePr>
          <p:nvPr>
            <p:ph idx="1"/>
            <p:extLst>
              <p:ext uri="{D42A27DB-BD31-4B8C-83A1-F6EECF244321}">
                <p14:modId xmlns:p14="http://schemas.microsoft.com/office/powerpoint/2010/main" val="897945293"/>
              </p:ext>
            </p:extLst>
          </p:nvPr>
        </p:nvGraphicFramePr>
        <p:xfrm>
          <a:off x="457200" y="1600200"/>
          <a:ext cx="8229600" cy="39319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thyroxine</a:t>
                      </a:r>
                      <a:r>
                        <a:rPr lang="en-US" altLang="en-US" sz="2600" b="0" dirty="0"/>
                        <a:t> (T</a:t>
                      </a:r>
                      <a:r>
                        <a:rPr lang="en-US" altLang="en-US" sz="2600" b="0" baseline="-25000" dirty="0"/>
                        <a:t>4</a:t>
                      </a:r>
                      <a:r>
                        <a:rPr lang="en-US" altLang="en-US" sz="2600" b="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thyroid gland; increases cell metabolism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triiodothyronine</a:t>
                      </a:r>
                      <a:r>
                        <a:rPr lang="en-US" altLang="en-US" sz="2600" b="0" dirty="0"/>
                        <a:t> (T</a:t>
                      </a:r>
                      <a:r>
                        <a:rPr lang="en-US" altLang="en-US" sz="2600" b="0" baseline="-25000" dirty="0"/>
                        <a:t>3</a:t>
                      </a:r>
                      <a:r>
                        <a:rPr lang="en-US" altLang="en-US" sz="2600" b="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thyroid gland; increases cell metabolism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vasopressin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Secreted by the posterior lobe of the pituitary gland; </a:t>
                      </a:r>
                      <a:r>
                        <a:rPr lang="en-US" altLang="en-US" sz="2600" b="1" dirty="0"/>
                        <a:t>antidiuretic hormone (ADH);</a:t>
                      </a:r>
                      <a:r>
                        <a:rPr lang="en-US" altLang="en-US" sz="2600" dirty="0"/>
                        <a:t> raises water reabsorption and raises blood pressure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556016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1 of 8)</a:t>
            </a:r>
          </a:p>
        </p:txBody>
      </p:sp>
      <p:graphicFrame>
        <p:nvGraphicFramePr>
          <p:cNvPr id="8" name="Content Placeholder 7" descr="Group 1 of 4:  This table lists a group of vocabulary--related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70376033"/>
              </p:ext>
            </p:extLst>
          </p:nvPr>
        </p:nvGraphicFramePr>
        <p:xfrm>
          <a:off x="3390900" y="1981200"/>
          <a:ext cx="2362200" cy="24384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catecholamines</a:t>
                      </a:r>
                      <a:endParaRPr lang="en-US" altLang="en-US" sz="2600" b="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corticosteroids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electrolyte</a:t>
                      </a:r>
                    </a:p>
                  </a:txBody>
                  <a:tcPr/>
                </a:tc>
                <a:extLst>
                  <a:ext uri="{0D108BD9-81ED-4DB2-BD59-A6C34878D82A}">
                    <a16:rowId xmlns:a16="http://schemas.microsoft.com/office/drawing/2014/main" val="10003"/>
                  </a:ext>
                </a:extLst>
              </a:tr>
              <a:tr h="370840">
                <a:tc>
                  <a:txBody>
                    <a:bodyPr/>
                    <a:lstStyle/>
                    <a:p>
                      <a:r>
                        <a:rPr lang="en-US" altLang="en-US" sz="2600" b="0" dirty="0"/>
                        <a:t>glucocorticoid</a:t>
                      </a:r>
                      <a:endParaRPr lang="en-US" sz="26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557939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2 of 8)</a:t>
            </a:r>
          </a:p>
        </p:txBody>
      </p:sp>
      <p:graphicFrame>
        <p:nvGraphicFramePr>
          <p:cNvPr id="8" name="Content Placeholder 7" descr="Group 1 of 4.  List of vocabulary related terms  with corresponding meanings or definitions."/>
          <p:cNvGraphicFramePr>
            <a:graphicFrameLocks noGrp="1"/>
          </p:cNvGraphicFramePr>
          <p:nvPr>
            <p:ph idx="1"/>
            <p:extLst>
              <p:ext uri="{D42A27DB-BD31-4B8C-83A1-F6EECF244321}">
                <p14:modId xmlns:p14="http://schemas.microsoft.com/office/powerpoint/2010/main" val="206135502"/>
              </p:ext>
            </p:extLst>
          </p:nvPr>
        </p:nvGraphicFramePr>
        <p:xfrm>
          <a:off x="457200" y="1600200"/>
          <a:ext cx="8229600" cy="36271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catecholamines</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Hormones derived from an amino acid and secreted by the adrenal medulla</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corticosteroids</a:t>
                      </a:r>
                    </a:p>
                  </a:txBody>
                  <a:tcPr/>
                </a:tc>
                <a:tc>
                  <a:txBody>
                    <a:bodyPr/>
                    <a:lstStyle/>
                    <a:p>
                      <a:pPr marL="0" indent="0" eaLnBrk="1" hangingPunct="1">
                        <a:buFont typeface="Wingdings 2" panose="05020102010507070707" pitchFamily="18" charset="2"/>
                        <a:buNone/>
                      </a:pPr>
                      <a:r>
                        <a:rPr lang="en-US" altLang="en-US" sz="2600" dirty="0"/>
                        <a:t>Hormones produced by the adrenal cortex</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electrolyte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Mineral salt found in blood and tissues</a:t>
                      </a:r>
                    </a:p>
                  </a:txBody>
                  <a:tcPr/>
                </a:tc>
                <a:extLst>
                  <a:ext uri="{0D108BD9-81ED-4DB2-BD59-A6C34878D82A}">
                    <a16:rowId xmlns:a16="http://schemas.microsoft.com/office/drawing/2014/main" val="10003"/>
                  </a:ext>
                </a:extLst>
              </a:tr>
              <a:tr h="370840">
                <a:tc>
                  <a:txBody>
                    <a:bodyPr/>
                    <a:lstStyle/>
                    <a:p>
                      <a:r>
                        <a:rPr lang="en-US" altLang="en-US" sz="2600" b="0" dirty="0"/>
                        <a:t>glucocorticoid</a:t>
                      </a:r>
                      <a:endParaRPr 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Steroid hormone secreted by the adrenal cortex; regulates glucose, fat, and protein metabolism</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868646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3 of 8)</a:t>
            </a:r>
          </a:p>
        </p:txBody>
      </p:sp>
      <p:graphicFrame>
        <p:nvGraphicFramePr>
          <p:cNvPr id="8" name="Content Placeholder 7" descr="Group 2 of 4:  This table lists a group of vocabulary--related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602944695"/>
              </p:ext>
            </p:extLst>
          </p:nvPr>
        </p:nvGraphicFramePr>
        <p:xfrm>
          <a:off x="3276600" y="2057400"/>
          <a:ext cx="2590800" cy="24384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homeostasis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hormone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hypothalamus</a:t>
                      </a:r>
                    </a:p>
                  </a:txBody>
                  <a:tcPr/>
                </a:tc>
                <a:extLst>
                  <a:ext uri="{0D108BD9-81ED-4DB2-BD59-A6C34878D82A}">
                    <a16:rowId xmlns:a16="http://schemas.microsoft.com/office/drawing/2014/main" val="10003"/>
                  </a:ext>
                </a:extLst>
              </a:tr>
              <a:tr h="370840">
                <a:tc>
                  <a:txBody>
                    <a:bodyPr/>
                    <a:lstStyle/>
                    <a:p>
                      <a:r>
                        <a:rPr lang="en-US" altLang="en-US" sz="2600" b="0" dirty="0"/>
                        <a:t>mineralocorticoid</a:t>
                      </a:r>
                      <a:endParaRPr lang="en-US" sz="2600" b="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509145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4 of 8)</a:t>
            </a:r>
          </a:p>
        </p:txBody>
      </p:sp>
      <p:graphicFrame>
        <p:nvGraphicFramePr>
          <p:cNvPr id="8" name="Content Placeholder 7" descr="Group 2 of 4.  List of vocabulary related terms  with corresponding meanings or definitions."/>
          <p:cNvGraphicFramePr>
            <a:graphicFrameLocks noGrp="1"/>
          </p:cNvGraphicFramePr>
          <p:nvPr>
            <p:ph idx="1"/>
            <p:extLst>
              <p:ext uri="{D42A27DB-BD31-4B8C-83A1-F6EECF244321}">
                <p14:modId xmlns:p14="http://schemas.microsoft.com/office/powerpoint/2010/main" val="353433195"/>
              </p:ext>
            </p:extLst>
          </p:nvPr>
        </p:nvGraphicFramePr>
        <p:xfrm>
          <a:off x="457200" y="1600200"/>
          <a:ext cx="8229600" cy="481584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homeostasis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Tendency of an organism to maintain a constant internal environment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hormone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Substance secreted by an endocrine gland to influence structure or function of an organ or gland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hypothalamus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Region of the brain lying below the thalamus and above the pituitary gland</a:t>
                      </a:r>
                    </a:p>
                  </a:txBody>
                  <a:tcPr/>
                </a:tc>
                <a:extLst>
                  <a:ext uri="{0D108BD9-81ED-4DB2-BD59-A6C34878D82A}">
                    <a16:rowId xmlns:a16="http://schemas.microsoft.com/office/drawing/2014/main" val="10003"/>
                  </a:ext>
                </a:extLst>
              </a:tr>
              <a:tr h="370840">
                <a:tc>
                  <a:txBody>
                    <a:bodyPr/>
                    <a:lstStyle/>
                    <a:p>
                      <a:r>
                        <a:rPr lang="en-US" altLang="en-US" sz="2600" b="0" dirty="0"/>
                        <a:t>mineralocorticoid</a:t>
                      </a:r>
                      <a:endParaRPr 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Steroid hormone secreted by the adrenal cortex to regulate mineral salts and water balance in the body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680236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5 of 8)</a:t>
            </a:r>
          </a:p>
        </p:txBody>
      </p:sp>
      <p:graphicFrame>
        <p:nvGraphicFramePr>
          <p:cNvPr id="8" name="Content Placeholder 7" descr="Group 3 of 4:  This table lists a group of vocabulary--related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454862516"/>
              </p:ext>
            </p:extLst>
          </p:nvPr>
        </p:nvGraphicFramePr>
        <p:xfrm>
          <a:off x="3390900" y="2057400"/>
          <a:ext cx="2362200" cy="19507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receptor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sella</a:t>
                      </a:r>
                      <a:r>
                        <a:rPr lang="en-US" altLang="en-US" sz="2600" b="0" dirty="0"/>
                        <a:t> </a:t>
                      </a:r>
                      <a:r>
                        <a:rPr lang="en-US" altLang="en-US" sz="2600" b="0" dirty="0" err="1"/>
                        <a:t>turcica</a:t>
                      </a:r>
                      <a:endParaRPr lang="en-US" altLang="en-US" sz="2600" b="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sex hormones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198933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6 of 8)</a:t>
            </a:r>
          </a:p>
        </p:txBody>
      </p:sp>
      <p:graphicFrame>
        <p:nvGraphicFramePr>
          <p:cNvPr id="8" name="Content Placeholder 7" descr="Group 3 of 4.  List of vocabulary related terms  with corresponding meanings or definitions."/>
          <p:cNvGraphicFramePr>
            <a:graphicFrameLocks noGrp="1"/>
          </p:cNvGraphicFramePr>
          <p:nvPr>
            <p:ph idx="1"/>
            <p:extLst>
              <p:ext uri="{D42A27DB-BD31-4B8C-83A1-F6EECF244321}">
                <p14:modId xmlns:p14="http://schemas.microsoft.com/office/powerpoint/2010/main" val="2480092943"/>
              </p:ext>
            </p:extLst>
          </p:nvPr>
        </p:nvGraphicFramePr>
        <p:xfrm>
          <a:off x="457200" y="1600200"/>
          <a:ext cx="8229600" cy="39319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receptor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Cellular or nuclear protein that binds to a hormone so that a response can be elicited</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sella</a:t>
                      </a:r>
                      <a:r>
                        <a:rPr lang="en-US" altLang="en-US" sz="2600" b="0" dirty="0"/>
                        <a:t> </a:t>
                      </a:r>
                      <a:r>
                        <a:rPr lang="en-US" altLang="en-US" sz="2600" b="0" dirty="0" err="1"/>
                        <a:t>turcica</a:t>
                      </a:r>
                      <a:endParaRPr lang="en-US" altLang="en-US" sz="26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Cavity in the skull that contains the pituitary gland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sex hormones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Steroids produced by the adrenal cortex to influence male and female sexual characteristics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041904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7 of 8)</a:t>
            </a:r>
          </a:p>
        </p:txBody>
      </p:sp>
      <p:graphicFrame>
        <p:nvGraphicFramePr>
          <p:cNvPr id="8" name="Content Placeholder 7" descr="Group 4 of 4:  This table lists a group of vocabulary--related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195634046"/>
              </p:ext>
            </p:extLst>
          </p:nvPr>
        </p:nvGraphicFramePr>
        <p:xfrm>
          <a:off x="3390900" y="2057400"/>
          <a:ext cx="2362200" cy="23469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6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steroid</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sympatho</a:t>
                      </a:r>
                      <a:r>
                        <a:rPr lang="en-US" altLang="en-US" sz="2600" b="0" dirty="0"/>
                        <a:t>-mimetic</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target tissue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007348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Vocabulary – Related Terms (Slide 8 of 8)</a:t>
            </a:r>
          </a:p>
        </p:txBody>
      </p:sp>
      <p:graphicFrame>
        <p:nvGraphicFramePr>
          <p:cNvPr id="8" name="Content Placeholder 7" descr="Group 4 of 4.  List of vocabulary related terms  with corresponding meanings or definitions."/>
          <p:cNvGraphicFramePr>
            <a:graphicFrameLocks noGrp="1"/>
          </p:cNvGraphicFramePr>
          <p:nvPr>
            <p:ph idx="1"/>
            <p:extLst>
              <p:ext uri="{D42A27DB-BD31-4B8C-83A1-F6EECF244321}">
                <p14:modId xmlns:p14="http://schemas.microsoft.com/office/powerpoint/2010/main" val="3711344694"/>
              </p:ext>
            </p:extLst>
          </p:nvPr>
        </p:nvGraphicFramePr>
        <p:xfrm>
          <a:off x="457200" y="1600200"/>
          <a:ext cx="8229600" cy="31394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Term</a:t>
                      </a:r>
                    </a:p>
                  </a:txBody>
                  <a:tcPr/>
                </a:tc>
                <a:tc>
                  <a:txBody>
                    <a:bodyPr/>
                    <a:lstStyle/>
                    <a:p>
                      <a:r>
                        <a:rPr lang="en-US" sz="26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steroid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Complex substance related to fats and of which many hormones are made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err="1"/>
                        <a:t>sympatho</a:t>
                      </a:r>
                      <a:r>
                        <a:rPr lang="en-US" altLang="en-US" sz="2600" b="0" dirty="0"/>
                        <a:t>-mimetic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Pertaining to  mimicking or copying the effect of the sympathetic nervous system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0" dirty="0"/>
                        <a:t>target tissue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Cells of an organ that are affected or stimulated by specific hormones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746831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609600" y="228600"/>
            <a:ext cx="7772400" cy="1219200"/>
          </a:xfrm>
        </p:spPr>
        <p:txBody>
          <a:bodyPr/>
          <a:lstStyle/>
          <a:p>
            <a:pPr eaLnBrk="1" hangingPunct="1"/>
            <a:r>
              <a:rPr lang="en-US" altLang="en-US" dirty="0"/>
              <a:t>      QUICK QUIZ (Slide 1 of 5)</a:t>
            </a:r>
            <a:r>
              <a:rPr lang="en-US" altLang="en-US" sz="4800" dirty="0"/>
              <a:t>	</a:t>
            </a:r>
          </a:p>
        </p:txBody>
      </p:sp>
      <p:sp>
        <p:nvSpPr>
          <p:cNvPr id="71683" name="Rectangle 3"/>
          <p:cNvSpPr>
            <a:spLocks noGrp="1" noChangeArrowheads="1"/>
          </p:cNvSpPr>
          <p:nvPr>
            <p:ph idx="1"/>
          </p:nvPr>
        </p:nvSpPr>
        <p:spPr>
          <a:xfrm>
            <a:off x="762000" y="1676400"/>
            <a:ext cx="6934200" cy="4032250"/>
          </a:xfrm>
        </p:spPr>
        <p:txBody>
          <a:bodyPr>
            <a:spAutoFit/>
          </a:bodyPr>
          <a:lstStyle/>
          <a:p>
            <a:pPr marL="533400" indent="-533400" eaLnBrk="1" hangingPunct="1">
              <a:buFont typeface="Arial" charset="0"/>
              <a:buAutoNum type="arabicPeriod"/>
              <a:defRPr/>
            </a:pPr>
            <a:r>
              <a:rPr lang="en-US" b="1" dirty="0"/>
              <a:t>The outer section of each adrenal gland is the:</a:t>
            </a:r>
          </a:p>
          <a:p>
            <a:pPr marL="0" indent="0" eaLnBrk="1" hangingPunct="1">
              <a:buFont typeface="Arial" charset="0"/>
              <a:buNone/>
              <a:defRPr/>
            </a:pPr>
            <a:endParaRPr lang="en-US" b="1" dirty="0"/>
          </a:p>
          <a:p>
            <a:pPr marL="914400" lvl="1" indent="-457200" eaLnBrk="1" hangingPunct="1">
              <a:buFont typeface="Arial" charset="0"/>
              <a:buAutoNum type="alphaUcPeriod"/>
              <a:defRPr/>
            </a:pPr>
            <a:r>
              <a:rPr lang="en-US" sz="3200" dirty="0"/>
              <a:t>adrenal medulla</a:t>
            </a:r>
          </a:p>
          <a:p>
            <a:pPr marL="914400" lvl="1" indent="-457200" eaLnBrk="1" hangingPunct="1">
              <a:buFont typeface="Arial" charset="0"/>
              <a:buAutoNum type="alphaUcPeriod"/>
              <a:defRPr/>
            </a:pPr>
            <a:r>
              <a:rPr lang="en-US" sz="3200" dirty="0"/>
              <a:t>adrenal cortex</a:t>
            </a:r>
          </a:p>
          <a:p>
            <a:pPr marL="914400" lvl="1" indent="-457200" eaLnBrk="1" hangingPunct="1">
              <a:buFont typeface="Arial" charset="0"/>
              <a:buAutoNum type="alphaUcPeriod"/>
              <a:defRPr/>
            </a:pPr>
            <a:r>
              <a:rPr lang="en-US" sz="3200" dirty="0"/>
              <a:t>adrenaline</a:t>
            </a:r>
          </a:p>
          <a:p>
            <a:pPr marL="914400" lvl="1" indent="-457200" eaLnBrk="1" hangingPunct="1">
              <a:buFont typeface="Arial" charset="0"/>
              <a:buAutoNum type="alphaUcPeriod"/>
              <a:defRPr/>
            </a:pPr>
            <a:r>
              <a:rPr lang="en-US" sz="3200" dirty="0"/>
              <a:t>adrenocorticotropic hormone</a:t>
            </a:r>
          </a:p>
        </p:txBody>
      </p:sp>
    </p:spTree>
    <p:extLst>
      <p:ext uri="{BB962C8B-B14F-4D97-AF65-F5344CB8AC3E}">
        <p14:creationId xmlns:p14="http://schemas.microsoft.com/office/powerpoint/2010/main" val="271297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762000" y="304800"/>
            <a:ext cx="8305800" cy="1219200"/>
          </a:xfrm>
        </p:spPr>
        <p:txBody>
          <a:bodyPr/>
          <a:lstStyle/>
          <a:p>
            <a:pPr eaLnBrk="1" hangingPunct="1"/>
            <a:r>
              <a:rPr lang="en-US" altLang="en-US" dirty="0"/>
              <a:t>      QUICK QUIZ (Slide 2 of 5</a:t>
            </a:r>
            <a:r>
              <a:rPr lang="en-US" altLang="ja-JP" dirty="0"/>
              <a:t>)	</a:t>
            </a:r>
            <a:endParaRPr lang="en-US" altLang="en-US" dirty="0"/>
          </a:p>
        </p:txBody>
      </p:sp>
      <p:sp>
        <p:nvSpPr>
          <p:cNvPr id="72707" name="Rectangle 3"/>
          <p:cNvSpPr>
            <a:spLocks noGrp="1" noChangeArrowheads="1"/>
          </p:cNvSpPr>
          <p:nvPr>
            <p:ph idx="1"/>
          </p:nvPr>
        </p:nvSpPr>
        <p:spPr>
          <a:xfrm>
            <a:off x="762000" y="1676400"/>
            <a:ext cx="8077200" cy="4425950"/>
          </a:xfrm>
        </p:spPr>
        <p:txBody>
          <a:bodyPr>
            <a:spAutoFit/>
          </a:bodyPr>
          <a:lstStyle/>
          <a:p>
            <a:pPr marL="533400" indent="-533400" eaLnBrk="1" hangingPunct="1">
              <a:buFont typeface="Arial" panose="020B0604020202020204" pitchFamily="34" charset="0"/>
              <a:buAutoNum type="arabicPeriod" startAt="2"/>
            </a:pPr>
            <a:r>
              <a:rPr lang="en-US" altLang="en-US" b="1"/>
              <a:t>Secreted by the anterior lobe of the pituitary gland; stimulates ovulation in females and testosterone secretion in males:</a:t>
            </a:r>
          </a:p>
          <a:p>
            <a:pPr marL="914400" lvl="1" indent="-457200" eaLnBrk="1" hangingPunct="1">
              <a:buFont typeface="Arial" panose="020B0604020202020204" pitchFamily="34" charset="0"/>
              <a:buAutoNum type="alphaUcPeriod"/>
            </a:pPr>
            <a:r>
              <a:rPr lang="en-US" altLang="en-US" sz="3200"/>
              <a:t>luteinizing hormone (LH)</a:t>
            </a:r>
          </a:p>
          <a:p>
            <a:pPr marL="914400" lvl="1" indent="-457200" eaLnBrk="1" hangingPunct="1">
              <a:buFont typeface="Arial" panose="020B0604020202020204" pitchFamily="34" charset="0"/>
              <a:buAutoNum type="alphaUcPeriod"/>
            </a:pPr>
            <a:r>
              <a:rPr lang="en-US" altLang="en-US" sz="3200"/>
              <a:t>estrodoil</a:t>
            </a:r>
          </a:p>
          <a:p>
            <a:pPr marL="914400" lvl="1" indent="-457200" eaLnBrk="1" hangingPunct="1">
              <a:buFont typeface="Arial" panose="020B0604020202020204" pitchFamily="34" charset="0"/>
              <a:buAutoNum type="alphaUcPeriod"/>
            </a:pPr>
            <a:r>
              <a:rPr lang="en-US" altLang="en-US" sz="3200"/>
              <a:t>oxytocin</a:t>
            </a:r>
          </a:p>
          <a:p>
            <a:pPr marL="914400" lvl="1" indent="-457200" eaLnBrk="1" hangingPunct="1">
              <a:buFont typeface="Arial" panose="020B0604020202020204" pitchFamily="34" charset="0"/>
              <a:buAutoNum type="alphaUcPeriod"/>
            </a:pPr>
            <a:r>
              <a:rPr lang="en-US" altLang="en-US" sz="3200"/>
              <a:t>prolactin</a:t>
            </a:r>
          </a:p>
        </p:txBody>
      </p:sp>
    </p:spTree>
    <p:extLst>
      <p:ext uri="{BB962C8B-B14F-4D97-AF65-F5344CB8AC3E}">
        <p14:creationId xmlns:p14="http://schemas.microsoft.com/office/powerpoint/2010/main" val="35770148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Combining Forms, Suffixes, Prefixes, and Terminology – Glands (Slide 1 of 2)</a:t>
            </a:r>
          </a:p>
        </p:txBody>
      </p:sp>
      <p:graphicFrame>
        <p:nvGraphicFramePr>
          <p:cNvPr id="8" name="Content Placeholder 7" descr="Group 1 of 2 Combining Forms from the Terminology:  Combining Forms, Suffixes and Terminology--Glands section of the textbook  with corresponding meanings or definitions. "/>
          <p:cNvGraphicFramePr>
            <a:graphicFrameLocks noGrp="1"/>
          </p:cNvGraphicFramePr>
          <p:nvPr>
            <p:ph idx="1"/>
            <p:extLst>
              <p:ext uri="{D42A27DB-BD31-4B8C-83A1-F6EECF244321}">
                <p14:modId xmlns:p14="http://schemas.microsoft.com/office/powerpoint/2010/main" val="1162858838"/>
              </p:ext>
            </p:extLst>
          </p:nvPr>
        </p:nvGraphicFramePr>
        <p:xfrm>
          <a:off x="457200" y="1600200"/>
          <a:ext cx="8229600" cy="292608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600" dirty="0"/>
                        <a:t>Combining</a:t>
                      </a:r>
                      <a:r>
                        <a:rPr lang="en-US" sz="2600" baseline="0" dirty="0"/>
                        <a:t> Form</a:t>
                      </a:r>
                      <a:endParaRPr lang="en-US" sz="2600" dirty="0"/>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aden</a:t>
                      </a:r>
                      <a:r>
                        <a:rPr lang="en-US" altLang="en-US" sz="2600" b="1" dirty="0"/>
                        <a:t>/o</a:t>
                      </a:r>
                      <a:endParaRPr lang="en-US" altLang="en-US" sz="2600" dirty="0"/>
                    </a:p>
                  </a:txBody>
                  <a:tcPr/>
                </a:tc>
                <a:tc>
                  <a:txBody>
                    <a:bodyPr/>
                    <a:lstStyle/>
                    <a:p>
                      <a:r>
                        <a:rPr lang="en-US" altLang="en-US" sz="2600" dirty="0"/>
                        <a:t>gland</a:t>
                      </a:r>
                      <a:endParaRPr lang="en-US" sz="2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adrenal/o</a:t>
                      </a:r>
                      <a:endParaRPr lang="en-US" altLang="en-US" sz="2600" dirty="0"/>
                    </a:p>
                  </a:txBody>
                  <a:tcPr/>
                </a:tc>
                <a:tc>
                  <a:txBody>
                    <a:bodyPr/>
                    <a:lstStyle/>
                    <a:p>
                      <a:r>
                        <a:rPr lang="en-US" altLang="en-US" sz="2600" dirty="0"/>
                        <a:t>adrenal glands</a:t>
                      </a:r>
                      <a:endParaRPr 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gonad/o</a:t>
                      </a:r>
                      <a:endParaRPr lang="en-US" altLang="en-US" sz="2600" dirty="0"/>
                    </a:p>
                  </a:txBody>
                  <a:tcPr/>
                </a:tc>
                <a:tc>
                  <a:txBody>
                    <a:bodyPr/>
                    <a:lstStyle/>
                    <a:p>
                      <a:pPr eaLnBrk="1" hangingPunct="1"/>
                      <a:r>
                        <a:rPr lang="en-US" altLang="en-US" sz="2600" dirty="0"/>
                        <a:t>sex glands (ovaries, testes)</a:t>
                      </a:r>
                    </a:p>
                  </a:txBody>
                  <a:tcPr/>
                </a:tc>
                <a:extLst>
                  <a:ext uri="{0D108BD9-81ED-4DB2-BD59-A6C34878D82A}">
                    <a16:rowId xmlns:a16="http://schemas.microsoft.com/office/drawing/2014/main" val="10003"/>
                  </a:ext>
                </a:extLst>
              </a:tr>
              <a:tr h="370840">
                <a:tc>
                  <a:txBody>
                    <a:bodyPr/>
                    <a:lstStyle/>
                    <a:p>
                      <a:r>
                        <a:rPr lang="en-US" altLang="en-US" sz="2600" b="1" dirty="0" err="1"/>
                        <a:t>pancreat</a:t>
                      </a:r>
                      <a:r>
                        <a:rPr lang="en-US" altLang="en-US" sz="2600" b="1" dirty="0"/>
                        <a:t>/o</a:t>
                      </a:r>
                      <a:endParaRPr lang="en-US" sz="2600" dirty="0"/>
                    </a:p>
                  </a:txBody>
                  <a:tcPr/>
                </a:tc>
                <a:tc>
                  <a:txBody>
                    <a:bodyPr/>
                    <a:lstStyle/>
                    <a:p>
                      <a:r>
                        <a:rPr lang="en-US" altLang="en-US" sz="2600" dirty="0"/>
                        <a:t>pancreas</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a:t>parathyroid/o</a:t>
                      </a:r>
                      <a:endParaRPr lang="en-US" sz="2600" dirty="0"/>
                    </a:p>
                  </a:txBody>
                  <a:tcPr/>
                </a:tc>
                <a:tc>
                  <a:txBody>
                    <a:bodyPr/>
                    <a:lstStyle/>
                    <a:p>
                      <a:r>
                        <a:rPr lang="en-US" altLang="en-US" sz="2600" dirty="0"/>
                        <a:t>parathyroid gland</a:t>
                      </a:r>
                      <a:endParaRPr lang="en-US" sz="26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728415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Combining Forms, Suffixes, Prefixes, and Terminology – Glands (Slide 2 of 2)</a:t>
            </a:r>
          </a:p>
        </p:txBody>
      </p:sp>
      <p:graphicFrame>
        <p:nvGraphicFramePr>
          <p:cNvPr id="8" name="Content Placeholder 7" descr="Group 2 of 2 Combining Forms from the Terminology:  Combining Forms, Suffixes and Terminology--Glands section of the textbook  with corresponding meanings or definitions. "/>
          <p:cNvGraphicFramePr>
            <a:graphicFrameLocks noGrp="1"/>
          </p:cNvGraphicFramePr>
          <p:nvPr>
            <p:ph idx="1"/>
            <p:extLst>
              <p:ext uri="{D42A27DB-BD31-4B8C-83A1-F6EECF244321}">
                <p14:modId xmlns:p14="http://schemas.microsoft.com/office/powerpoint/2010/main" val="2357092341"/>
              </p:ext>
            </p:extLst>
          </p:nvPr>
        </p:nvGraphicFramePr>
        <p:xfrm>
          <a:off x="457200" y="1600200"/>
          <a:ext cx="8229600" cy="195072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600" dirty="0"/>
                        <a:t>Combining</a:t>
                      </a:r>
                      <a:r>
                        <a:rPr lang="en-US" sz="2600" baseline="0" dirty="0"/>
                        <a:t> Form</a:t>
                      </a:r>
                      <a:endParaRPr lang="en-US" sz="2600" dirty="0"/>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pituitar</a:t>
                      </a:r>
                      <a:r>
                        <a:rPr lang="en-US" altLang="en-US" sz="2600" b="1" dirty="0"/>
                        <a:t>/o</a:t>
                      </a:r>
                      <a:endParaRPr lang="en-US" altLang="en-US" sz="2600" dirty="0"/>
                    </a:p>
                  </a:txBody>
                  <a:tcPr/>
                </a:tc>
                <a:tc>
                  <a:txBody>
                    <a:bodyPr/>
                    <a:lstStyle/>
                    <a:p>
                      <a:r>
                        <a:rPr lang="en-US" altLang="en-US" sz="2600" dirty="0"/>
                        <a:t>pituitary gland; </a:t>
                      </a:r>
                      <a:r>
                        <a:rPr lang="en-US" altLang="en-US" sz="2600" dirty="0" err="1"/>
                        <a:t>hypophysis</a:t>
                      </a:r>
                      <a:endParaRPr lang="en-US" sz="2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thyr</a:t>
                      </a:r>
                      <a:r>
                        <a:rPr lang="en-US" altLang="en-US" sz="2600" b="1" dirty="0"/>
                        <a:t>/o</a:t>
                      </a:r>
                      <a:endParaRPr lang="en-US" altLang="en-US" sz="2600" dirty="0"/>
                    </a:p>
                  </a:txBody>
                  <a:tcPr/>
                </a:tc>
                <a:tc>
                  <a:txBody>
                    <a:bodyPr/>
                    <a:lstStyle/>
                    <a:p>
                      <a:r>
                        <a:rPr lang="en-US" altLang="en-US" sz="2600" dirty="0"/>
                        <a:t>thyroid gland</a:t>
                      </a:r>
                      <a:endParaRPr 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thyroid/o</a:t>
                      </a:r>
                      <a:endParaRPr lang="en-US" altLang="en-US" sz="2600" dirty="0"/>
                    </a:p>
                  </a:txBody>
                  <a:tcPr/>
                </a:tc>
                <a:tc>
                  <a:txBody>
                    <a:bodyPr/>
                    <a:lstStyle/>
                    <a:p>
                      <a:r>
                        <a:rPr lang="en-US" altLang="en-US" sz="2600" dirty="0"/>
                        <a:t>thyroid gland</a:t>
                      </a:r>
                      <a:endParaRPr lang="en-US" sz="26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257625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600" dirty="0"/>
              <a:t>Combining Forms, Suffixes, Prefixes, and Terminology – Related Forms (Slide 1 of 3)</a:t>
            </a:r>
          </a:p>
        </p:txBody>
      </p:sp>
      <p:graphicFrame>
        <p:nvGraphicFramePr>
          <p:cNvPr id="8" name="Content Placeholder 7" descr="Group 1 of 3 Combining Forms from the Terminology:  Combining Forms, Suffixes and Terminology--Related Forms section of the textbook  with corresponding meanings or definitions. "/>
          <p:cNvGraphicFramePr>
            <a:graphicFrameLocks noGrp="1"/>
          </p:cNvGraphicFramePr>
          <p:nvPr>
            <p:ph idx="1"/>
            <p:extLst>
              <p:ext uri="{D42A27DB-BD31-4B8C-83A1-F6EECF244321}">
                <p14:modId xmlns:p14="http://schemas.microsoft.com/office/powerpoint/2010/main" val="880163988"/>
              </p:ext>
            </p:extLst>
          </p:nvPr>
        </p:nvGraphicFramePr>
        <p:xfrm>
          <a:off x="457200" y="1600200"/>
          <a:ext cx="8229600" cy="390144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600" dirty="0"/>
                        <a:t>Combining</a:t>
                      </a:r>
                      <a:r>
                        <a:rPr lang="en-US" sz="2600" baseline="0" dirty="0"/>
                        <a:t> Form</a:t>
                      </a:r>
                      <a:endParaRPr lang="en-US" sz="2600" dirty="0"/>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andr</a:t>
                      </a:r>
                      <a:r>
                        <a:rPr lang="en-US" altLang="en-US" sz="2600" b="1" dirty="0"/>
                        <a:t>/o</a:t>
                      </a:r>
                      <a:endParaRPr lang="en-US" altLang="en-US" sz="2600" dirty="0"/>
                    </a:p>
                  </a:txBody>
                  <a:tcPr/>
                </a:tc>
                <a:tc>
                  <a:txBody>
                    <a:bodyPr/>
                    <a:lstStyle/>
                    <a:p>
                      <a:r>
                        <a:rPr lang="en-US" altLang="en-US" sz="2600" dirty="0"/>
                        <a:t>male</a:t>
                      </a:r>
                      <a:endParaRPr lang="en-US" sz="2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calc</a:t>
                      </a:r>
                      <a:r>
                        <a:rPr lang="en-US" altLang="en-US" sz="2600" b="1" dirty="0"/>
                        <a:t>/o, </a:t>
                      </a:r>
                      <a:r>
                        <a:rPr lang="en-US" altLang="en-US" sz="2600" b="1" dirty="0" err="1"/>
                        <a:t>calici</a:t>
                      </a:r>
                      <a:r>
                        <a:rPr lang="en-US" altLang="en-US" sz="2600" b="1" dirty="0"/>
                        <a:t>/o</a:t>
                      </a:r>
                      <a:endParaRPr lang="en-US" altLang="en-US" sz="2600" dirty="0"/>
                    </a:p>
                  </a:txBody>
                  <a:tcPr/>
                </a:tc>
                <a:tc>
                  <a:txBody>
                    <a:bodyPr/>
                    <a:lstStyle/>
                    <a:p>
                      <a:r>
                        <a:rPr lang="en-US" altLang="en-US" sz="2600" dirty="0"/>
                        <a:t>calcium</a:t>
                      </a:r>
                      <a:endParaRPr 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cortic</a:t>
                      </a:r>
                      <a:r>
                        <a:rPr lang="en-US" altLang="en-US" sz="2600" b="1" dirty="0"/>
                        <a:t>/o</a:t>
                      </a:r>
                      <a:endParaRPr lang="en-US" altLang="en-US" sz="2600" dirty="0"/>
                    </a:p>
                  </a:txBody>
                  <a:tcPr/>
                </a:tc>
                <a:tc>
                  <a:txBody>
                    <a:bodyPr/>
                    <a:lstStyle/>
                    <a:p>
                      <a:r>
                        <a:rPr lang="en-US" altLang="en-US" sz="2600" dirty="0"/>
                        <a:t>cortex, outer region</a:t>
                      </a:r>
                      <a:endParaRPr lang="en-US" sz="2600" dirty="0"/>
                    </a:p>
                  </a:txBody>
                  <a:tcPr/>
                </a:tc>
                <a:extLst>
                  <a:ext uri="{0D108BD9-81ED-4DB2-BD59-A6C34878D82A}">
                    <a16:rowId xmlns:a16="http://schemas.microsoft.com/office/drawing/2014/main" val="10003"/>
                  </a:ext>
                </a:extLst>
              </a:tr>
              <a:tr h="370840">
                <a:tc>
                  <a:txBody>
                    <a:bodyPr/>
                    <a:lstStyle/>
                    <a:p>
                      <a:r>
                        <a:rPr lang="en-US" altLang="en-US" sz="2600" b="1" dirty="0" err="1"/>
                        <a:t>crin</a:t>
                      </a:r>
                      <a:r>
                        <a:rPr lang="en-US" altLang="en-US" sz="2600" b="1" dirty="0"/>
                        <a:t>/o</a:t>
                      </a:r>
                      <a:endParaRPr lang="en-US" sz="2600" dirty="0"/>
                    </a:p>
                  </a:txBody>
                  <a:tcPr/>
                </a:tc>
                <a:tc>
                  <a:txBody>
                    <a:bodyPr/>
                    <a:lstStyle/>
                    <a:p>
                      <a:r>
                        <a:rPr lang="en-US" altLang="en-US" sz="2600" dirty="0"/>
                        <a:t>secrete</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a:t>dips/o</a:t>
                      </a:r>
                      <a:endParaRPr lang="en-US" sz="2600" dirty="0"/>
                    </a:p>
                  </a:txBody>
                  <a:tcPr/>
                </a:tc>
                <a:tc>
                  <a:txBody>
                    <a:bodyPr/>
                    <a:lstStyle/>
                    <a:p>
                      <a:r>
                        <a:rPr lang="en-US" altLang="en-US" sz="2600" dirty="0"/>
                        <a:t>thirst</a:t>
                      </a:r>
                      <a:endParaRPr lang="en-US" sz="2600" dirty="0"/>
                    </a:p>
                  </a:txBody>
                  <a:tcPr/>
                </a:tc>
                <a:extLst>
                  <a:ext uri="{0D108BD9-81ED-4DB2-BD59-A6C34878D82A}">
                    <a16:rowId xmlns:a16="http://schemas.microsoft.com/office/drawing/2014/main" val="10005"/>
                  </a:ext>
                </a:extLst>
              </a:tr>
              <a:tr h="370840">
                <a:tc>
                  <a:txBody>
                    <a:bodyPr/>
                    <a:lstStyle/>
                    <a:p>
                      <a:r>
                        <a:rPr lang="en-US" altLang="en-US" sz="2600" b="1" dirty="0" err="1"/>
                        <a:t>estr</a:t>
                      </a:r>
                      <a:r>
                        <a:rPr lang="en-US" altLang="en-US" sz="2600" b="1" dirty="0"/>
                        <a:t>/o</a:t>
                      </a:r>
                      <a:endParaRPr lang="en-US" sz="2600" dirty="0"/>
                    </a:p>
                  </a:txBody>
                  <a:tcPr/>
                </a:tc>
                <a:tc>
                  <a:txBody>
                    <a:bodyPr/>
                    <a:lstStyle/>
                    <a:p>
                      <a:r>
                        <a:rPr lang="en-US" altLang="en-US" sz="2600" dirty="0"/>
                        <a:t>female</a:t>
                      </a:r>
                      <a:endParaRPr lang="en-US" sz="2600" dirty="0"/>
                    </a:p>
                  </a:txBody>
                  <a:tcPr/>
                </a:tc>
                <a:extLst>
                  <a:ext uri="{0D108BD9-81ED-4DB2-BD59-A6C34878D82A}">
                    <a16:rowId xmlns:a16="http://schemas.microsoft.com/office/drawing/2014/main" val="10006"/>
                  </a:ext>
                </a:extLst>
              </a:tr>
              <a:tr h="370840">
                <a:tc>
                  <a:txBody>
                    <a:bodyPr/>
                    <a:lstStyle/>
                    <a:p>
                      <a:r>
                        <a:rPr lang="en-US" altLang="en-US" sz="2600" b="1" dirty="0" err="1"/>
                        <a:t>gluc</a:t>
                      </a:r>
                      <a:r>
                        <a:rPr lang="en-US" altLang="en-US" sz="2600" b="1" dirty="0"/>
                        <a:t>/o, </a:t>
                      </a:r>
                      <a:r>
                        <a:rPr lang="en-US" altLang="en-US" sz="2600" b="1" dirty="0" err="1"/>
                        <a:t>glyc</a:t>
                      </a:r>
                      <a:r>
                        <a:rPr lang="en-US" altLang="en-US" sz="2600" b="1" dirty="0"/>
                        <a:t>/o</a:t>
                      </a:r>
                      <a:endParaRPr lang="en-US" sz="2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sugar</a:t>
                      </a:r>
                      <a:endParaRPr lang="en-US" altLang="en-US" sz="2600" dirty="0">
                        <a:ea typeface="MS PGothic" panose="020B0600070205080204" pitchFamily="34" charset="-128"/>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785768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Combining Forms, Suffixes, Prefixes, and Terminology – Glands (Slide 2 of 3)</a:t>
            </a:r>
          </a:p>
        </p:txBody>
      </p:sp>
      <p:graphicFrame>
        <p:nvGraphicFramePr>
          <p:cNvPr id="8" name="Content Placeholder 7" descr="Group 2 of 3 Combining Forms from the Terminology:  Combining Forms, Suffixes and Terminology--Related Forms section of the textbook  with corresponding meanings or definitions. "/>
          <p:cNvGraphicFramePr>
            <a:graphicFrameLocks noGrp="1"/>
          </p:cNvGraphicFramePr>
          <p:nvPr>
            <p:ph idx="1"/>
            <p:extLst>
              <p:ext uri="{D42A27DB-BD31-4B8C-83A1-F6EECF244321}">
                <p14:modId xmlns:p14="http://schemas.microsoft.com/office/powerpoint/2010/main" val="1593861964"/>
              </p:ext>
            </p:extLst>
          </p:nvPr>
        </p:nvGraphicFramePr>
        <p:xfrm>
          <a:off x="457200" y="1600200"/>
          <a:ext cx="8229600" cy="341376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600" dirty="0"/>
                        <a:t>Combining</a:t>
                      </a:r>
                      <a:r>
                        <a:rPr lang="en-US" sz="2600" baseline="0" dirty="0"/>
                        <a:t> Form</a:t>
                      </a:r>
                      <a:endParaRPr lang="en-US" sz="2600" dirty="0"/>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home/o</a:t>
                      </a:r>
                      <a:endParaRPr lang="en-US" altLang="en-US" sz="2600" dirty="0"/>
                    </a:p>
                  </a:txBody>
                  <a:tcPr/>
                </a:tc>
                <a:tc>
                  <a:txBody>
                    <a:bodyPr/>
                    <a:lstStyle/>
                    <a:p>
                      <a:r>
                        <a:rPr lang="en-US" altLang="en-US" sz="2600" dirty="0"/>
                        <a:t>sameness</a:t>
                      </a:r>
                      <a:endParaRPr lang="en-US" sz="2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hormon</a:t>
                      </a:r>
                      <a:r>
                        <a:rPr lang="en-US" altLang="en-US" sz="2600" b="1" dirty="0"/>
                        <a:t>/o</a:t>
                      </a:r>
                      <a:endParaRPr lang="en-US" altLang="en-US" sz="2600" dirty="0"/>
                    </a:p>
                  </a:txBody>
                  <a:tcPr/>
                </a:tc>
                <a:tc>
                  <a:txBody>
                    <a:bodyPr/>
                    <a:lstStyle/>
                    <a:p>
                      <a:r>
                        <a:rPr lang="en-US" altLang="en-US" sz="2600" dirty="0"/>
                        <a:t>hormone</a:t>
                      </a:r>
                      <a:endParaRPr 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kal</a:t>
                      </a:r>
                      <a:r>
                        <a:rPr lang="en-US" altLang="en-US" sz="2600" b="1" dirty="0"/>
                        <a:t>/I</a:t>
                      </a:r>
                      <a:endParaRPr lang="en-US" altLang="en-US" sz="2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potassium (an electrolyte)</a:t>
                      </a:r>
                    </a:p>
                  </a:txBody>
                  <a:tcPr/>
                </a:tc>
                <a:extLst>
                  <a:ext uri="{0D108BD9-81ED-4DB2-BD59-A6C34878D82A}">
                    <a16:rowId xmlns:a16="http://schemas.microsoft.com/office/drawing/2014/main" val="10003"/>
                  </a:ext>
                </a:extLst>
              </a:tr>
              <a:tr h="370840">
                <a:tc>
                  <a:txBody>
                    <a:bodyPr/>
                    <a:lstStyle/>
                    <a:p>
                      <a:r>
                        <a:rPr lang="en-US" altLang="en-US" sz="2600" b="1" dirty="0" err="1"/>
                        <a:t>lact</a:t>
                      </a:r>
                      <a:r>
                        <a:rPr lang="en-US" altLang="en-US" sz="2600" b="1" dirty="0"/>
                        <a:t>/o</a:t>
                      </a:r>
                      <a:endParaRPr lang="en-US" sz="2600" dirty="0"/>
                    </a:p>
                  </a:txBody>
                  <a:tcPr/>
                </a:tc>
                <a:tc>
                  <a:txBody>
                    <a:bodyPr/>
                    <a:lstStyle/>
                    <a:p>
                      <a:r>
                        <a:rPr lang="en-US" altLang="en-US" sz="2600" dirty="0"/>
                        <a:t>milk</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err="1"/>
                        <a:t>myx</a:t>
                      </a:r>
                      <a:r>
                        <a:rPr lang="en-US" altLang="en-US" sz="2600" b="1" dirty="0"/>
                        <a:t>/o</a:t>
                      </a:r>
                      <a:endParaRPr lang="en-US" sz="2600" dirty="0"/>
                    </a:p>
                  </a:txBody>
                  <a:tcPr/>
                </a:tc>
                <a:tc>
                  <a:txBody>
                    <a:bodyPr/>
                    <a:lstStyle/>
                    <a:p>
                      <a:r>
                        <a:rPr lang="en-US" altLang="en-US" sz="2600" dirty="0"/>
                        <a:t>mucus</a:t>
                      </a:r>
                      <a:endParaRPr lang="en-US" sz="2600" dirty="0"/>
                    </a:p>
                  </a:txBody>
                  <a:tcPr/>
                </a:tc>
                <a:extLst>
                  <a:ext uri="{0D108BD9-81ED-4DB2-BD59-A6C34878D82A}">
                    <a16:rowId xmlns:a16="http://schemas.microsoft.com/office/drawing/2014/main" val="10005"/>
                  </a:ext>
                </a:extLst>
              </a:tr>
              <a:tr h="370840">
                <a:tc>
                  <a:txBody>
                    <a:bodyPr/>
                    <a:lstStyle/>
                    <a:p>
                      <a:r>
                        <a:rPr lang="en-US" altLang="en-US" sz="2600" b="1" dirty="0" err="1"/>
                        <a:t>natr</a:t>
                      </a:r>
                      <a:r>
                        <a:rPr lang="en-US" altLang="en-US" sz="2600" b="1" dirty="0"/>
                        <a:t>/o</a:t>
                      </a:r>
                      <a:endParaRPr lang="en-US" sz="2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sodium (an electrolyte)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16511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Combining Forms, Suffixes, Prefixes, and Terminology – Related Forms </a:t>
            </a:r>
            <a:br>
              <a:rPr lang="en-US" sz="3800" dirty="0"/>
            </a:br>
            <a:r>
              <a:rPr lang="en-US" sz="3800" dirty="0"/>
              <a:t>(Slide 3 of 3)</a:t>
            </a:r>
          </a:p>
        </p:txBody>
      </p:sp>
      <p:graphicFrame>
        <p:nvGraphicFramePr>
          <p:cNvPr id="8" name="Content Placeholder 7" descr="Group 3 of 3 Combining Forms from the Terminology:  Combining Forms, Suffixes and Terminology--Related Forms section of the textbook  with corresponding meanings or definitions. "/>
          <p:cNvGraphicFramePr>
            <a:graphicFrameLocks noGrp="1"/>
          </p:cNvGraphicFramePr>
          <p:nvPr>
            <p:ph idx="1"/>
            <p:extLst>
              <p:ext uri="{D42A27DB-BD31-4B8C-83A1-F6EECF244321}">
                <p14:modId xmlns:p14="http://schemas.microsoft.com/office/powerpoint/2010/main" val="2014478595"/>
              </p:ext>
            </p:extLst>
          </p:nvPr>
        </p:nvGraphicFramePr>
        <p:xfrm>
          <a:off x="457200" y="1600200"/>
          <a:ext cx="8229600" cy="341376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600" dirty="0"/>
                        <a:t>Combining</a:t>
                      </a:r>
                      <a:r>
                        <a:rPr lang="en-US" sz="2600" baseline="0" dirty="0"/>
                        <a:t> Form</a:t>
                      </a:r>
                      <a:endParaRPr lang="en-US" sz="2600" dirty="0"/>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phys</a:t>
                      </a:r>
                      <a:r>
                        <a:rPr lang="en-US" altLang="en-US" sz="2600" b="1" dirty="0"/>
                        <a:t>/o</a:t>
                      </a:r>
                      <a:endParaRPr lang="en-US" altLang="en-US" sz="2600" dirty="0"/>
                    </a:p>
                  </a:txBody>
                  <a:tcPr/>
                </a:tc>
                <a:tc>
                  <a:txBody>
                    <a:bodyPr/>
                    <a:lstStyle/>
                    <a:p>
                      <a:r>
                        <a:rPr lang="en-US" altLang="en-US" sz="2600" dirty="0"/>
                        <a:t>growing</a:t>
                      </a:r>
                      <a:endParaRPr lang="en-US" sz="2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somat</a:t>
                      </a:r>
                      <a:r>
                        <a:rPr lang="en-US" altLang="en-US" sz="2600" b="1" dirty="0"/>
                        <a:t>/o</a:t>
                      </a:r>
                      <a:endParaRPr lang="en-US" altLang="en-US" sz="2600" dirty="0"/>
                    </a:p>
                  </a:txBody>
                  <a:tcPr/>
                </a:tc>
                <a:tc>
                  <a:txBody>
                    <a:bodyPr/>
                    <a:lstStyle/>
                    <a:p>
                      <a:r>
                        <a:rPr lang="en-US" altLang="en-US" sz="2600" dirty="0"/>
                        <a:t>body</a:t>
                      </a:r>
                      <a:endParaRPr 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err="1"/>
                        <a:t>ster</a:t>
                      </a:r>
                      <a:r>
                        <a:rPr lang="en-US" altLang="en-US" sz="2600" b="1" dirty="0"/>
                        <a:t>/o</a:t>
                      </a:r>
                      <a:endParaRPr lang="en-US" altLang="en-US" sz="2600" dirty="0"/>
                    </a:p>
                  </a:txBody>
                  <a:tcPr/>
                </a:tc>
                <a:tc>
                  <a:txBody>
                    <a:bodyPr/>
                    <a:lstStyle/>
                    <a:p>
                      <a:r>
                        <a:rPr lang="en-US" altLang="en-US" sz="2600" dirty="0"/>
                        <a:t>solid structure</a:t>
                      </a:r>
                      <a:endParaRPr lang="en-US" sz="2600" dirty="0"/>
                    </a:p>
                  </a:txBody>
                  <a:tcPr/>
                </a:tc>
                <a:extLst>
                  <a:ext uri="{0D108BD9-81ED-4DB2-BD59-A6C34878D82A}">
                    <a16:rowId xmlns:a16="http://schemas.microsoft.com/office/drawing/2014/main" val="10003"/>
                  </a:ext>
                </a:extLst>
              </a:tr>
              <a:tr h="370840">
                <a:tc>
                  <a:txBody>
                    <a:bodyPr/>
                    <a:lstStyle/>
                    <a:p>
                      <a:r>
                        <a:rPr lang="en-US" altLang="en-US" sz="2600" b="1" dirty="0" err="1"/>
                        <a:t>toc</a:t>
                      </a:r>
                      <a:r>
                        <a:rPr lang="en-US" altLang="en-US" sz="2600" b="1" dirty="0"/>
                        <a:t>/o</a:t>
                      </a:r>
                      <a:endParaRPr lang="en-US" sz="2600" dirty="0"/>
                    </a:p>
                  </a:txBody>
                  <a:tcPr/>
                </a:tc>
                <a:tc>
                  <a:txBody>
                    <a:bodyPr/>
                    <a:lstStyle/>
                    <a:p>
                      <a:r>
                        <a:rPr lang="en-US" altLang="en-US" sz="2600" dirty="0"/>
                        <a:t>childbirth</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a:t>toxic/o</a:t>
                      </a:r>
                      <a:endParaRPr lang="en-US" sz="2600" dirty="0"/>
                    </a:p>
                  </a:txBody>
                  <a:tcPr/>
                </a:tc>
                <a:tc>
                  <a:txBody>
                    <a:bodyPr/>
                    <a:lstStyle/>
                    <a:p>
                      <a:r>
                        <a:rPr lang="en-US" altLang="en-US" sz="2600" dirty="0"/>
                        <a:t>position</a:t>
                      </a:r>
                      <a:endParaRPr lang="en-US" sz="2600" dirty="0"/>
                    </a:p>
                  </a:txBody>
                  <a:tcPr/>
                </a:tc>
                <a:extLst>
                  <a:ext uri="{0D108BD9-81ED-4DB2-BD59-A6C34878D82A}">
                    <a16:rowId xmlns:a16="http://schemas.microsoft.com/office/drawing/2014/main" val="10005"/>
                  </a:ext>
                </a:extLst>
              </a:tr>
              <a:tr h="370840">
                <a:tc>
                  <a:txBody>
                    <a:bodyPr/>
                    <a:lstStyle/>
                    <a:p>
                      <a:r>
                        <a:rPr lang="en-US" altLang="en-US" sz="2600" b="1" dirty="0" err="1"/>
                        <a:t>ur</a:t>
                      </a:r>
                      <a:r>
                        <a:rPr lang="en-US" altLang="en-US" sz="2600" b="1" dirty="0"/>
                        <a:t>/o</a:t>
                      </a:r>
                      <a:endParaRPr lang="en-US" sz="2600" dirty="0"/>
                    </a:p>
                  </a:txBody>
                  <a:tcPr/>
                </a:tc>
                <a:tc>
                  <a:txBody>
                    <a:bodyPr/>
                    <a:lstStyle/>
                    <a:p>
                      <a:r>
                        <a:rPr lang="en-US" altLang="en-US" sz="2600" dirty="0"/>
                        <a:t>urine</a:t>
                      </a:r>
                      <a:endParaRPr lang="en-US" sz="26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168068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Combining Forms, Suffixes, Prefixes, and Terminology – Suffixes </a:t>
            </a:r>
          </a:p>
        </p:txBody>
      </p:sp>
      <p:graphicFrame>
        <p:nvGraphicFramePr>
          <p:cNvPr id="8" name="Content Placeholder 7" descr="List of Suffixes from the Terminology:  Combining Forms, Suffixes and Terminology--Suffixes section of the textbook  with corresponding meanings or definitions. "/>
          <p:cNvGraphicFramePr>
            <a:graphicFrameLocks noGrp="1"/>
          </p:cNvGraphicFramePr>
          <p:nvPr>
            <p:ph idx="1"/>
            <p:extLst>
              <p:ext uri="{D42A27DB-BD31-4B8C-83A1-F6EECF244321}">
                <p14:modId xmlns:p14="http://schemas.microsoft.com/office/powerpoint/2010/main" val="1851758799"/>
              </p:ext>
            </p:extLst>
          </p:nvPr>
        </p:nvGraphicFramePr>
        <p:xfrm>
          <a:off x="457200" y="1600200"/>
          <a:ext cx="8229600" cy="292608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Suffix</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a:t>
                      </a:r>
                      <a:r>
                        <a:rPr lang="en-US" altLang="en-US" sz="2600" b="1" dirty="0" err="1"/>
                        <a:t>agon</a:t>
                      </a:r>
                      <a:endParaRPr lang="en-US" altLang="en-US" sz="2600" dirty="0"/>
                    </a:p>
                  </a:txBody>
                  <a:tcPr/>
                </a:tc>
                <a:tc>
                  <a:txBody>
                    <a:bodyPr/>
                    <a:lstStyle/>
                    <a:p>
                      <a:r>
                        <a:rPr lang="en-US" altLang="en-US" sz="2600" dirty="0"/>
                        <a:t>assemble, gather together</a:t>
                      </a:r>
                      <a:endParaRPr lang="en-US" sz="26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a:t>
                      </a:r>
                      <a:r>
                        <a:rPr lang="en-US" altLang="en-US" sz="2600" b="1" dirty="0" err="1"/>
                        <a:t>emia</a:t>
                      </a:r>
                      <a:endParaRPr lang="en-US" altLang="en-US" sz="2600" dirty="0"/>
                    </a:p>
                  </a:txBody>
                  <a:tcPr/>
                </a:tc>
                <a:tc>
                  <a:txBody>
                    <a:bodyPr/>
                    <a:lstStyle/>
                    <a:p>
                      <a:r>
                        <a:rPr lang="en-US" altLang="en-US" sz="2600" dirty="0"/>
                        <a:t>blood condition</a:t>
                      </a:r>
                      <a:endParaRPr lang="en-US" sz="2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b="1" dirty="0"/>
                        <a:t>-in, -</a:t>
                      </a:r>
                      <a:r>
                        <a:rPr lang="en-US" altLang="en-US" sz="2600" b="1" dirty="0" err="1"/>
                        <a:t>ine</a:t>
                      </a:r>
                      <a:endParaRPr lang="en-US" altLang="en-US" sz="2600" dirty="0"/>
                    </a:p>
                  </a:txBody>
                  <a:tcPr/>
                </a:tc>
                <a:tc>
                  <a:txBody>
                    <a:bodyPr/>
                    <a:lstStyle/>
                    <a:p>
                      <a:r>
                        <a:rPr lang="en-US" altLang="en-US" sz="2600" dirty="0"/>
                        <a:t>a substance</a:t>
                      </a:r>
                      <a:endParaRPr lang="en-US" sz="2600" dirty="0"/>
                    </a:p>
                  </a:txBody>
                  <a:tcPr/>
                </a:tc>
                <a:extLst>
                  <a:ext uri="{0D108BD9-81ED-4DB2-BD59-A6C34878D82A}">
                    <a16:rowId xmlns:a16="http://schemas.microsoft.com/office/drawing/2014/main" val="10003"/>
                  </a:ext>
                </a:extLst>
              </a:tr>
              <a:tr h="370840">
                <a:tc>
                  <a:txBody>
                    <a:bodyPr/>
                    <a:lstStyle/>
                    <a:p>
                      <a:r>
                        <a:rPr lang="en-US" altLang="en-US" sz="2600" b="1" dirty="0"/>
                        <a:t>-</a:t>
                      </a:r>
                      <a:r>
                        <a:rPr lang="en-US" altLang="en-US" sz="2600" b="1" dirty="0" err="1"/>
                        <a:t>tropin</a:t>
                      </a:r>
                      <a:endParaRPr lang="en-US" sz="2600" dirty="0"/>
                    </a:p>
                  </a:txBody>
                  <a:tcPr/>
                </a:tc>
                <a:tc>
                  <a:txBody>
                    <a:bodyPr/>
                    <a:lstStyle/>
                    <a:p>
                      <a:r>
                        <a:rPr lang="en-US" altLang="en-US" sz="2600" dirty="0"/>
                        <a:t>stimulating the function of</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a:t>-</a:t>
                      </a:r>
                      <a:r>
                        <a:rPr lang="en-US" altLang="en-US" sz="2600" b="1" dirty="0" err="1"/>
                        <a:t>uria</a:t>
                      </a:r>
                      <a:endParaRPr lang="en-US" sz="2600" dirty="0"/>
                    </a:p>
                  </a:txBody>
                  <a:tcPr/>
                </a:tc>
                <a:tc>
                  <a:txBody>
                    <a:bodyPr/>
                    <a:lstStyle/>
                    <a:p>
                      <a:r>
                        <a:rPr lang="en-US" altLang="en-US" sz="2600" dirty="0"/>
                        <a:t>urine condition</a:t>
                      </a:r>
                      <a:endParaRPr lang="en-US" sz="26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05749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800" dirty="0"/>
              <a:t>Combining Forms, Suffixes, Prefixes, and Terminology – Prefixes (Slide 1 of 1)</a:t>
            </a:r>
          </a:p>
        </p:txBody>
      </p:sp>
      <p:graphicFrame>
        <p:nvGraphicFramePr>
          <p:cNvPr id="8" name="Content Placeholder 7" descr="List of Prefixes from the Terminology:  Combining Forms, Suffixes and Terminology--Prefixes section of the textbook  with corresponding meanings or definitions. "/>
          <p:cNvGraphicFramePr>
            <a:graphicFrameLocks noGrp="1"/>
          </p:cNvGraphicFramePr>
          <p:nvPr>
            <p:ph idx="1"/>
            <p:extLst>
              <p:ext uri="{D42A27DB-BD31-4B8C-83A1-F6EECF244321}">
                <p14:modId xmlns:p14="http://schemas.microsoft.com/office/powerpoint/2010/main" val="1334286065"/>
              </p:ext>
            </p:extLst>
          </p:nvPr>
        </p:nvGraphicFramePr>
        <p:xfrm>
          <a:off x="457200" y="1600200"/>
          <a:ext cx="8229600" cy="438912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600" dirty="0"/>
                        <a:t>Prefix</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1" dirty="0" err="1"/>
                        <a:t>eu</a:t>
                      </a:r>
                      <a:r>
                        <a:rPr lang="en-US" sz="2600" b="1" dirty="0"/>
                        <a:t>-	</a:t>
                      </a:r>
                      <a:endParaRPr lang="en-US" altLang="en-US" sz="2600" dirty="0"/>
                    </a:p>
                  </a:txBody>
                  <a:tcPr/>
                </a:tc>
                <a:tc>
                  <a:txBody>
                    <a:bodyPr/>
                    <a:lstStyle/>
                    <a:p>
                      <a:r>
                        <a:rPr lang="en-US" sz="2600" dirty="0"/>
                        <a:t>good, normal</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1" dirty="0"/>
                        <a:t>hyper-</a:t>
                      </a:r>
                      <a:endParaRPr lang="en-US" altLang="en-US" sz="2600" dirty="0"/>
                    </a:p>
                  </a:txBody>
                  <a:tcPr/>
                </a:tc>
                <a:tc>
                  <a:txBody>
                    <a:bodyPr/>
                    <a:lstStyle/>
                    <a:p>
                      <a:r>
                        <a:rPr lang="en-US" sz="2600" dirty="0"/>
                        <a:t>excessive, above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600" b="1" dirty="0"/>
                        <a:t>hypo-</a:t>
                      </a:r>
                      <a:endParaRPr lang="en-US" altLang="en-US" sz="2600" dirty="0"/>
                    </a:p>
                  </a:txBody>
                  <a:tcPr/>
                </a:tc>
                <a:tc>
                  <a:txBody>
                    <a:bodyPr/>
                    <a:lstStyle/>
                    <a:p>
                      <a:r>
                        <a:rPr lang="en-US" sz="2600" dirty="0"/>
                        <a:t>deficient, below</a:t>
                      </a:r>
                    </a:p>
                  </a:txBody>
                  <a:tcPr/>
                </a:tc>
                <a:extLst>
                  <a:ext uri="{0D108BD9-81ED-4DB2-BD59-A6C34878D82A}">
                    <a16:rowId xmlns:a16="http://schemas.microsoft.com/office/drawing/2014/main" val="10003"/>
                  </a:ext>
                </a:extLst>
              </a:tr>
              <a:tr h="370840">
                <a:tc>
                  <a:txBody>
                    <a:bodyPr/>
                    <a:lstStyle/>
                    <a:p>
                      <a:r>
                        <a:rPr lang="en-US" sz="2600" b="1" dirty="0"/>
                        <a:t>oxy-</a:t>
                      </a:r>
                      <a:endParaRPr lang="en-US" sz="2600" dirty="0"/>
                    </a:p>
                  </a:txBody>
                  <a:tcPr/>
                </a:tc>
                <a:tc>
                  <a:txBody>
                    <a:bodyPr/>
                    <a:lstStyle/>
                    <a:p>
                      <a:r>
                        <a:rPr lang="en-US" sz="2600" dirty="0"/>
                        <a:t>rapid, sharp, acid</a:t>
                      </a:r>
                    </a:p>
                  </a:txBody>
                  <a:tcPr/>
                </a:tc>
                <a:extLst>
                  <a:ext uri="{0D108BD9-81ED-4DB2-BD59-A6C34878D82A}">
                    <a16:rowId xmlns:a16="http://schemas.microsoft.com/office/drawing/2014/main" val="10004"/>
                  </a:ext>
                </a:extLst>
              </a:tr>
              <a:tr h="370840">
                <a:tc>
                  <a:txBody>
                    <a:bodyPr/>
                    <a:lstStyle/>
                    <a:p>
                      <a:r>
                        <a:rPr lang="en-US" sz="2600" b="1" dirty="0"/>
                        <a:t>pan-</a:t>
                      </a:r>
                      <a:endParaRPr lang="en-US" sz="2600" dirty="0"/>
                    </a:p>
                  </a:txBody>
                  <a:tcPr/>
                </a:tc>
                <a:tc>
                  <a:txBody>
                    <a:bodyPr/>
                    <a:lstStyle/>
                    <a:p>
                      <a:r>
                        <a:rPr lang="en-US" sz="2600" dirty="0"/>
                        <a:t>all</a:t>
                      </a:r>
                    </a:p>
                  </a:txBody>
                  <a:tcPr/>
                </a:tc>
                <a:extLst>
                  <a:ext uri="{0D108BD9-81ED-4DB2-BD59-A6C34878D82A}">
                    <a16:rowId xmlns:a16="http://schemas.microsoft.com/office/drawing/2014/main" val="10005"/>
                  </a:ext>
                </a:extLst>
              </a:tr>
              <a:tr h="370840">
                <a:tc>
                  <a:txBody>
                    <a:bodyPr/>
                    <a:lstStyle/>
                    <a:p>
                      <a:r>
                        <a:rPr lang="en-US" sz="2600" b="1" dirty="0"/>
                        <a:t>poly-</a:t>
                      </a:r>
                      <a:endParaRPr lang="en-US" sz="2600" dirty="0"/>
                    </a:p>
                  </a:txBody>
                  <a:tcPr/>
                </a:tc>
                <a:tc>
                  <a:txBody>
                    <a:bodyPr/>
                    <a:lstStyle/>
                    <a:p>
                      <a:r>
                        <a:rPr lang="en-US" sz="2600" dirty="0"/>
                        <a:t>much or increased</a:t>
                      </a:r>
                    </a:p>
                  </a:txBody>
                  <a:tcPr/>
                </a:tc>
                <a:extLst>
                  <a:ext uri="{0D108BD9-81ED-4DB2-BD59-A6C34878D82A}">
                    <a16:rowId xmlns:a16="http://schemas.microsoft.com/office/drawing/2014/main" val="10006"/>
                  </a:ext>
                </a:extLst>
              </a:tr>
              <a:tr h="370840">
                <a:tc>
                  <a:txBody>
                    <a:bodyPr/>
                    <a:lstStyle/>
                    <a:p>
                      <a:r>
                        <a:rPr lang="en-US" sz="2600" b="1" dirty="0"/>
                        <a:t>tetra-</a:t>
                      </a:r>
                      <a:endParaRPr lang="en-US" sz="2600" dirty="0"/>
                    </a:p>
                  </a:txBody>
                  <a:tcPr/>
                </a:tc>
                <a:tc>
                  <a:txBody>
                    <a:bodyPr/>
                    <a:lstStyle/>
                    <a:p>
                      <a:r>
                        <a:rPr lang="en-US" sz="2600" dirty="0"/>
                        <a:t>four</a:t>
                      </a:r>
                    </a:p>
                  </a:txBody>
                  <a:tcPr/>
                </a:tc>
                <a:extLst>
                  <a:ext uri="{0D108BD9-81ED-4DB2-BD59-A6C34878D82A}">
                    <a16:rowId xmlns:a16="http://schemas.microsoft.com/office/drawing/2014/main" val="10007"/>
                  </a:ext>
                </a:extLst>
              </a:tr>
              <a:tr h="370840">
                <a:tc>
                  <a:txBody>
                    <a:bodyPr/>
                    <a:lstStyle/>
                    <a:p>
                      <a:r>
                        <a:rPr lang="en-US" sz="2600" b="1" dirty="0"/>
                        <a:t>tri</a:t>
                      </a:r>
                      <a:endParaRPr lang="en-US" sz="2600" dirty="0"/>
                    </a:p>
                  </a:txBody>
                  <a:tcPr/>
                </a:tc>
                <a:tc>
                  <a:txBody>
                    <a:bodyPr/>
                    <a:lstStyle/>
                    <a:p>
                      <a:r>
                        <a:rPr lang="en-US" sz="2600" dirty="0"/>
                        <a:t>three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985802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609600" y="304800"/>
            <a:ext cx="7772400" cy="1219200"/>
          </a:xfrm>
        </p:spPr>
        <p:txBody>
          <a:bodyPr/>
          <a:lstStyle/>
          <a:p>
            <a:pPr eaLnBrk="1" hangingPunct="1"/>
            <a:r>
              <a:rPr lang="en-US" altLang="en-US" dirty="0"/>
              <a:t>      QUICK QUIZ (Slide 3 of 5)	</a:t>
            </a:r>
          </a:p>
        </p:txBody>
      </p:sp>
      <p:sp>
        <p:nvSpPr>
          <p:cNvPr id="80899" name="Rectangle 3"/>
          <p:cNvSpPr>
            <a:spLocks noGrp="1" noChangeArrowheads="1"/>
          </p:cNvSpPr>
          <p:nvPr>
            <p:ph idx="1"/>
          </p:nvPr>
        </p:nvSpPr>
        <p:spPr>
          <a:xfrm>
            <a:off x="762000" y="1676400"/>
            <a:ext cx="6934200" cy="4032250"/>
          </a:xfrm>
        </p:spPr>
        <p:txBody>
          <a:bodyPr>
            <a:spAutoFit/>
          </a:bodyPr>
          <a:lstStyle/>
          <a:p>
            <a:pPr marL="533400" indent="-533400" eaLnBrk="1" hangingPunct="1">
              <a:buFont typeface="Arial" panose="020B0604020202020204" pitchFamily="34" charset="0"/>
              <a:buAutoNum type="arabicPeriod" startAt="3"/>
            </a:pPr>
            <a:r>
              <a:rPr lang="en-US" altLang="en-US" b="1"/>
              <a:t>Which term means surgical excision of the adrenal gland (specifically)? </a:t>
            </a:r>
          </a:p>
          <a:p>
            <a:pPr marL="914400" lvl="1" indent="-457200" eaLnBrk="1" hangingPunct="1">
              <a:buFont typeface="Wingdings" panose="05000000000000000000" pitchFamily="2" charset="2"/>
              <a:buNone/>
            </a:pPr>
            <a:endParaRPr lang="en-US" altLang="en-US" sz="3200"/>
          </a:p>
          <a:p>
            <a:pPr marL="914400" lvl="1" indent="-457200" eaLnBrk="1" hangingPunct="1">
              <a:buFont typeface="Arial" panose="020B0604020202020204" pitchFamily="34" charset="0"/>
              <a:buAutoNum type="alphaUcPeriod"/>
            </a:pPr>
            <a:r>
              <a:rPr lang="en-US" altLang="en-US" sz="3200"/>
              <a:t>Adenectomy</a:t>
            </a:r>
          </a:p>
          <a:p>
            <a:pPr marL="914400" lvl="1" indent="-457200" eaLnBrk="1" hangingPunct="1">
              <a:buFont typeface="Arial" panose="020B0604020202020204" pitchFamily="34" charset="0"/>
              <a:buAutoNum type="alphaUcPeriod"/>
            </a:pPr>
            <a:r>
              <a:rPr lang="en-US" altLang="en-US" sz="3200"/>
              <a:t>Adrenopathy</a:t>
            </a:r>
          </a:p>
          <a:p>
            <a:pPr marL="914400" lvl="1" indent="-457200" eaLnBrk="1" hangingPunct="1">
              <a:buFont typeface="Arial" panose="020B0604020202020204" pitchFamily="34" charset="0"/>
              <a:buAutoNum type="alphaUcPeriod"/>
            </a:pPr>
            <a:r>
              <a:rPr lang="en-US" altLang="en-US" sz="3200"/>
              <a:t>Adrenalectomy</a:t>
            </a:r>
          </a:p>
          <a:p>
            <a:pPr marL="914400" lvl="1" indent="-457200" eaLnBrk="1" hangingPunct="1">
              <a:buFont typeface="Arial" panose="020B0604020202020204" pitchFamily="34" charset="0"/>
              <a:buAutoNum type="alphaUcPeriod"/>
            </a:pPr>
            <a:r>
              <a:rPr lang="en-US" altLang="en-US" sz="3200"/>
              <a:t>Pancreatectomy</a:t>
            </a:r>
          </a:p>
        </p:txBody>
      </p:sp>
    </p:spTree>
    <p:extLst>
      <p:ext uri="{BB962C8B-B14F-4D97-AF65-F5344CB8AC3E}">
        <p14:creationId xmlns:p14="http://schemas.microsoft.com/office/powerpoint/2010/main" val="19617209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066800" y="228600"/>
            <a:ext cx="7772400" cy="1219200"/>
          </a:xfrm>
        </p:spPr>
        <p:txBody>
          <a:bodyPr/>
          <a:lstStyle/>
          <a:p>
            <a:pPr eaLnBrk="1" hangingPunct="1"/>
            <a:r>
              <a:rPr lang="en-US" altLang="en-US" dirty="0"/>
              <a:t>      QUICK QUIZ</a:t>
            </a:r>
            <a:r>
              <a:rPr lang="en-US" altLang="en-US" dirty="0">
                <a:sym typeface="Wingdings" panose="05000000000000000000" pitchFamily="2" charset="2"/>
              </a:rPr>
              <a:t> (Slide 4 of 5</a:t>
            </a:r>
            <a:r>
              <a:rPr lang="en-US" altLang="ja-JP" dirty="0">
                <a:sym typeface="Wingdings" panose="05000000000000000000" pitchFamily="2" charset="2"/>
              </a:rPr>
              <a:t>)</a:t>
            </a:r>
            <a:r>
              <a:rPr lang="en-US" altLang="ja-JP" dirty="0"/>
              <a:t>	</a:t>
            </a:r>
            <a:endParaRPr lang="en-US" altLang="en-US" dirty="0"/>
          </a:p>
        </p:txBody>
      </p:sp>
      <p:sp>
        <p:nvSpPr>
          <p:cNvPr id="81923" name="Rectangle 3"/>
          <p:cNvSpPr>
            <a:spLocks noGrp="1" noChangeArrowheads="1"/>
          </p:cNvSpPr>
          <p:nvPr>
            <p:ph idx="1"/>
          </p:nvPr>
        </p:nvSpPr>
        <p:spPr>
          <a:xfrm>
            <a:off x="762000" y="1676400"/>
            <a:ext cx="6934200" cy="4032250"/>
          </a:xfrm>
        </p:spPr>
        <p:txBody>
          <a:bodyPr>
            <a:spAutoFit/>
          </a:bodyPr>
          <a:lstStyle/>
          <a:p>
            <a:pPr marL="533400" indent="-533400" eaLnBrk="1" hangingPunct="1">
              <a:buFont typeface="Arial" panose="020B0604020202020204" pitchFamily="34" charset="0"/>
              <a:buAutoNum type="arabicPeriod" startAt="4"/>
            </a:pPr>
            <a:r>
              <a:rPr lang="en-US" altLang="en-US" b="1"/>
              <a:t>Which term means a blood condition of too little potassium?</a:t>
            </a:r>
          </a:p>
          <a:p>
            <a:pPr marL="533400" indent="-533400" eaLnBrk="1" hangingPunct="1">
              <a:buFont typeface="Arial" panose="020B0604020202020204" pitchFamily="34" charset="0"/>
              <a:buAutoNum type="arabicPeriod" startAt="4"/>
            </a:pPr>
            <a:endParaRPr lang="en-US" altLang="en-US" b="1"/>
          </a:p>
          <a:p>
            <a:pPr marL="914400" lvl="1" indent="-457200" eaLnBrk="1" hangingPunct="1">
              <a:buFont typeface="Arial" panose="020B0604020202020204" pitchFamily="34" charset="0"/>
              <a:buAutoNum type="alphaUcPeriod"/>
            </a:pPr>
            <a:r>
              <a:rPr lang="en-US" altLang="en-US" sz="3200"/>
              <a:t>Hyperkalemia</a:t>
            </a:r>
          </a:p>
          <a:p>
            <a:pPr marL="914400" lvl="1" indent="-457200" eaLnBrk="1" hangingPunct="1">
              <a:buFont typeface="Arial" panose="020B0604020202020204" pitchFamily="34" charset="0"/>
              <a:buAutoNum type="alphaUcPeriod"/>
            </a:pPr>
            <a:r>
              <a:rPr lang="en-US" altLang="en-US" sz="3200"/>
              <a:t>Hypocalcemia</a:t>
            </a:r>
          </a:p>
          <a:p>
            <a:pPr marL="914400" lvl="1" indent="-457200" eaLnBrk="1" hangingPunct="1">
              <a:buFont typeface="Arial" panose="020B0604020202020204" pitchFamily="34" charset="0"/>
              <a:buAutoNum type="alphaUcPeriod"/>
            </a:pPr>
            <a:r>
              <a:rPr lang="en-US" altLang="en-US" sz="3200"/>
              <a:t>Hypercalciuria</a:t>
            </a:r>
          </a:p>
          <a:p>
            <a:pPr marL="914400" lvl="1" indent="-457200" eaLnBrk="1" hangingPunct="1">
              <a:buFont typeface="Arial" panose="020B0604020202020204" pitchFamily="34" charset="0"/>
              <a:buAutoNum type="alphaUcPeriod"/>
            </a:pPr>
            <a:r>
              <a:rPr lang="en-US" altLang="en-US" sz="3200"/>
              <a:t>Hypokalemia</a:t>
            </a:r>
          </a:p>
        </p:txBody>
      </p:sp>
    </p:spTree>
    <p:extLst>
      <p:ext uri="{BB962C8B-B14F-4D97-AF65-F5344CB8AC3E}">
        <p14:creationId xmlns:p14="http://schemas.microsoft.com/office/powerpoint/2010/main" val="25477657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5"/>
          <p:cNvSpPr>
            <a:spLocks noGrp="1" noChangeArrowheads="1"/>
          </p:cNvSpPr>
          <p:nvPr>
            <p:ph type="title"/>
          </p:nvPr>
        </p:nvSpPr>
        <p:spPr>
          <a:xfrm>
            <a:off x="228600" y="304800"/>
            <a:ext cx="8763000" cy="1219200"/>
          </a:xfrm>
        </p:spPr>
        <p:txBody>
          <a:bodyPr rtlCol="0">
            <a:normAutofit fontScale="90000"/>
          </a:bodyPr>
          <a:lstStyle/>
          <a:p>
            <a:pPr eaLnBrk="1" fontAlgn="auto" hangingPunct="1">
              <a:spcAft>
                <a:spcPts val="0"/>
              </a:spcAft>
              <a:defRPr/>
            </a:pPr>
            <a:r>
              <a:rPr lang="en-US" dirty="0"/>
              <a:t>Chapter 18</a:t>
            </a:r>
            <a:br>
              <a:rPr lang="en-US" dirty="0"/>
            </a:br>
            <a:r>
              <a:rPr lang="en-US" dirty="0"/>
              <a:t>Lesson 18.3</a:t>
            </a:r>
          </a:p>
        </p:txBody>
      </p:sp>
    </p:spTree>
    <p:extLst>
      <p:ext uri="{BB962C8B-B14F-4D97-AF65-F5344CB8AC3E}">
        <p14:creationId xmlns:p14="http://schemas.microsoft.com/office/powerpoint/2010/main" val="36589680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9"/>
          <p:cNvSpPr>
            <a:spLocks noGrp="1" noChangeArrowheads="1"/>
          </p:cNvSpPr>
          <p:nvPr>
            <p:ph type="title"/>
          </p:nvPr>
        </p:nvSpPr>
        <p:spPr>
          <a:xfrm>
            <a:off x="457200" y="228600"/>
            <a:ext cx="8382000" cy="1143000"/>
          </a:xfrm>
        </p:spPr>
        <p:txBody>
          <a:bodyPr/>
          <a:lstStyle/>
          <a:p>
            <a:pPr eaLnBrk="1" hangingPunct="1"/>
            <a:r>
              <a:rPr lang="en-US" altLang="en-US"/>
              <a:t>Pathology—Thyroid Gland</a:t>
            </a:r>
          </a:p>
        </p:txBody>
      </p:sp>
      <p:sp>
        <p:nvSpPr>
          <p:cNvPr id="83971" name="Rectangle 10"/>
          <p:cNvSpPr>
            <a:spLocks noGrp="1" noChangeArrowheads="1"/>
          </p:cNvSpPr>
          <p:nvPr>
            <p:ph idx="1"/>
          </p:nvPr>
        </p:nvSpPr>
        <p:spPr>
          <a:xfrm>
            <a:off x="533400" y="1371600"/>
            <a:ext cx="8229600" cy="4419600"/>
          </a:xfrm>
        </p:spPr>
        <p:txBody>
          <a:bodyPr/>
          <a:lstStyle/>
          <a:p>
            <a:pPr eaLnBrk="1" hangingPunct="1">
              <a:lnSpc>
                <a:spcPct val="90000"/>
              </a:lnSpc>
              <a:buFont typeface="Wingdings 2" panose="05020102010507070707" pitchFamily="18" charset="2"/>
              <a:buNone/>
            </a:pPr>
            <a:r>
              <a:rPr lang="en-US" altLang="en-US" b="1"/>
              <a:t>Goiter:</a:t>
            </a:r>
            <a:r>
              <a:rPr lang="en-US" altLang="en-US" sz="2400"/>
              <a:t> Enlargement of the thyroid</a:t>
            </a:r>
          </a:p>
          <a:p>
            <a:pPr eaLnBrk="1" hangingPunct="1">
              <a:lnSpc>
                <a:spcPct val="90000"/>
              </a:lnSpc>
              <a:buFont typeface="Wingdings 2" panose="05020102010507070707" pitchFamily="18" charset="2"/>
              <a:buNone/>
            </a:pPr>
            <a:endParaRPr lang="en-US" altLang="en-US" sz="1000" b="1"/>
          </a:p>
          <a:p>
            <a:pPr eaLnBrk="1" hangingPunct="1">
              <a:lnSpc>
                <a:spcPct val="90000"/>
              </a:lnSpc>
              <a:buFont typeface="Wingdings 2" panose="05020102010507070707" pitchFamily="18" charset="2"/>
              <a:buNone/>
            </a:pPr>
            <a:r>
              <a:rPr lang="en-US" altLang="en-US" b="1"/>
              <a:t>Hypersecretion</a:t>
            </a:r>
          </a:p>
          <a:p>
            <a:pPr lvl="1" eaLnBrk="1" hangingPunct="1">
              <a:lnSpc>
                <a:spcPct val="90000"/>
              </a:lnSpc>
              <a:buFont typeface="Wingdings" panose="05000000000000000000" pitchFamily="2" charset="2"/>
              <a:buNone/>
            </a:pPr>
            <a:r>
              <a:rPr lang="en-US" altLang="en-US" sz="2400"/>
              <a:t>Hyperthyroidism</a:t>
            </a:r>
          </a:p>
          <a:p>
            <a:pPr lvl="1" eaLnBrk="1" hangingPunct="1">
              <a:lnSpc>
                <a:spcPct val="90000"/>
              </a:lnSpc>
              <a:buFont typeface="Wingdings" panose="05000000000000000000" pitchFamily="2" charset="2"/>
              <a:buChar char="Ø"/>
            </a:pPr>
            <a:r>
              <a:rPr lang="en-US" altLang="en-US" sz="2400"/>
              <a:t>Graves</a:t>
            </a:r>
            <a:r>
              <a:rPr lang="ja-JP" altLang="en-US" sz="2400"/>
              <a:t>’</a:t>
            </a:r>
            <a:r>
              <a:rPr lang="en-US" altLang="ja-JP" sz="2400"/>
              <a:t>disease</a:t>
            </a:r>
          </a:p>
          <a:p>
            <a:pPr lvl="2" eaLnBrk="1" hangingPunct="1">
              <a:lnSpc>
                <a:spcPct val="90000"/>
              </a:lnSpc>
            </a:pPr>
            <a:r>
              <a:rPr lang="en-US" altLang="en-US"/>
              <a:t>Exophthalmos and proptosis</a:t>
            </a:r>
          </a:p>
          <a:p>
            <a:pPr eaLnBrk="1" hangingPunct="1">
              <a:lnSpc>
                <a:spcPct val="90000"/>
              </a:lnSpc>
              <a:buFont typeface="Wingdings 2" panose="05020102010507070707" pitchFamily="18" charset="2"/>
              <a:buNone/>
            </a:pPr>
            <a:r>
              <a:rPr lang="en-US" altLang="en-US" b="1"/>
              <a:t>Hyposecretion</a:t>
            </a:r>
          </a:p>
          <a:p>
            <a:pPr lvl="1" eaLnBrk="1" hangingPunct="1">
              <a:lnSpc>
                <a:spcPct val="90000"/>
              </a:lnSpc>
              <a:buFont typeface="Wingdings" panose="05000000000000000000" pitchFamily="2" charset="2"/>
              <a:buNone/>
            </a:pPr>
            <a:r>
              <a:rPr lang="en-US" altLang="en-US" sz="2400"/>
              <a:t>Hypothyroidism</a:t>
            </a:r>
          </a:p>
          <a:p>
            <a:pPr lvl="1" eaLnBrk="1" hangingPunct="1">
              <a:lnSpc>
                <a:spcPct val="90000"/>
              </a:lnSpc>
              <a:buFont typeface="Wingdings" panose="05000000000000000000" pitchFamily="2" charset="2"/>
              <a:buChar char="Ø"/>
            </a:pPr>
            <a:r>
              <a:rPr lang="en-US" altLang="en-US" sz="2400"/>
              <a:t>Myxedema</a:t>
            </a:r>
          </a:p>
          <a:p>
            <a:pPr lvl="1" eaLnBrk="1" hangingPunct="1">
              <a:lnSpc>
                <a:spcPct val="90000"/>
              </a:lnSpc>
              <a:buFont typeface="Wingdings" panose="05000000000000000000" pitchFamily="2" charset="2"/>
              <a:buChar char="Ø"/>
            </a:pPr>
            <a:r>
              <a:rPr lang="en-US" altLang="en-US" sz="2400"/>
              <a:t>Cretinism</a:t>
            </a:r>
          </a:p>
          <a:p>
            <a:pPr eaLnBrk="1" hangingPunct="1">
              <a:lnSpc>
                <a:spcPct val="90000"/>
              </a:lnSpc>
              <a:buFont typeface="Wingdings 2" panose="05020102010507070707" pitchFamily="18" charset="2"/>
              <a:buNone/>
            </a:pPr>
            <a:r>
              <a:rPr lang="en-US" altLang="en-US" b="1"/>
              <a:t>Neoplasms</a:t>
            </a:r>
          </a:p>
          <a:p>
            <a:pPr lvl="1" eaLnBrk="1" hangingPunct="1">
              <a:lnSpc>
                <a:spcPct val="90000"/>
              </a:lnSpc>
              <a:buFont typeface="Wingdings" panose="05000000000000000000" pitchFamily="2" charset="2"/>
              <a:buNone/>
            </a:pPr>
            <a:r>
              <a:rPr lang="en-US" altLang="en-US" sz="2400"/>
              <a:t>Thyroid carcinoma</a:t>
            </a:r>
          </a:p>
        </p:txBody>
      </p:sp>
    </p:spTree>
    <p:extLst>
      <p:ext uri="{BB962C8B-B14F-4D97-AF65-F5344CB8AC3E}">
        <p14:creationId xmlns:p14="http://schemas.microsoft.com/office/powerpoint/2010/main" val="27293931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5"/>
          <p:cNvSpPr>
            <a:spLocks noGrp="1" noChangeArrowheads="1"/>
          </p:cNvSpPr>
          <p:nvPr>
            <p:ph type="title"/>
          </p:nvPr>
        </p:nvSpPr>
        <p:spPr>
          <a:xfrm>
            <a:off x="685800" y="228600"/>
            <a:ext cx="7772400" cy="1219200"/>
          </a:xfrm>
        </p:spPr>
        <p:txBody>
          <a:bodyPr/>
          <a:lstStyle/>
          <a:p>
            <a:pPr eaLnBrk="1" hangingPunct="1"/>
            <a:r>
              <a:rPr lang="en-US" altLang="en-US"/>
              <a:t>Pathology—Parathyroid</a:t>
            </a:r>
          </a:p>
        </p:txBody>
      </p:sp>
      <p:sp>
        <p:nvSpPr>
          <p:cNvPr id="84995" name="Rectangle 6"/>
          <p:cNvSpPr>
            <a:spLocks noGrp="1" noChangeArrowheads="1"/>
          </p:cNvSpPr>
          <p:nvPr>
            <p:ph sz="half" idx="1"/>
          </p:nvPr>
        </p:nvSpPr>
        <p:spPr>
          <a:xfrm>
            <a:off x="457200" y="1524000"/>
            <a:ext cx="8305800" cy="4267200"/>
          </a:xfrm>
        </p:spPr>
        <p:txBody>
          <a:bodyPr/>
          <a:lstStyle/>
          <a:p>
            <a:pPr eaLnBrk="1" hangingPunct="1">
              <a:lnSpc>
                <a:spcPct val="90000"/>
              </a:lnSpc>
              <a:buFont typeface="Wingdings 2" panose="05020102010507070707" pitchFamily="18" charset="2"/>
              <a:buNone/>
            </a:pPr>
            <a:r>
              <a:rPr lang="en-US" altLang="en-US" sz="3200" b="1"/>
              <a:t>Hypersecretion</a:t>
            </a:r>
          </a:p>
          <a:p>
            <a:pPr lvl="1" eaLnBrk="1" hangingPunct="1">
              <a:lnSpc>
                <a:spcPct val="90000"/>
              </a:lnSpc>
              <a:buFont typeface="Wingdings" panose="05000000000000000000" pitchFamily="2" charset="2"/>
              <a:buNone/>
            </a:pPr>
            <a:r>
              <a:rPr lang="en-US" altLang="en-US" sz="2800" b="1">
                <a:ea typeface="MS PGothic" panose="020B0600070205080204" pitchFamily="34" charset="-128"/>
              </a:rPr>
              <a:t>Hyperparathyroidism</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Loss of bone density</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Kidney stones</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Hypercalcemia</a:t>
            </a:r>
          </a:p>
          <a:p>
            <a:pPr eaLnBrk="1" hangingPunct="1">
              <a:lnSpc>
                <a:spcPct val="90000"/>
              </a:lnSpc>
              <a:buFont typeface="Wingdings 2" panose="05020102010507070707" pitchFamily="18" charset="2"/>
              <a:buNone/>
            </a:pPr>
            <a:endParaRPr lang="en-US" altLang="en-US" sz="1000" b="1"/>
          </a:p>
          <a:p>
            <a:pPr eaLnBrk="1" hangingPunct="1">
              <a:lnSpc>
                <a:spcPct val="90000"/>
              </a:lnSpc>
              <a:buFont typeface="Wingdings 2" panose="05020102010507070707" pitchFamily="18" charset="2"/>
              <a:buNone/>
            </a:pPr>
            <a:r>
              <a:rPr lang="en-US" altLang="en-US" sz="3200" b="1"/>
              <a:t>Hyposecretion</a:t>
            </a:r>
          </a:p>
          <a:p>
            <a:pPr lvl="1" eaLnBrk="1" hangingPunct="1">
              <a:lnSpc>
                <a:spcPct val="90000"/>
              </a:lnSpc>
              <a:buFont typeface="Wingdings" panose="05000000000000000000" pitchFamily="2" charset="2"/>
              <a:buNone/>
            </a:pPr>
            <a:r>
              <a:rPr lang="en-US" altLang="en-US" sz="2800" b="1">
                <a:ea typeface="MS PGothic" panose="020B0600070205080204" pitchFamily="34" charset="-128"/>
              </a:rPr>
              <a:t>Hypoparathyroidism</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Muscle and nerve weakness </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Tetany</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Hypocalcemia</a:t>
            </a:r>
          </a:p>
          <a:p>
            <a:pPr eaLnBrk="1" hangingPunct="1">
              <a:lnSpc>
                <a:spcPct val="90000"/>
              </a:lnSpc>
              <a:buFont typeface="Wingdings 2" panose="05020102010507070707" pitchFamily="18" charset="2"/>
              <a:buNone/>
            </a:pPr>
            <a:endParaRPr lang="en-US" altLang="en-US" sz="2400"/>
          </a:p>
        </p:txBody>
      </p:sp>
    </p:spTree>
    <p:extLst>
      <p:ext uri="{BB962C8B-B14F-4D97-AF65-F5344CB8AC3E}">
        <p14:creationId xmlns:p14="http://schemas.microsoft.com/office/powerpoint/2010/main" val="12020939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5"/>
          <p:cNvSpPr>
            <a:spLocks noGrp="1" noChangeArrowheads="1"/>
          </p:cNvSpPr>
          <p:nvPr>
            <p:ph type="title"/>
          </p:nvPr>
        </p:nvSpPr>
        <p:spPr>
          <a:xfrm>
            <a:off x="457200" y="381000"/>
            <a:ext cx="8382000" cy="914400"/>
          </a:xfrm>
        </p:spPr>
        <p:txBody>
          <a:bodyPr/>
          <a:lstStyle/>
          <a:p>
            <a:pPr eaLnBrk="1" hangingPunct="1"/>
            <a:r>
              <a:rPr lang="en-US" altLang="en-US"/>
              <a:t>Pathology—Adrenal Cortex</a:t>
            </a:r>
          </a:p>
        </p:txBody>
      </p:sp>
      <p:sp>
        <p:nvSpPr>
          <p:cNvPr id="86019" name="Rectangle 6"/>
          <p:cNvSpPr>
            <a:spLocks noGrp="1" noChangeArrowheads="1"/>
          </p:cNvSpPr>
          <p:nvPr>
            <p:ph sz="half" idx="1"/>
          </p:nvPr>
        </p:nvSpPr>
        <p:spPr>
          <a:xfrm>
            <a:off x="762000" y="1676400"/>
            <a:ext cx="7848600" cy="4495800"/>
          </a:xfrm>
        </p:spPr>
        <p:txBody>
          <a:bodyPr/>
          <a:lstStyle/>
          <a:p>
            <a:pPr eaLnBrk="1" hangingPunct="1">
              <a:buFont typeface="Wingdings 2" panose="05020102010507070707" pitchFamily="18" charset="2"/>
              <a:buNone/>
            </a:pPr>
            <a:r>
              <a:rPr lang="en-US" altLang="en-US" sz="3200" b="1"/>
              <a:t>Hypersecretion</a:t>
            </a:r>
          </a:p>
          <a:p>
            <a:pPr eaLnBrk="1" hangingPunct="1">
              <a:spcBef>
                <a:spcPct val="0"/>
              </a:spcBef>
            </a:pPr>
            <a:r>
              <a:rPr lang="en-US" altLang="en-US" b="1"/>
              <a:t>Adrenal virilism</a:t>
            </a:r>
          </a:p>
          <a:p>
            <a:pPr eaLnBrk="1" hangingPunct="1">
              <a:spcBef>
                <a:spcPct val="0"/>
              </a:spcBef>
              <a:buFont typeface="Wingdings 2" panose="05020102010507070707" pitchFamily="18" charset="2"/>
              <a:buNone/>
            </a:pPr>
            <a:r>
              <a:rPr lang="en-US" altLang="en-US" sz="2600"/>
              <a:t>    </a:t>
            </a:r>
            <a:r>
              <a:rPr lang="en-US" altLang="en-US" sz="2400"/>
              <a:t>Amenorrhea, hirsutism, acne, voice deepening</a:t>
            </a:r>
          </a:p>
          <a:p>
            <a:pPr eaLnBrk="1" hangingPunct="1">
              <a:spcBef>
                <a:spcPct val="0"/>
              </a:spcBef>
            </a:pPr>
            <a:r>
              <a:rPr lang="en-US" altLang="en-US" b="1"/>
              <a:t>Cushing syndrome</a:t>
            </a:r>
          </a:p>
          <a:p>
            <a:pPr eaLnBrk="1" hangingPunct="1">
              <a:spcBef>
                <a:spcPct val="0"/>
              </a:spcBef>
              <a:buFont typeface="Wingdings 2" panose="05020102010507070707" pitchFamily="18" charset="2"/>
              <a:buNone/>
            </a:pPr>
            <a:r>
              <a:rPr lang="en-US" altLang="en-US"/>
              <a:t>    </a:t>
            </a:r>
            <a:r>
              <a:rPr lang="en-US" altLang="en-US" sz="2400"/>
              <a:t>Obesity, moonface, thoracic fat deposition</a:t>
            </a:r>
          </a:p>
          <a:p>
            <a:pPr eaLnBrk="1" hangingPunct="1">
              <a:buFont typeface="Wingdings 2" panose="05020102010507070707" pitchFamily="18" charset="2"/>
              <a:buNone/>
            </a:pPr>
            <a:r>
              <a:rPr lang="en-US" altLang="en-US" sz="3200" b="1"/>
              <a:t>Hyposecretion</a:t>
            </a:r>
          </a:p>
          <a:p>
            <a:pPr eaLnBrk="1" hangingPunct="1">
              <a:spcBef>
                <a:spcPct val="0"/>
              </a:spcBef>
            </a:pPr>
            <a:r>
              <a:rPr lang="en-US" altLang="en-US" b="1"/>
              <a:t>Addison disease</a:t>
            </a:r>
          </a:p>
          <a:p>
            <a:pPr eaLnBrk="1" hangingPunct="1">
              <a:spcBef>
                <a:spcPct val="0"/>
              </a:spcBef>
              <a:buFont typeface="Wingdings 2" panose="05020102010507070707" pitchFamily="18" charset="2"/>
              <a:buNone/>
            </a:pPr>
            <a:r>
              <a:rPr lang="en-US" altLang="en-US"/>
              <a:t>    </a:t>
            </a:r>
            <a:r>
              <a:rPr lang="en-US" altLang="en-US" sz="2400"/>
              <a:t>Deficient mineralocorticoids and glucocorticoids, hyponatremia, fatigue, weakness, weight loss, low blood pressure</a:t>
            </a:r>
            <a:endParaRPr lang="en-US" altLang="en-US" sz="2600"/>
          </a:p>
        </p:txBody>
      </p:sp>
    </p:spTree>
    <p:extLst>
      <p:ext uri="{BB962C8B-B14F-4D97-AF65-F5344CB8AC3E}">
        <p14:creationId xmlns:p14="http://schemas.microsoft.com/office/powerpoint/2010/main" val="16682606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title"/>
          </p:nvPr>
        </p:nvSpPr>
        <p:spPr>
          <a:xfrm>
            <a:off x="762000" y="381000"/>
            <a:ext cx="8382000" cy="1143000"/>
          </a:xfrm>
        </p:spPr>
        <p:txBody>
          <a:bodyPr/>
          <a:lstStyle/>
          <a:p>
            <a:pPr eaLnBrk="1" hangingPunct="1"/>
            <a:r>
              <a:rPr lang="en-US" altLang="en-US"/>
              <a:t>Pathology—Adrenal Medulla</a:t>
            </a:r>
          </a:p>
        </p:txBody>
      </p:sp>
      <p:sp>
        <p:nvSpPr>
          <p:cNvPr id="87043" name="Rectangle 6"/>
          <p:cNvSpPr>
            <a:spLocks noGrp="1" noChangeArrowheads="1"/>
          </p:cNvSpPr>
          <p:nvPr>
            <p:ph idx="1"/>
          </p:nvPr>
        </p:nvSpPr>
        <p:spPr>
          <a:xfrm>
            <a:off x="762000" y="1717675"/>
            <a:ext cx="7772400" cy="4454525"/>
          </a:xfrm>
        </p:spPr>
        <p:txBody>
          <a:bodyPr/>
          <a:lstStyle/>
          <a:p>
            <a:pPr eaLnBrk="1" hangingPunct="1">
              <a:buFont typeface="Wingdings 2" panose="05020102010507070707" pitchFamily="18" charset="2"/>
              <a:buNone/>
            </a:pPr>
            <a:r>
              <a:rPr lang="en-US" altLang="en-US" b="1"/>
              <a:t>Hypersecretion</a:t>
            </a:r>
          </a:p>
          <a:p>
            <a:pPr eaLnBrk="1" hangingPunct="1"/>
            <a:r>
              <a:rPr lang="en-US" altLang="en-US" b="1"/>
              <a:t>Pheochromocytoma</a:t>
            </a:r>
          </a:p>
          <a:p>
            <a:pPr lvl="1" eaLnBrk="1" hangingPunct="1">
              <a:buFont typeface="Wingdings" panose="05000000000000000000" pitchFamily="2" charset="2"/>
              <a:buNone/>
            </a:pPr>
            <a:r>
              <a:rPr lang="en-US" altLang="en-US"/>
              <a:t> Benign tumor of adrenal medulla</a:t>
            </a:r>
          </a:p>
          <a:p>
            <a:pPr lvl="1" eaLnBrk="1" hangingPunct="1">
              <a:buFont typeface="Wingdings" panose="05000000000000000000" pitchFamily="2" charset="2"/>
              <a:buNone/>
            </a:pPr>
            <a:r>
              <a:rPr lang="en-US" altLang="en-US"/>
              <a:t> Excess epinephrine and norepinephrine</a:t>
            </a:r>
          </a:p>
          <a:p>
            <a:pPr lvl="1" eaLnBrk="1" hangingPunct="1">
              <a:buFont typeface="Wingdings" panose="05000000000000000000" pitchFamily="2" charset="2"/>
              <a:buNone/>
            </a:pPr>
            <a:r>
              <a:rPr lang="en-US" altLang="en-US"/>
              <a:t> Hypertension, tachycardia, palpitations, severe headaches, sweating, flushing of the face, and muscle spasms</a:t>
            </a:r>
          </a:p>
        </p:txBody>
      </p:sp>
    </p:spTree>
    <p:extLst>
      <p:ext uri="{BB962C8B-B14F-4D97-AF65-F5344CB8AC3E}">
        <p14:creationId xmlns:p14="http://schemas.microsoft.com/office/powerpoint/2010/main" val="16894826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5"/>
          <p:cNvSpPr>
            <a:spLocks noGrp="1" noChangeArrowheads="1"/>
          </p:cNvSpPr>
          <p:nvPr>
            <p:ph type="title"/>
          </p:nvPr>
        </p:nvSpPr>
        <p:spPr>
          <a:xfrm>
            <a:off x="762000" y="304800"/>
            <a:ext cx="7772400" cy="1219200"/>
          </a:xfrm>
        </p:spPr>
        <p:txBody>
          <a:bodyPr/>
          <a:lstStyle/>
          <a:p>
            <a:pPr eaLnBrk="1" hangingPunct="1"/>
            <a:r>
              <a:rPr lang="en-US" altLang="en-US"/>
              <a:t> Pathology—Pancreas</a:t>
            </a:r>
          </a:p>
        </p:txBody>
      </p:sp>
      <p:sp>
        <p:nvSpPr>
          <p:cNvPr id="88067" name="Rectangle 6"/>
          <p:cNvSpPr>
            <a:spLocks noGrp="1" noChangeArrowheads="1"/>
          </p:cNvSpPr>
          <p:nvPr>
            <p:ph sz="half" idx="1"/>
          </p:nvPr>
        </p:nvSpPr>
        <p:spPr>
          <a:xfrm>
            <a:off x="457200" y="1676400"/>
            <a:ext cx="8382000" cy="4114800"/>
          </a:xfrm>
        </p:spPr>
        <p:txBody>
          <a:bodyPr/>
          <a:lstStyle/>
          <a:p>
            <a:pPr eaLnBrk="1" hangingPunct="1">
              <a:buFont typeface="Wingdings 2" panose="05020102010507070707" pitchFamily="18" charset="2"/>
              <a:buNone/>
            </a:pPr>
            <a:r>
              <a:rPr lang="en-US" altLang="en-US" sz="3200" b="1"/>
              <a:t>Hypersecretion</a:t>
            </a:r>
          </a:p>
          <a:p>
            <a:pPr eaLnBrk="1" hangingPunct="1"/>
            <a:r>
              <a:rPr lang="en-US" altLang="en-US"/>
              <a:t>Hyperinsulinism</a:t>
            </a:r>
          </a:p>
          <a:p>
            <a:pPr lvl="1" eaLnBrk="1" hangingPunct="1">
              <a:buFont typeface="Wingdings" panose="05000000000000000000" pitchFamily="2" charset="2"/>
              <a:buNone/>
            </a:pPr>
            <a:r>
              <a:rPr lang="en-US" altLang="en-US" sz="2800"/>
              <a:t>Hypoglycemia, convulsions, fainting</a:t>
            </a:r>
          </a:p>
          <a:p>
            <a:pPr eaLnBrk="1" hangingPunct="1">
              <a:buFont typeface="Wingdings 2" panose="05020102010507070707" pitchFamily="18" charset="2"/>
              <a:buNone/>
            </a:pPr>
            <a:endParaRPr lang="en-US" altLang="en-US" sz="1000"/>
          </a:p>
          <a:p>
            <a:pPr eaLnBrk="1" hangingPunct="1">
              <a:buFont typeface="Wingdings 2" panose="05020102010507070707" pitchFamily="18" charset="2"/>
              <a:buNone/>
            </a:pPr>
            <a:r>
              <a:rPr lang="en-US" altLang="en-US" sz="3200" b="1"/>
              <a:t>Hyposecretion</a:t>
            </a:r>
          </a:p>
          <a:p>
            <a:pPr eaLnBrk="1" hangingPunct="1"/>
            <a:r>
              <a:rPr lang="en-US" altLang="en-US"/>
              <a:t>Diabetes mellitus</a:t>
            </a:r>
          </a:p>
          <a:p>
            <a:pPr lvl="1" eaLnBrk="1" hangingPunct="1">
              <a:buFont typeface="Wingdings" panose="05000000000000000000" pitchFamily="2" charset="2"/>
              <a:buNone/>
            </a:pPr>
            <a:r>
              <a:rPr lang="en-US" altLang="en-US" sz="2800"/>
              <a:t>Lack of insulin secretion or resistance of insulin in promoting sugar, starch, and fat metabolism in cells</a:t>
            </a:r>
          </a:p>
          <a:p>
            <a:pPr lvl="1" eaLnBrk="1" hangingPunct="1">
              <a:buFont typeface="Wingdings" panose="05000000000000000000" pitchFamily="2" charset="2"/>
              <a:buNone/>
            </a:pPr>
            <a:r>
              <a:rPr lang="en-US" altLang="en-US"/>
              <a:t>Type 1 : childhood onset, typically; can occur in adulthood</a:t>
            </a:r>
          </a:p>
          <a:p>
            <a:pPr lvl="1" eaLnBrk="1" hangingPunct="1">
              <a:buFont typeface="Wingdings" panose="05000000000000000000" pitchFamily="2" charset="2"/>
              <a:buNone/>
            </a:pPr>
            <a:r>
              <a:rPr lang="en-US" altLang="en-US"/>
              <a:t>Type 2 : adult onset, typically</a:t>
            </a:r>
          </a:p>
        </p:txBody>
      </p:sp>
    </p:spTree>
    <p:extLst>
      <p:ext uri="{BB962C8B-B14F-4D97-AF65-F5344CB8AC3E}">
        <p14:creationId xmlns:p14="http://schemas.microsoft.com/office/powerpoint/2010/main" val="9287301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en-US"/>
              <a:t>Comparison of Type 1 and </a:t>
            </a:r>
            <a:br>
              <a:rPr lang="en-US" altLang="en-US"/>
            </a:br>
            <a:r>
              <a:rPr lang="en-US" altLang="en-US"/>
              <a:t>Type 2 Diabetes</a:t>
            </a:r>
          </a:p>
        </p:txBody>
      </p:sp>
      <p:pic>
        <p:nvPicPr>
          <p:cNvPr id="5" name="Content Placeholder 4" descr="Table 18-3. Comparison of Type 1 and Type 2 Diabetes Mellitus&#10;&#10;Type 1 formerly was called juvenile (juvenile-onset) diabetes&#10;&#10;Type 2 formerly was called adult-onset diabetes&#10;&#10;Clinical Features&#10;Type 1: Usually occurs before age 30; Abrupt, rapid onset of symptoms; Little or no insulin production; Thin or normal body weight at onset; Ketoacidosis often occurs&#10;Type 2: Usually occurs after age 30; Gradual onset, asymptomatic; Insulin usually present; Obseity in 85% of affected persons; Ketoacidosis seldom occurs&#10;&#10;Symptoms&#10;Type 1: Polyuria (glycosuria promotes loss of water); Polydipsia (dehydration causes thirst); Polyphagia (tissue breakdown causes hunger)&#10;&#10;Type 2: Polyuria sometimes seen; Polydipsia sometimes seen; Polyphagia sometimes seen&#10;&#10;Treatment&#10;Type 1: Insulin&#10;&#10;Type 2: Diet (weight loss); oral hypoglycemics or insuli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2272222"/>
            <a:ext cx="8229600" cy="31819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82822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5"/>
          <p:cNvSpPr>
            <a:spLocks noGrp="1" noChangeArrowheads="1"/>
          </p:cNvSpPr>
          <p:nvPr>
            <p:ph type="title"/>
          </p:nvPr>
        </p:nvSpPr>
        <p:spPr>
          <a:xfrm>
            <a:off x="762000" y="381000"/>
            <a:ext cx="8229600" cy="1143000"/>
          </a:xfrm>
        </p:spPr>
        <p:txBody>
          <a:bodyPr rtlCol="0">
            <a:normAutofit fontScale="90000"/>
          </a:bodyPr>
          <a:lstStyle/>
          <a:p>
            <a:pPr eaLnBrk="1" fontAlgn="auto" hangingPunct="1">
              <a:spcAft>
                <a:spcPts val="0"/>
              </a:spcAft>
              <a:defRPr/>
            </a:pPr>
            <a:r>
              <a:rPr lang="en-US"/>
              <a:t>Pathology </a:t>
            </a:r>
            <a:br>
              <a:rPr lang="en-US"/>
            </a:br>
            <a:r>
              <a:rPr lang="en-US"/>
              <a:t>Pituitary Gland: (Anterior Lobe)</a:t>
            </a:r>
          </a:p>
        </p:txBody>
      </p:sp>
      <p:sp>
        <p:nvSpPr>
          <p:cNvPr id="90115" name="Rectangle 6"/>
          <p:cNvSpPr>
            <a:spLocks noGrp="1" noChangeArrowheads="1"/>
          </p:cNvSpPr>
          <p:nvPr>
            <p:ph sz="half" idx="1"/>
          </p:nvPr>
        </p:nvSpPr>
        <p:spPr>
          <a:xfrm>
            <a:off x="762000" y="1676400"/>
            <a:ext cx="5638800" cy="3657600"/>
          </a:xfrm>
        </p:spPr>
        <p:txBody>
          <a:bodyPr/>
          <a:lstStyle/>
          <a:p>
            <a:pPr eaLnBrk="1" hangingPunct="1">
              <a:buFont typeface="Wingdings 2" panose="05020102010507070707" pitchFamily="18" charset="2"/>
              <a:buNone/>
            </a:pPr>
            <a:r>
              <a:rPr lang="en-US" altLang="en-US" sz="3200" b="1"/>
              <a:t>Hypersecretion</a:t>
            </a:r>
          </a:p>
          <a:p>
            <a:pPr eaLnBrk="1" hangingPunct="1"/>
            <a:r>
              <a:rPr lang="en-US" altLang="en-US"/>
              <a:t>Acromegaly</a:t>
            </a:r>
          </a:p>
          <a:p>
            <a:pPr eaLnBrk="1" hangingPunct="1"/>
            <a:r>
              <a:rPr lang="en-US" altLang="en-US"/>
              <a:t>Gigantism</a:t>
            </a:r>
          </a:p>
          <a:p>
            <a:pPr lvl="1" eaLnBrk="1" hangingPunct="1">
              <a:buFont typeface="Wingdings" panose="05000000000000000000" pitchFamily="2" charset="2"/>
              <a:buNone/>
            </a:pPr>
            <a:endParaRPr lang="en-US" altLang="en-US" sz="2800">
              <a:ea typeface="MS PGothic" panose="020B0600070205080204" pitchFamily="34" charset="-128"/>
            </a:endParaRPr>
          </a:p>
          <a:p>
            <a:pPr eaLnBrk="1" hangingPunct="1">
              <a:buFont typeface="Wingdings 2" panose="05020102010507070707" pitchFamily="18" charset="2"/>
              <a:buNone/>
            </a:pPr>
            <a:r>
              <a:rPr lang="en-US" altLang="en-US" sz="3200" b="1"/>
              <a:t>Hyposecretion</a:t>
            </a:r>
          </a:p>
          <a:p>
            <a:pPr eaLnBrk="1" hangingPunct="1"/>
            <a:r>
              <a:rPr lang="en-US" altLang="en-US"/>
              <a:t>Dwarfism</a:t>
            </a:r>
          </a:p>
          <a:p>
            <a:pPr eaLnBrk="1" hangingPunct="1"/>
            <a:r>
              <a:rPr lang="en-US" altLang="en-US"/>
              <a:t>Panhypopituitarism</a:t>
            </a:r>
          </a:p>
          <a:p>
            <a:pPr eaLnBrk="1" hangingPunct="1"/>
            <a:endParaRPr lang="en-US" altLang="en-US" sz="2400"/>
          </a:p>
        </p:txBody>
      </p:sp>
    </p:spTree>
    <p:extLst>
      <p:ext uri="{BB962C8B-B14F-4D97-AF65-F5344CB8AC3E}">
        <p14:creationId xmlns:p14="http://schemas.microsoft.com/office/powerpoint/2010/main" val="32346736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762000" y="152400"/>
            <a:ext cx="8077200" cy="1371600"/>
          </a:xfrm>
        </p:spPr>
        <p:txBody>
          <a:bodyPr rtlCol="0">
            <a:normAutofit fontScale="90000"/>
          </a:bodyPr>
          <a:lstStyle/>
          <a:p>
            <a:pPr eaLnBrk="1" fontAlgn="auto" hangingPunct="1">
              <a:spcAft>
                <a:spcPts val="0"/>
              </a:spcAft>
              <a:defRPr/>
            </a:pPr>
            <a:r>
              <a:rPr lang="en-US"/>
              <a:t>Pathology </a:t>
            </a:r>
            <a:br>
              <a:rPr lang="en-US"/>
            </a:br>
            <a:r>
              <a:rPr lang="en-US"/>
              <a:t>Pituitary Gland: (Posterior Lobe)</a:t>
            </a:r>
          </a:p>
        </p:txBody>
      </p:sp>
      <p:sp>
        <p:nvSpPr>
          <p:cNvPr id="91139" name="Rectangle 3"/>
          <p:cNvSpPr>
            <a:spLocks noGrp="1" noChangeArrowheads="1"/>
          </p:cNvSpPr>
          <p:nvPr>
            <p:ph sz="half" idx="1"/>
          </p:nvPr>
        </p:nvSpPr>
        <p:spPr>
          <a:xfrm>
            <a:off x="762000" y="1676400"/>
            <a:ext cx="6629400" cy="4038600"/>
          </a:xfrm>
        </p:spPr>
        <p:txBody>
          <a:bodyPr/>
          <a:lstStyle/>
          <a:p>
            <a:pPr eaLnBrk="1" hangingPunct="1">
              <a:buFont typeface="Wingdings 2" panose="05020102010507070707" pitchFamily="18" charset="2"/>
              <a:buNone/>
            </a:pPr>
            <a:r>
              <a:rPr lang="en-US" altLang="en-US" sz="3200" b="1"/>
              <a:t>Hypersecretion</a:t>
            </a:r>
          </a:p>
          <a:p>
            <a:pPr eaLnBrk="1" hangingPunct="1"/>
            <a:r>
              <a:rPr lang="en-US" altLang="en-US"/>
              <a:t>Syndrome of inappropriate ADH (SIADH)</a:t>
            </a:r>
          </a:p>
          <a:p>
            <a:pPr lvl="1" eaLnBrk="1" hangingPunct="1">
              <a:buFont typeface="Wingdings" panose="05000000000000000000" pitchFamily="2" charset="2"/>
              <a:buNone/>
            </a:pPr>
            <a:r>
              <a:rPr lang="en-US" altLang="en-US" sz="2800">
                <a:ea typeface="MS PGothic" panose="020B0600070205080204" pitchFamily="34" charset="-128"/>
              </a:rPr>
              <a:t>Excess ADH</a:t>
            </a:r>
          </a:p>
          <a:p>
            <a:pPr lvl="1" eaLnBrk="1" hangingPunct="1">
              <a:buFont typeface="Wingdings" panose="05000000000000000000" pitchFamily="2" charset="2"/>
              <a:buNone/>
            </a:pPr>
            <a:r>
              <a:rPr lang="en-US" altLang="en-US" sz="2800">
                <a:ea typeface="MS PGothic" panose="020B0600070205080204" pitchFamily="34" charset="-128"/>
              </a:rPr>
              <a:t>Excess water retention</a:t>
            </a:r>
          </a:p>
          <a:p>
            <a:pPr eaLnBrk="1" hangingPunct="1">
              <a:buFont typeface="Wingdings 2" panose="05020102010507070707" pitchFamily="18" charset="2"/>
              <a:buNone/>
            </a:pPr>
            <a:r>
              <a:rPr lang="en-US" altLang="en-US" sz="3200" b="1"/>
              <a:t>Hyposecretion</a:t>
            </a:r>
          </a:p>
          <a:p>
            <a:pPr eaLnBrk="1" hangingPunct="1"/>
            <a:r>
              <a:rPr lang="en-US" altLang="en-US"/>
              <a:t>Diabetes insipidus</a:t>
            </a:r>
          </a:p>
          <a:p>
            <a:pPr lvl="1" eaLnBrk="1" hangingPunct="1">
              <a:buFont typeface="Wingdings" panose="05000000000000000000" pitchFamily="2" charset="2"/>
              <a:buNone/>
            </a:pPr>
            <a:r>
              <a:rPr lang="en-US" altLang="en-US" sz="2800">
                <a:ea typeface="MS PGothic" panose="020B0600070205080204" pitchFamily="34" charset="-128"/>
              </a:rPr>
              <a:t>Deficient ADH</a:t>
            </a:r>
          </a:p>
          <a:p>
            <a:pPr lvl="1" eaLnBrk="1" hangingPunct="1">
              <a:buFont typeface="Wingdings" panose="05000000000000000000" pitchFamily="2" charset="2"/>
              <a:buNone/>
            </a:pPr>
            <a:r>
              <a:rPr lang="en-US" altLang="en-US" sz="2800">
                <a:ea typeface="MS PGothic" panose="020B0600070205080204" pitchFamily="34" charset="-128"/>
              </a:rPr>
              <a:t>Polyuria and polydipsia</a:t>
            </a:r>
          </a:p>
          <a:p>
            <a:pPr eaLnBrk="1" hangingPunct="1"/>
            <a:endParaRPr lang="en-US" altLang="en-US" sz="2400"/>
          </a:p>
        </p:txBody>
      </p:sp>
    </p:spTree>
    <p:extLst>
      <p:ext uri="{BB962C8B-B14F-4D97-AF65-F5344CB8AC3E}">
        <p14:creationId xmlns:p14="http://schemas.microsoft.com/office/powerpoint/2010/main" val="36269995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en-US"/>
              <a:t>Review Abnormal Conditions of Endocrine Glands</a:t>
            </a:r>
          </a:p>
        </p:txBody>
      </p:sp>
      <p:pic>
        <p:nvPicPr>
          <p:cNvPr id="5" name="Content Placeholder 4" descr="Table 18-4. Abnormal conditions of endocrine glands&#10;&#10;Adrenal cortex&#10;Hypersecetion: Adrenal virilism; Cushing syndrome&#10;Hyposection: Addition disease&#10;&#10;Adrenal medulla&#10;Hypersecretion: Pheochromocytoma&#10;&#10;Pancreas&#10;Hypersecretion: Hyperinsulinism&#10;Hyposecretion: Diabetes mellitus&#10;&#10;Parathyroid glands&#10;Hypersecretion: Hyperparathyroidism (hypercalcemia, osteoporosis, kidney stones); Hypoparathyroidism (tetany, hypocalcemia)&#10;&#10;Pituitary-anterior lobe&#10;Hypersecretion: Acromegaly; Gigantism&#10;Hyposecretion: Dwarfism; Panhypopituitarism&#10;&#10;Pituitary-posterior lobe&#10;Hypersecretion: Syndrome of inappropriate antidiuretic hormone&#10;Hyposecretion: Diabetes insipidus&#10;&#10;Thyroid gland&#10;Hypersecretion: Exophthalmic goiter (Graves disease, thyrotoxicosis); Nodular (adenomatous) goiter&#10;Hyposecretion: Cretinism (children); Endemic goiter; Myxedema (adult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16670" y="1600200"/>
            <a:ext cx="7310659"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54476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8" name="Rectangle 6"/>
          <p:cNvSpPr>
            <a:spLocks noGrp="1" noChangeArrowheads="1"/>
          </p:cNvSpPr>
          <p:nvPr>
            <p:ph type="title"/>
          </p:nvPr>
        </p:nvSpPr>
        <p:spPr>
          <a:xfrm>
            <a:off x="762000" y="304800"/>
            <a:ext cx="7772400" cy="1219200"/>
          </a:xfrm>
        </p:spPr>
        <p:txBody>
          <a:bodyPr rtlCol="0">
            <a:normAutofit fontScale="90000"/>
          </a:bodyPr>
          <a:lstStyle/>
          <a:p>
            <a:pPr eaLnBrk="1" fontAlgn="auto" hangingPunct="1">
              <a:spcAft>
                <a:spcPts val="0"/>
              </a:spcAft>
              <a:defRPr/>
            </a:pPr>
            <a:r>
              <a:rPr lang="en-US" dirty="0"/>
              <a:t>Chapter 18</a:t>
            </a:r>
            <a:br>
              <a:rPr lang="en-US" dirty="0"/>
            </a:br>
            <a:r>
              <a:rPr lang="en-US" dirty="0"/>
              <a:t>Lesson 18.4</a:t>
            </a:r>
          </a:p>
        </p:txBody>
      </p:sp>
    </p:spTree>
    <p:extLst>
      <p:ext uri="{BB962C8B-B14F-4D97-AF65-F5344CB8AC3E}">
        <p14:creationId xmlns:p14="http://schemas.microsoft.com/office/powerpoint/2010/main" val="11827056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Grp="1" noChangeArrowheads="1"/>
          </p:cNvSpPr>
          <p:nvPr>
            <p:ph type="title"/>
          </p:nvPr>
        </p:nvSpPr>
        <p:spPr>
          <a:xfrm>
            <a:off x="762000" y="381000"/>
            <a:ext cx="8229600" cy="1143000"/>
          </a:xfrm>
        </p:spPr>
        <p:txBody>
          <a:bodyPr/>
          <a:lstStyle/>
          <a:p>
            <a:pPr eaLnBrk="1" hangingPunct="1"/>
            <a:r>
              <a:rPr lang="en-US" altLang="en-US"/>
              <a:t>Laboratory Tests</a:t>
            </a:r>
          </a:p>
        </p:txBody>
      </p:sp>
      <p:sp>
        <p:nvSpPr>
          <p:cNvPr id="50181" name="Rectangle 5"/>
          <p:cNvSpPr>
            <a:spLocks noGrp="1" noChangeArrowheads="1"/>
          </p:cNvSpPr>
          <p:nvPr>
            <p:ph idx="1"/>
          </p:nvPr>
        </p:nvSpPr>
        <p:spPr>
          <a:xfrm>
            <a:off x="762000" y="1676400"/>
            <a:ext cx="6705600" cy="4191000"/>
          </a:xfrm>
        </p:spPr>
        <p:txBody>
          <a:bodyPr rtlCol="0">
            <a:normAutofit lnSpcReduction="10000"/>
          </a:bodyPr>
          <a:lstStyle/>
          <a:p>
            <a:pPr eaLnBrk="1" fontAlgn="auto" hangingPunct="1">
              <a:lnSpc>
                <a:spcPct val="90000"/>
              </a:lnSpc>
              <a:spcAft>
                <a:spcPts val="0"/>
              </a:spcAft>
              <a:defRPr/>
            </a:pPr>
            <a:r>
              <a:rPr lang="en-US" b="1" dirty="0"/>
              <a:t>Fasting plasma glucose (FPG)</a:t>
            </a:r>
            <a:r>
              <a:rPr lang="en-US" dirty="0"/>
              <a:t> </a:t>
            </a:r>
          </a:p>
          <a:p>
            <a:pPr lvl="1" eaLnBrk="1" fontAlgn="auto" hangingPunct="1">
              <a:lnSpc>
                <a:spcPct val="90000"/>
              </a:lnSpc>
              <a:spcAft>
                <a:spcPts val="0"/>
              </a:spcAft>
              <a:buFont typeface="Wingdings" pitchFamily="2" charset="2"/>
              <a:buChar char="Ø"/>
              <a:defRPr/>
            </a:pPr>
            <a:r>
              <a:rPr lang="en-US" dirty="0">
                <a:ea typeface="ＭＳ Ｐゴシック" charset="0"/>
              </a:rPr>
              <a:t>Measures circulating glucose in a patient who has fasted at least 8 hours</a:t>
            </a:r>
          </a:p>
          <a:p>
            <a:pPr eaLnBrk="1" fontAlgn="auto" hangingPunct="1">
              <a:lnSpc>
                <a:spcPct val="90000"/>
              </a:lnSpc>
              <a:spcAft>
                <a:spcPts val="0"/>
              </a:spcAft>
              <a:defRPr/>
            </a:pPr>
            <a:r>
              <a:rPr lang="en-US" b="1" dirty="0"/>
              <a:t>Serum and urine tests</a:t>
            </a:r>
          </a:p>
          <a:p>
            <a:pPr lvl="1" eaLnBrk="1" fontAlgn="auto" hangingPunct="1">
              <a:lnSpc>
                <a:spcPct val="90000"/>
              </a:lnSpc>
              <a:spcAft>
                <a:spcPts val="0"/>
              </a:spcAft>
              <a:buFont typeface="Wingdings" pitchFamily="2" charset="2"/>
              <a:buChar char="Ø"/>
              <a:defRPr/>
            </a:pPr>
            <a:r>
              <a:rPr lang="en-US" dirty="0">
                <a:ea typeface="ＭＳ Ｐゴシック" charset="0"/>
              </a:rPr>
              <a:t>Measures hormones, electrolytes, glucose, etc., in blood and urine as indicators of endocrine function</a:t>
            </a:r>
          </a:p>
          <a:p>
            <a:pPr eaLnBrk="1" fontAlgn="auto" hangingPunct="1">
              <a:lnSpc>
                <a:spcPct val="90000"/>
              </a:lnSpc>
              <a:spcAft>
                <a:spcPts val="0"/>
              </a:spcAft>
              <a:defRPr/>
            </a:pPr>
            <a:r>
              <a:rPr lang="en-US" b="1" dirty="0"/>
              <a:t>Thyroid function tests</a:t>
            </a:r>
          </a:p>
          <a:p>
            <a:pPr lvl="1" eaLnBrk="1" fontAlgn="auto" hangingPunct="1">
              <a:lnSpc>
                <a:spcPct val="90000"/>
              </a:lnSpc>
              <a:spcAft>
                <a:spcPts val="0"/>
              </a:spcAft>
              <a:buFont typeface="Wingdings" pitchFamily="2" charset="2"/>
              <a:buChar char="Ø"/>
              <a:defRPr/>
            </a:pPr>
            <a:r>
              <a:rPr lang="en-US" dirty="0">
                <a:ea typeface="ＭＳ Ｐゴシック" charset="0"/>
              </a:rPr>
              <a:t>Measures T3, T4, and TSH in the bloodstream</a:t>
            </a:r>
          </a:p>
          <a:p>
            <a:pPr eaLnBrk="1" fontAlgn="auto" hangingPunct="1">
              <a:lnSpc>
                <a:spcPct val="90000"/>
              </a:lnSpc>
              <a:spcAft>
                <a:spcPts val="0"/>
              </a:spcAft>
              <a:defRPr/>
            </a:pPr>
            <a:endParaRPr lang="en-US" dirty="0"/>
          </a:p>
        </p:txBody>
      </p:sp>
    </p:spTree>
    <p:extLst>
      <p:ext uri="{BB962C8B-B14F-4D97-AF65-F5344CB8AC3E}">
        <p14:creationId xmlns:p14="http://schemas.microsoft.com/office/powerpoint/2010/main" val="35577793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a:spLocks noGrp="1" noChangeArrowheads="1"/>
          </p:cNvSpPr>
          <p:nvPr>
            <p:ph type="title"/>
          </p:nvPr>
        </p:nvSpPr>
        <p:spPr>
          <a:xfrm>
            <a:off x="762000" y="304800"/>
            <a:ext cx="7772400" cy="1219200"/>
          </a:xfrm>
        </p:spPr>
        <p:txBody>
          <a:bodyPr/>
          <a:lstStyle/>
          <a:p>
            <a:pPr eaLnBrk="1" hangingPunct="1"/>
            <a:r>
              <a:rPr lang="en-US" altLang="en-US"/>
              <a:t>Clinical Procedures</a:t>
            </a:r>
          </a:p>
        </p:txBody>
      </p:sp>
      <p:sp>
        <p:nvSpPr>
          <p:cNvPr id="95235" name="Rectangle 5"/>
          <p:cNvSpPr>
            <a:spLocks noGrp="1" noChangeArrowheads="1"/>
          </p:cNvSpPr>
          <p:nvPr>
            <p:ph idx="1"/>
          </p:nvPr>
        </p:nvSpPr>
        <p:spPr>
          <a:xfrm>
            <a:off x="762000" y="1717675"/>
            <a:ext cx="7772400" cy="4454525"/>
          </a:xfrm>
        </p:spPr>
        <p:txBody>
          <a:bodyPr/>
          <a:lstStyle/>
          <a:p>
            <a:pPr eaLnBrk="1" hangingPunct="1"/>
            <a:r>
              <a:rPr lang="en-US" altLang="en-US"/>
              <a:t>Exophthalmometry</a:t>
            </a:r>
          </a:p>
          <a:p>
            <a:pPr eaLnBrk="1" hangingPunct="1"/>
            <a:r>
              <a:rPr lang="en-US" altLang="en-US"/>
              <a:t>Computed tomography (CT) scan</a:t>
            </a:r>
          </a:p>
          <a:p>
            <a:pPr eaLnBrk="1" hangingPunct="1"/>
            <a:r>
              <a:rPr lang="en-US" altLang="en-US"/>
              <a:t>Magnetic resonance imaging (MRI) </a:t>
            </a:r>
          </a:p>
          <a:p>
            <a:pPr eaLnBrk="1" hangingPunct="1"/>
            <a:r>
              <a:rPr lang="en-US" altLang="en-US"/>
              <a:t>Thyroid scan</a:t>
            </a:r>
          </a:p>
          <a:p>
            <a:pPr eaLnBrk="1" hangingPunct="1"/>
            <a:r>
              <a:rPr lang="en-US" altLang="en-US"/>
              <a:t>Ultrasound examination</a:t>
            </a:r>
          </a:p>
        </p:txBody>
      </p:sp>
    </p:spTree>
    <p:extLst>
      <p:ext uri="{BB962C8B-B14F-4D97-AF65-F5344CB8AC3E}">
        <p14:creationId xmlns:p14="http://schemas.microsoft.com/office/powerpoint/2010/main" val="8754338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1 of 3)</a:t>
            </a:r>
          </a:p>
        </p:txBody>
      </p:sp>
      <p:graphicFrame>
        <p:nvGraphicFramePr>
          <p:cNvPr id="8" name="Content Placeholder 7" descr="Group 1 of 3 Abbreviations with corresponding meanings."/>
          <p:cNvGraphicFramePr>
            <a:graphicFrameLocks noGrp="1"/>
          </p:cNvGraphicFramePr>
          <p:nvPr>
            <p:ph idx="1"/>
            <p:extLst>
              <p:ext uri="{D42A27DB-BD31-4B8C-83A1-F6EECF244321}">
                <p14:modId xmlns:p14="http://schemas.microsoft.com/office/powerpoint/2010/main" val="3186825522"/>
              </p:ext>
            </p:extLst>
          </p:nvPr>
        </p:nvGraphicFramePr>
        <p:xfrm>
          <a:off x="457200" y="1219200"/>
          <a:ext cx="8229600" cy="509016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200" dirty="0"/>
                        <a:t>Abbreviation</a:t>
                      </a:r>
                    </a:p>
                  </a:txBody>
                  <a:tcPr/>
                </a:tc>
                <a:tc>
                  <a:txBody>
                    <a:bodyPr/>
                    <a:lstStyle/>
                    <a:p>
                      <a:r>
                        <a:rPr lang="en-US" sz="2200" dirty="0"/>
                        <a:t>Meaning</a:t>
                      </a:r>
                    </a:p>
                  </a:txBody>
                  <a:tcPr/>
                </a:tc>
                <a:extLst>
                  <a:ext uri="{0D108BD9-81ED-4DB2-BD59-A6C34878D82A}">
                    <a16:rowId xmlns:a16="http://schemas.microsoft.com/office/drawing/2014/main" val="10000"/>
                  </a:ext>
                </a:extLst>
              </a:tr>
              <a:tr h="370840">
                <a:tc>
                  <a:txBody>
                    <a:bodyPr/>
                    <a:lstStyle/>
                    <a:p>
                      <a:r>
                        <a:rPr lang="en-US" altLang="en-US" sz="2000" b="1" dirty="0"/>
                        <a:t>A1C</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Blood test that measures glycosylated hemoglobin (HbA</a:t>
                      </a:r>
                      <a:r>
                        <a:rPr lang="en-US" altLang="en-US" sz="2000" baseline="-25000" dirty="0"/>
                        <a:t>1c</a:t>
                      </a:r>
                      <a:r>
                        <a:rPr lang="en-US" altLang="en-US" sz="2000" dirty="0"/>
                        <a:t>) to assess glucose control</a:t>
                      </a:r>
                    </a:p>
                  </a:txBody>
                  <a:tcPr/>
                </a:tc>
                <a:extLst>
                  <a:ext uri="{0D108BD9-81ED-4DB2-BD59-A6C34878D82A}">
                    <a16:rowId xmlns:a16="http://schemas.microsoft.com/office/drawing/2014/main" val="10001"/>
                  </a:ext>
                </a:extLst>
              </a:tr>
              <a:tr h="370840">
                <a:tc>
                  <a:txBody>
                    <a:bodyPr/>
                    <a:lstStyle/>
                    <a:p>
                      <a:r>
                        <a:rPr lang="en-US" altLang="en-US" sz="2000" b="1" dirty="0"/>
                        <a:t>ACTH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Adrenocorticotropic hormone</a:t>
                      </a:r>
                    </a:p>
                  </a:txBody>
                  <a:tcPr/>
                </a:tc>
                <a:extLst>
                  <a:ext uri="{0D108BD9-81ED-4DB2-BD59-A6C34878D82A}">
                    <a16:rowId xmlns:a16="http://schemas.microsoft.com/office/drawing/2014/main" val="10002"/>
                  </a:ext>
                </a:extLst>
              </a:tr>
              <a:tr h="370840">
                <a:tc>
                  <a:txBody>
                    <a:bodyPr/>
                    <a:lstStyle/>
                    <a:p>
                      <a:r>
                        <a:rPr lang="en-US" altLang="en-US" sz="2000" b="1" dirty="0"/>
                        <a:t>ADH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Antidiuretic hormone – vasopressin</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1" dirty="0" err="1"/>
                        <a:t>Ca</a:t>
                      </a:r>
                      <a:r>
                        <a:rPr lang="en-US" altLang="en-US" sz="2000" b="1" dirty="0"/>
                        <a:t>+</a:t>
                      </a:r>
                    </a:p>
                  </a:txBody>
                  <a:tcPr/>
                </a:tc>
                <a:tc>
                  <a:txBody>
                    <a:bodyPr/>
                    <a:lstStyle/>
                    <a:p>
                      <a:r>
                        <a:rPr lang="en-US" altLang="en-US" sz="2000" dirty="0"/>
                        <a:t>Calcium</a:t>
                      </a:r>
                      <a:endParaRPr lang="en-US" sz="2000" dirty="0"/>
                    </a:p>
                  </a:txBody>
                  <a:tcPr/>
                </a:tc>
                <a:extLst>
                  <a:ext uri="{0D108BD9-81ED-4DB2-BD59-A6C34878D82A}">
                    <a16:rowId xmlns:a16="http://schemas.microsoft.com/office/drawing/2014/main" val="10004"/>
                  </a:ext>
                </a:extLst>
              </a:tr>
              <a:tr h="370840">
                <a:tc>
                  <a:txBody>
                    <a:bodyPr/>
                    <a:lstStyle/>
                    <a:p>
                      <a:r>
                        <a:rPr lang="en-US" altLang="en-US" sz="2000" b="1" dirty="0"/>
                        <a:t>CGMS</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Continuous glucose monitoring system</a:t>
                      </a:r>
                    </a:p>
                  </a:txBody>
                  <a:tcPr/>
                </a:tc>
                <a:extLst>
                  <a:ext uri="{0D108BD9-81ED-4DB2-BD59-A6C34878D82A}">
                    <a16:rowId xmlns:a16="http://schemas.microsoft.com/office/drawing/2014/main" val="10005"/>
                  </a:ext>
                </a:extLst>
              </a:tr>
              <a:tr h="370840">
                <a:tc>
                  <a:txBody>
                    <a:bodyPr/>
                    <a:lstStyle/>
                    <a:p>
                      <a:r>
                        <a:rPr lang="en-US" altLang="en-US" sz="2000" b="1" dirty="0"/>
                        <a:t>DI</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Diabetes </a:t>
                      </a:r>
                      <a:r>
                        <a:rPr lang="en-US" altLang="en-US" sz="2000" dirty="0" err="1"/>
                        <a:t>insipidus</a:t>
                      </a:r>
                      <a:endParaRPr lang="en-US" altLang="en-US" sz="2000" dirty="0"/>
                    </a:p>
                  </a:txBody>
                  <a:tcPr/>
                </a:tc>
                <a:extLst>
                  <a:ext uri="{0D108BD9-81ED-4DB2-BD59-A6C34878D82A}">
                    <a16:rowId xmlns:a16="http://schemas.microsoft.com/office/drawing/2014/main" val="10006"/>
                  </a:ext>
                </a:extLst>
              </a:tr>
              <a:tr h="370840">
                <a:tc>
                  <a:txBody>
                    <a:bodyPr/>
                    <a:lstStyle/>
                    <a:p>
                      <a:r>
                        <a:rPr lang="en-US" altLang="en-US" sz="2000" b="1" dirty="0"/>
                        <a:t>DKA</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Diabetic ketoacidosis</a:t>
                      </a:r>
                    </a:p>
                  </a:txBody>
                  <a:tcPr/>
                </a:tc>
                <a:extLst>
                  <a:ext uri="{0D108BD9-81ED-4DB2-BD59-A6C34878D82A}">
                    <a16:rowId xmlns:a16="http://schemas.microsoft.com/office/drawing/2014/main" val="10007"/>
                  </a:ext>
                </a:extLst>
              </a:tr>
              <a:tr h="370840">
                <a:tc>
                  <a:txBody>
                    <a:bodyPr/>
                    <a:lstStyle/>
                    <a:p>
                      <a:r>
                        <a:rPr lang="en-US" altLang="en-US" sz="2000" b="1" dirty="0"/>
                        <a:t>DM</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Diabetes mellitus</a:t>
                      </a:r>
                    </a:p>
                  </a:txBody>
                  <a:tcPr/>
                </a:tc>
                <a:extLst>
                  <a:ext uri="{0D108BD9-81ED-4DB2-BD59-A6C34878D82A}">
                    <a16:rowId xmlns:a16="http://schemas.microsoft.com/office/drawing/2014/main" val="10008"/>
                  </a:ext>
                </a:extLst>
              </a:tr>
              <a:tr h="370840">
                <a:tc>
                  <a:txBody>
                    <a:bodyPr/>
                    <a:lstStyle/>
                    <a:p>
                      <a:r>
                        <a:rPr lang="en-US" altLang="en-US" sz="2000" b="1" dirty="0"/>
                        <a:t>FBG</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Fasting blood glucose</a:t>
                      </a:r>
                    </a:p>
                  </a:txBody>
                  <a:tcPr/>
                </a:tc>
                <a:extLst>
                  <a:ext uri="{0D108BD9-81ED-4DB2-BD59-A6C34878D82A}">
                    <a16:rowId xmlns:a16="http://schemas.microsoft.com/office/drawing/2014/main" val="10009"/>
                  </a:ext>
                </a:extLst>
              </a:tr>
              <a:tr h="370840">
                <a:tc>
                  <a:txBody>
                    <a:bodyPr/>
                    <a:lstStyle/>
                    <a:p>
                      <a:r>
                        <a:rPr lang="en-US" altLang="en-US" sz="2000" b="1" dirty="0"/>
                        <a:t>FBS</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Fasting blood sugar</a:t>
                      </a:r>
                    </a:p>
                  </a:txBody>
                  <a:tcPr/>
                </a:tc>
                <a:extLst>
                  <a:ext uri="{0D108BD9-81ED-4DB2-BD59-A6C34878D82A}">
                    <a16:rowId xmlns:a16="http://schemas.microsoft.com/office/drawing/2014/main" val="10010"/>
                  </a:ext>
                </a:extLst>
              </a:tr>
              <a:tr h="370840">
                <a:tc>
                  <a:txBody>
                    <a:bodyPr/>
                    <a:lstStyle/>
                    <a:p>
                      <a:r>
                        <a:rPr lang="en-US" altLang="en-US" sz="2000" b="1" dirty="0"/>
                        <a:t>FSH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Follicle-stimulating hormone</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313096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2 of 3)</a:t>
            </a:r>
          </a:p>
        </p:txBody>
      </p:sp>
      <p:graphicFrame>
        <p:nvGraphicFramePr>
          <p:cNvPr id="8" name="Content Placeholder 7" descr="Group 2 of 3 Abbreviations with corresponding meanings."/>
          <p:cNvGraphicFramePr>
            <a:graphicFrameLocks noGrp="1"/>
          </p:cNvGraphicFramePr>
          <p:nvPr>
            <p:ph idx="1"/>
            <p:extLst>
              <p:ext uri="{D42A27DB-BD31-4B8C-83A1-F6EECF244321}">
                <p14:modId xmlns:p14="http://schemas.microsoft.com/office/powerpoint/2010/main" val="3718297778"/>
              </p:ext>
            </p:extLst>
          </p:nvPr>
        </p:nvGraphicFramePr>
        <p:xfrm>
          <a:off x="457200" y="1371600"/>
          <a:ext cx="8229600" cy="512064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000" b="1" dirty="0"/>
                        <a:t>GH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Growth hormone</a:t>
                      </a:r>
                    </a:p>
                  </a:txBody>
                  <a:tcPr/>
                </a:tc>
                <a:extLst>
                  <a:ext uri="{0D108BD9-81ED-4DB2-BD59-A6C34878D82A}">
                    <a16:rowId xmlns:a16="http://schemas.microsoft.com/office/drawing/2014/main" val="10001"/>
                  </a:ext>
                </a:extLst>
              </a:tr>
              <a:tr h="370840">
                <a:tc>
                  <a:txBody>
                    <a:bodyPr/>
                    <a:lstStyle/>
                    <a:p>
                      <a:r>
                        <a:rPr lang="en-US" sz="2000" b="1" dirty="0"/>
                        <a:t>GTT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Glucose tolerance test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t>HbA1</a:t>
                      </a:r>
                      <a:r>
                        <a:rPr lang="en-US" sz="2000" b="1" baseline="-25000" dirty="0"/>
                        <a:t>c</a:t>
                      </a:r>
                      <a:endParaRPr lang="en-US" sz="2000" b="1" baseline="-250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Test for the presence of glucose attached to hemoglobin; also called AIC</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err="1"/>
                        <a:t>hCG</a:t>
                      </a:r>
                      <a:r>
                        <a:rPr lang="en-US" sz="2000" b="1" dirty="0"/>
                        <a:t> or HCG</a:t>
                      </a:r>
                      <a:endParaRPr lang="en-US" sz="2000" b="1"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Human chorionic gonadotropin</a:t>
                      </a:r>
                    </a:p>
                  </a:txBody>
                  <a:tcPr/>
                </a:tc>
                <a:extLst>
                  <a:ext uri="{0D108BD9-81ED-4DB2-BD59-A6C34878D82A}">
                    <a16:rowId xmlns:a16="http://schemas.microsoft.com/office/drawing/2014/main" val="10004"/>
                  </a:ext>
                </a:extLst>
              </a:tr>
              <a:tr h="370840">
                <a:tc>
                  <a:txBody>
                    <a:bodyPr/>
                    <a:lstStyle/>
                    <a:p>
                      <a:r>
                        <a:rPr lang="en-US" sz="2000" b="1" dirty="0"/>
                        <a:t>IGF</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Insulin-like growth factor</a:t>
                      </a:r>
                    </a:p>
                  </a:txBody>
                  <a:tcPr/>
                </a:tc>
                <a:extLst>
                  <a:ext uri="{0D108BD9-81ED-4DB2-BD59-A6C34878D82A}">
                    <a16:rowId xmlns:a16="http://schemas.microsoft.com/office/drawing/2014/main" val="10005"/>
                  </a:ext>
                </a:extLst>
              </a:tr>
              <a:tr h="370840">
                <a:tc>
                  <a:txBody>
                    <a:bodyPr/>
                    <a:lstStyle/>
                    <a:p>
                      <a:r>
                        <a:rPr lang="en-US" sz="2000" b="1" dirty="0"/>
                        <a:t>K</a:t>
                      </a:r>
                    </a:p>
                  </a:txBody>
                  <a:tcPr/>
                </a:tc>
                <a:tc>
                  <a:txBody>
                    <a:bodyPr/>
                    <a:lstStyle/>
                    <a:p>
                      <a:r>
                        <a:rPr lang="en-US" altLang="en-US" sz="2000" dirty="0"/>
                        <a:t>Potassium</a:t>
                      </a:r>
                      <a:endParaRPr lang="en-US" sz="2000" dirty="0"/>
                    </a:p>
                  </a:txBody>
                  <a:tcPr/>
                </a:tc>
                <a:extLst>
                  <a:ext uri="{0D108BD9-81ED-4DB2-BD59-A6C34878D82A}">
                    <a16:rowId xmlns:a16="http://schemas.microsoft.com/office/drawing/2014/main" val="10006"/>
                  </a:ext>
                </a:extLst>
              </a:tr>
              <a:tr h="370840">
                <a:tc>
                  <a:txBody>
                    <a:bodyPr/>
                    <a:lstStyle/>
                    <a:p>
                      <a:r>
                        <a:rPr lang="en-US" sz="2000" b="1" dirty="0"/>
                        <a:t>LH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Luteinizing hormone</a:t>
                      </a:r>
                    </a:p>
                  </a:txBody>
                  <a:tcPr/>
                </a:tc>
                <a:extLst>
                  <a:ext uri="{0D108BD9-81ED-4DB2-BD59-A6C34878D82A}">
                    <a16:rowId xmlns:a16="http://schemas.microsoft.com/office/drawing/2014/main" val="10007"/>
                  </a:ext>
                </a:extLst>
              </a:tr>
              <a:tr h="370840">
                <a:tc>
                  <a:txBody>
                    <a:bodyPr/>
                    <a:lstStyle/>
                    <a:p>
                      <a:r>
                        <a:rPr lang="en-US" sz="2000" b="1" dirty="0"/>
                        <a:t>MDI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Multiple daily injection</a:t>
                      </a:r>
                    </a:p>
                  </a:txBody>
                  <a:tcPr/>
                </a:tc>
                <a:extLst>
                  <a:ext uri="{0D108BD9-81ED-4DB2-BD59-A6C34878D82A}">
                    <a16:rowId xmlns:a16="http://schemas.microsoft.com/office/drawing/2014/main" val="10008"/>
                  </a:ext>
                </a:extLst>
              </a:tr>
              <a:tr h="370840">
                <a:tc>
                  <a:txBody>
                    <a:bodyPr/>
                    <a:lstStyle/>
                    <a:p>
                      <a:r>
                        <a:rPr lang="en-US" sz="2000" b="1" dirty="0"/>
                        <a:t>Na</a:t>
                      </a:r>
                    </a:p>
                  </a:txBody>
                  <a:tcPr/>
                </a:tc>
                <a:tc>
                  <a:txBody>
                    <a:bodyPr/>
                    <a:lstStyle/>
                    <a:p>
                      <a:r>
                        <a:rPr lang="en-US" altLang="en-US" sz="2000" dirty="0"/>
                        <a:t>Sodium</a:t>
                      </a:r>
                      <a:endParaRPr lang="en-US" sz="2000" dirty="0"/>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t>OT, OXT</a:t>
                      </a:r>
                      <a:endParaRPr lang="en-US" sz="2000" b="1" dirty="0">
                        <a:ea typeface="ＭＳ Ｐゴシック" charset="0"/>
                      </a:endParaRPr>
                    </a:p>
                  </a:txBody>
                  <a:tcPr/>
                </a:tc>
                <a:tc>
                  <a:txBody>
                    <a:bodyPr/>
                    <a:lstStyle/>
                    <a:p>
                      <a:r>
                        <a:rPr lang="en-US" altLang="en-US" sz="2000" dirty="0"/>
                        <a:t>Oxytocin</a:t>
                      </a:r>
                      <a:endParaRPr lang="en-US" sz="2000" dirty="0"/>
                    </a:p>
                  </a:txBody>
                  <a:tcPr/>
                </a:tc>
                <a:extLst>
                  <a:ext uri="{0D108BD9-81ED-4DB2-BD59-A6C34878D82A}">
                    <a16:rowId xmlns:a16="http://schemas.microsoft.com/office/drawing/2014/main" val="10010"/>
                  </a:ext>
                </a:extLst>
              </a:tr>
              <a:tr h="370840">
                <a:tc>
                  <a:txBody>
                    <a:bodyPr/>
                    <a:lstStyle/>
                    <a:p>
                      <a:r>
                        <a:rPr lang="en-US" sz="2000" b="1" dirty="0"/>
                        <a:t>PRL</a:t>
                      </a:r>
                    </a:p>
                  </a:txBody>
                  <a:tcPr/>
                </a:tc>
                <a:tc>
                  <a:txBody>
                    <a:bodyPr/>
                    <a:lstStyle/>
                    <a:p>
                      <a:r>
                        <a:rPr lang="en-US" altLang="en-US" sz="2000" dirty="0"/>
                        <a:t>prolactin</a:t>
                      </a:r>
                      <a:endParaRPr lang="en-US" sz="20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817458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3 of 3)</a:t>
            </a:r>
          </a:p>
        </p:txBody>
      </p:sp>
      <p:graphicFrame>
        <p:nvGraphicFramePr>
          <p:cNvPr id="8" name="Content Placeholder 7" descr="Group 3 of 3 Abbreviations with corresponding meanings."/>
          <p:cNvGraphicFramePr>
            <a:graphicFrameLocks noGrp="1"/>
          </p:cNvGraphicFramePr>
          <p:nvPr>
            <p:ph idx="1"/>
            <p:extLst>
              <p:ext uri="{D42A27DB-BD31-4B8C-83A1-F6EECF244321}">
                <p14:modId xmlns:p14="http://schemas.microsoft.com/office/powerpoint/2010/main" val="3739098293"/>
              </p:ext>
            </p:extLst>
          </p:nvPr>
        </p:nvGraphicFramePr>
        <p:xfrm>
          <a:off x="457200" y="1371600"/>
          <a:ext cx="8229600" cy="481584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000" b="1" dirty="0"/>
                        <a:t>PTH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Parathyroid hormone (</a:t>
                      </a:r>
                      <a:r>
                        <a:rPr lang="en-US" altLang="en-US" sz="2000" dirty="0" err="1"/>
                        <a:t>parathormone</a:t>
                      </a:r>
                      <a:r>
                        <a:rPr lang="en-US" altLang="en-US" sz="2000" dirty="0"/>
                        <a:t>)</a:t>
                      </a:r>
                    </a:p>
                  </a:txBody>
                  <a:tcPr/>
                </a:tc>
                <a:extLst>
                  <a:ext uri="{0D108BD9-81ED-4DB2-BD59-A6C34878D82A}">
                    <a16:rowId xmlns:a16="http://schemas.microsoft.com/office/drawing/2014/main" val="10001"/>
                  </a:ext>
                </a:extLst>
              </a:tr>
              <a:tr h="370840">
                <a:tc>
                  <a:txBody>
                    <a:bodyPr/>
                    <a:lstStyle/>
                    <a:p>
                      <a:r>
                        <a:rPr lang="en-US" altLang="en-US" sz="2000" b="1" dirty="0"/>
                        <a:t>RAI</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Radioactive iodine</a:t>
                      </a:r>
                    </a:p>
                  </a:txBody>
                  <a:tcPr/>
                </a:tc>
                <a:extLst>
                  <a:ext uri="{0D108BD9-81ED-4DB2-BD59-A6C34878D82A}">
                    <a16:rowId xmlns:a16="http://schemas.microsoft.com/office/drawing/2014/main" val="10002"/>
                  </a:ext>
                </a:extLst>
              </a:tr>
              <a:tr h="370840">
                <a:tc>
                  <a:txBody>
                    <a:bodyPr/>
                    <a:lstStyle/>
                    <a:p>
                      <a:r>
                        <a:rPr lang="en-US" altLang="en-US" sz="2000" b="1" dirty="0"/>
                        <a:t>RIA</a:t>
                      </a:r>
                      <a:endParaRPr lang="en-US" sz="2000" b="1" dirty="0"/>
                    </a:p>
                  </a:txBody>
                  <a:tcPr/>
                </a:tc>
                <a:tc>
                  <a:txBody>
                    <a:bodyPr/>
                    <a:lstStyle/>
                    <a:p>
                      <a:r>
                        <a:rPr lang="en-US" altLang="en-US" sz="2000" dirty="0"/>
                        <a:t>Radioimmunoassay</a:t>
                      </a:r>
                      <a:endParaRPr lang="en-US" sz="20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1" dirty="0"/>
                        <a:t>RAIU</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Radioactive iodine uptake (imaging test or scan)</a:t>
                      </a:r>
                    </a:p>
                  </a:txBody>
                  <a:tcPr/>
                </a:tc>
                <a:extLst>
                  <a:ext uri="{0D108BD9-81ED-4DB2-BD59-A6C34878D82A}">
                    <a16:rowId xmlns:a16="http://schemas.microsoft.com/office/drawing/2014/main" val="10004"/>
                  </a:ext>
                </a:extLst>
              </a:tr>
              <a:tr h="370840">
                <a:tc>
                  <a:txBody>
                    <a:bodyPr/>
                    <a:lstStyle/>
                    <a:p>
                      <a:r>
                        <a:rPr lang="en-US" altLang="en-US" sz="2000" b="1" dirty="0"/>
                        <a:t>SIADH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Syndrome of inappropriate antidiuretic hormone</a:t>
                      </a:r>
                    </a:p>
                  </a:txBody>
                  <a:tcPr/>
                </a:tc>
                <a:extLst>
                  <a:ext uri="{0D108BD9-81ED-4DB2-BD59-A6C34878D82A}">
                    <a16:rowId xmlns:a16="http://schemas.microsoft.com/office/drawing/2014/main" val="10005"/>
                  </a:ext>
                </a:extLst>
              </a:tr>
              <a:tr h="370840">
                <a:tc>
                  <a:txBody>
                    <a:bodyPr/>
                    <a:lstStyle/>
                    <a:p>
                      <a:r>
                        <a:rPr lang="en-US" altLang="en-US" sz="2000" b="1" dirty="0"/>
                        <a:t>SMBG</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Self-monitoring of blood glucose</a:t>
                      </a:r>
                    </a:p>
                  </a:txBody>
                  <a:tcPr/>
                </a:tc>
                <a:extLst>
                  <a:ext uri="{0D108BD9-81ED-4DB2-BD59-A6C34878D82A}">
                    <a16:rowId xmlns:a16="http://schemas.microsoft.com/office/drawing/2014/main" val="10006"/>
                  </a:ext>
                </a:extLst>
              </a:tr>
              <a:tr h="370840">
                <a:tc>
                  <a:txBody>
                    <a:bodyPr/>
                    <a:lstStyle/>
                    <a:p>
                      <a:r>
                        <a:rPr lang="en-US" altLang="en-US" sz="2000" b="1" dirty="0"/>
                        <a:t>STH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Somatotropin</a:t>
                      </a:r>
                      <a:r>
                        <a:rPr lang="en-US" altLang="en-US" sz="2000" dirty="0"/>
                        <a:t> – growth hormone</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1" dirty="0"/>
                        <a:t>T</a:t>
                      </a:r>
                      <a:r>
                        <a:rPr lang="en-US" altLang="en-US" sz="2000" b="1" baseline="-25000" dirty="0"/>
                        <a:t>3</a:t>
                      </a:r>
                      <a:endParaRPr lang="en-US" altLang="en-US" sz="2000" b="1" dirty="0"/>
                    </a:p>
                  </a:txBody>
                  <a:tcPr/>
                </a:tc>
                <a:tc>
                  <a:txBody>
                    <a:bodyPr/>
                    <a:lstStyle/>
                    <a:p>
                      <a:r>
                        <a:rPr lang="en-US" altLang="en-US" sz="2000" dirty="0" err="1"/>
                        <a:t>Triiodothyronine</a:t>
                      </a:r>
                      <a:endParaRPr lang="en-US" sz="2000" dirty="0"/>
                    </a:p>
                  </a:txBody>
                  <a:tcPr/>
                </a:tc>
                <a:extLst>
                  <a:ext uri="{0D108BD9-81ED-4DB2-BD59-A6C34878D82A}">
                    <a16:rowId xmlns:a16="http://schemas.microsoft.com/office/drawing/2014/main" val="10008"/>
                  </a:ext>
                </a:extLst>
              </a:tr>
              <a:tr h="370840">
                <a:tc>
                  <a:txBody>
                    <a:bodyPr/>
                    <a:lstStyle/>
                    <a:p>
                      <a:pPr eaLnBrk="1" hangingPunct="1">
                        <a:lnSpc>
                          <a:spcPct val="90000"/>
                        </a:lnSpc>
                      </a:pPr>
                      <a:r>
                        <a:rPr lang="en-US" altLang="en-US" sz="2000" b="1" dirty="0"/>
                        <a:t>T</a:t>
                      </a:r>
                      <a:r>
                        <a:rPr lang="en-US" altLang="en-US" sz="2000" b="1" baseline="-25000" dirty="0"/>
                        <a:t>4</a:t>
                      </a:r>
                      <a:endParaRPr lang="en-US" alt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Thyroxine</a:t>
                      </a:r>
                      <a:r>
                        <a:rPr lang="en-US" altLang="en-US" sz="2000" dirty="0"/>
                        <a:t> – </a:t>
                      </a:r>
                      <a:r>
                        <a:rPr lang="en-US" altLang="en-US" sz="2000" dirty="0" err="1"/>
                        <a:t>tetraiodothyronine</a:t>
                      </a:r>
                      <a:endParaRPr lang="en-US" altLang="en-US" sz="2000" dirty="0"/>
                    </a:p>
                  </a:txBody>
                  <a:tcPr/>
                </a:tc>
                <a:extLst>
                  <a:ext uri="{0D108BD9-81ED-4DB2-BD59-A6C34878D82A}">
                    <a16:rowId xmlns:a16="http://schemas.microsoft.com/office/drawing/2014/main" val="10009"/>
                  </a:ext>
                </a:extLst>
              </a:tr>
              <a:tr h="370840">
                <a:tc>
                  <a:txBody>
                    <a:bodyPr/>
                    <a:lstStyle/>
                    <a:p>
                      <a:r>
                        <a:rPr lang="en-US" altLang="en-US" sz="2000" b="1" dirty="0"/>
                        <a:t>TFT</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Thyroid function test</a:t>
                      </a:r>
                    </a:p>
                  </a:txBody>
                  <a:tcPr/>
                </a:tc>
                <a:extLst>
                  <a:ext uri="{0D108BD9-81ED-4DB2-BD59-A6C34878D82A}">
                    <a16:rowId xmlns:a16="http://schemas.microsoft.com/office/drawing/2014/main" val="10010"/>
                  </a:ext>
                </a:extLst>
              </a:tr>
              <a:tr h="370840">
                <a:tc>
                  <a:txBody>
                    <a:bodyPr/>
                    <a:lstStyle/>
                    <a:p>
                      <a:r>
                        <a:rPr lang="en-US" altLang="en-US" sz="2000" b="1" dirty="0"/>
                        <a:t>TSH</a:t>
                      </a:r>
                      <a:endParaRPr 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Thyroid-stimulating hormone</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5707182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Combining Forms (Slide 1 of 5)</a:t>
            </a:r>
          </a:p>
        </p:txBody>
      </p:sp>
      <p:graphicFrame>
        <p:nvGraphicFramePr>
          <p:cNvPr id="8" name="Content Placeholder 7" descr="Group 1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081380075"/>
              </p:ext>
            </p:extLst>
          </p:nvPr>
        </p:nvGraphicFramePr>
        <p:xfrm>
          <a:off x="457200" y="1600200"/>
          <a:ext cx="8229600" cy="292608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Combining Form</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sz="2600" b="1" dirty="0" err="1">
                          <a:latin typeface="+mn-lt"/>
                        </a:rPr>
                        <a:t>aden</a:t>
                      </a:r>
                      <a:r>
                        <a:rPr lang="en-US" sz="2600" b="1" dirty="0">
                          <a:latin typeface="+mn-lt"/>
                        </a:rPr>
                        <a:t>/o</a:t>
                      </a:r>
                      <a:endParaRPr lang="en-US" sz="2600" b="1" dirty="0"/>
                    </a:p>
                  </a:txBody>
                  <a:tcPr/>
                </a:tc>
                <a:tc>
                  <a:txBody>
                    <a:bodyPr/>
                    <a:lstStyle/>
                    <a:p>
                      <a:r>
                        <a:rPr lang="en-US" sz="2600" b="0" dirty="0">
                          <a:latin typeface="Arial" charset="0"/>
                        </a:rPr>
                        <a:t>gland</a:t>
                      </a:r>
                      <a:endParaRPr lang="en-US" sz="2600" dirty="0"/>
                    </a:p>
                  </a:txBody>
                  <a:tcPr/>
                </a:tc>
                <a:extLst>
                  <a:ext uri="{0D108BD9-81ED-4DB2-BD59-A6C34878D82A}">
                    <a16:rowId xmlns:a16="http://schemas.microsoft.com/office/drawing/2014/main" val="10001"/>
                  </a:ext>
                </a:extLst>
              </a:tr>
              <a:tr h="370840">
                <a:tc>
                  <a:txBody>
                    <a:bodyPr/>
                    <a:lstStyle/>
                    <a:p>
                      <a:r>
                        <a:rPr lang="en-US" sz="2600" b="1" dirty="0">
                          <a:latin typeface="+mn-lt"/>
                        </a:rPr>
                        <a:t>adrenal/o</a:t>
                      </a:r>
                      <a:endParaRPr lang="en-US" sz="2600" b="1" dirty="0"/>
                    </a:p>
                  </a:txBody>
                  <a:tcPr/>
                </a:tc>
                <a:tc>
                  <a:txBody>
                    <a:bodyPr/>
                    <a:lstStyle/>
                    <a:p>
                      <a:r>
                        <a:rPr lang="en-US" sz="2600" b="0" dirty="0">
                          <a:latin typeface="Arial" charset="0"/>
                        </a:rPr>
                        <a:t>adrenal glands</a:t>
                      </a:r>
                      <a:endParaRPr lang="en-US" sz="2600" dirty="0"/>
                    </a:p>
                  </a:txBody>
                  <a:tcPr/>
                </a:tc>
                <a:extLst>
                  <a:ext uri="{0D108BD9-81ED-4DB2-BD59-A6C34878D82A}">
                    <a16:rowId xmlns:a16="http://schemas.microsoft.com/office/drawing/2014/main" val="10002"/>
                  </a:ext>
                </a:extLst>
              </a:tr>
              <a:tr h="370840">
                <a:tc>
                  <a:txBody>
                    <a:bodyPr/>
                    <a:lstStyle/>
                    <a:p>
                      <a:r>
                        <a:rPr lang="en-US" sz="2600" b="1" dirty="0" err="1">
                          <a:latin typeface="+mn-lt"/>
                        </a:rPr>
                        <a:t>andr</a:t>
                      </a:r>
                      <a:r>
                        <a:rPr lang="en-US" sz="2600" b="1" dirty="0">
                          <a:latin typeface="+mn-lt"/>
                        </a:rPr>
                        <a:t>/o</a:t>
                      </a:r>
                      <a:endParaRPr lang="en-US" sz="2600" b="1" dirty="0"/>
                    </a:p>
                  </a:txBody>
                  <a:tcPr/>
                </a:tc>
                <a:tc>
                  <a:txBody>
                    <a:bodyPr/>
                    <a:lstStyle/>
                    <a:p>
                      <a:r>
                        <a:rPr lang="en-US" sz="2600" b="0" dirty="0">
                          <a:latin typeface="Arial" charset="0"/>
                        </a:rPr>
                        <a:t>male</a:t>
                      </a:r>
                      <a:endParaRPr lang="en-US" sz="2600" dirty="0"/>
                    </a:p>
                  </a:txBody>
                  <a:tcPr/>
                </a:tc>
                <a:extLst>
                  <a:ext uri="{0D108BD9-81ED-4DB2-BD59-A6C34878D82A}">
                    <a16:rowId xmlns:a16="http://schemas.microsoft.com/office/drawing/2014/main" val="10003"/>
                  </a:ext>
                </a:extLst>
              </a:tr>
              <a:tr h="370840">
                <a:tc>
                  <a:txBody>
                    <a:bodyPr/>
                    <a:lstStyle/>
                    <a:p>
                      <a:r>
                        <a:rPr lang="en-US" sz="2600" b="1" dirty="0" err="1">
                          <a:latin typeface="+mn-lt"/>
                        </a:rPr>
                        <a:t>calc</a:t>
                      </a:r>
                      <a:r>
                        <a:rPr lang="en-US" sz="2600" b="1" dirty="0">
                          <a:latin typeface="+mn-lt"/>
                        </a:rPr>
                        <a:t>/o, </a:t>
                      </a:r>
                      <a:r>
                        <a:rPr lang="en-US" sz="2600" b="1" dirty="0" err="1">
                          <a:latin typeface="+mn-lt"/>
                        </a:rPr>
                        <a:t>calici</a:t>
                      </a:r>
                      <a:r>
                        <a:rPr lang="en-US" sz="2600" b="1" dirty="0">
                          <a:latin typeface="+mn-lt"/>
                        </a:rPr>
                        <a:t>/o</a:t>
                      </a:r>
                      <a:endParaRPr lang="en-US" sz="2600" b="1" dirty="0"/>
                    </a:p>
                  </a:txBody>
                  <a:tcPr/>
                </a:tc>
                <a:tc>
                  <a:txBody>
                    <a:bodyPr/>
                    <a:lstStyle/>
                    <a:p>
                      <a:r>
                        <a:rPr lang="en-US" sz="2600" b="0" dirty="0">
                          <a:latin typeface="Arial" charset="0"/>
                        </a:rPr>
                        <a:t>calcium</a:t>
                      </a:r>
                      <a:endParaRPr lang="en-US" sz="2600" dirty="0"/>
                    </a:p>
                  </a:txBody>
                  <a:tcPr/>
                </a:tc>
                <a:extLst>
                  <a:ext uri="{0D108BD9-81ED-4DB2-BD59-A6C34878D82A}">
                    <a16:rowId xmlns:a16="http://schemas.microsoft.com/office/drawing/2014/main" val="10004"/>
                  </a:ext>
                </a:extLst>
              </a:tr>
              <a:tr h="370840">
                <a:tc>
                  <a:txBody>
                    <a:bodyPr/>
                    <a:lstStyle/>
                    <a:p>
                      <a:r>
                        <a:rPr lang="en-US" sz="2600" b="1" dirty="0" err="1">
                          <a:latin typeface="+mn-lt"/>
                        </a:rPr>
                        <a:t>cortic</a:t>
                      </a:r>
                      <a:r>
                        <a:rPr lang="en-US" sz="2600" b="1" dirty="0">
                          <a:latin typeface="+mn-lt"/>
                        </a:rPr>
                        <a:t>/o</a:t>
                      </a:r>
                      <a:endParaRPr lang="en-US" sz="2600" b="1" dirty="0"/>
                    </a:p>
                  </a:txBody>
                  <a:tcPr/>
                </a:tc>
                <a:tc>
                  <a:txBody>
                    <a:bodyPr/>
                    <a:lstStyle/>
                    <a:p>
                      <a:r>
                        <a:rPr lang="en-US" sz="2600" b="0" dirty="0">
                          <a:latin typeface="Arial" charset="0"/>
                        </a:rPr>
                        <a:t>cortex, outer region</a:t>
                      </a:r>
                      <a:endParaRPr lang="en-US" sz="26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531270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Combining Forms (Slide 2 of 5)</a:t>
            </a:r>
          </a:p>
        </p:txBody>
      </p:sp>
      <p:graphicFrame>
        <p:nvGraphicFramePr>
          <p:cNvPr id="8" name="Content Placeholder 7" descr="Group 2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733170869"/>
              </p:ext>
            </p:extLst>
          </p:nvPr>
        </p:nvGraphicFramePr>
        <p:xfrm>
          <a:off x="457200" y="1600200"/>
          <a:ext cx="8229600" cy="341376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Combining Form</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sz="2600" b="1" dirty="0" err="1">
                          <a:latin typeface="+mn-lt"/>
                        </a:rPr>
                        <a:t>crin</a:t>
                      </a:r>
                      <a:r>
                        <a:rPr lang="en-US" sz="2600" b="1" dirty="0">
                          <a:latin typeface="+mn-lt"/>
                        </a:rPr>
                        <a:t>/o</a:t>
                      </a:r>
                      <a:endParaRPr lang="en-US" sz="2600" b="1" dirty="0"/>
                    </a:p>
                  </a:txBody>
                  <a:tcPr/>
                </a:tc>
                <a:tc>
                  <a:txBody>
                    <a:bodyPr/>
                    <a:lstStyle/>
                    <a:p>
                      <a:r>
                        <a:rPr lang="en-US" altLang="en-US" sz="2600" dirty="0"/>
                        <a:t>secrete</a:t>
                      </a:r>
                      <a:endParaRPr lang="en-US" sz="2600" dirty="0"/>
                    </a:p>
                  </a:txBody>
                  <a:tcPr/>
                </a:tc>
                <a:extLst>
                  <a:ext uri="{0D108BD9-81ED-4DB2-BD59-A6C34878D82A}">
                    <a16:rowId xmlns:a16="http://schemas.microsoft.com/office/drawing/2014/main" val="10001"/>
                  </a:ext>
                </a:extLst>
              </a:tr>
              <a:tr h="370840">
                <a:tc>
                  <a:txBody>
                    <a:bodyPr/>
                    <a:lstStyle/>
                    <a:p>
                      <a:r>
                        <a:rPr lang="en-US" altLang="en-US" sz="2600" b="1" dirty="0"/>
                        <a:t>dips/o</a:t>
                      </a:r>
                      <a:endParaRPr lang="en-US" sz="2600" dirty="0"/>
                    </a:p>
                  </a:txBody>
                  <a:tcPr/>
                </a:tc>
                <a:tc>
                  <a:txBody>
                    <a:bodyPr/>
                    <a:lstStyle/>
                    <a:p>
                      <a:r>
                        <a:rPr lang="en-US" altLang="en-US" sz="2600" dirty="0"/>
                        <a:t>third</a:t>
                      </a:r>
                      <a:endParaRPr lang="en-US" sz="2600" dirty="0"/>
                    </a:p>
                  </a:txBody>
                  <a:tcPr/>
                </a:tc>
                <a:extLst>
                  <a:ext uri="{0D108BD9-81ED-4DB2-BD59-A6C34878D82A}">
                    <a16:rowId xmlns:a16="http://schemas.microsoft.com/office/drawing/2014/main" val="10002"/>
                  </a:ext>
                </a:extLst>
              </a:tr>
              <a:tr h="370840">
                <a:tc>
                  <a:txBody>
                    <a:bodyPr/>
                    <a:lstStyle/>
                    <a:p>
                      <a:r>
                        <a:rPr lang="en-US" sz="2600" b="1" dirty="0" err="1">
                          <a:latin typeface="+mn-lt"/>
                        </a:rPr>
                        <a:t>estr</a:t>
                      </a:r>
                      <a:r>
                        <a:rPr lang="en-US" sz="2600" b="1" dirty="0">
                          <a:latin typeface="+mn-lt"/>
                        </a:rPr>
                        <a:t>/o</a:t>
                      </a:r>
                      <a:endParaRPr lang="en-US" sz="2600" b="1" dirty="0"/>
                    </a:p>
                  </a:txBody>
                  <a:tcPr/>
                </a:tc>
                <a:tc>
                  <a:txBody>
                    <a:bodyPr/>
                    <a:lstStyle/>
                    <a:p>
                      <a:r>
                        <a:rPr lang="en-US" altLang="en-US" sz="2600" dirty="0"/>
                        <a:t>female</a:t>
                      </a:r>
                      <a:endParaRPr lang="en-US" sz="2600" dirty="0"/>
                    </a:p>
                  </a:txBody>
                  <a:tcPr/>
                </a:tc>
                <a:extLst>
                  <a:ext uri="{0D108BD9-81ED-4DB2-BD59-A6C34878D82A}">
                    <a16:rowId xmlns:a16="http://schemas.microsoft.com/office/drawing/2014/main" val="10003"/>
                  </a:ext>
                </a:extLst>
              </a:tr>
              <a:tr h="370840">
                <a:tc>
                  <a:txBody>
                    <a:bodyPr/>
                    <a:lstStyle/>
                    <a:p>
                      <a:r>
                        <a:rPr lang="en-US" sz="2600" b="1" dirty="0" err="1">
                          <a:latin typeface="+mn-lt"/>
                        </a:rPr>
                        <a:t>gluc</a:t>
                      </a:r>
                      <a:r>
                        <a:rPr lang="en-US" sz="2600" b="1" dirty="0">
                          <a:latin typeface="+mn-lt"/>
                        </a:rPr>
                        <a:t>/o, </a:t>
                      </a:r>
                      <a:r>
                        <a:rPr lang="en-US" sz="2600" b="1" dirty="0" err="1">
                          <a:latin typeface="+mn-lt"/>
                        </a:rPr>
                        <a:t>glyc</a:t>
                      </a:r>
                      <a:r>
                        <a:rPr lang="en-US" sz="2600" b="1" dirty="0">
                          <a:latin typeface="+mn-lt"/>
                        </a:rPr>
                        <a:t>/o</a:t>
                      </a:r>
                      <a:endParaRPr lang="en-US" sz="2600" b="1" dirty="0"/>
                    </a:p>
                  </a:txBody>
                  <a:tcPr/>
                </a:tc>
                <a:tc>
                  <a:txBody>
                    <a:bodyPr/>
                    <a:lstStyle/>
                    <a:p>
                      <a:r>
                        <a:rPr lang="en-US" altLang="en-US" sz="2600" dirty="0"/>
                        <a:t>sugar</a:t>
                      </a:r>
                      <a:endParaRPr lang="en-US" sz="2600" dirty="0"/>
                    </a:p>
                  </a:txBody>
                  <a:tcPr/>
                </a:tc>
                <a:extLst>
                  <a:ext uri="{0D108BD9-81ED-4DB2-BD59-A6C34878D82A}">
                    <a16:rowId xmlns:a16="http://schemas.microsoft.com/office/drawing/2014/main" val="10004"/>
                  </a:ext>
                </a:extLst>
              </a:tr>
              <a:tr h="370840">
                <a:tc>
                  <a:txBody>
                    <a:bodyPr/>
                    <a:lstStyle/>
                    <a:p>
                      <a:r>
                        <a:rPr lang="en-US" sz="2600" b="1" dirty="0">
                          <a:latin typeface="+mn-lt"/>
                        </a:rPr>
                        <a:t>gonad/o</a:t>
                      </a:r>
                      <a:endParaRPr lang="en-US" sz="26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sex glands (ovaries, testes)</a:t>
                      </a:r>
                    </a:p>
                  </a:txBody>
                  <a:tcPr/>
                </a:tc>
                <a:extLst>
                  <a:ext uri="{0D108BD9-81ED-4DB2-BD59-A6C34878D82A}">
                    <a16:rowId xmlns:a16="http://schemas.microsoft.com/office/drawing/2014/main" val="10005"/>
                  </a:ext>
                </a:extLst>
              </a:tr>
              <a:tr h="370840">
                <a:tc>
                  <a:txBody>
                    <a:bodyPr/>
                    <a:lstStyle/>
                    <a:p>
                      <a:r>
                        <a:rPr lang="en-US" sz="2600" b="1" dirty="0">
                          <a:latin typeface="+mn-lt"/>
                        </a:rPr>
                        <a:t>home/o</a:t>
                      </a:r>
                      <a:endParaRPr lang="en-US" sz="2600" b="1" dirty="0"/>
                    </a:p>
                  </a:txBody>
                  <a:tcPr/>
                </a:tc>
                <a:tc>
                  <a:txBody>
                    <a:bodyPr/>
                    <a:lstStyle/>
                    <a:p>
                      <a:r>
                        <a:rPr lang="en-US" altLang="en-US" sz="2600" dirty="0"/>
                        <a:t>sameness</a:t>
                      </a:r>
                      <a:endParaRPr lang="en-US" sz="26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695660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Combining Forms (Slide 3 of 5)</a:t>
            </a:r>
          </a:p>
        </p:txBody>
      </p:sp>
      <p:graphicFrame>
        <p:nvGraphicFramePr>
          <p:cNvPr id="8" name="Content Placeholder 7" descr="Group 3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670007857"/>
              </p:ext>
            </p:extLst>
          </p:nvPr>
        </p:nvGraphicFramePr>
        <p:xfrm>
          <a:off x="457200" y="1600200"/>
          <a:ext cx="8229600" cy="341376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Combining Form</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altLang="en-US" sz="2600" b="1" dirty="0" err="1"/>
                        <a:t>hormon</a:t>
                      </a:r>
                      <a:r>
                        <a:rPr lang="en-US" altLang="en-US" sz="2600" b="1" dirty="0"/>
                        <a:t>/o</a:t>
                      </a:r>
                      <a:endParaRPr lang="en-US" sz="2600" dirty="0"/>
                    </a:p>
                  </a:txBody>
                  <a:tcPr/>
                </a:tc>
                <a:tc>
                  <a:txBody>
                    <a:bodyPr/>
                    <a:lstStyle/>
                    <a:p>
                      <a:r>
                        <a:rPr lang="en-US" altLang="en-US" sz="2600" dirty="0"/>
                        <a:t>hormone</a:t>
                      </a:r>
                      <a:endParaRPr lang="en-US" sz="2600" dirty="0"/>
                    </a:p>
                  </a:txBody>
                  <a:tcPr/>
                </a:tc>
                <a:extLst>
                  <a:ext uri="{0D108BD9-81ED-4DB2-BD59-A6C34878D82A}">
                    <a16:rowId xmlns:a16="http://schemas.microsoft.com/office/drawing/2014/main" val="10001"/>
                  </a:ext>
                </a:extLst>
              </a:tr>
              <a:tr h="370840">
                <a:tc>
                  <a:txBody>
                    <a:bodyPr/>
                    <a:lstStyle/>
                    <a:p>
                      <a:r>
                        <a:rPr lang="en-US" altLang="en-US" sz="2600" b="1" dirty="0" err="1"/>
                        <a:t>kal</a:t>
                      </a:r>
                      <a:r>
                        <a:rPr lang="en-US" altLang="en-US" sz="2600" b="1" dirty="0"/>
                        <a:t>/</a:t>
                      </a:r>
                      <a:r>
                        <a:rPr lang="en-US" altLang="en-US" sz="2600" b="1" dirty="0" err="1"/>
                        <a:t>i</a:t>
                      </a:r>
                      <a:endParaRPr lang="en-US" sz="2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potassium (an electrolyte)</a:t>
                      </a:r>
                    </a:p>
                  </a:txBody>
                  <a:tcPr/>
                </a:tc>
                <a:extLst>
                  <a:ext uri="{0D108BD9-81ED-4DB2-BD59-A6C34878D82A}">
                    <a16:rowId xmlns:a16="http://schemas.microsoft.com/office/drawing/2014/main" val="10002"/>
                  </a:ext>
                </a:extLst>
              </a:tr>
              <a:tr h="370840">
                <a:tc>
                  <a:txBody>
                    <a:bodyPr/>
                    <a:lstStyle/>
                    <a:p>
                      <a:r>
                        <a:rPr lang="en-US" altLang="en-US" sz="2600" b="1" dirty="0"/>
                        <a:t>insulin/o</a:t>
                      </a:r>
                      <a:endParaRPr lang="en-US" sz="2600" dirty="0"/>
                    </a:p>
                  </a:txBody>
                  <a:tcPr/>
                </a:tc>
                <a:tc>
                  <a:txBody>
                    <a:bodyPr/>
                    <a:lstStyle/>
                    <a:p>
                      <a:r>
                        <a:rPr lang="en-US" altLang="en-US" sz="2600" dirty="0"/>
                        <a:t>insulin</a:t>
                      </a:r>
                      <a:endParaRPr lang="en-US" sz="2600" dirty="0"/>
                    </a:p>
                  </a:txBody>
                  <a:tcPr/>
                </a:tc>
                <a:extLst>
                  <a:ext uri="{0D108BD9-81ED-4DB2-BD59-A6C34878D82A}">
                    <a16:rowId xmlns:a16="http://schemas.microsoft.com/office/drawing/2014/main" val="10003"/>
                  </a:ext>
                </a:extLst>
              </a:tr>
              <a:tr h="370840">
                <a:tc>
                  <a:txBody>
                    <a:bodyPr/>
                    <a:lstStyle/>
                    <a:p>
                      <a:r>
                        <a:rPr lang="en-US" altLang="en-US" sz="2600" b="1" dirty="0" err="1"/>
                        <a:t>lact</a:t>
                      </a:r>
                      <a:r>
                        <a:rPr lang="en-US" altLang="en-US" sz="2600" b="1" dirty="0"/>
                        <a:t>/o</a:t>
                      </a:r>
                      <a:endParaRPr lang="en-US" sz="2600" dirty="0"/>
                    </a:p>
                  </a:txBody>
                  <a:tcPr/>
                </a:tc>
                <a:tc>
                  <a:txBody>
                    <a:bodyPr/>
                    <a:lstStyle/>
                    <a:p>
                      <a:r>
                        <a:rPr lang="en-US" altLang="en-US" sz="2600" dirty="0"/>
                        <a:t>milk</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err="1"/>
                        <a:t>myx</a:t>
                      </a:r>
                      <a:r>
                        <a:rPr lang="en-US" altLang="en-US" sz="2600" b="1" dirty="0"/>
                        <a:t>/o</a:t>
                      </a:r>
                      <a:endParaRPr lang="en-US" sz="2600" dirty="0"/>
                    </a:p>
                  </a:txBody>
                  <a:tcPr/>
                </a:tc>
                <a:tc>
                  <a:txBody>
                    <a:bodyPr/>
                    <a:lstStyle/>
                    <a:p>
                      <a:r>
                        <a:rPr lang="en-US" altLang="en-US" sz="2600" dirty="0"/>
                        <a:t>mucus</a:t>
                      </a:r>
                      <a:endParaRPr lang="en-US" sz="2600" dirty="0"/>
                    </a:p>
                  </a:txBody>
                  <a:tcPr/>
                </a:tc>
                <a:extLst>
                  <a:ext uri="{0D108BD9-81ED-4DB2-BD59-A6C34878D82A}">
                    <a16:rowId xmlns:a16="http://schemas.microsoft.com/office/drawing/2014/main" val="10005"/>
                  </a:ext>
                </a:extLst>
              </a:tr>
              <a:tr h="370840">
                <a:tc>
                  <a:txBody>
                    <a:bodyPr/>
                    <a:lstStyle/>
                    <a:p>
                      <a:r>
                        <a:rPr lang="en-US" altLang="en-US" sz="2600" b="1" dirty="0" err="1"/>
                        <a:t>natr</a:t>
                      </a:r>
                      <a:r>
                        <a:rPr lang="en-US" altLang="en-US" sz="2600" b="1" dirty="0"/>
                        <a:t>/o</a:t>
                      </a:r>
                      <a:endParaRPr lang="en-US" sz="2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600" dirty="0"/>
                        <a:t>sodium (an electrolyte)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309006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Combining Forms (Slide 4 of 5)</a:t>
            </a:r>
          </a:p>
        </p:txBody>
      </p:sp>
      <p:graphicFrame>
        <p:nvGraphicFramePr>
          <p:cNvPr id="8" name="Content Placeholder 7" descr="Group 4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570255479"/>
              </p:ext>
            </p:extLst>
          </p:nvPr>
        </p:nvGraphicFramePr>
        <p:xfrm>
          <a:off x="457200" y="1600200"/>
          <a:ext cx="8229600" cy="341376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Combining Form</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altLang="en-US" sz="2600" b="1" dirty="0" err="1"/>
                        <a:t>pancreat</a:t>
                      </a:r>
                      <a:r>
                        <a:rPr lang="en-US" altLang="en-US" sz="2600" b="1" dirty="0"/>
                        <a:t>/o</a:t>
                      </a:r>
                      <a:endParaRPr lang="en-US" sz="2600" dirty="0"/>
                    </a:p>
                  </a:txBody>
                  <a:tcPr/>
                </a:tc>
                <a:tc>
                  <a:txBody>
                    <a:bodyPr/>
                    <a:lstStyle/>
                    <a:p>
                      <a:r>
                        <a:rPr lang="en-US" sz="2600" dirty="0"/>
                        <a:t>pancreas</a:t>
                      </a:r>
                    </a:p>
                  </a:txBody>
                  <a:tcPr/>
                </a:tc>
                <a:extLst>
                  <a:ext uri="{0D108BD9-81ED-4DB2-BD59-A6C34878D82A}">
                    <a16:rowId xmlns:a16="http://schemas.microsoft.com/office/drawing/2014/main" val="10001"/>
                  </a:ext>
                </a:extLst>
              </a:tr>
              <a:tr h="370840">
                <a:tc>
                  <a:txBody>
                    <a:bodyPr/>
                    <a:lstStyle/>
                    <a:p>
                      <a:r>
                        <a:rPr lang="en-US" altLang="en-US" sz="2600" b="1" dirty="0"/>
                        <a:t>parathyroid/o</a:t>
                      </a:r>
                      <a:endParaRPr lang="en-US" sz="2600" dirty="0"/>
                    </a:p>
                  </a:txBody>
                  <a:tcPr/>
                </a:tc>
                <a:tc>
                  <a:txBody>
                    <a:bodyPr/>
                    <a:lstStyle/>
                    <a:p>
                      <a:r>
                        <a:rPr lang="en-US" sz="2600" dirty="0"/>
                        <a:t>parathyroid gland </a:t>
                      </a:r>
                    </a:p>
                  </a:txBody>
                  <a:tcPr/>
                </a:tc>
                <a:extLst>
                  <a:ext uri="{0D108BD9-81ED-4DB2-BD59-A6C34878D82A}">
                    <a16:rowId xmlns:a16="http://schemas.microsoft.com/office/drawing/2014/main" val="10002"/>
                  </a:ext>
                </a:extLst>
              </a:tr>
              <a:tr h="370840">
                <a:tc>
                  <a:txBody>
                    <a:bodyPr/>
                    <a:lstStyle/>
                    <a:p>
                      <a:r>
                        <a:rPr lang="en-US" altLang="en-US" sz="2600" b="1" dirty="0" err="1"/>
                        <a:t>phys</a:t>
                      </a:r>
                      <a:r>
                        <a:rPr lang="en-US" altLang="en-US" sz="2600" b="1" dirty="0"/>
                        <a:t>/o</a:t>
                      </a:r>
                      <a:endParaRPr lang="en-US" sz="2600" dirty="0"/>
                    </a:p>
                  </a:txBody>
                  <a:tcPr/>
                </a:tc>
                <a:tc>
                  <a:txBody>
                    <a:bodyPr/>
                    <a:lstStyle/>
                    <a:p>
                      <a:r>
                        <a:rPr lang="en-US" sz="2600" dirty="0"/>
                        <a:t>growing</a:t>
                      </a:r>
                    </a:p>
                  </a:txBody>
                  <a:tcPr/>
                </a:tc>
                <a:extLst>
                  <a:ext uri="{0D108BD9-81ED-4DB2-BD59-A6C34878D82A}">
                    <a16:rowId xmlns:a16="http://schemas.microsoft.com/office/drawing/2014/main" val="10003"/>
                  </a:ext>
                </a:extLst>
              </a:tr>
              <a:tr h="370840">
                <a:tc>
                  <a:txBody>
                    <a:bodyPr/>
                    <a:lstStyle/>
                    <a:p>
                      <a:r>
                        <a:rPr lang="en-US" altLang="en-US" sz="2600" b="1" dirty="0" err="1"/>
                        <a:t>pituitar</a:t>
                      </a:r>
                      <a:r>
                        <a:rPr lang="en-US" altLang="en-US" sz="2600" b="1" dirty="0"/>
                        <a:t>/o</a:t>
                      </a:r>
                      <a:endParaRPr lang="en-US" sz="2600" dirty="0"/>
                    </a:p>
                  </a:txBody>
                  <a:tcPr/>
                </a:tc>
                <a:tc>
                  <a:txBody>
                    <a:bodyPr/>
                    <a:lstStyle/>
                    <a:p>
                      <a:pPr eaLnBrk="1" fontAlgn="auto" hangingPunct="1">
                        <a:lnSpc>
                          <a:spcPct val="90000"/>
                        </a:lnSpc>
                        <a:spcAft>
                          <a:spcPts val="0"/>
                        </a:spcAft>
                        <a:defRPr/>
                      </a:pPr>
                      <a:r>
                        <a:rPr lang="en-US" sz="2600" dirty="0"/>
                        <a:t>pituitary gland;  or</a:t>
                      </a:r>
                      <a:r>
                        <a:rPr lang="en-US" sz="2600" baseline="0" dirty="0"/>
                        <a:t> </a:t>
                      </a:r>
                      <a:r>
                        <a:rPr lang="en-US" sz="2600" dirty="0" err="1"/>
                        <a:t>hypophysis</a:t>
                      </a:r>
                      <a:r>
                        <a:rPr lang="en-US" sz="2600" dirty="0"/>
                        <a:t> </a:t>
                      </a:r>
                    </a:p>
                  </a:txBody>
                  <a:tcPr/>
                </a:tc>
                <a:extLst>
                  <a:ext uri="{0D108BD9-81ED-4DB2-BD59-A6C34878D82A}">
                    <a16:rowId xmlns:a16="http://schemas.microsoft.com/office/drawing/2014/main" val="10004"/>
                  </a:ext>
                </a:extLst>
              </a:tr>
              <a:tr h="370840">
                <a:tc>
                  <a:txBody>
                    <a:bodyPr/>
                    <a:lstStyle/>
                    <a:p>
                      <a:r>
                        <a:rPr lang="en-US" altLang="en-US" sz="2600" b="1" dirty="0" err="1"/>
                        <a:t>somat</a:t>
                      </a:r>
                      <a:r>
                        <a:rPr lang="en-US" altLang="en-US" sz="2600" b="1" dirty="0"/>
                        <a:t>/o</a:t>
                      </a:r>
                      <a:endParaRPr lang="en-US" sz="2600" dirty="0"/>
                    </a:p>
                  </a:txBody>
                  <a:tcPr/>
                </a:tc>
                <a:tc>
                  <a:txBody>
                    <a:bodyPr/>
                    <a:lstStyle/>
                    <a:p>
                      <a:r>
                        <a:rPr lang="en-US" sz="2600" dirty="0"/>
                        <a:t>body</a:t>
                      </a:r>
                    </a:p>
                  </a:txBody>
                  <a:tcPr/>
                </a:tc>
                <a:extLst>
                  <a:ext uri="{0D108BD9-81ED-4DB2-BD59-A6C34878D82A}">
                    <a16:rowId xmlns:a16="http://schemas.microsoft.com/office/drawing/2014/main" val="10005"/>
                  </a:ext>
                </a:extLst>
              </a:tr>
              <a:tr h="370840">
                <a:tc>
                  <a:txBody>
                    <a:bodyPr/>
                    <a:lstStyle/>
                    <a:p>
                      <a:r>
                        <a:rPr lang="en-US" altLang="en-US" sz="2600" b="1" dirty="0" err="1"/>
                        <a:t>ster</a:t>
                      </a:r>
                      <a:r>
                        <a:rPr lang="en-US" altLang="en-US" sz="2600" b="1" dirty="0"/>
                        <a:t>/o</a:t>
                      </a:r>
                      <a:endParaRPr lang="en-US" sz="2600" dirty="0"/>
                    </a:p>
                  </a:txBody>
                  <a:tcPr/>
                </a:tc>
                <a:tc>
                  <a:txBody>
                    <a:bodyPr/>
                    <a:lstStyle/>
                    <a:p>
                      <a:r>
                        <a:rPr lang="en-US" sz="2600" dirty="0"/>
                        <a:t>solid structure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972408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Combining Forms (Slide 5 of 5)</a:t>
            </a:r>
          </a:p>
        </p:txBody>
      </p:sp>
      <p:graphicFrame>
        <p:nvGraphicFramePr>
          <p:cNvPr id="8" name="Content Placeholder 7" descr="Group 5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047577215"/>
              </p:ext>
            </p:extLst>
          </p:nvPr>
        </p:nvGraphicFramePr>
        <p:xfrm>
          <a:off x="457200" y="1600200"/>
          <a:ext cx="8229600" cy="292608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Combining Form</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altLang="en-US" sz="2600" b="1" dirty="0" err="1"/>
                        <a:t>thyr</a:t>
                      </a:r>
                      <a:r>
                        <a:rPr lang="en-US" altLang="en-US" sz="2600" b="1" dirty="0"/>
                        <a:t>/o</a:t>
                      </a:r>
                      <a:endParaRPr lang="en-US" sz="2600" dirty="0"/>
                    </a:p>
                  </a:txBody>
                  <a:tcPr/>
                </a:tc>
                <a:tc>
                  <a:txBody>
                    <a:bodyPr/>
                    <a:lstStyle/>
                    <a:p>
                      <a:r>
                        <a:rPr lang="en-US" altLang="en-US" sz="2600" dirty="0"/>
                        <a:t>thyroid gland</a:t>
                      </a:r>
                      <a:endParaRPr lang="en-US" sz="2600" dirty="0"/>
                    </a:p>
                  </a:txBody>
                  <a:tcPr/>
                </a:tc>
                <a:extLst>
                  <a:ext uri="{0D108BD9-81ED-4DB2-BD59-A6C34878D82A}">
                    <a16:rowId xmlns:a16="http://schemas.microsoft.com/office/drawing/2014/main" val="10001"/>
                  </a:ext>
                </a:extLst>
              </a:tr>
              <a:tr h="370840">
                <a:tc>
                  <a:txBody>
                    <a:bodyPr/>
                    <a:lstStyle/>
                    <a:p>
                      <a:r>
                        <a:rPr lang="en-US" altLang="en-US" sz="2600" b="1" dirty="0"/>
                        <a:t>thyroid/o</a:t>
                      </a:r>
                      <a:endParaRPr lang="en-US" sz="2600" dirty="0"/>
                    </a:p>
                  </a:txBody>
                  <a:tcPr/>
                </a:tc>
                <a:tc>
                  <a:txBody>
                    <a:bodyPr/>
                    <a:lstStyle/>
                    <a:p>
                      <a:r>
                        <a:rPr lang="en-US" altLang="en-US" sz="2600" dirty="0"/>
                        <a:t>thyroid gland</a:t>
                      </a:r>
                      <a:endParaRPr lang="en-US" sz="2600" dirty="0"/>
                    </a:p>
                  </a:txBody>
                  <a:tcPr/>
                </a:tc>
                <a:extLst>
                  <a:ext uri="{0D108BD9-81ED-4DB2-BD59-A6C34878D82A}">
                    <a16:rowId xmlns:a16="http://schemas.microsoft.com/office/drawing/2014/main" val="10002"/>
                  </a:ext>
                </a:extLst>
              </a:tr>
              <a:tr h="370840">
                <a:tc>
                  <a:txBody>
                    <a:bodyPr/>
                    <a:lstStyle/>
                    <a:p>
                      <a:r>
                        <a:rPr lang="en-US" altLang="en-US" sz="2600" b="1" dirty="0" err="1"/>
                        <a:t>toc</a:t>
                      </a:r>
                      <a:r>
                        <a:rPr lang="en-US" altLang="en-US" sz="2600" b="1" dirty="0"/>
                        <a:t>/o</a:t>
                      </a:r>
                      <a:endParaRPr lang="en-US" sz="2600" dirty="0"/>
                    </a:p>
                  </a:txBody>
                  <a:tcPr/>
                </a:tc>
                <a:tc>
                  <a:txBody>
                    <a:bodyPr/>
                    <a:lstStyle/>
                    <a:p>
                      <a:r>
                        <a:rPr lang="en-US" altLang="en-US" sz="2600" dirty="0"/>
                        <a:t>childbirth</a:t>
                      </a:r>
                      <a:endParaRPr lang="en-US" sz="2600" dirty="0"/>
                    </a:p>
                  </a:txBody>
                  <a:tcPr/>
                </a:tc>
                <a:extLst>
                  <a:ext uri="{0D108BD9-81ED-4DB2-BD59-A6C34878D82A}">
                    <a16:rowId xmlns:a16="http://schemas.microsoft.com/office/drawing/2014/main" val="10003"/>
                  </a:ext>
                </a:extLst>
              </a:tr>
              <a:tr h="370840">
                <a:tc>
                  <a:txBody>
                    <a:bodyPr/>
                    <a:lstStyle/>
                    <a:p>
                      <a:r>
                        <a:rPr lang="en-US" altLang="en-US" sz="2600" b="1" dirty="0"/>
                        <a:t>toxic/o</a:t>
                      </a:r>
                      <a:endParaRPr lang="en-US" sz="2600" dirty="0"/>
                    </a:p>
                  </a:txBody>
                  <a:tcPr/>
                </a:tc>
                <a:tc>
                  <a:txBody>
                    <a:bodyPr/>
                    <a:lstStyle/>
                    <a:p>
                      <a:r>
                        <a:rPr lang="en-US" altLang="en-US" sz="2600" dirty="0"/>
                        <a:t>position</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err="1"/>
                        <a:t>ur</a:t>
                      </a:r>
                      <a:r>
                        <a:rPr lang="en-US" altLang="en-US" sz="2600" b="1" dirty="0"/>
                        <a:t>/o</a:t>
                      </a:r>
                      <a:endParaRPr lang="en-US" sz="2600" dirty="0"/>
                    </a:p>
                  </a:txBody>
                  <a:tcPr/>
                </a:tc>
                <a:tc>
                  <a:txBody>
                    <a:bodyPr/>
                    <a:lstStyle/>
                    <a:p>
                      <a:r>
                        <a:rPr lang="en-US" altLang="en-US" sz="2600" dirty="0"/>
                        <a:t>urine</a:t>
                      </a:r>
                      <a:endParaRPr lang="en-US" sz="26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637188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Suffixes</a:t>
            </a:r>
          </a:p>
        </p:txBody>
      </p:sp>
      <p:graphicFrame>
        <p:nvGraphicFramePr>
          <p:cNvPr id="8" name="Content Placeholder 7" descr="List of Suffixesfrom the Review Sheet of the text with their corresponding meanings."/>
          <p:cNvGraphicFramePr>
            <a:graphicFrameLocks noGrp="1"/>
          </p:cNvGraphicFramePr>
          <p:nvPr>
            <p:ph idx="1"/>
            <p:extLst>
              <p:ext uri="{D42A27DB-BD31-4B8C-83A1-F6EECF244321}">
                <p14:modId xmlns:p14="http://schemas.microsoft.com/office/powerpoint/2010/main" val="1900578240"/>
              </p:ext>
            </p:extLst>
          </p:nvPr>
        </p:nvGraphicFramePr>
        <p:xfrm>
          <a:off x="457200" y="1600200"/>
          <a:ext cx="8229600" cy="292608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Suffix</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altLang="en-US" sz="2600" b="1" dirty="0"/>
                        <a:t>-</a:t>
                      </a:r>
                      <a:r>
                        <a:rPr lang="en-US" altLang="en-US" sz="2600" b="1" dirty="0" err="1"/>
                        <a:t>agon</a:t>
                      </a:r>
                      <a:endParaRPr lang="en-US" sz="2600" dirty="0"/>
                    </a:p>
                  </a:txBody>
                  <a:tcPr/>
                </a:tc>
                <a:tc>
                  <a:txBody>
                    <a:bodyPr/>
                    <a:lstStyle/>
                    <a:p>
                      <a:r>
                        <a:rPr lang="en-US" altLang="en-US" sz="2600" dirty="0"/>
                        <a:t>assemble, gather together</a:t>
                      </a:r>
                      <a:endParaRPr lang="en-US" sz="2600" dirty="0"/>
                    </a:p>
                  </a:txBody>
                  <a:tcPr/>
                </a:tc>
                <a:extLst>
                  <a:ext uri="{0D108BD9-81ED-4DB2-BD59-A6C34878D82A}">
                    <a16:rowId xmlns:a16="http://schemas.microsoft.com/office/drawing/2014/main" val="10001"/>
                  </a:ext>
                </a:extLst>
              </a:tr>
              <a:tr h="370840">
                <a:tc>
                  <a:txBody>
                    <a:bodyPr/>
                    <a:lstStyle/>
                    <a:p>
                      <a:r>
                        <a:rPr lang="en-US" altLang="en-US" sz="2600" b="1" dirty="0"/>
                        <a:t>-</a:t>
                      </a:r>
                      <a:r>
                        <a:rPr lang="en-US" altLang="en-US" sz="2600" b="1" dirty="0" err="1"/>
                        <a:t>emia</a:t>
                      </a:r>
                      <a:endParaRPr lang="en-US" sz="2600" dirty="0"/>
                    </a:p>
                  </a:txBody>
                  <a:tcPr/>
                </a:tc>
                <a:tc>
                  <a:txBody>
                    <a:bodyPr/>
                    <a:lstStyle/>
                    <a:p>
                      <a:r>
                        <a:rPr lang="en-US" altLang="en-US" sz="2600" dirty="0"/>
                        <a:t>blood condition</a:t>
                      </a:r>
                      <a:endParaRPr lang="en-US" sz="2600" dirty="0"/>
                    </a:p>
                  </a:txBody>
                  <a:tcPr/>
                </a:tc>
                <a:extLst>
                  <a:ext uri="{0D108BD9-81ED-4DB2-BD59-A6C34878D82A}">
                    <a16:rowId xmlns:a16="http://schemas.microsoft.com/office/drawing/2014/main" val="10002"/>
                  </a:ext>
                </a:extLst>
              </a:tr>
              <a:tr h="370840">
                <a:tc>
                  <a:txBody>
                    <a:bodyPr/>
                    <a:lstStyle/>
                    <a:p>
                      <a:r>
                        <a:rPr lang="en-US" altLang="en-US" sz="2600" b="1" dirty="0"/>
                        <a:t>-in, -</a:t>
                      </a:r>
                      <a:r>
                        <a:rPr lang="en-US" altLang="en-US" sz="2600" b="1" dirty="0" err="1"/>
                        <a:t>ine</a:t>
                      </a:r>
                      <a:endParaRPr lang="en-US" sz="2600" dirty="0"/>
                    </a:p>
                  </a:txBody>
                  <a:tcPr/>
                </a:tc>
                <a:tc>
                  <a:txBody>
                    <a:bodyPr/>
                    <a:lstStyle/>
                    <a:p>
                      <a:r>
                        <a:rPr lang="en-US" altLang="en-US" sz="2600" dirty="0"/>
                        <a:t>a substance</a:t>
                      </a:r>
                      <a:endParaRPr lang="en-US" sz="2600" dirty="0"/>
                    </a:p>
                  </a:txBody>
                  <a:tcPr/>
                </a:tc>
                <a:extLst>
                  <a:ext uri="{0D108BD9-81ED-4DB2-BD59-A6C34878D82A}">
                    <a16:rowId xmlns:a16="http://schemas.microsoft.com/office/drawing/2014/main" val="10003"/>
                  </a:ext>
                </a:extLst>
              </a:tr>
              <a:tr h="370840">
                <a:tc>
                  <a:txBody>
                    <a:bodyPr/>
                    <a:lstStyle/>
                    <a:p>
                      <a:r>
                        <a:rPr lang="en-US" altLang="en-US" sz="2600" b="1" dirty="0"/>
                        <a:t>-</a:t>
                      </a:r>
                      <a:r>
                        <a:rPr lang="en-US" altLang="en-US" sz="2600" b="1" dirty="0" err="1"/>
                        <a:t>tropin</a:t>
                      </a:r>
                      <a:endParaRPr lang="en-US" sz="2600" dirty="0"/>
                    </a:p>
                  </a:txBody>
                  <a:tcPr/>
                </a:tc>
                <a:tc>
                  <a:txBody>
                    <a:bodyPr/>
                    <a:lstStyle/>
                    <a:p>
                      <a:r>
                        <a:rPr lang="en-US" altLang="en-US" sz="2600" dirty="0"/>
                        <a:t>stimulating the function of</a:t>
                      </a:r>
                      <a:endParaRPr lang="en-US" sz="2600" dirty="0"/>
                    </a:p>
                  </a:txBody>
                  <a:tcPr/>
                </a:tc>
                <a:extLst>
                  <a:ext uri="{0D108BD9-81ED-4DB2-BD59-A6C34878D82A}">
                    <a16:rowId xmlns:a16="http://schemas.microsoft.com/office/drawing/2014/main" val="10004"/>
                  </a:ext>
                </a:extLst>
              </a:tr>
              <a:tr h="370840">
                <a:tc>
                  <a:txBody>
                    <a:bodyPr/>
                    <a:lstStyle/>
                    <a:p>
                      <a:r>
                        <a:rPr lang="en-US" altLang="en-US" sz="2600" b="1" dirty="0"/>
                        <a:t>-</a:t>
                      </a:r>
                      <a:r>
                        <a:rPr lang="en-US" altLang="en-US" sz="2600" b="1" dirty="0" err="1"/>
                        <a:t>uria</a:t>
                      </a:r>
                      <a:endParaRPr lang="en-US" sz="2600" dirty="0"/>
                    </a:p>
                  </a:txBody>
                  <a:tcPr/>
                </a:tc>
                <a:tc>
                  <a:txBody>
                    <a:bodyPr/>
                    <a:lstStyle/>
                    <a:p>
                      <a:r>
                        <a:rPr lang="en-US" altLang="en-US" sz="2600" dirty="0"/>
                        <a:t>urine condition</a:t>
                      </a:r>
                      <a:endParaRPr lang="en-US" sz="26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451039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Review Sheet – Prefixes </a:t>
            </a:r>
          </a:p>
        </p:txBody>
      </p:sp>
      <p:graphicFrame>
        <p:nvGraphicFramePr>
          <p:cNvPr id="8" name="Content Placeholder 7" descr="List of Prefixes from the Review Sheet of the text with their corresponding meanings."/>
          <p:cNvGraphicFramePr>
            <a:graphicFrameLocks noGrp="1"/>
          </p:cNvGraphicFramePr>
          <p:nvPr>
            <p:ph idx="1"/>
            <p:extLst>
              <p:ext uri="{D42A27DB-BD31-4B8C-83A1-F6EECF244321}">
                <p14:modId xmlns:p14="http://schemas.microsoft.com/office/powerpoint/2010/main" val="2570440958"/>
              </p:ext>
            </p:extLst>
          </p:nvPr>
        </p:nvGraphicFramePr>
        <p:xfrm>
          <a:off x="457200" y="1600200"/>
          <a:ext cx="8229600" cy="3901440"/>
        </p:xfrm>
        <a:graphic>
          <a:graphicData uri="http://schemas.openxmlformats.org/drawingml/2006/table">
            <a:tbl>
              <a:tblPr firstRow="1" bandRow="1">
                <a:tableStyleId>{9DCAF9ED-07DC-4A11-8D7F-57B35C25682E}</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600" dirty="0"/>
                        <a:t>Prefix</a:t>
                      </a:r>
                    </a:p>
                  </a:txBody>
                  <a:tcPr/>
                </a:tc>
                <a:tc>
                  <a:txBody>
                    <a:bodyPr/>
                    <a:lstStyle/>
                    <a:p>
                      <a:r>
                        <a:rPr lang="en-US" sz="2600" dirty="0"/>
                        <a:t>Meaning</a:t>
                      </a:r>
                    </a:p>
                  </a:txBody>
                  <a:tcPr/>
                </a:tc>
                <a:extLst>
                  <a:ext uri="{0D108BD9-81ED-4DB2-BD59-A6C34878D82A}">
                    <a16:rowId xmlns:a16="http://schemas.microsoft.com/office/drawing/2014/main" val="10000"/>
                  </a:ext>
                </a:extLst>
              </a:tr>
              <a:tr h="370840">
                <a:tc>
                  <a:txBody>
                    <a:bodyPr/>
                    <a:lstStyle/>
                    <a:p>
                      <a:r>
                        <a:rPr lang="en-US" sz="2600" b="1" dirty="0" err="1"/>
                        <a:t>eu</a:t>
                      </a:r>
                      <a:r>
                        <a:rPr lang="en-US" sz="2600" b="1" dirty="0"/>
                        <a:t>-</a:t>
                      </a:r>
                      <a:endParaRPr lang="en-US" sz="2600" dirty="0"/>
                    </a:p>
                  </a:txBody>
                  <a:tcPr/>
                </a:tc>
                <a:tc>
                  <a:txBody>
                    <a:bodyPr/>
                    <a:lstStyle/>
                    <a:p>
                      <a:r>
                        <a:rPr lang="en-US" sz="2600" dirty="0"/>
                        <a:t>good, normal</a:t>
                      </a:r>
                    </a:p>
                  </a:txBody>
                  <a:tcPr/>
                </a:tc>
                <a:extLst>
                  <a:ext uri="{0D108BD9-81ED-4DB2-BD59-A6C34878D82A}">
                    <a16:rowId xmlns:a16="http://schemas.microsoft.com/office/drawing/2014/main" val="10001"/>
                  </a:ext>
                </a:extLst>
              </a:tr>
              <a:tr h="370840">
                <a:tc>
                  <a:txBody>
                    <a:bodyPr/>
                    <a:lstStyle/>
                    <a:p>
                      <a:r>
                        <a:rPr lang="en-US" sz="2600" b="1" dirty="0"/>
                        <a:t>hyper-</a:t>
                      </a:r>
                      <a:endParaRPr lang="en-US" sz="2600" dirty="0"/>
                    </a:p>
                  </a:txBody>
                  <a:tcPr/>
                </a:tc>
                <a:tc>
                  <a:txBody>
                    <a:bodyPr/>
                    <a:lstStyle/>
                    <a:p>
                      <a:r>
                        <a:rPr lang="en-US" sz="2600" dirty="0"/>
                        <a:t>excessive, above</a:t>
                      </a:r>
                    </a:p>
                  </a:txBody>
                  <a:tcPr/>
                </a:tc>
                <a:extLst>
                  <a:ext uri="{0D108BD9-81ED-4DB2-BD59-A6C34878D82A}">
                    <a16:rowId xmlns:a16="http://schemas.microsoft.com/office/drawing/2014/main" val="10002"/>
                  </a:ext>
                </a:extLst>
              </a:tr>
              <a:tr h="370840">
                <a:tc>
                  <a:txBody>
                    <a:bodyPr/>
                    <a:lstStyle/>
                    <a:p>
                      <a:r>
                        <a:rPr lang="en-US" sz="2600" b="1" dirty="0"/>
                        <a:t>hypo-</a:t>
                      </a:r>
                      <a:endParaRPr lang="en-US" sz="2600" dirty="0"/>
                    </a:p>
                  </a:txBody>
                  <a:tcPr/>
                </a:tc>
                <a:tc>
                  <a:txBody>
                    <a:bodyPr/>
                    <a:lstStyle/>
                    <a:p>
                      <a:r>
                        <a:rPr lang="en-US" sz="2600" dirty="0"/>
                        <a:t>deficient, below</a:t>
                      </a:r>
                    </a:p>
                  </a:txBody>
                  <a:tcPr/>
                </a:tc>
                <a:extLst>
                  <a:ext uri="{0D108BD9-81ED-4DB2-BD59-A6C34878D82A}">
                    <a16:rowId xmlns:a16="http://schemas.microsoft.com/office/drawing/2014/main" val="10003"/>
                  </a:ext>
                </a:extLst>
              </a:tr>
              <a:tr h="370840">
                <a:tc>
                  <a:txBody>
                    <a:bodyPr/>
                    <a:lstStyle/>
                    <a:p>
                      <a:r>
                        <a:rPr lang="en-US" sz="2600" b="1" dirty="0"/>
                        <a:t>oxy-</a:t>
                      </a:r>
                      <a:endParaRPr lang="en-US" sz="2600" dirty="0"/>
                    </a:p>
                  </a:txBody>
                  <a:tcPr/>
                </a:tc>
                <a:tc>
                  <a:txBody>
                    <a:bodyPr/>
                    <a:lstStyle/>
                    <a:p>
                      <a:r>
                        <a:rPr lang="en-US" sz="2600" dirty="0"/>
                        <a:t>rapid, sharp, acid</a:t>
                      </a:r>
                    </a:p>
                  </a:txBody>
                  <a:tcPr/>
                </a:tc>
                <a:extLst>
                  <a:ext uri="{0D108BD9-81ED-4DB2-BD59-A6C34878D82A}">
                    <a16:rowId xmlns:a16="http://schemas.microsoft.com/office/drawing/2014/main" val="10004"/>
                  </a:ext>
                </a:extLst>
              </a:tr>
              <a:tr h="370840">
                <a:tc>
                  <a:txBody>
                    <a:bodyPr/>
                    <a:lstStyle/>
                    <a:p>
                      <a:r>
                        <a:rPr lang="en-US" sz="2600" b="1" dirty="0"/>
                        <a:t>pan-</a:t>
                      </a:r>
                      <a:endParaRPr lang="en-US" sz="2600" dirty="0"/>
                    </a:p>
                  </a:txBody>
                  <a:tcPr/>
                </a:tc>
                <a:tc>
                  <a:txBody>
                    <a:bodyPr/>
                    <a:lstStyle/>
                    <a:p>
                      <a:r>
                        <a:rPr lang="en-US" sz="2600" dirty="0"/>
                        <a:t>all</a:t>
                      </a:r>
                    </a:p>
                  </a:txBody>
                  <a:tcPr/>
                </a:tc>
                <a:extLst>
                  <a:ext uri="{0D108BD9-81ED-4DB2-BD59-A6C34878D82A}">
                    <a16:rowId xmlns:a16="http://schemas.microsoft.com/office/drawing/2014/main" val="10005"/>
                  </a:ext>
                </a:extLst>
              </a:tr>
              <a:tr h="370840">
                <a:tc>
                  <a:txBody>
                    <a:bodyPr/>
                    <a:lstStyle/>
                    <a:p>
                      <a:r>
                        <a:rPr lang="en-US" sz="2600" b="1" dirty="0"/>
                        <a:t>tetra-</a:t>
                      </a:r>
                      <a:endParaRPr lang="en-US" sz="2600" dirty="0"/>
                    </a:p>
                  </a:txBody>
                  <a:tcPr/>
                </a:tc>
                <a:tc>
                  <a:txBody>
                    <a:bodyPr/>
                    <a:lstStyle/>
                    <a:p>
                      <a:r>
                        <a:rPr lang="en-US" sz="2600" dirty="0"/>
                        <a:t>four</a:t>
                      </a:r>
                    </a:p>
                  </a:txBody>
                  <a:tcPr/>
                </a:tc>
                <a:extLst>
                  <a:ext uri="{0D108BD9-81ED-4DB2-BD59-A6C34878D82A}">
                    <a16:rowId xmlns:a16="http://schemas.microsoft.com/office/drawing/2014/main" val="10006"/>
                  </a:ext>
                </a:extLst>
              </a:tr>
              <a:tr h="370840">
                <a:tc>
                  <a:txBody>
                    <a:bodyPr/>
                    <a:lstStyle/>
                    <a:p>
                      <a:r>
                        <a:rPr lang="en-US" sz="2600" b="1" dirty="0"/>
                        <a:t>tri-</a:t>
                      </a:r>
                      <a:endParaRPr lang="en-US" sz="2600" dirty="0"/>
                    </a:p>
                  </a:txBody>
                  <a:tcPr/>
                </a:tc>
                <a:tc>
                  <a:txBody>
                    <a:bodyPr/>
                    <a:lstStyle/>
                    <a:p>
                      <a:r>
                        <a:rPr lang="en-US" sz="2600" dirty="0"/>
                        <a:t>three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36452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609600" y="304800"/>
            <a:ext cx="7772400" cy="1219200"/>
          </a:xfrm>
        </p:spPr>
        <p:txBody>
          <a:bodyPr/>
          <a:lstStyle/>
          <a:p>
            <a:pPr eaLnBrk="1" hangingPunct="1"/>
            <a:r>
              <a:rPr lang="en-US" altLang="en-US" dirty="0"/>
              <a:t>      QUICK QUIZ (Slide 5 of 5)	</a:t>
            </a:r>
          </a:p>
        </p:txBody>
      </p:sp>
      <p:sp>
        <p:nvSpPr>
          <p:cNvPr id="116739" name="Rectangle 3"/>
          <p:cNvSpPr>
            <a:spLocks noGrp="1" noChangeArrowheads="1"/>
          </p:cNvSpPr>
          <p:nvPr>
            <p:ph idx="1"/>
          </p:nvPr>
        </p:nvSpPr>
        <p:spPr>
          <a:xfrm>
            <a:off x="762000" y="1676400"/>
            <a:ext cx="7924800" cy="4425950"/>
          </a:xfrm>
        </p:spPr>
        <p:txBody>
          <a:bodyPr>
            <a:spAutoFit/>
          </a:bodyPr>
          <a:lstStyle/>
          <a:p>
            <a:pPr marL="533400" indent="-533400" eaLnBrk="1" hangingPunct="1">
              <a:buFont typeface="Arial" panose="020B0604020202020204" pitchFamily="34" charset="0"/>
              <a:buAutoNum type="arabicPeriod" startAt="5"/>
            </a:pPr>
            <a:r>
              <a:rPr lang="en-US" altLang="en-US" b="1"/>
              <a:t>What is the pathologic condition in which enlargement of the extremities is caused by hypersecretion of the anterior pituitary after puberty?</a:t>
            </a:r>
          </a:p>
          <a:p>
            <a:pPr marL="914400" lvl="1" indent="-457200" eaLnBrk="1" hangingPunct="1">
              <a:buFont typeface="Arial" panose="020B0604020202020204" pitchFamily="34" charset="0"/>
              <a:buAutoNum type="alphaUcPeriod"/>
            </a:pPr>
            <a:r>
              <a:rPr lang="en-US" altLang="en-US" sz="3200"/>
              <a:t>Addison disease</a:t>
            </a:r>
          </a:p>
          <a:p>
            <a:pPr marL="914400" lvl="1" indent="-457200" eaLnBrk="1" hangingPunct="1">
              <a:buFont typeface="Arial" panose="020B0604020202020204" pitchFamily="34" charset="0"/>
              <a:buAutoNum type="alphaUcPeriod"/>
            </a:pPr>
            <a:r>
              <a:rPr lang="en-US" altLang="en-US" sz="3200"/>
              <a:t>Acromegaly</a:t>
            </a:r>
          </a:p>
          <a:p>
            <a:pPr marL="914400" lvl="1" indent="-457200" eaLnBrk="1" hangingPunct="1">
              <a:buFont typeface="Arial" panose="020B0604020202020204" pitchFamily="34" charset="0"/>
              <a:buAutoNum type="alphaUcPeriod"/>
            </a:pPr>
            <a:r>
              <a:rPr lang="en-US" altLang="en-US" sz="3200"/>
              <a:t>Cushing syndrome</a:t>
            </a:r>
          </a:p>
          <a:p>
            <a:pPr marL="914400" lvl="1" indent="-457200" eaLnBrk="1" hangingPunct="1">
              <a:buFont typeface="Arial" panose="020B0604020202020204" pitchFamily="34" charset="0"/>
              <a:buAutoNum type="alphaUcPeriod"/>
            </a:pPr>
            <a:r>
              <a:rPr lang="en-US" altLang="en-US" sz="3200"/>
              <a:t>Graves disease</a:t>
            </a:r>
          </a:p>
        </p:txBody>
      </p:sp>
    </p:spTree>
    <p:extLst>
      <p:ext uri="{BB962C8B-B14F-4D97-AF65-F5344CB8AC3E}">
        <p14:creationId xmlns:p14="http://schemas.microsoft.com/office/powerpoint/2010/main" val="1177013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4286</TotalTime>
  <Words>4287</Words>
  <Application>Microsoft Office PowerPoint</Application>
  <PresentationFormat>On-screen Show (4:3)</PresentationFormat>
  <Paragraphs>855</Paragraphs>
  <Slides>98</Slides>
  <Notes>54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ＭＳ Ｐゴシック</vt:lpstr>
      <vt:lpstr>ＭＳ Ｐゴシック</vt:lpstr>
      <vt:lpstr>Arial</vt:lpstr>
      <vt:lpstr>Calibri</vt:lpstr>
      <vt:lpstr>Times New Roman</vt:lpstr>
      <vt:lpstr>Wingdings</vt:lpstr>
      <vt:lpstr>Wingdings 2</vt:lpstr>
      <vt:lpstr>Office Theme</vt:lpstr>
      <vt:lpstr>The Language of Medicine 13th edition</vt:lpstr>
      <vt:lpstr>Chapter 18 Endocrine System</vt:lpstr>
      <vt:lpstr>Chapter Goals (Slide 1 of 2)</vt:lpstr>
      <vt:lpstr>Chapter Goals (Slide 2 of 2)</vt:lpstr>
      <vt:lpstr>Chapter 18 Lesson 18.1</vt:lpstr>
      <vt:lpstr>Introduction  Endocrine System (Slide 1 of 2) </vt:lpstr>
      <vt:lpstr>Introduction  Endocrine System (Slide 2 of 2) </vt:lpstr>
      <vt:lpstr>Endocrine Glands</vt:lpstr>
      <vt:lpstr>The Endocrine System </vt:lpstr>
      <vt:lpstr>Endocrine Tissue (Not including major glands)</vt:lpstr>
      <vt:lpstr>Thyroid Gland (Slide 1 of 2)</vt:lpstr>
      <vt:lpstr>Thyroid Gland (Slide 2 of 2)</vt:lpstr>
      <vt:lpstr>Thyroid Function</vt:lpstr>
      <vt:lpstr>Thyroid Gland:   Hormones and Actions</vt:lpstr>
      <vt:lpstr>Parathyroid Glands (Slide 1 of 3)</vt:lpstr>
      <vt:lpstr>Parathyroid Glands (Slide 2 of 3)  </vt:lpstr>
      <vt:lpstr>Parathyroid Glands (slide 3 of 3)</vt:lpstr>
      <vt:lpstr>Parathyroid Function</vt:lpstr>
      <vt:lpstr>Adrenal Glands (Slide 1 of 2)</vt:lpstr>
      <vt:lpstr>Adrenal Glands (Slide 2 of 2)</vt:lpstr>
      <vt:lpstr>Adrenal Glands:   Location and Structure</vt:lpstr>
      <vt:lpstr>Function:   Adrenal Cortex Secretes</vt:lpstr>
      <vt:lpstr>Function:  Adrenal Medulla Secretes</vt:lpstr>
      <vt:lpstr>The Adrenal Cortex and Adrenal Medulla</vt:lpstr>
      <vt:lpstr>Pancreas</vt:lpstr>
      <vt:lpstr>Pancreas Function (Slide 1 of 2)</vt:lpstr>
      <vt:lpstr>Pancreas Function (Slide 2 of 2)</vt:lpstr>
      <vt:lpstr>Chapter 18 Lesson 18.2</vt:lpstr>
      <vt:lpstr>Pituitary Gland (Slide 1 of 3)</vt:lpstr>
      <vt:lpstr>Pituitary Gland (Slide 2 of 3)</vt:lpstr>
      <vt:lpstr>Pituitary Gland (Slide 3 of 3)</vt:lpstr>
      <vt:lpstr>Relationship of the Hypothalamus to the Pituitary Gland</vt:lpstr>
      <vt:lpstr>Pituitary Function (Slide 1 of 2)</vt:lpstr>
      <vt:lpstr>Pituitary Function (Slide 2 of 2)</vt:lpstr>
      <vt:lpstr>Pituitary Gland: Hormones and Actions</vt:lpstr>
      <vt:lpstr>Ovaries and  Testes: Hormones and Actions</vt:lpstr>
      <vt:lpstr>Male                    Female</vt:lpstr>
      <vt:lpstr>Vocabulary – Major Endocrine Glands (Slide 1 of 4)</vt:lpstr>
      <vt:lpstr>Vocabulary – Major Endocrine Glands (Slide 2 of 4)</vt:lpstr>
      <vt:lpstr>Vocabulary – Major Endocrine Glands (Slide 3 of 4)</vt:lpstr>
      <vt:lpstr>Vocabulary – Major Endocrine Glands (Slide 4 of 4)</vt:lpstr>
      <vt:lpstr>Vocabulary – Hormones (Slide 1 of 14)</vt:lpstr>
      <vt:lpstr>Vocabulary – Hormones (Slide 2 of 14)</vt:lpstr>
      <vt:lpstr>Vocabulary – Hormones (Slide 3 of 14)</vt:lpstr>
      <vt:lpstr>Vocabulary – Hormones (Slide 4 of 14)</vt:lpstr>
      <vt:lpstr>Vocabulary – Hormones (Slide 5 of 14)</vt:lpstr>
      <vt:lpstr>Vocabulary – Hormones (Slide 6 of 14)</vt:lpstr>
      <vt:lpstr>Vocabulary – Hormones (Slide 7 of 14)</vt:lpstr>
      <vt:lpstr>Vocabulary – Hormones (Slide 8 of 14)</vt:lpstr>
      <vt:lpstr>Vocabulary – Hormones (Slide 9 of 14)</vt:lpstr>
      <vt:lpstr>Vocabulary – Hormones (Slide 10 of 14)</vt:lpstr>
      <vt:lpstr>Vocabulary – Hormones (Slide 11 of 14)</vt:lpstr>
      <vt:lpstr>Vocabulary – Hormones (Slide 12 of 14)</vt:lpstr>
      <vt:lpstr>Vocabulary – Hormones (Slide 13 of 14)</vt:lpstr>
      <vt:lpstr>Vocabulary – Hormones (Slide 14 of 14)</vt:lpstr>
      <vt:lpstr>Vocabulary – Related Terms (Slide 1 of 8)</vt:lpstr>
      <vt:lpstr>Vocabulary – Related Terms (Slide 2 of 8)</vt:lpstr>
      <vt:lpstr>Vocabulary – Related Terms (Slide 3 of 8)</vt:lpstr>
      <vt:lpstr>Vocabulary – Related Terms (Slide 4 of 8)</vt:lpstr>
      <vt:lpstr>Vocabulary – Related Terms (Slide 5 of 8)</vt:lpstr>
      <vt:lpstr>Vocabulary – Related Terms (Slide 6 of 8)</vt:lpstr>
      <vt:lpstr>Vocabulary – Related Terms (Slide 7 of 8)</vt:lpstr>
      <vt:lpstr>Vocabulary – Related Terms (Slide 8 of 8)</vt:lpstr>
      <vt:lpstr>      QUICK QUIZ (Slide 1 of 5) </vt:lpstr>
      <vt:lpstr>      QUICK QUIZ (Slide 2 of 5) </vt:lpstr>
      <vt:lpstr>Combining Forms, Suffixes, Prefixes, and Terminology – Glands (Slide 1 of 2)</vt:lpstr>
      <vt:lpstr>Combining Forms, Suffixes, Prefixes, and Terminology – Glands (Slide 2 of 2)</vt:lpstr>
      <vt:lpstr>Combining Forms, Suffixes, Prefixes, and Terminology – Related Forms (Slide 1 of 3)</vt:lpstr>
      <vt:lpstr>Combining Forms, Suffixes, Prefixes, and Terminology – Glands (Slide 2 of 3)</vt:lpstr>
      <vt:lpstr>Combining Forms, Suffixes, Prefixes, and Terminology – Related Forms  (Slide 3 of 3)</vt:lpstr>
      <vt:lpstr>Combining Forms, Suffixes, Prefixes, and Terminology – Suffixes </vt:lpstr>
      <vt:lpstr>Combining Forms, Suffixes, Prefixes, and Terminology – Prefixes (Slide 1 of 1)</vt:lpstr>
      <vt:lpstr>      QUICK QUIZ (Slide 3 of 5) </vt:lpstr>
      <vt:lpstr>      QUICK QUIZ (Slide 4 of 5) </vt:lpstr>
      <vt:lpstr>Chapter 18 Lesson 18.3</vt:lpstr>
      <vt:lpstr>Pathology—Thyroid Gland</vt:lpstr>
      <vt:lpstr>Pathology—Parathyroid</vt:lpstr>
      <vt:lpstr>Pathology—Adrenal Cortex</vt:lpstr>
      <vt:lpstr>Pathology—Adrenal Medulla</vt:lpstr>
      <vt:lpstr> Pathology—Pancreas</vt:lpstr>
      <vt:lpstr>Comparison of Type 1 and  Type 2 Diabetes</vt:lpstr>
      <vt:lpstr>Pathology  Pituitary Gland: (Anterior Lobe)</vt:lpstr>
      <vt:lpstr>Pathology  Pituitary Gland: (Posterior Lobe)</vt:lpstr>
      <vt:lpstr>Review Abnormal Conditions of Endocrine Glands</vt:lpstr>
      <vt:lpstr>Chapter 18 Lesson 18.4</vt:lpstr>
      <vt:lpstr>Laboratory Tests</vt:lpstr>
      <vt:lpstr>Clinical Procedures</vt:lpstr>
      <vt:lpstr>Abbreviations (Slide 1 of 3)</vt:lpstr>
      <vt:lpstr>Abbreviations (Slide 2 of 3)</vt:lpstr>
      <vt:lpstr>Abbreviations (Slide 3 of 3)</vt:lpstr>
      <vt:lpstr>Review Sheet – Combining Forms (Slide 1 of 5)</vt:lpstr>
      <vt:lpstr>Review Sheet – Combining Forms (Slide 2 of 5)</vt:lpstr>
      <vt:lpstr>Review Sheet – Combining Forms (Slide 3 of 5)</vt:lpstr>
      <vt:lpstr>Review Sheet – Combining Forms (Slide 4 of 5)</vt:lpstr>
      <vt:lpstr>Review Sheet – Combining Forms (Slide 5 of 5)</vt:lpstr>
      <vt:lpstr>Review Sheet – Suffixes</vt:lpstr>
      <vt:lpstr>Review Sheet – Prefixes </vt:lpstr>
      <vt:lpstr>      QUICK QUIZ (Slide 5 of 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302</cp:revision>
  <cp:lastPrinted>2007-04-13T22:20:09Z</cp:lastPrinted>
  <dcterms:created xsi:type="dcterms:W3CDTF">2004-11-01T16:15:23Z</dcterms:created>
  <dcterms:modified xsi:type="dcterms:W3CDTF">2023-12-07T04:21:22Z</dcterms:modified>
</cp:coreProperties>
</file>