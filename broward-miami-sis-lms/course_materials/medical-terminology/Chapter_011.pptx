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62" r:id="rId1"/>
  </p:sldMasterIdLst>
  <p:notesMasterIdLst>
    <p:notesMasterId r:id="rId96"/>
  </p:notesMasterIdLst>
  <p:handoutMasterIdLst>
    <p:handoutMasterId r:id="rId97"/>
  </p:handoutMasterIdLst>
  <p:sldIdLst>
    <p:sldId id="332" r:id="rId2"/>
    <p:sldId id="338" r:id="rId3"/>
    <p:sldId id="339" r:id="rId4"/>
    <p:sldId id="340" r:id="rId5"/>
    <p:sldId id="341" r:id="rId6"/>
    <p:sldId id="342" r:id="rId7"/>
    <p:sldId id="343" r:id="rId8"/>
    <p:sldId id="344" r:id="rId9"/>
    <p:sldId id="345" r:id="rId10"/>
    <p:sldId id="346" r:id="rId11"/>
    <p:sldId id="347" r:id="rId12"/>
    <p:sldId id="349" r:id="rId13"/>
    <p:sldId id="350" r:id="rId14"/>
    <p:sldId id="351" r:id="rId15"/>
    <p:sldId id="352" r:id="rId16"/>
    <p:sldId id="353" r:id="rId17"/>
    <p:sldId id="354" r:id="rId18"/>
    <p:sldId id="355" r:id="rId19"/>
    <p:sldId id="357" r:id="rId20"/>
    <p:sldId id="358" r:id="rId21"/>
    <p:sldId id="359" r:id="rId22"/>
    <p:sldId id="360" r:id="rId23"/>
    <p:sldId id="361" r:id="rId24"/>
    <p:sldId id="362" r:id="rId25"/>
    <p:sldId id="363" r:id="rId26"/>
    <p:sldId id="364" r:id="rId27"/>
    <p:sldId id="365" r:id="rId28"/>
    <p:sldId id="366" r:id="rId29"/>
    <p:sldId id="367" r:id="rId30"/>
    <p:sldId id="368" r:id="rId31"/>
    <p:sldId id="369" r:id="rId32"/>
    <p:sldId id="370" r:id="rId33"/>
    <p:sldId id="371" r:id="rId34"/>
    <p:sldId id="372" r:id="rId35"/>
    <p:sldId id="373" r:id="rId36"/>
    <p:sldId id="374" r:id="rId37"/>
    <p:sldId id="375" r:id="rId38"/>
    <p:sldId id="376" r:id="rId39"/>
    <p:sldId id="377" r:id="rId40"/>
    <p:sldId id="378" r:id="rId41"/>
    <p:sldId id="379" r:id="rId42"/>
    <p:sldId id="380" r:id="rId43"/>
    <p:sldId id="381" r:id="rId44"/>
    <p:sldId id="382" r:id="rId45"/>
    <p:sldId id="383" r:id="rId46"/>
    <p:sldId id="384" r:id="rId47"/>
    <p:sldId id="385" r:id="rId48"/>
    <p:sldId id="386" r:id="rId49"/>
    <p:sldId id="387" r:id="rId50"/>
    <p:sldId id="388" r:id="rId51"/>
    <p:sldId id="389" r:id="rId52"/>
    <p:sldId id="390" r:id="rId53"/>
    <p:sldId id="391" r:id="rId54"/>
    <p:sldId id="392" r:id="rId55"/>
    <p:sldId id="393" r:id="rId56"/>
    <p:sldId id="394" r:id="rId57"/>
    <p:sldId id="395" r:id="rId58"/>
    <p:sldId id="396" r:id="rId59"/>
    <p:sldId id="397" r:id="rId60"/>
    <p:sldId id="398" r:id="rId61"/>
    <p:sldId id="399" r:id="rId62"/>
    <p:sldId id="400" r:id="rId63"/>
    <p:sldId id="401" r:id="rId64"/>
    <p:sldId id="402" r:id="rId65"/>
    <p:sldId id="403" r:id="rId66"/>
    <p:sldId id="404" r:id="rId67"/>
    <p:sldId id="405" r:id="rId68"/>
    <p:sldId id="407" r:id="rId69"/>
    <p:sldId id="409" r:id="rId70"/>
    <p:sldId id="411" r:id="rId71"/>
    <p:sldId id="413" r:id="rId72"/>
    <p:sldId id="415" r:id="rId73"/>
    <p:sldId id="417" r:id="rId74"/>
    <p:sldId id="419" r:id="rId75"/>
    <p:sldId id="421" r:id="rId76"/>
    <p:sldId id="423" r:id="rId77"/>
    <p:sldId id="425" r:id="rId78"/>
    <p:sldId id="426" r:id="rId79"/>
    <p:sldId id="427" r:id="rId80"/>
    <p:sldId id="428" r:id="rId81"/>
    <p:sldId id="429" r:id="rId82"/>
    <p:sldId id="430" r:id="rId83"/>
    <p:sldId id="431" r:id="rId84"/>
    <p:sldId id="432" r:id="rId85"/>
    <p:sldId id="433" r:id="rId86"/>
    <p:sldId id="434" r:id="rId87"/>
    <p:sldId id="435" r:id="rId88"/>
    <p:sldId id="436" r:id="rId89"/>
    <p:sldId id="437" r:id="rId90"/>
    <p:sldId id="438" r:id="rId91"/>
    <p:sldId id="439" r:id="rId92"/>
    <p:sldId id="440" r:id="rId93"/>
    <p:sldId id="441" r:id="rId94"/>
    <p:sldId id="442" r:id="rId95"/>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5pPr>
    <a:lvl6pPr marL="22860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6pPr>
    <a:lvl7pPr marL="27432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7pPr>
    <a:lvl8pPr marL="32004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8pPr>
    <a:lvl9pPr marL="36576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1008">
          <p15:clr>
            <a:srgbClr val="A4A3A4"/>
          </p15:clr>
        </p15:guide>
        <p15:guide id="2" pos="43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492" autoAdjust="0"/>
    <p:restoredTop sz="80777" autoAdjust="0"/>
  </p:normalViewPr>
  <p:slideViewPr>
    <p:cSldViewPr>
      <p:cViewPr varScale="1">
        <p:scale>
          <a:sx n="51" d="100"/>
          <a:sy n="51" d="100"/>
        </p:scale>
        <p:origin x="1496" y="40"/>
      </p:cViewPr>
      <p:guideLst>
        <p:guide orient="horz" pos="1008"/>
        <p:guide pos="432"/>
      </p:guideLst>
    </p:cSldViewPr>
  </p:slideViewPr>
  <p:outlineViewPr>
    <p:cViewPr>
      <p:scale>
        <a:sx n="33" d="100"/>
        <a:sy n="33" d="100"/>
      </p:scale>
      <p:origin x="0" y="1192"/>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microsoft.com/office/2016/11/relationships/changesInfo" Target="changesInfos/changesInfo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viewProps" Target="viewProps.xml"/><Relationship Id="rId10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handoutMaster" Target="handoutMasters/handout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presProps" Target="presProps.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en Pfeifer" userId="fb68dd40a6c6cee7" providerId="LiveId" clId="{15BC4749-77DC-4301-95D1-B9561E57F799}"/>
    <pc:docChg chg="modSld modMainMaster">
      <pc:chgData name="Ben Pfeifer" userId="fb68dd40a6c6cee7" providerId="LiveId" clId="{15BC4749-77DC-4301-95D1-B9561E57F799}" dt="2023-09-26T08:35:10.186" v="24" actId="12385"/>
      <pc:docMkLst>
        <pc:docMk/>
      </pc:docMkLst>
      <pc:sldChg chg="modSp mod">
        <pc:chgData name="Ben Pfeifer" userId="fb68dd40a6c6cee7" providerId="LiveId" clId="{15BC4749-77DC-4301-95D1-B9561E57F799}" dt="2023-09-26T08:29:14.511" v="1" actId="20577"/>
        <pc:sldMkLst>
          <pc:docMk/>
          <pc:sldMk cId="1428288934" sldId="332"/>
        </pc:sldMkLst>
        <pc:spChg chg="mod">
          <ac:chgData name="Ben Pfeifer" userId="fb68dd40a6c6cee7" providerId="LiveId" clId="{15BC4749-77DC-4301-95D1-B9561E57F799}" dt="2023-09-26T08:29:14.511" v="1" actId="20577"/>
          <ac:spMkLst>
            <pc:docMk/>
            <pc:sldMk cId="1428288934" sldId="332"/>
            <ac:spMk id="2" creationId="{00000000-0000-0000-0000-000000000000}"/>
          </ac:spMkLst>
        </pc:spChg>
      </pc:sldChg>
      <pc:sldChg chg="modSp mod">
        <pc:chgData name="Ben Pfeifer" userId="fb68dd40a6c6cee7" providerId="LiveId" clId="{15BC4749-77DC-4301-95D1-B9561E57F799}" dt="2023-09-26T08:30:02.620" v="9" actId="20577"/>
        <pc:sldMkLst>
          <pc:docMk/>
          <pc:sldMk cId="116907363" sldId="340"/>
        </pc:sldMkLst>
        <pc:spChg chg="mod">
          <ac:chgData name="Ben Pfeifer" userId="fb68dd40a6c6cee7" providerId="LiveId" clId="{15BC4749-77DC-4301-95D1-B9561E57F799}" dt="2023-09-26T08:30:02.620" v="9" actId="20577"/>
          <ac:spMkLst>
            <pc:docMk/>
            <pc:sldMk cId="116907363" sldId="340"/>
            <ac:spMk id="4101" creationId="{00000000-0000-0000-0000-000000000000}"/>
          </ac:spMkLst>
        </pc:spChg>
      </pc:sldChg>
      <pc:sldChg chg="modSp mod">
        <pc:chgData name="Ben Pfeifer" userId="fb68dd40a6c6cee7" providerId="LiveId" clId="{15BC4749-77DC-4301-95D1-B9561E57F799}" dt="2023-09-26T08:34:27.339" v="12" actId="12385"/>
        <pc:sldMkLst>
          <pc:docMk/>
          <pc:sldMk cId="1298810896" sldId="383"/>
        </pc:sldMkLst>
        <pc:graphicFrameChg chg="modGraphic">
          <ac:chgData name="Ben Pfeifer" userId="fb68dd40a6c6cee7" providerId="LiveId" clId="{15BC4749-77DC-4301-95D1-B9561E57F799}" dt="2023-09-26T08:34:27.339" v="12" actId="12385"/>
          <ac:graphicFrameMkLst>
            <pc:docMk/>
            <pc:sldMk cId="1298810896" sldId="383"/>
            <ac:graphicFrameMk id="6" creationId="{00000000-0000-0000-0000-000000000000}"/>
          </ac:graphicFrameMkLst>
        </pc:graphicFrameChg>
      </pc:sldChg>
      <pc:sldChg chg="modSp mod">
        <pc:chgData name="Ben Pfeifer" userId="fb68dd40a6c6cee7" providerId="LiveId" clId="{15BC4749-77DC-4301-95D1-B9561E57F799}" dt="2023-09-26T08:34:30.097" v="13" actId="12385"/>
        <pc:sldMkLst>
          <pc:docMk/>
          <pc:sldMk cId="3321255000" sldId="384"/>
        </pc:sldMkLst>
        <pc:graphicFrameChg chg="modGraphic">
          <ac:chgData name="Ben Pfeifer" userId="fb68dd40a6c6cee7" providerId="LiveId" clId="{15BC4749-77DC-4301-95D1-B9561E57F799}" dt="2023-09-26T08:34:30.097" v="13" actId="12385"/>
          <ac:graphicFrameMkLst>
            <pc:docMk/>
            <pc:sldMk cId="3321255000" sldId="384"/>
            <ac:graphicFrameMk id="6" creationId="{00000000-0000-0000-0000-000000000000}"/>
          </ac:graphicFrameMkLst>
        </pc:graphicFrameChg>
      </pc:sldChg>
      <pc:sldChg chg="modSp mod">
        <pc:chgData name="Ben Pfeifer" userId="fb68dd40a6c6cee7" providerId="LiveId" clId="{15BC4749-77DC-4301-95D1-B9561E57F799}" dt="2023-09-26T08:34:32.432" v="14" actId="12385"/>
        <pc:sldMkLst>
          <pc:docMk/>
          <pc:sldMk cId="455970873" sldId="385"/>
        </pc:sldMkLst>
        <pc:graphicFrameChg chg="modGraphic">
          <ac:chgData name="Ben Pfeifer" userId="fb68dd40a6c6cee7" providerId="LiveId" clId="{15BC4749-77DC-4301-95D1-B9561E57F799}" dt="2023-09-26T08:34:32.432" v="14" actId="12385"/>
          <ac:graphicFrameMkLst>
            <pc:docMk/>
            <pc:sldMk cId="455970873" sldId="385"/>
            <ac:graphicFrameMk id="6" creationId="{00000000-0000-0000-0000-000000000000}"/>
          </ac:graphicFrameMkLst>
        </pc:graphicFrameChg>
      </pc:sldChg>
      <pc:sldChg chg="modSp mod">
        <pc:chgData name="Ben Pfeifer" userId="fb68dd40a6c6cee7" providerId="LiveId" clId="{15BC4749-77DC-4301-95D1-B9561E57F799}" dt="2023-09-26T08:34:34.563" v="15" actId="12385"/>
        <pc:sldMkLst>
          <pc:docMk/>
          <pc:sldMk cId="4257294998" sldId="386"/>
        </pc:sldMkLst>
        <pc:graphicFrameChg chg="modGraphic">
          <ac:chgData name="Ben Pfeifer" userId="fb68dd40a6c6cee7" providerId="LiveId" clId="{15BC4749-77DC-4301-95D1-B9561E57F799}" dt="2023-09-26T08:34:34.563" v="15" actId="12385"/>
          <ac:graphicFrameMkLst>
            <pc:docMk/>
            <pc:sldMk cId="4257294998" sldId="386"/>
            <ac:graphicFrameMk id="6" creationId="{00000000-0000-0000-0000-000000000000}"/>
          </ac:graphicFrameMkLst>
        </pc:graphicFrameChg>
      </pc:sldChg>
      <pc:sldChg chg="modSp mod">
        <pc:chgData name="Ben Pfeifer" userId="fb68dd40a6c6cee7" providerId="LiveId" clId="{15BC4749-77DC-4301-95D1-B9561E57F799}" dt="2023-09-26T08:34:37.396" v="16" actId="12385"/>
        <pc:sldMkLst>
          <pc:docMk/>
          <pc:sldMk cId="3384253314" sldId="409"/>
        </pc:sldMkLst>
        <pc:graphicFrameChg chg="modGraphic">
          <ac:chgData name="Ben Pfeifer" userId="fb68dd40a6c6cee7" providerId="LiveId" clId="{15BC4749-77DC-4301-95D1-B9561E57F799}" dt="2023-09-26T08:34:37.396" v="16" actId="12385"/>
          <ac:graphicFrameMkLst>
            <pc:docMk/>
            <pc:sldMk cId="3384253314" sldId="409"/>
            <ac:graphicFrameMk id="8" creationId="{00000000-0000-0000-0000-000000000000}"/>
          </ac:graphicFrameMkLst>
        </pc:graphicFrameChg>
      </pc:sldChg>
      <pc:sldChg chg="modSp mod">
        <pc:chgData name="Ben Pfeifer" userId="fb68dd40a6c6cee7" providerId="LiveId" clId="{15BC4749-77DC-4301-95D1-B9561E57F799}" dt="2023-09-26T08:34:40.327" v="17" actId="12385"/>
        <pc:sldMkLst>
          <pc:docMk/>
          <pc:sldMk cId="3162730378" sldId="411"/>
        </pc:sldMkLst>
        <pc:graphicFrameChg chg="modGraphic">
          <ac:chgData name="Ben Pfeifer" userId="fb68dd40a6c6cee7" providerId="LiveId" clId="{15BC4749-77DC-4301-95D1-B9561E57F799}" dt="2023-09-26T08:34:40.327" v="17" actId="12385"/>
          <ac:graphicFrameMkLst>
            <pc:docMk/>
            <pc:sldMk cId="3162730378" sldId="411"/>
            <ac:graphicFrameMk id="8" creationId="{00000000-0000-0000-0000-000000000000}"/>
          </ac:graphicFrameMkLst>
        </pc:graphicFrameChg>
      </pc:sldChg>
      <pc:sldChg chg="modSp mod">
        <pc:chgData name="Ben Pfeifer" userId="fb68dd40a6c6cee7" providerId="LiveId" clId="{15BC4749-77DC-4301-95D1-B9561E57F799}" dt="2023-09-26T08:34:43.563" v="18" actId="12385"/>
        <pc:sldMkLst>
          <pc:docMk/>
          <pc:sldMk cId="4068375914" sldId="413"/>
        </pc:sldMkLst>
        <pc:graphicFrameChg chg="modGraphic">
          <ac:chgData name="Ben Pfeifer" userId="fb68dd40a6c6cee7" providerId="LiveId" clId="{15BC4749-77DC-4301-95D1-B9561E57F799}" dt="2023-09-26T08:34:43.563" v="18" actId="12385"/>
          <ac:graphicFrameMkLst>
            <pc:docMk/>
            <pc:sldMk cId="4068375914" sldId="413"/>
            <ac:graphicFrameMk id="8" creationId="{00000000-0000-0000-0000-000000000000}"/>
          </ac:graphicFrameMkLst>
        </pc:graphicFrameChg>
      </pc:sldChg>
      <pc:sldChg chg="modSp mod">
        <pc:chgData name="Ben Pfeifer" userId="fb68dd40a6c6cee7" providerId="LiveId" clId="{15BC4749-77DC-4301-95D1-B9561E57F799}" dt="2023-09-26T08:34:46.443" v="19" actId="12385"/>
        <pc:sldMkLst>
          <pc:docMk/>
          <pc:sldMk cId="55797057" sldId="415"/>
        </pc:sldMkLst>
        <pc:graphicFrameChg chg="modGraphic">
          <ac:chgData name="Ben Pfeifer" userId="fb68dd40a6c6cee7" providerId="LiveId" clId="{15BC4749-77DC-4301-95D1-B9561E57F799}" dt="2023-09-26T08:34:46.443" v="19" actId="12385"/>
          <ac:graphicFrameMkLst>
            <pc:docMk/>
            <pc:sldMk cId="55797057" sldId="415"/>
            <ac:graphicFrameMk id="8" creationId="{00000000-0000-0000-0000-000000000000}"/>
          </ac:graphicFrameMkLst>
        </pc:graphicFrameChg>
      </pc:sldChg>
      <pc:sldChg chg="modSp mod">
        <pc:chgData name="Ben Pfeifer" userId="fb68dd40a6c6cee7" providerId="LiveId" clId="{15BC4749-77DC-4301-95D1-B9561E57F799}" dt="2023-09-26T08:34:52.383" v="20" actId="12385"/>
        <pc:sldMkLst>
          <pc:docMk/>
          <pc:sldMk cId="360042197" sldId="417"/>
        </pc:sldMkLst>
        <pc:graphicFrameChg chg="modGraphic">
          <ac:chgData name="Ben Pfeifer" userId="fb68dd40a6c6cee7" providerId="LiveId" clId="{15BC4749-77DC-4301-95D1-B9561E57F799}" dt="2023-09-26T08:34:52.383" v="20" actId="12385"/>
          <ac:graphicFrameMkLst>
            <pc:docMk/>
            <pc:sldMk cId="360042197" sldId="417"/>
            <ac:graphicFrameMk id="8" creationId="{00000000-0000-0000-0000-000000000000}"/>
          </ac:graphicFrameMkLst>
        </pc:graphicFrameChg>
      </pc:sldChg>
      <pc:sldChg chg="modSp mod">
        <pc:chgData name="Ben Pfeifer" userId="fb68dd40a6c6cee7" providerId="LiveId" clId="{15BC4749-77DC-4301-95D1-B9561E57F799}" dt="2023-09-26T08:34:58.940" v="21" actId="12385"/>
        <pc:sldMkLst>
          <pc:docMk/>
          <pc:sldMk cId="3468367461" sldId="419"/>
        </pc:sldMkLst>
        <pc:graphicFrameChg chg="modGraphic">
          <ac:chgData name="Ben Pfeifer" userId="fb68dd40a6c6cee7" providerId="LiveId" clId="{15BC4749-77DC-4301-95D1-B9561E57F799}" dt="2023-09-26T08:34:58.940" v="21" actId="12385"/>
          <ac:graphicFrameMkLst>
            <pc:docMk/>
            <pc:sldMk cId="3468367461" sldId="419"/>
            <ac:graphicFrameMk id="8" creationId="{00000000-0000-0000-0000-000000000000}"/>
          </ac:graphicFrameMkLst>
        </pc:graphicFrameChg>
      </pc:sldChg>
      <pc:sldChg chg="modSp mod">
        <pc:chgData name="Ben Pfeifer" userId="fb68dd40a6c6cee7" providerId="LiveId" clId="{15BC4749-77DC-4301-95D1-B9561E57F799}" dt="2023-09-26T08:35:03.872" v="22" actId="12385"/>
        <pc:sldMkLst>
          <pc:docMk/>
          <pc:sldMk cId="2504492895" sldId="421"/>
        </pc:sldMkLst>
        <pc:graphicFrameChg chg="modGraphic">
          <ac:chgData name="Ben Pfeifer" userId="fb68dd40a6c6cee7" providerId="LiveId" clId="{15BC4749-77DC-4301-95D1-B9561E57F799}" dt="2023-09-26T08:35:03.872" v="22" actId="12385"/>
          <ac:graphicFrameMkLst>
            <pc:docMk/>
            <pc:sldMk cId="2504492895" sldId="421"/>
            <ac:graphicFrameMk id="8" creationId="{00000000-0000-0000-0000-000000000000}"/>
          </ac:graphicFrameMkLst>
        </pc:graphicFrameChg>
      </pc:sldChg>
      <pc:sldChg chg="modSp mod">
        <pc:chgData name="Ben Pfeifer" userId="fb68dd40a6c6cee7" providerId="LiveId" clId="{15BC4749-77DC-4301-95D1-B9561E57F799}" dt="2023-09-26T08:35:06.757" v="23" actId="12385"/>
        <pc:sldMkLst>
          <pc:docMk/>
          <pc:sldMk cId="2187800466" sldId="423"/>
        </pc:sldMkLst>
        <pc:graphicFrameChg chg="modGraphic">
          <ac:chgData name="Ben Pfeifer" userId="fb68dd40a6c6cee7" providerId="LiveId" clId="{15BC4749-77DC-4301-95D1-B9561E57F799}" dt="2023-09-26T08:35:06.757" v="23" actId="12385"/>
          <ac:graphicFrameMkLst>
            <pc:docMk/>
            <pc:sldMk cId="2187800466" sldId="423"/>
            <ac:graphicFrameMk id="8" creationId="{00000000-0000-0000-0000-000000000000}"/>
          </ac:graphicFrameMkLst>
        </pc:graphicFrameChg>
      </pc:sldChg>
      <pc:sldChg chg="modSp mod">
        <pc:chgData name="Ben Pfeifer" userId="fb68dd40a6c6cee7" providerId="LiveId" clId="{15BC4749-77DC-4301-95D1-B9561E57F799}" dt="2023-09-26T08:35:10.186" v="24" actId="12385"/>
        <pc:sldMkLst>
          <pc:docMk/>
          <pc:sldMk cId="3946037202" sldId="425"/>
        </pc:sldMkLst>
        <pc:graphicFrameChg chg="modGraphic">
          <ac:chgData name="Ben Pfeifer" userId="fb68dd40a6c6cee7" providerId="LiveId" clId="{15BC4749-77DC-4301-95D1-B9561E57F799}" dt="2023-09-26T08:35:10.186" v="24" actId="12385"/>
          <ac:graphicFrameMkLst>
            <pc:docMk/>
            <pc:sldMk cId="3946037202" sldId="425"/>
            <ac:graphicFrameMk id="8" creationId="{00000000-0000-0000-0000-000000000000}"/>
          </ac:graphicFrameMkLst>
        </pc:graphicFrameChg>
      </pc:sldChg>
      <pc:sldMasterChg chg="modSp mod">
        <pc:chgData name="Ben Pfeifer" userId="fb68dd40a6c6cee7" providerId="LiveId" clId="{15BC4749-77DC-4301-95D1-B9561E57F799}" dt="2023-09-26T08:29:31.987" v="6" actId="20577"/>
        <pc:sldMasterMkLst>
          <pc:docMk/>
          <pc:sldMasterMk cId="0" sldId="2147483762"/>
        </pc:sldMasterMkLst>
        <pc:spChg chg="mod">
          <ac:chgData name="Ben Pfeifer" userId="fb68dd40a6c6cee7" providerId="LiveId" clId="{15BC4749-77DC-4301-95D1-B9561E57F799}" dt="2023-09-26T08:29:31.987" v="6" actId="20577"/>
          <ac:spMkLst>
            <pc:docMk/>
            <pc:sldMasterMk cId="0" sldId="2147483762"/>
            <ac:spMk id="1031" creationId="{00000000-0000-0000-0000-000000000000}"/>
          </ac:spMkLst>
        </pc:sp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8002" name="Rectangle 2"/>
          <p:cNvSpPr>
            <a:spLocks noGrp="1" noChangeArrowheads="1"/>
          </p:cNvSpPr>
          <p:nvPr>
            <p:ph type="hdr" sz="quarter"/>
          </p:nvPr>
        </p:nvSpPr>
        <p:spPr bwMode="auto">
          <a:xfrm>
            <a:off x="0" y="0"/>
            <a:ext cx="2971800" cy="457200"/>
          </a:xfrm>
          <a:prstGeom prst="rect">
            <a:avLst/>
          </a:prstGeom>
          <a:noFill/>
          <a:ln w="12700" cap="sq">
            <a:noFill/>
            <a:miter lim="800000"/>
            <a:headEnd type="none" w="sm" len="sm"/>
            <a:tailEnd type="none" w="sm" len="sm"/>
          </a:ln>
          <a:effectLst/>
        </p:spPr>
        <p:txBody>
          <a:bodyPr vert="horz" wrap="none" lIns="91440" tIns="45720" rIns="91440" bIns="45720" numCol="1" anchor="t" anchorCtr="0" compatLnSpc="1">
            <a:prstTxWarp prst="textNoShape">
              <a:avLst/>
            </a:prstTxWarp>
          </a:bodyPr>
          <a:lstStyle>
            <a:lvl1pPr eaLnBrk="1" hangingPunct="1">
              <a:defRPr sz="1200">
                <a:latin typeface="Times New Roman" pitchFamily="80" charset="0"/>
                <a:ea typeface="+mn-ea"/>
                <a:cs typeface="+mn-cs"/>
              </a:defRPr>
            </a:lvl1pPr>
          </a:lstStyle>
          <a:p>
            <a:pPr>
              <a:defRPr/>
            </a:pPr>
            <a:endParaRPr lang="en-US"/>
          </a:p>
        </p:txBody>
      </p:sp>
      <p:sp>
        <p:nvSpPr>
          <p:cNvPr id="128003" name="Rectangle 3"/>
          <p:cNvSpPr>
            <a:spLocks noGrp="1" noChangeArrowheads="1"/>
          </p:cNvSpPr>
          <p:nvPr>
            <p:ph type="dt" sz="quarter" idx="1"/>
          </p:nvPr>
        </p:nvSpPr>
        <p:spPr bwMode="auto">
          <a:xfrm>
            <a:off x="3886200" y="0"/>
            <a:ext cx="2971800" cy="457200"/>
          </a:xfrm>
          <a:prstGeom prst="rect">
            <a:avLst/>
          </a:prstGeom>
          <a:noFill/>
          <a:ln w="12700" cap="sq">
            <a:noFill/>
            <a:miter lim="800000"/>
            <a:headEnd type="none" w="sm" len="sm"/>
            <a:tailEnd type="none" w="sm" len="sm"/>
          </a:ln>
          <a:effectLst/>
        </p:spPr>
        <p:txBody>
          <a:bodyPr vert="horz" wrap="none" lIns="91440" tIns="45720" rIns="91440" bIns="45720" numCol="1" anchor="t" anchorCtr="0" compatLnSpc="1">
            <a:prstTxWarp prst="textNoShape">
              <a:avLst/>
            </a:prstTxWarp>
          </a:bodyPr>
          <a:lstStyle>
            <a:lvl1pPr algn="r" eaLnBrk="1" hangingPunct="1">
              <a:defRPr sz="1200">
                <a:latin typeface="Times New Roman" pitchFamily="80" charset="0"/>
                <a:ea typeface="+mn-ea"/>
                <a:cs typeface="+mn-cs"/>
              </a:defRPr>
            </a:lvl1pPr>
          </a:lstStyle>
          <a:p>
            <a:pPr>
              <a:defRPr/>
            </a:pPr>
            <a:endParaRPr lang="en-US"/>
          </a:p>
        </p:txBody>
      </p:sp>
      <p:sp>
        <p:nvSpPr>
          <p:cNvPr id="128004" name="Rectangle 4"/>
          <p:cNvSpPr>
            <a:spLocks noGrp="1" noChangeArrowheads="1"/>
          </p:cNvSpPr>
          <p:nvPr>
            <p:ph type="ftr" sz="quarter" idx="2"/>
          </p:nvPr>
        </p:nvSpPr>
        <p:spPr bwMode="auto">
          <a:xfrm>
            <a:off x="0" y="8686800"/>
            <a:ext cx="2971800" cy="457200"/>
          </a:xfrm>
          <a:prstGeom prst="rect">
            <a:avLst/>
          </a:prstGeom>
          <a:noFill/>
          <a:ln w="12700" cap="sq">
            <a:noFill/>
            <a:miter lim="800000"/>
            <a:headEnd type="none" w="sm" len="sm"/>
            <a:tailEnd type="none" w="sm" len="sm"/>
          </a:ln>
          <a:effectLst/>
        </p:spPr>
        <p:txBody>
          <a:bodyPr vert="horz" wrap="none" lIns="91440" tIns="45720" rIns="91440" bIns="45720" numCol="1" anchor="b" anchorCtr="0" compatLnSpc="1">
            <a:prstTxWarp prst="textNoShape">
              <a:avLst/>
            </a:prstTxWarp>
          </a:bodyPr>
          <a:lstStyle>
            <a:lvl1pPr eaLnBrk="1" hangingPunct="1">
              <a:defRPr sz="1200">
                <a:latin typeface="Times New Roman" pitchFamily="80" charset="0"/>
                <a:ea typeface="+mn-ea"/>
                <a:cs typeface="+mn-cs"/>
              </a:defRPr>
            </a:lvl1pPr>
          </a:lstStyle>
          <a:p>
            <a:pPr>
              <a:defRPr/>
            </a:pPr>
            <a:endParaRPr lang="en-US"/>
          </a:p>
        </p:txBody>
      </p:sp>
      <p:sp>
        <p:nvSpPr>
          <p:cNvPr id="128005" name="Rectangle 5"/>
          <p:cNvSpPr>
            <a:spLocks noGrp="1" noChangeArrowheads="1"/>
          </p:cNvSpPr>
          <p:nvPr>
            <p:ph type="sldNum" sz="quarter" idx="3"/>
          </p:nvPr>
        </p:nvSpPr>
        <p:spPr bwMode="auto">
          <a:xfrm>
            <a:off x="3886200" y="8686800"/>
            <a:ext cx="2971800" cy="457200"/>
          </a:xfrm>
          <a:prstGeom prst="rect">
            <a:avLst/>
          </a:prstGeom>
          <a:noFill/>
          <a:ln w="12700" cap="sq">
            <a:noFill/>
            <a:miter lim="800000"/>
            <a:headEnd type="none" w="sm" len="sm"/>
            <a:tailEnd type="none" w="sm" len="sm"/>
          </a:ln>
          <a:effectLst/>
        </p:spPr>
        <p:txBody>
          <a:bodyPr vert="horz" wrap="none" lIns="91440" tIns="45720" rIns="91440" bIns="45720" numCol="1" anchor="b" anchorCtr="0" compatLnSpc="1">
            <a:prstTxWarp prst="textNoShape">
              <a:avLst/>
            </a:prstTxWarp>
          </a:bodyPr>
          <a:lstStyle>
            <a:lvl1pPr algn="r" eaLnBrk="1" hangingPunct="1">
              <a:defRPr sz="1200"/>
            </a:lvl1pPr>
          </a:lstStyle>
          <a:p>
            <a:fld id="{5FB9E71A-E6C8-4FD3-B040-DCC6247393BF}" type="slidenum">
              <a:rPr lang="en-US" altLang="en-US"/>
              <a:pPr/>
              <a:t>‹#›</a:t>
            </a:fld>
            <a:endParaRPr lang="en-US" altLang="en-US"/>
          </a:p>
        </p:txBody>
      </p:sp>
    </p:spTree>
    <p:extLst>
      <p:ext uri="{BB962C8B-B14F-4D97-AF65-F5344CB8AC3E}">
        <p14:creationId xmlns:p14="http://schemas.microsoft.com/office/powerpoint/2010/main" val="150746506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ea typeface="+mn-ea"/>
                <a:cs typeface="+mn-cs"/>
              </a:defRPr>
            </a:lvl1pPr>
          </a:lstStyle>
          <a:p>
            <a:pPr>
              <a:defRPr/>
            </a:pPr>
            <a:endParaRPr lang="en-US"/>
          </a:p>
        </p:txBody>
      </p:sp>
      <p:sp>
        <p:nvSpPr>
          <p:cNvPr id="5123"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ea typeface="+mn-ea"/>
                <a:cs typeface="+mn-cs"/>
              </a:defRPr>
            </a:lvl1pPr>
          </a:lstStyle>
          <a:p>
            <a:pPr>
              <a:defRPr/>
            </a:pPr>
            <a:endParaRPr lang="en-US"/>
          </a:p>
        </p:txBody>
      </p:sp>
      <p:sp>
        <p:nvSpPr>
          <p:cNvPr id="3686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 xmlns:a14="http://schemas.microsoft.com/office/drawing/2010/main">
                <a:solidFill>
                  <a:srgbClr val="FFFFFF"/>
                </a:solidFill>
              </a14:hiddenFill>
            </a:ext>
          </a:extLst>
        </p:spPr>
      </p:sp>
      <p:sp>
        <p:nvSpPr>
          <p:cNvPr id="5125"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126"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ea typeface="+mn-ea"/>
                <a:cs typeface="+mn-cs"/>
              </a:defRPr>
            </a:lvl1pPr>
          </a:lstStyle>
          <a:p>
            <a:pPr>
              <a:defRPr/>
            </a:pPr>
            <a:endParaRPr lang="en-US"/>
          </a:p>
        </p:txBody>
      </p:sp>
      <p:sp>
        <p:nvSpPr>
          <p:cNvPr id="5127"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atin typeface="Arial" panose="020B0604020202020204" pitchFamily="34" charset="0"/>
              </a:defRPr>
            </a:lvl1pPr>
          </a:lstStyle>
          <a:p>
            <a:fld id="{9DD8956B-8F79-4131-A174-E4232C945132}" type="slidenum">
              <a:rPr lang="en-US" altLang="en-US"/>
              <a:pPr/>
              <a:t>‹#›</a:t>
            </a:fld>
            <a:endParaRPr lang="en-US" altLang="en-US"/>
          </a:p>
        </p:txBody>
      </p:sp>
    </p:spTree>
    <p:extLst>
      <p:ext uri="{BB962C8B-B14F-4D97-AF65-F5344CB8AC3E}">
        <p14:creationId xmlns:p14="http://schemas.microsoft.com/office/powerpoint/2010/main" val="332736191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S PGothic" pitchFamily="34" charset="-128"/>
        <a:cs typeface="ＭＳ Ｐゴシック" charset="0"/>
      </a:defRPr>
    </a:lvl1pPr>
    <a:lvl2pPr marL="457200" algn="l" rtl="0" eaLnBrk="0" fontAlgn="base" hangingPunct="0">
      <a:spcBef>
        <a:spcPct val="30000"/>
      </a:spcBef>
      <a:spcAft>
        <a:spcPct val="0"/>
      </a:spcAft>
      <a:defRPr sz="1200" kern="1200">
        <a:solidFill>
          <a:schemeClr val="tx1"/>
        </a:solidFill>
        <a:latin typeface="Arial" charset="0"/>
        <a:ea typeface="MS PGothic" pitchFamily="34" charset="-128"/>
        <a:cs typeface="+mn-cs"/>
      </a:defRPr>
    </a:lvl2pPr>
    <a:lvl3pPr marL="914400" algn="l" rtl="0" eaLnBrk="0" fontAlgn="base" hangingPunct="0">
      <a:spcBef>
        <a:spcPct val="30000"/>
      </a:spcBef>
      <a:spcAft>
        <a:spcPct val="0"/>
      </a:spcAft>
      <a:defRPr sz="1200" kern="1200">
        <a:solidFill>
          <a:schemeClr val="tx1"/>
        </a:solidFill>
        <a:latin typeface="Arial" charset="0"/>
        <a:ea typeface="MS PGothic" pitchFamily="34" charset="-128"/>
        <a:cs typeface="+mn-cs"/>
      </a:defRPr>
    </a:lvl3pPr>
    <a:lvl4pPr marL="1371600" algn="l" rtl="0" eaLnBrk="0" fontAlgn="base" hangingPunct="0">
      <a:spcBef>
        <a:spcPct val="30000"/>
      </a:spcBef>
      <a:spcAft>
        <a:spcPct val="0"/>
      </a:spcAft>
      <a:defRPr sz="1200" kern="1200">
        <a:solidFill>
          <a:schemeClr val="tx1"/>
        </a:solidFill>
        <a:latin typeface="Arial" charset="0"/>
        <a:ea typeface="MS PGothic" pitchFamily="34" charset="-128"/>
        <a:cs typeface="+mn-cs"/>
      </a:defRPr>
    </a:lvl4pPr>
    <a:lvl5pPr marL="1828800" algn="l" rtl="0" eaLnBrk="0" fontAlgn="base" hangingPunct="0">
      <a:spcBef>
        <a:spcPct val="30000"/>
      </a:spcBef>
      <a:spcAft>
        <a:spcPct val="0"/>
      </a:spcAft>
      <a:defRPr sz="1200" kern="1200">
        <a:solidFill>
          <a:schemeClr val="tx1"/>
        </a:solidFill>
        <a:latin typeface="Arial" charset="0"/>
        <a:ea typeface="MS PGothic" pitchFamily="34"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3600">
                <a:solidFill>
                  <a:schemeClr val="tx1"/>
                </a:solidFill>
                <a:latin typeface="Times New Roman" panose="02020603050405020304" pitchFamily="18" charset="0"/>
                <a:ea typeface="MS PGothic" panose="020B0600070205080204" pitchFamily="34" charset="-128"/>
              </a:defRPr>
            </a:lvl1pPr>
            <a:lvl2pPr marL="742950" indent="-285750">
              <a:defRPr sz="3600">
                <a:solidFill>
                  <a:schemeClr val="tx1"/>
                </a:solidFill>
                <a:latin typeface="Times New Roman" panose="02020603050405020304" pitchFamily="18" charset="0"/>
                <a:ea typeface="MS PGothic" panose="020B0600070205080204" pitchFamily="34" charset="-128"/>
              </a:defRPr>
            </a:lvl2pPr>
            <a:lvl3pPr marL="1143000" indent="-228600">
              <a:defRPr sz="3600">
                <a:solidFill>
                  <a:schemeClr val="tx1"/>
                </a:solidFill>
                <a:latin typeface="Times New Roman" panose="02020603050405020304" pitchFamily="18" charset="0"/>
                <a:ea typeface="MS PGothic" panose="020B0600070205080204" pitchFamily="34" charset="-128"/>
              </a:defRPr>
            </a:lvl3pPr>
            <a:lvl4pPr marL="1600200" indent="-228600">
              <a:defRPr sz="3600">
                <a:solidFill>
                  <a:schemeClr val="tx1"/>
                </a:solidFill>
                <a:latin typeface="Times New Roman" panose="02020603050405020304" pitchFamily="18" charset="0"/>
                <a:ea typeface="MS PGothic" panose="020B0600070205080204" pitchFamily="34" charset="-128"/>
              </a:defRPr>
            </a:lvl4pPr>
            <a:lvl5pPr marL="2057400" indent="-228600">
              <a:defRPr sz="36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9pPr>
          </a:lstStyle>
          <a:p>
            <a:fld id="{0E0FBEA3-D0EE-4328-B377-4FCB14810020}" type="slidenum">
              <a:rPr lang="en-US" altLang="en-US" sz="1200"/>
              <a:pPr/>
              <a:t>2</a:t>
            </a:fld>
            <a:endParaRPr lang="en-US" altLang="en-US" sz="1200"/>
          </a:p>
        </p:txBody>
      </p:sp>
      <p:sp>
        <p:nvSpPr>
          <p:cNvPr id="119811" name="Rectangle 2"/>
          <p:cNvSpPr>
            <a:spLocks noGrp="1" noRot="1" noChangeAspect="1" noChangeArrowheads="1" noTextEdit="1"/>
          </p:cNvSpPr>
          <p:nvPr>
            <p:ph type="sldImg"/>
          </p:nvPr>
        </p:nvSpPr>
        <p:spPr>
          <a:ln/>
        </p:spPr>
      </p:sp>
      <p:sp>
        <p:nvSpPr>
          <p:cNvPr id="119812"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GB" altLang="en-US">
              <a:latin typeface="Times New Roman" panose="02020603050405020304" pitchFamily="18" charset="0"/>
            </a:endParaRPr>
          </a:p>
        </p:txBody>
      </p:sp>
    </p:spTree>
    <p:extLst>
      <p:ext uri="{BB962C8B-B14F-4D97-AF65-F5344CB8AC3E}">
        <p14:creationId xmlns:p14="http://schemas.microsoft.com/office/powerpoint/2010/main" val="19218036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3600">
                <a:solidFill>
                  <a:schemeClr val="tx1"/>
                </a:solidFill>
                <a:latin typeface="Times New Roman" panose="02020603050405020304" pitchFamily="18" charset="0"/>
                <a:ea typeface="MS PGothic" panose="020B0600070205080204" pitchFamily="34" charset="-128"/>
              </a:defRPr>
            </a:lvl1pPr>
            <a:lvl2pPr marL="742950" indent="-285750">
              <a:defRPr sz="3600">
                <a:solidFill>
                  <a:schemeClr val="tx1"/>
                </a:solidFill>
                <a:latin typeface="Times New Roman" panose="02020603050405020304" pitchFamily="18" charset="0"/>
                <a:ea typeface="MS PGothic" panose="020B0600070205080204" pitchFamily="34" charset="-128"/>
              </a:defRPr>
            </a:lvl2pPr>
            <a:lvl3pPr marL="1143000" indent="-228600">
              <a:defRPr sz="3600">
                <a:solidFill>
                  <a:schemeClr val="tx1"/>
                </a:solidFill>
                <a:latin typeface="Times New Roman" panose="02020603050405020304" pitchFamily="18" charset="0"/>
                <a:ea typeface="MS PGothic" panose="020B0600070205080204" pitchFamily="34" charset="-128"/>
              </a:defRPr>
            </a:lvl3pPr>
            <a:lvl4pPr marL="1600200" indent="-228600">
              <a:defRPr sz="3600">
                <a:solidFill>
                  <a:schemeClr val="tx1"/>
                </a:solidFill>
                <a:latin typeface="Times New Roman" panose="02020603050405020304" pitchFamily="18" charset="0"/>
                <a:ea typeface="MS PGothic" panose="020B0600070205080204" pitchFamily="34" charset="-128"/>
              </a:defRPr>
            </a:lvl4pPr>
            <a:lvl5pPr marL="2057400" indent="-228600">
              <a:defRPr sz="36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9pPr>
          </a:lstStyle>
          <a:p>
            <a:fld id="{13B00D29-FEB3-4D27-A853-78BDB2E8B04A}" type="slidenum">
              <a:rPr lang="en-US" altLang="en-US" sz="1200"/>
              <a:pPr/>
              <a:t>3</a:t>
            </a:fld>
            <a:endParaRPr lang="en-US" altLang="en-US" sz="1200"/>
          </a:p>
        </p:txBody>
      </p:sp>
      <p:sp>
        <p:nvSpPr>
          <p:cNvPr id="120835" name="Rectangle 2"/>
          <p:cNvSpPr>
            <a:spLocks noGrp="1" noRot="1" noChangeAspect="1" noChangeArrowheads="1" noTextEdit="1"/>
          </p:cNvSpPr>
          <p:nvPr>
            <p:ph type="sldImg"/>
          </p:nvPr>
        </p:nvSpPr>
        <p:spPr>
          <a:ln/>
        </p:spPr>
      </p:sp>
      <p:sp>
        <p:nvSpPr>
          <p:cNvPr id="120836"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GB" altLang="en-US">
              <a:latin typeface="Times New Roman" panose="02020603050405020304" pitchFamily="18" charset="0"/>
            </a:endParaRPr>
          </a:p>
        </p:txBody>
      </p:sp>
    </p:spTree>
    <p:extLst>
      <p:ext uri="{BB962C8B-B14F-4D97-AF65-F5344CB8AC3E}">
        <p14:creationId xmlns:p14="http://schemas.microsoft.com/office/powerpoint/2010/main" val="29939263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3600">
                <a:solidFill>
                  <a:schemeClr val="tx1"/>
                </a:solidFill>
                <a:latin typeface="Times New Roman" panose="02020603050405020304" pitchFamily="18" charset="0"/>
                <a:ea typeface="MS PGothic" panose="020B0600070205080204" pitchFamily="34" charset="-128"/>
              </a:defRPr>
            </a:lvl1pPr>
            <a:lvl2pPr marL="742950" indent="-285750">
              <a:defRPr sz="3600">
                <a:solidFill>
                  <a:schemeClr val="tx1"/>
                </a:solidFill>
                <a:latin typeface="Times New Roman" panose="02020603050405020304" pitchFamily="18" charset="0"/>
                <a:ea typeface="MS PGothic" panose="020B0600070205080204" pitchFamily="34" charset="-128"/>
              </a:defRPr>
            </a:lvl2pPr>
            <a:lvl3pPr marL="1143000" indent="-228600">
              <a:defRPr sz="3600">
                <a:solidFill>
                  <a:schemeClr val="tx1"/>
                </a:solidFill>
                <a:latin typeface="Times New Roman" panose="02020603050405020304" pitchFamily="18" charset="0"/>
                <a:ea typeface="MS PGothic" panose="020B0600070205080204" pitchFamily="34" charset="-128"/>
              </a:defRPr>
            </a:lvl3pPr>
            <a:lvl4pPr marL="1600200" indent="-228600">
              <a:defRPr sz="3600">
                <a:solidFill>
                  <a:schemeClr val="tx1"/>
                </a:solidFill>
                <a:latin typeface="Times New Roman" panose="02020603050405020304" pitchFamily="18" charset="0"/>
                <a:ea typeface="MS PGothic" panose="020B0600070205080204" pitchFamily="34" charset="-128"/>
              </a:defRPr>
            </a:lvl4pPr>
            <a:lvl5pPr marL="2057400" indent="-228600">
              <a:defRPr sz="36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9pPr>
          </a:lstStyle>
          <a:p>
            <a:fld id="{93B008D1-456D-4DCB-9573-60E89D880649}" type="slidenum">
              <a:rPr lang="en-US" altLang="en-US" sz="1200"/>
              <a:pPr/>
              <a:t>4</a:t>
            </a:fld>
            <a:endParaRPr lang="en-US" altLang="en-US" sz="1200"/>
          </a:p>
        </p:txBody>
      </p:sp>
      <p:sp>
        <p:nvSpPr>
          <p:cNvPr id="121859" name="Rectangle 2"/>
          <p:cNvSpPr>
            <a:spLocks noGrp="1" noRot="1" noChangeAspect="1" noChangeArrowheads="1" noTextEdit="1"/>
          </p:cNvSpPr>
          <p:nvPr>
            <p:ph type="sldImg"/>
          </p:nvPr>
        </p:nvSpPr>
        <p:spPr>
          <a:ln/>
        </p:spPr>
      </p:sp>
      <p:sp>
        <p:nvSpPr>
          <p:cNvPr id="121860"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GB" altLang="en-US">
              <a:latin typeface="Times New Roman" panose="02020603050405020304" pitchFamily="18" charset="0"/>
            </a:endParaRPr>
          </a:p>
        </p:txBody>
      </p:sp>
    </p:spTree>
    <p:extLst>
      <p:ext uri="{BB962C8B-B14F-4D97-AF65-F5344CB8AC3E}">
        <p14:creationId xmlns:p14="http://schemas.microsoft.com/office/powerpoint/2010/main" val="34186164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3600">
                <a:solidFill>
                  <a:schemeClr val="tx1"/>
                </a:solidFill>
                <a:latin typeface="Times New Roman" panose="02020603050405020304" pitchFamily="18" charset="0"/>
                <a:ea typeface="MS PGothic" panose="020B0600070205080204" pitchFamily="34" charset="-128"/>
              </a:defRPr>
            </a:lvl1pPr>
            <a:lvl2pPr marL="742950" indent="-285750">
              <a:defRPr sz="3600">
                <a:solidFill>
                  <a:schemeClr val="tx1"/>
                </a:solidFill>
                <a:latin typeface="Times New Roman" panose="02020603050405020304" pitchFamily="18" charset="0"/>
                <a:ea typeface="MS PGothic" panose="020B0600070205080204" pitchFamily="34" charset="-128"/>
              </a:defRPr>
            </a:lvl2pPr>
            <a:lvl3pPr marL="1143000" indent="-228600">
              <a:defRPr sz="3600">
                <a:solidFill>
                  <a:schemeClr val="tx1"/>
                </a:solidFill>
                <a:latin typeface="Times New Roman" panose="02020603050405020304" pitchFamily="18" charset="0"/>
                <a:ea typeface="MS PGothic" panose="020B0600070205080204" pitchFamily="34" charset="-128"/>
              </a:defRPr>
            </a:lvl3pPr>
            <a:lvl4pPr marL="1600200" indent="-228600">
              <a:defRPr sz="3600">
                <a:solidFill>
                  <a:schemeClr val="tx1"/>
                </a:solidFill>
                <a:latin typeface="Times New Roman" panose="02020603050405020304" pitchFamily="18" charset="0"/>
                <a:ea typeface="MS PGothic" panose="020B0600070205080204" pitchFamily="34" charset="-128"/>
              </a:defRPr>
            </a:lvl4pPr>
            <a:lvl5pPr marL="2057400" indent="-228600">
              <a:defRPr sz="36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9pPr>
          </a:lstStyle>
          <a:p>
            <a:fld id="{A34EF6D3-F5F8-4799-8C72-D39B20004608}" type="slidenum">
              <a:rPr lang="en-US" altLang="en-US" sz="1200"/>
              <a:pPr/>
              <a:t>5</a:t>
            </a:fld>
            <a:endParaRPr lang="en-US" altLang="en-US" sz="1200"/>
          </a:p>
        </p:txBody>
      </p:sp>
      <p:sp>
        <p:nvSpPr>
          <p:cNvPr id="122883" name="Rectangle 2"/>
          <p:cNvSpPr>
            <a:spLocks noGrp="1" noRot="1" noChangeAspect="1" noChangeArrowheads="1" noTextEdit="1"/>
          </p:cNvSpPr>
          <p:nvPr>
            <p:ph type="sldImg"/>
          </p:nvPr>
        </p:nvSpPr>
        <p:spPr>
          <a:ln/>
        </p:spPr>
      </p:sp>
      <p:sp>
        <p:nvSpPr>
          <p:cNvPr id="122884"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GB" altLang="en-US">
              <a:latin typeface="Times New Roman" panose="02020603050405020304" pitchFamily="18" charset="0"/>
            </a:endParaRPr>
          </a:p>
        </p:txBody>
      </p:sp>
    </p:spTree>
    <p:extLst>
      <p:ext uri="{BB962C8B-B14F-4D97-AF65-F5344CB8AC3E}">
        <p14:creationId xmlns:p14="http://schemas.microsoft.com/office/powerpoint/2010/main" val="33045526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3600">
                <a:solidFill>
                  <a:schemeClr val="tx1"/>
                </a:solidFill>
                <a:latin typeface="Times New Roman" panose="02020603050405020304" pitchFamily="18" charset="0"/>
                <a:ea typeface="MS PGothic" panose="020B0600070205080204" pitchFamily="34" charset="-128"/>
              </a:defRPr>
            </a:lvl1pPr>
            <a:lvl2pPr marL="742950" indent="-285750">
              <a:defRPr sz="3600">
                <a:solidFill>
                  <a:schemeClr val="tx1"/>
                </a:solidFill>
                <a:latin typeface="Times New Roman" panose="02020603050405020304" pitchFamily="18" charset="0"/>
                <a:ea typeface="MS PGothic" panose="020B0600070205080204" pitchFamily="34" charset="-128"/>
              </a:defRPr>
            </a:lvl2pPr>
            <a:lvl3pPr marL="1143000" indent="-228600">
              <a:defRPr sz="3600">
                <a:solidFill>
                  <a:schemeClr val="tx1"/>
                </a:solidFill>
                <a:latin typeface="Times New Roman" panose="02020603050405020304" pitchFamily="18" charset="0"/>
                <a:ea typeface="MS PGothic" panose="020B0600070205080204" pitchFamily="34" charset="-128"/>
              </a:defRPr>
            </a:lvl3pPr>
            <a:lvl4pPr marL="1600200" indent="-228600">
              <a:defRPr sz="3600">
                <a:solidFill>
                  <a:schemeClr val="tx1"/>
                </a:solidFill>
                <a:latin typeface="Times New Roman" panose="02020603050405020304" pitchFamily="18" charset="0"/>
                <a:ea typeface="MS PGothic" panose="020B0600070205080204" pitchFamily="34" charset="-128"/>
              </a:defRPr>
            </a:lvl4pPr>
            <a:lvl5pPr marL="2057400" indent="-228600">
              <a:defRPr sz="36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9pPr>
          </a:lstStyle>
          <a:p>
            <a:fld id="{57376D03-B4C7-454F-8835-97A464FECC08}" type="slidenum">
              <a:rPr lang="en-US" altLang="en-US" sz="1200"/>
              <a:pPr/>
              <a:t>6</a:t>
            </a:fld>
            <a:endParaRPr lang="en-US" altLang="en-US" sz="1200"/>
          </a:p>
        </p:txBody>
      </p:sp>
      <p:sp>
        <p:nvSpPr>
          <p:cNvPr id="123907" name="Rectangle 2"/>
          <p:cNvSpPr>
            <a:spLocks noGrp="1" noRot="1" noChangeAspect="1" noChangeArrowheads="1" noTextEdit="1"/>
          </p:cNvSpPr>
          <p:nvPr>
            <p:ph type="sldImg"/>
          </p:nvPr>
        </p:nvSpPr>
        <p:spPr>
          <a:ln/>
        </p:spPr>
      </p:sp>
      <p:sp>
        <p:nvSpPr>
          <p:cNvPr id="123908"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buFontTx/>
              <a:buChar char="•"/>
            </a:pPr>
            <a:r>
              <a:rPr lang="en-US" altLang="en-US">
                <a:latin typeface="Times New Roman" panose="02020603050405020304" pitchFamily="18" charset="0"/>
              </a:rPr>
              <a:t> What are three types of blood vessels in the body? </a:t>
            </a:r>
          </a:p>
          <a:p>
            <a:pPr eaLnBrk="1" hangingPunct="1">
              <a:buFontTx/>
              <a:buChar char="•"/>
            </a:pPr>
            <a:r>
              <a:rPr lang="en-US" altLang="en-US">
                <a:latin typeface="Times New Roman" panose="02020603050405020304" pitchFamily="18" charset="0"/>
              </a:rPr>
              <a:t> What are the primary differences between them?</a:t>
            </a:r>
            <a:r>
              <a:rPr lang="en-US" altLang="en-US" i="1">
                <a:latin typeface="Times New Roman" panose="02020603050405020304" pitchFamily="18" charset="0"/>
              </a:rPr>
              <a:t> (See the next slide.)</a:t>
            </a:r>
          </a:p>
        </p:txBody>
      </p:sp>
    </p:spTree>
    <p:extLst>
      <p:ext uri="{BB962C8B-B14F-4D97-AF65-F5344CB8AC3E}">
        <p14:creationId xmlns:p14="http://schemas.microsoft.com/office/powerpoint/2010/main" val="12256063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3600">
                <a:solidFill>
                  <a:schemeClr val="tx1"/>
                </a:solidFill>
                <a:latin typeface="Times New Roman" panose="02020603050405020304" pitchFamily="18" charset="0"/>
                <a:ea typeface="MS PGothic" panose="020B0600070205080204" pitchFamily="34" charset="-128"/>
              </a:defRPr>
            </a:lvl1pPr>
            <a:lvl2pPr marL="742950" indent="-285750">
              <a:defRPr sz="3600">
                <a:solidFill>
                  <a:schemeClr val="tx1"/>
                </a:solidFill>
                <a:latin typeface="Times New Roman" panose="02020603050405020304" pitchFamily="18" charset="0"/>
                <a:ea typeface="MS PGothic" panose="020B0600070205080204" pitchFamily="34" charset="-128"/>
              </a:defRPr>
            </a:lvl2pPr>
            <a:lvl3pPr marL="1143000" indent="-228600">
              <a:defRPr sz="3600">
                <a:solidFill>
                  <a:schemeClr val="tx1"/>
                </a:solidFill>
                <a:latin typeface="Times New Roman" panose="02020603050405020304" pitchFamily="18" charset="0"/>
                <a:ea typeface="MS PGothic" panose="020B0600070205080204" pitchFamily="34" charset="-128"/>
              </a:defRPr>
            </a:lvl3pPr>
            <a:lvl4pPr marL="1600200" indent="-228600">
              <a:defRPr sz="3600">
                <a:solidFill>
                  <a:schemeClr val="tx1"/>
                </a:solidFill>
                <a:latin typeface="Times New Roman" panose="02020603050405020304" pitchFamily="18" charset="0"/>
                <a:ea typeface="MS PGothic" panose="020B0600070205080204" pitchFamily="34" charset="-128"/>
              </a:defRPr>
            </a:lvl4pPr>
            <a:lvl5pPr marL="2057400" indent="-228600">
              <a:defRPr sz="36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9pPr>
          </a:lstStyle>
          <a:p>
            <a:fld id="{CB5A4ED3-04D6-406A-A32D-3C4D6EEB5366}" type="slidenum">
              <a:rPr lang="en-US" altLang="en-US" sz="1200"/>
              <a:pPr/>
              <a:t>7</a:t>
            </a:fld>
            <a:endParaRPr lang="en-US" altLang="en-US" sz="1200"/>
          </a:p>
        </p:txBody>
      </p:sp>
      <p:sp>
        <p:nvSpPr>
          <p:cNvPr id="124931" name="Rectangle 2"/>
          <p:cNvSpPr>
            <a:spLocks noGrp="1" noRot="1" noChangeAspect="1" noChangeArrowheads="1" noTextEdit="1"/>
          </p:cNvSpPr>
          <p:nvPr>
            <p:ph type="sldImg"/>
          </p:nvPr>
        </p:nvSpPr>
        <p:spPr>
          <a:ln/>
        </p:spPr>
      </p:sp>
      <p:sp>
        <p:nvSpPr>
          <p:cNvPr id="124932"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buFontTx/>
              <a:buChar char="•"/>
            </a:pPr>
            <a:r>
              <a:rPr lang="en-US" altLang="en-US">
                <a:latin typeface="Times New Roman" panose="02020603050405020304" pitchFamily="18" charset="0"/>
              </a:rPr>
              <a:t> What are smaller branches of arteries called? </a:t>
            </a:r>
            <a:r>
              <a:rPr lang="en-US" altLang="en-US" i="1">
                <a:latin typeface="Times New Roman" panose="02020603050405020304" pitchFamily="18" charset="0"/>
              </a:rPr>
              <a:t>(Arterioles)</a:t>
            </a:r>
          </a:p>
          <a:p>
            <a:pPr eaLnBrk="1" hangingPunct="1">
              <a:buFontTx/>
              <a:buChar char="•"/>
            </a:pPr>
            <a:r>
              <a:rPr lang="en-US" altLang="en-US">
                <a:latin typeface="Times New Roman" panose="02020603050405020304" pitchFamily="18" charset="0"/>
              </a:rPr>
              <a:t> What are small veins that carry waste-filled blood back to the heart called? </a:t>
            </a:r>
            <a:r>
              <a:rPr lang="en-US" altLang="en-US" i="1">
                <a:latin typeface="Times New Roman" panose="02020603050405020304" pitchFamily="18" charset="0"/>
              </a:rPr>
              <a:t>(Venules)</a:t>
            </a:r>
          </a:p>
        </p:txBody>
      </p:sp>
    </p:spTree>
    <p:extLst>
      <p:ext uri="{BB962C8B-B14F-4D97-AF65-F5344CB8AC3E}">
        <p14:creationId xmlns:p14="http://schemas.microsoft.com/office/powerpoint/2010/main" val="34178164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3600">
                <a:solidFill>
                  <a:schemeClr val="tx1"/>
                </a:solidFill>
                <a:latin typeface="Times New Roman" panose="02020603050405020304" pitchFamily="18" charset="0"/>
                <a:ea typeface="MS PGothic" panose="020B0600070205080204" pitchFamily="34" charset="-128"/>
              </a:defRPr>
            </a:lvl1pPr>
            <a:lvl2pPr marL="742950" indent="-285750">
              <a:defRPr sz="3600">
                <a:solidFill>
                  <a:schemeClr val="tx1"/>
                </a:solidFill>
                <a:latin typeface="Times New Roman" panose="02020603050405020304" pitchFamily="18" charset="0"/>
                <a:ea typeface="MS PGothic" panose="020B0600070205080204" pitchFamily="34" charset="-128"/>
              </a:defRPr>
            </a:lvl2pPr>
            <a:lvl3pPr marL="1143000" indent="-228600">
              <a:defRPr sz="3600">
                <a:solidFill>
                  <a:schemeClr val="tx1"/>
                </a:solidFill>
                <a:latin typeface="Times New Roman" panose="02020603050405020304" pitchFamily="18" charset="0"/>
                <a:ea typeface="MS PGothic" panose="020B0600070205080204" pitchFamily="34" charset="-128"/>
              </a:defRPr>
            </a:lvl3pPr>
            <a:lvl4pPr marL="1600200" indent="-228600">
              <a:defRPr sz="3600">
                <a:solidFill>
                  <a:schemeClr val="tx1"/>
                </a:solidFill>
                <a:latin typeface="Times New Roman" panose="02020603050405020304" pitchFamily="18" charset="0"/>
                <a:ea typeface="MS PGothic" panose="020B0600070205080204" pitchFamily="34" charset="-128"/>
              </a:defRPr>
            </a:lvl4pPr>
            <a:lvl5pPr marL="2057400" indent="-228600">
              <a:defRPr sz="36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9pPr>
          </a:lstStyle>
          <a:p>
            <a:fld id="{D8474B29-9E0A-45C5-A772-711CE2760BDD}" type="slidenum">
              <a:rPr lang="en-US" altLang="en-US" sz="1200"/>
              <a:pPr/>
              <a:t>8</a:t>
            </a:fld>
            <a:endParaRPr lang="en-US" altLang="en-US" sz="1200"/>
          </a:p>
        </p:txBody>
      </p:sp>
      <p:sp>
        <p:nvSpPr>
          <p:cNvPr id="125955" name="Rectangle 2"/>
          <p:cNvSpPr>
            <a:spLocks noGrp="1" noRot="1" noChangeAspect="1" noChangeArrowheads="1" noTextEdit="1"/>
          </p:cNvSpPr>
          <p:nvPr>
            <p:ph type="sldImg"/>
          </p:nvPr>
        </p:nvSpPr>
        <p:spPr>
          <a:ln/>
        </p:spPr>
      </p:sp>
      <p:sp>
        <p:nvSpPr>
          <p:cNvPr id="125956"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buFontTx/>
              <a:buChar char="•"/>
            </a:pPr>
            <a:r>
              <a:rPr lang="en-US" altLang="en-US">
                <a:latin typeface="Times New Roman" panose="02020603050405020304" pitchFamily="18" charset="0"/>
              </a:rPr>
              <a:t> Point out the discrete layers of each vessel. </a:t>
            </a:r>
          </a:p>
          <a:p>
            <a:pPr eaLnBrk="1" hangingPunct="1">
              <a:buFontTx/>
              <a:buChar char="•"/>
            </a:pPr>
            <a:r>
              <a:rPr lang="en-US" altLang="en-US">
                <a:latin typeface="Times New Roman" panose="02020603050405020304" pitchFamily="18" charset="0"/>
              </a:rPr>
              <a:t> Compare and contrast the substructures of each type of vessel.</a:t>
            </a:r>
          </a:p>
          <a:p>
            <a:pPr eaLnBrk="1" hangingPunct="1">
              <a:buFontTx/>
              <a:buChar char="•"/>
            </a:pPr>
            <a:r>
              <a:rPr lang="en-US" altLang="en-US">
                <a:latin typeface="Times New Roman" panose="02020603050405020304" pitchFamily="18" charset="0"/>
              </a:rPr>
              <a:t> Why is the muscle layer in an artery thicker than that of a vein?</a:t>
            </a:r>
          </a:p>
        </p:txBody>
      </p:sp>
    </p:spTree>
    <p:extLst>
      <p:ext uri="{BB962C8B-B14F-4D97-AF65-F5344CB8AC3E}">
        <p14:creationId xmlns:p14="http://schemas.microsoft.com/office/powerpoint/2010/main" val="13238796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3600">
                <a:solidFill>
                  <a:schemeClr val="tx1"/>
                </a:solidFill>
                <a:latin typeface="Times New Roman" panose="02020603050405020304" pitchFamily="18" charset="0"/>
                <a:ea typeface="MS PGothic" panose="020B0600070205080204" pitchFamily="34" charset="-128"/>
              </a:defRPr>
            </a:lvl1pPr>
            <a:lvl2pPr marL="742950" indent="-285750">
              <a:defRPr sz="3600">
                <a:solidFill>
                  <a:schemeClr val="tx1"/>
                </a:solidFill>
                <a:latin typeface="Times New Roman" panose="02020603050405020304" pitchFamily="18" charset="0"/>
                <a:ea typeface="MS PGothic" panose="020B0600070205080204" pitchFamily="34" charset="-128"/>
              </a:defRPr>
            </a:lvl2pPr>
            <a:lvl3pPr marL="1143000" indent="-228600">
              <a:defRPr sz="3600">
                <a:solidFill>
                  <a:schemeClr val="tx1"/>
                </a:solidFill>
                <a:latin typeface="Times New Roman" panose="02020603050405020304" pitchFamily="18" charset="0"/>
                <a:ea typeface="MS PGothic" panose="020B0600070205080204" pitchFamily="34" charset="-128"/>
              </a:defRPr>
            </a:lvl3pPr>
            <a:lvl4pPr marL="1600200" indent="-228600">
              <a:defRPr sz="3600">
                <a:solidFill>
                  <a:schemeClr val="tx1"/>
                </a:solidFill>
                <a:latin typeface="Times New Roman" panose="02020603050405020304" pitchFamily="18" charset="0"/>
                <a:ea typeface="MS PGothic" panose="020B0600070205080204" pitchFamily="34" charset="-128"/>
              </a:defRPr>
            </a:lvl4pPr>
            <a:lvl5pPr marL="2057400" indent="-228600">
              <a:defRPr sz="36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9pPr>
          </a:lstStyle>
          <a:p>
            <a:fld id="{5DD002FF-2914-4616-BAD1-DC8CE9F1CD14}" type="slidenum">
              <a:rPr lang="en-US" altLang="en-US" sz="1200"/>
              <a:pPr/>
              <a:t>9</a:t>
            </a:fld>
            <a:endParaRPr lang="en-US" altLang="en-US" sz="1200"/>
          </a:p>
        </p:txBody>
      </p:sp>
      <p:sp>
        <p:nvSpPr>
          <p:cNvPr id="126979" name="Rectangle 2"/>
          <p:cNvSpPr>
            <a:spLocks noGrp="1" noRot="1" noChangeAspect="1" noChangeArrowheads="1" noTextEdit="1"/>
          </p:cNvSpPr>
          <p:nvPr>
            <p:ph type="sldImg"/>
          </p:nvPr>
        </p:nvSpPr>
        <p:spPr>
          <a:ln/>
        </p:spPr>
      </p:sp>
      <p:sp>
        <p:nvSpPr>
          <p:cNvPr id="126980"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buFontTx/>
              <a:buChar char="•"/>
            </a:pPr>
            <a:r>
              <a:rPr lang="en-US" altLang="en-US">
                <a:latin typeface="Times New Roman" panose="02020603050405020304" pitchFamily="18" charset="0"/>
              </a:rPr>
              <a:t> Make sure students understand this basic flow in order to fully understand the pathology.</a:t>
            </a:r>
          </a:p>
          <a:p>
            <a:pPr eaLnBrk="1" hangingPunct="1">
              <a:buFontTx/>
              <a:buChar char="•"/>
            </a:pPr>
            <a:r>
              <a:rPr lang="en-US" altLang="en-US">
                <a:latin typeface="Times New Roman" panose="02020603050405020304" pitchFamily="18" charset="0"/>
              </a:rPr>
              <a:t> The anatomic terminology here is often associated with any pathology.</a:t>
            </a:r>
          </a:p>
        </p:txBody>
      </p:sp>
    </p:spTree>
    <p:extLst>
      <p:ext uri="{BB962C8B-B14F-4D97-AF65-F5344CB8AC3E}">
        <p14:creationId xmlns:p14="http://schemas.microsoft.com/office/powerpoint/2010/main" val="17827067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3600">
                <a:solidFill>
                  <a:schemeClr val="tx1"/>
                </a:solidFill>
                <a:latin typeface="Times New Roman" panose="02020603050405020304" pitchFamily="18" charset="0"/>
                <a:ea typeface="MS PGothic" panose="020B0600070205080204" pitchFamily="34" charset="-128"/>
              </a:defRPr>
            </a:lvl1pPr>
            <a:lvl2pPr marL="742950" indent="-285750">
              <a:defRPr sz="3600">
                <a:solidFill>
                  <a:schemeClr val="tx1"/>
                </a:solidFill>
                <a:latin typeface="Times New Roman" panose="02020603050405020304" pitchFamily="18" charset="0"/>
                <a:ea typeface="MS PGothic" panose="020B0600070205080204" pitchFamily="34" charset="-128"/>
              </a:defRPr>
            </a:lvl2pPr>
            <a:lvl3pPr marL="1143000" indent="-228600">
              <a:defRPr sz="3600">
                <a:solidFill>
                  <a:schemeClr val="tx1"/>
                </a:solidFill>
                <a:latin typeface="Times New Roman" panose="02020603050405020304" pitchFamily="18" charset="0"/>
                <a:ea typeface="MS PGothic" panose="020B0600070205080204" pitchFamily="34" charset="-128"/>
              </a:defRPr>
            </a:lvl3pPr>
            <a:lvl4pPr marL="1600200" indent="-228600">
              <a:defRPr sz="3600">
                <a:solidFill>
                  <a:schemeClr val="tx1"/>
                </a:solidFill>
                <a:latin typeface="Times New Roman" panose="02020603050405020304" pitchFamily="18" charset="0"/>
                <a:ea typeface="MS PGothic" panose="020B0600070205080204" pitchFamily="34" charset="-128"/>
              </a:defRPr>
            </a:lvl4pPr>
            <a:lvl5pPr marL="2057400" indent="-228600">
              <a:defRPr sz="36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9pPr>
          </a:lstStyle>
          <a:p>
            <a:fld id="{A570DD4F-6123-49BE-A4A4-3D54A862872D}" type="slidenum">
              <a:rPr lang="en-US" altLang="en-US" sz="1200"/>
              <a:pPr/>
              <a:t>10</a:t>
            </a:fld>
            <a:endParaRPr lang="en-US" altLang="en-US" sz="1200"/>
          </a:p>
        </p:txBody>
      </p:sp>
      <p:sp>
        <p:nvSpPr>
          <p:cNvPr id="128003" name="Rectangle 2"/>
          <p:cNvSpPr>
            <a:spLocks noGrp="1" noRot="1" noChangeAspect="1" noChangeArrowheads="1" noTextEdit="1"/>
          </p:cNvSpPr>
          <p:nvPr>
            <p:ph type="sldImg"/>
          </p:nvPr>
        </p:nvSpPr>
        <p:spPr>
          <a:ln/>
        </p:spPr>
      </p:sp>
      <p:sp>
        <p:nvSpPr>
          <p:cNvPr id="128004"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buFontTx/>
              <a:buChar char="•"/>
            </a:pPr>
            <a:r>
              <a:rPr lang="en-US" altLang="en-US">
                <a:latin typeface="Times New Roman" panose="02020603050405020304" pitchFamily="18" charset="0"/>
              </a:rPr>
              <a:t> The major pulse points should be considered. For example, the brachial artery is important because blood pressure is routinely measured at this junction. </a:t>
            </a:r>
          </a:p>
          <a:p>
            <a:pPr eaLnBrk="1" hangingPunct="1">
              <a:buFontTx/>
              <a:buChar char="•"/>
            </a:pPr>
            <a:r>
              <a:rPr lang="en-US" altLang="en-US">
                <a:latin typeface="Times New Roman" panose="02020603050405020304" pitchFamily="18" charset="0"/>
              </a:rPr>
              <a:t> What symptoms are associated with potential blockage in these vessels?</a:t>
            </a:r>
          </a:p>
        </p:txBody>
      </p:sp>
    </p:spTree>
    <p:extLst>
      <p:ext uri="{BB962C8B-B14F-4D97-AF65-F5344CB8AC3E}">
        <p14:creationId xmlns:p14="http://schemas.microsoft.com/office/powerpoint/2010/main" val="12185092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3600">
                <a:solidFill>
                  <a:schemeClr val="tx1"/>
                </a:solidFill>
                <a:latin typeface="Times New Roman" panose="02020603050405020304" pitchFamily="18" charset="0"/>
                <a:ea typeface="MS PGothic" panose="020B0600070205080204" pitchFamily="34" charset="-128"/>
              </a:defRPr>
            </a:lvl1pPr>
            <a:lvl2pPr marL="742950" indent="-285750">
              <a:defRPr sz="3600">
                <a:solidFill>
                  <a:schemeClr val="tx1"/>
                </a:solidFill>
                <a:latin typeface="Times New Roman" panose="02020603050405020304" pitchFamily="18" charset="0"/>
                <a:ea typeface="MS PGothic" panose="020B0600070205080204" pitchFamily="34" charset="-128"/>
              </a:defRPr>
            </a:lvl2pPr>
            <a:lvl3pPr marL="1143000" indent="-228600">
              <a:defRPr sz="3600">
                <a:solidFill>
                  <a:schemeClr val="tx1"/>
                </a:solidFill>
                <a:latin typeface="Times New Roman" panose="02020603050405020304" pitchFamily="18" charset="0"/>
                <a:ea typeface="MS PGothic" panose="020B0600070205080204" pitchFamily="34" charset="-128"/>
              </a:defRPr>
            </a:lvl3pPr>
            <a:lvl4pPr marL="1600200" indent="-228600">
              <a:defRPr sz="3600">
                <a:solidFill>
                  <a:schemeClr val="tx1"/>
                </a:solidFill>
                <a:latin typeface="Times New Roman" panose="02020603050405020304" pitchFamily="18" charset="0"/>
                <a:ea typeface="MS PGothic" panose="020B0600070205080204" pitchFamily="34" charset="-128"/>
              </a:defRPr>
            </a:lvl4pPr>
            <a:lvl5pPr marL="2057400" indent="-228600">
              <a:defRPr sz="36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9pPr>
          </a:lstStyle>
          <a:p>
            <a:fld id="{4DEB123E-6F66-4929-8780-F32F0DBCF85F}" type="slidenum">
              <a:rPr lang="en-US" altLang="en-US" sz="1200"/>
              <a:pPr/>
              <a:t>11</a:t>
            </a:fld>
            <a:endParaRPr lang="en-US" altLang="en-US" sz="1200"/>
          </a:p>
        </p:txBody>
      </p:sp>
      <p:sp>
        <p:nvSpPr>
          <p:cNvPr id="129027" name="Rectangle 2"/>
          <p:cNvSpPr>
            <a:spLocks noGrp="1" noRot="1" noChangeAspect="1" noChangeArrowheads="1" noTextEdit="1"/>
          </p:cNvSpPr>
          <p:nvPr>
            <p:ph type="sldImg"/>
          </p:nvPr>
        </p:nvSpPr>
        <p:spPr>
          <a:ln/>
        </p:spPr>
      </p:sp>
      <p:sp>
        <p:nvSpPr>
          <p:cNvPr id="129028"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buFontTx/>
              <a:buChar char="•"/>
            </a:pPr>
            <a:r>
              <a:rPr lang="en-US" altLang="en-US" dirty="0">
                <a:latin typeface="Times New Roman" panose="02020603050405020304" pitchFamily="18" charset="0"/>
              </a:rPr>
              <a:t>Which of the four chambers has the thickest walls and why? </a:t>
            </a:r>
            <a:r>
              <a:rPr lang="en-US" altLang="en-US" i="1" dirty="0">
                <a:latin typeface="Times New Roman" panose="02020603050405020304" pitchFamily="18" charset="0"/>
              </a:rPr>
              <a:t>(The left ventricle walls are three times the thickness of the right ventricle walls; it requires great force to pump blood throughout the body</a:t>
            </a:r>
            <a:r>
              <a:rPr lang="en-US" altLang="en-US" dirty="0">
                <a:latin typeface="Times New Roman" panose="02020603050405020304" pitchFamily="18" charset="0"/>
              </a:rPr>
              <a:t>.</a:t>
            </a:r>
            <a:r>
              <a:rPr lang="en-US" altLang="en-US" i="1" dirty="0">
                <a:latin typeface="Times New Roman" panose="02020603050405020304" pitchFamily="18" charset="0"/>
              </a:rPr>
              <a:t>)</a:t>
            </a:r>
          </a:p>
        </p:txBody>
      </p:sp>
    </p:spTree>
    <p:extLst>
      <p:ext uri="{BB962C8B-B14F-4D97-AF65-F5344CB8AC3E}">
        <p14:creationId xmlns:p14="http://schemas.microsoft.com/office/powerpoint/2010/main" val="34196845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3600">
                <a:solidFill>
                  <a:schemeClr val="tx1"/>
                </a:solidFill>
                <a:latin typeface="Times New Roman" panose="02020603050405020304" pitchFamily="18" charset="0"/>
                <a:ea typeface="MS PGothic" panose="020B0600070205080204" pitchFamily="34" charset="-128"/>
              </a:defRPr>
            </a:lvl1pPr>
            <a:lvl2pPr marL="742950" indent="-285750">
              <a:defRPr sz="3600">
                <a:solidFill>
                  <a:schemeClr val="tx1"/>
                </a:solidFill>
                <a:latin typeface="Times New Roman" panose="02020603050405020304" pitchFamily="18" charset="0"/>
                <a:ea typeface="MS PGothic" panose="020B0600070205080204" pitchFamily="34" charset="-128"/>
              </a:defRPr>
            </a:lvl2pPr>
            <a:lvl3pPr marL="1143000" indent="-228600">
              <a:defRPr sz="3600">
                <a:solidFill>
                  <a:schemeClr val="tx1"/>
                </a:solidFill>
                <a:latin typeface="Times New Roman" panose="02020603050405020304" pitchFamily="18" charset="0"/>
                <a:ea typeface="MS PGothic" panose="020B0600070205080204" pitchFamily="34" charset="-128"/>
              </a:defRPr>
            </a:lvl3pPr>
            <a:lvl4pPr marL="1600200" indent="-228600">
              <a:defRPr sz="3600">
                <a:solidFill>
                  <a:schemeClr val="tx1"/>
                </a:solidFill>
                <a:latin typeface="Times New Roman" panose="02020603050405020304" pitchFamily="18" charset="0"/>
                <a:ea typeface="MS PGothic" panose="020B0600070205080204" pitchFamily="34" charset="-128"/>
              </a:defRPr>
            </a:lvl4pPr>
            <a:lvl5pPr marL="2057400" indent="-228600">
              <a:defRPr sz="36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9pPr>
          </a:lstStyle>
          <a:p>
            <a:fld id="{CBE8E48C-67AF-4A97-A1D4-31BCBA5F3031}" type="slidenum">
              <a:rPr lang="en-US" altLang="en-US" sz="1200"/>
              <a:pPr/>
              <a:t>12</a:t>
            </a:fld>
            <a:endParaRPr lang="en-US" altLang="en-US" sz="1200"/>
          </a:p>
        </p:txBody>
      </p:sp>
      <p:sp>
        <p:nvSpPr>
          <p:cNvPr id="131075" name="Rectangle 2"/>
          <p:cNvSpPr>
            <a:spLocks noGrp="1" noRot="1" noChangeAspect="1" noChangeArrowheads="1" noTextEdit="1"/>
          </p:cNvSpPr>
          <p:nvPr>
            <p:ph type="sldImg"/>
          </p:nvPr>
        </p:nvSpPr>
        <p:spPr>
          <a:ln/>
        </p:spPr>
      </p:sp>
      <p:sp>
        <p:nvSpPr>
          <p:cNvPr id="131076"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buFontTx/>
              <a:buChar char="•"/>
            </a:pPr>
            <a:r>
              <a:rPr lang="en-US" altLang="en-US">
                <a:latin typeface="Times New Roman" panose="02020603050405020304" pitchFamily="18" charset="0"/>
              </a:rPr>
              <a:t> Point these out on the diagram from the previous slide.</a:t>
            </a:r>
          </a:p>
        </p:txBody>
      </p:sp>
    </p:spTree>
    <p:extLst>
      <p:ext uri="{BB962C8B-B14F-4D97-AF65-F5344CB8AC3E}">
        <p14:creationId xmlns:p14="http://schemas.microsoft.com/office/powerpoint/2010/main" val="14410781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3600">
                <a:solidFill>
                  <a:schemeClr val="tx1"/>
                </a:solidFill>
                <a:latin typeface="Times New Roman" panose="02020603050405020304" pitchFamily="18" charset="0"/>
                <a:ea typeface="MS PGothic" panose="020B0600070205080204" pitchFamily="34" charset="-128"/>
              </a:defRPr>
            </a:lvl1pPr>
            <a:lvl2pPr marL="742950" indent="-285750">
              <a:defRPr sz="3600">
                <a:solidFill>
                  <a:schemeClr val="tx1"/>
                </a:solidFill>
                <a:latin typeface="Times New Roman" panose="02020603050405020304" pitchFamily="18" charset="0"/>
                <a:ea typeface="MS PGothic" panose="020B0600070205080204" pitchFamily="34" charset="-128"/>
              </a:defRPr>
            </a:lvl2pPr>
            <a:lvl3pPr marL="1143000" indent="-228600">
              <a:defRPr sz="3600">
                <a:solidFill>
                  <a:schemeClr val="tx1"/>
                </a:solidFill>
                <a:latin typeface="Times New Roman" panose="02020603050405020304" pitchFamily="18" charset="0"/>
                <a:ea typeface="MS PGothic" panose="020B0600070205080204" pitchFamily="34" charset="-128"/>
              </a:defRPr>
            </a:lvl3pPr>
            <a:lvl4pPr marL="1600200" indent="-228600">
              <a:defRPr sz="3600">
                <a:solidFill>
                  <a:schemeClr val="tx1"/>
                </a:solidFill>
                <a:latin typeface="Times New Roman" panose="02020603050405020304" pitchFamily="18" charset="0"/>
                <a:ea typeface="MS PGothic" panose="020B0600070205080204" pitchFamily="34" charset="-128"/>
              </a:defRPr>
            </a:lvl4pPr>
            <a:lvl5pPr marL="2057400" indent="-228600">
              <a:defRPr sz="36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9pPr>
          </a:lstStyle>
          <a:p>
            <a:fld id="{664DC186-3893-4204-910B-12A877D25384}" type="slidenum">
              <a:rPr lang="en-US" altLang="en-US" sz="1200"/>
              <a:pPr/>
              <a:t>13</a:t>
            </a:fld>
            <a:endParaRPr lang="en-US" altLang="en-US" sz="1200"/>
          </a:p>
        </p:txBody>
      </p:sp>
      <p:sp>
        <p:nvSpPr>
          <p:cNvPr id="132099" name="Rectangle 2"/>
          <p:cNvSpPr>
            <a:spLocks noGrp="1" noRot="1" noChangeAspect="1" noChangeArrowheads="1" noTextEdit="1"/>
          </p:cNvSpPr>
          <p:nvPr>
            <p:ph type="sldImg"/>
          </p:nvPr>
        </p:nvSpPr>
        <p:spPr>
          <a:ln/>
        </p:spPr>
      </p:sp>
      <p:sp>
        <p:nvSpPr>
          <p:cNvPr id="132100"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buFontTx/>
              <a:buChar char="•"/>
            </a:pPr>
            <a:r>
              <a:rPr lang="en-US" altLang="en-US">
                <a:latin typeface="Times New Roman" panose="02020603050405020304" pitchFamily="18" charset="0"/>
              </a:rPr>
              <a:t> Go through each step of how the blood travels through the heart.</a:t>
            </a:r>
          </a:p>
        </p:txBody>
      </p:sp>
    </p:spTree>
    <p:extLst>
      <p:ext uri="{BB962C8B-B14F-4D97-AF65-F5344CB8AC3E}">
        <p14:creationId xmlns:p14="http://schemas.microsoft.com/office/powerpoint/2010/main" val="87474712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3600">
                <a:solidFill>
                  <a:schemeClr val="tx1"/>
                </a:solidFill>
                <a:latin typeface="Times New Roman" panose="02020603050405020304" pitchFamily="18" charset="0"/>
                <a:ea typeface="MS PGothic" panose="020B0600070205080204" pitchFamily="34" charset="-128"/>
              </a:defRPr>
            </a:lvl1pPr>
            <a:lvl2pPr marL="742950" indent="-285750">
              <a:defRPr sz="3600">
                <a:solidFill>
                  <a:schemeClr val="tx1"/>
                </a:solidFill>
                <a:latin typeface="Times New Roman" panose="02020603050405020304" pitchFamily="18" charset="0"/>
                <a:ea typeface="MS PGothic" panose="020B0600070205080204" pitchFamily="34" charset="-128"/>
              </a:defRPr>
            </a:lvl2pPr>
            <a:lvl3pPr marL="1143000" indent="-228600">
              <a:defRPr sz="3600">
                <a:solidFill>
                  <a:schemeClr val="tx1"/>
                </a:solidFill>
                <a:latin typeface="Times New Roman" panose="02020603050405020304" pitchFamily="18" charset="0"/>
                <a:ea typeface="MS PGothic" panose="020B0600070205080204" pitchFamily="34" charset="-128"/>
              </a:defRPr>
            </a:lvl3pPr>
            <a:lvl4pPr marL="1600200" indent="-228600">
              <a:defRPr sz="3600">
                <a:solidFill>
                  <a:schemeClr val="tx1"/>
                </a:solidFill>
                <a:latin typeface="Times New Roman" panose="02020603050405020304" pitchFamily="18" charset="0"/>
                <a:ea typeface="MS PGothic" panose="020B0600070205080204" pitchFamily="34" charset="-128"/>
              </a:defRPr>
            </a:lvl4pPr>
            <a:lvl5pPr marL="2057400" indent="-228600">
              <a:defRPr sz="36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9pPr>
          </a:lstStyle>
          <a:p>
            <a:fld id="{43AF182D-AEAA-452C-9C34-534ADED6B7E7}" type="slidenum">
              <a:rPr lang="en-US" altLang="en-US" sz="1200"/>
              <a:pPr/>
              <a:t>14</a:t>
            </a:fld>
            <a:endParaRPr lang="en-US" altLang="en-US" sz="1200"/>
          </a:p>
        </p:txBody>
      </p:sp>
      <p:sp>
        <p:nvSpPr>
          <p:cNvPr id="133123" name="Rectangle 2"/>
          <p:cNvSpPr>
            <a:spLocks noGrp="1" noRot="1" noChangeAspect="1" noChangeArrowheads="1" noTextEdit="1"/>
          </p:cNvSpPr>
          <p:nvPr>
            <p:ph type="sldImg"/>
          </p:nvPr>
        </p:nvSpPr>
        <p:spPr>
          <a:ln/>
        </p:spPr>
      </p:sp>
      <p:sp>
        <p:nvSpPr>
          <p:cNvPr id="133124"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buFontTx/>
              <a:buChar char="•"/>
            </a:pPr>
            <a:r>
              <a:rPr lang="en-US" altLang="en-US">
                <a:latin typeface="Times New Roman" panose="02020603050405020304" pitchFamily="18" charset="0"/>
              </a:rPr>
              <a:t> Which valves open and which valves close during diastole? </a:t>
            </a:r>
            <a:r>
              <a:rPr lang="en-US" altLang="en-US" i="1">
                <a:latin typeface="Times New Roman" panose="02020603050405020304" pitchFamily="18" charset="0"/>
              </a:rPr>
              <a:t>(The tricuspid and mitral valves open as blood passes from the right and left atria into the ventricles. The pulmonary and aortic valves close.)</a:t>
            </a:r>
          </a:p>
        </p:txBody>
      </p:sp>
    </p:spTree>
    <p:extLst>
      <p:ext uri="{BB962C8B-B14F-4D97-AF65-F5344CB8AC3E}">
        <p14:creationId xmlns:p14="http://schemas.microsoft.com/office/powerpoint/2010/main" val="102541140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3600">
                <a:solidFill>
                  <a:schemeClr val="tx1"/>
                </a:solidFill>
                <a:latin typeface="Times New Roman" panose="02020603050405020304" pitchFamily="18" charset="0"/>
                <a:ea typeface="MS PGothic" panose="020B0600070205080204" pitchFamily="34" charset="-128"/>
              </a:defRPr>
            </a:lvl1pPr>
            <a:lvl2pPr marL="742950" indent="-285750">
              <a:defRPr sz="3600">
                <a:solidFill>
                  <a:schemeClr val="tx1"/>
                </a:solidFill>
                <a:latin typeface="Times New Roman" panose="02020603050405020304" pitchFamily="18" charset="0"/>
                <a:ea typeface="MS PGothic" panose="020B0600070205080204" pitchFamily="34" charset="-128"/>
              </a:defRPr>
            </a:lvl2pPr>
            <a:lvl3pPr marL="1143000" indent="-228600">
              <a:defRPr sz="3600">
                <a:solidFill>
                  <a:schemeClr val="tx1"/>
                </a:solidFill>
                <a:latin typeface="Times New Roman" panose="02020603050405020304" pitchFamily="18" charset="0"/>
                <a:ea typeface="MS PGothic" panose="020B0600070205080204" pitchFamily="34" charset="-128"/>
              </a:defRPr>
            </a:lvl3pPr>
            <a:lvl4pPr marL="1600200" indent="-228600">
              <a:defRPr sz="3600">
                <a:solidFill>
                  <a:schemeClr val="tx1"/>
                </a:solidFill>
                <a:latin typeface="Times New Roman" panose="02020603050405020304" pitchFamily="18" charset="0"/>
                <a:ea typeface="MS PGothic" panose="020B0600070205080204" pitchFamily="34" charset="-128"/>
              </a:defRPr>
            </a:lvl4pPr>
            <a:lvl5pPr marL="2057400" indent="-228600">
              <a:defRPr sz="36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9pPr>
          </a:lstStyle>
          <a:p>
            <a:fld id="{70078CD9-6B54-4DE2-A2B4-09201838CE3E}" type="slidenum">
              <a:rPr lang="en-US" altLang="en-US" sz="1200"/>
              <a:pPr/>
              <a:t>15</a:t>
            </a:fld>
            <a:endParaRPr lang="en-US" altLang="en-US" sz="1200"/>
          </a:p>
        </p:txBody>
      </p:sp>
      <p:sp>
        <p:nvSpPr>
          <p:cNvPr id="134147" name="Rectangle 2"/>
          <p:cNvSpPr>
            <a:spLocks noGrp="1" noRot="1" noChangeAspect="1" noChangeArrowheads="1" noTextEdit="1"/>
          </p:cNvSpPr>
          <p:nvPr>
            <p:ph type="sldImg"/>
          </p:nvPr>
        </p:nvSpPr>
        <p:spPr>
          <a:ln/>
        </p:spPr>
      </p:sp>
      <p:sp>
        <p:nvSpPr>
          <p:cNvPr id="134148"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buFontTx/>
              <a:buChar char="•"/>
            </a:pPr>
            <a:r>
              <a:rPr lang="en-US" altLang="en-US">
                <a:latin typeface="Times New Roman" panose="02020603050405020304" pitchFamily="18" charset="0"/>
              </a:rPr>
              <a:t> Borrow a stethoscope to demonstrate. </a:t>
            </a:r>
          </a:p>
          <a:p>
            <a:pPr eaLnBrk="1" hangingPunct="1">
              <a:buFontTx/>
              <a:buChar char="•"/>
            </a:pPr>
            <a:r>
              <a:rPr lang="en-US" altLang="en-US">
                <a:latin typeface="Times New Roman" panose="02020603050405020304" pitchFamily="18" charset="0"/>
              </a:rPr>
              <a:t> Audio recordings are also available online. Many also contain pathological sounds.</a:t>
            </a:r>
          </a:p>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276746389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3600">
                <a:solidFill>
                  <a:schemeClr val="tx1"/>
                </a:solidFill>
                <a:latin typeface="Times New Roman" panose="02020603050405020304" pitchFamily="18" charset="0"/>
                <a:ea typeface="MS PGothic" panose="020B0600070205080204" pitchFamily="34" charset="-128"/>
              </a:defRPr>
            </a:lvl1pPr>
            <a:lvl2pPr marL="742950" indent="-285750">
              <a:defRPr sz="3600">
                <a:solidFill>
                  <a:schemeClr val="tx1"/>
                </a:solidFill>
                <a:latin typeface="Times New Roman" panose="02020603050405020304" pitchFamily="18" charset="0"/>
                <a:ea typeface="MS PGothic" panose="020B0600070205080204" pitchFamily="34" charset="-128"/>
              </a:defRPr>
            </a:lvl2pPr>
            <a:lvl3pPr marL="1143000" indent="-228600">
              <a:defRPr sz="3600">
                <a:solidFill>
                  <a:schemeClr val="tx1"/>
                </a:solidFill>
                <a:latin typeface="Times New Roman" panose="02020603050405020304" pitchFamily="18" charset="0"/>
                <a:ea typeface="MS PGothic" panose="020B0600070205080204" pitchFamily="34" charset="-128"/>
              </a:defRPr>
            </a:lvl3pPr>
            <a:lvl4pPr marL="1600200" indent="-228600">
              <a:defRPr sz="3600">
                <a:solidFill>
                  <a:schemeClr val="tx1"/>
                </a:solidFill>
                <a:latin typeface="Times New Roman" panose="02020603050405020304" pitchFamily="18" charset="0"/>
                <a:ea typeface="MS PGothic" panose="020B0600070205080204" pitchFamily="34" charset="-128"/>
              </a:defRPr>
            </a:lvl4pPr>
            <a:lvl5pPr marL="2057400" indent="-228600">
              <a:defRPr sz="36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9pPr>
          </a:lstStyle>
          <a:p>
            <a:fld id="{25FEB807-AD3A-49ED-A428-F7EE166F98AE}" type="slidenum">
              <a:rPr lang="en-US" altLang="en-US" sz="1200"/>
              <a:pPr/>
              <a:t>16</a:t>
            </a:fld>
            <a:endParaRPr lang="en-US" altLang="en-US" sz="1200"/>
          </a:p>
        </p:txBody>
      </p:sp>
      <p:sp>
        <p:nvSpPr>
          <p:cNvPr id="136195" name="Rectangle 2"/>
          <p:cNvSpPr>
            <a:spLocks noGrp="1" noRot="1" noChangeAspect="1" noChangeArrowheads="1" noTextEdit="1"/>
          </p:cNvSpPr>
          <p:nvPr>
            <p:ph type="sldImg"/>
          </p:nvPr>
        </p:nvSpPr>
        <p:spPr>
          <a:ln/>
        </p:spPr>
      </p:sp>
      <p:sp>
        <p:nvSpPr>
          <p:cNvPr id="136196"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rPr>
              <a:t>Have students fill in the labels using this slide.</a:t>
            </a:r>
          </a:p>
        </p:txBody>
      </p:sp>
    </p:spTree>
    <p:extLst>
      <p:ext uri="{BB962C8B-B14F-4D97-AF65-F5344CB8AC3E}">
        <p14:creationId xmlns:p14="http://schemas.microsoft.com/office/powerpoint/2010/main" val="412529210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3600">
                <a:solidFill>
                  <a:schemeClr val="tx1"/>
                </a:solidFill>
                <a:latin typeface="Times New Roman" panose="02020603050405020304" pitchFamily="18" charset="0"/>
                <a:ea typeface="MS PGothic" panose="020B0600070205080204" pitchFamily="34" charset="-128"/>
              </a:defRPr>
            </a:lvl1pPr>
            <a:lvl2pPr marL="742950" indent="-285750">
              <a:defRPr sz="3600">
                <a:solidFill>
                  <a:schemeClr val="tx1"/>
                </a:solidFill>
                <a:latin typeface="Times New Roman" panose="02020603050405020304" pitchFamily="18" charset="0"/>
                <a:ea typeface="MS PGothic" panose="020B0600070205080204" pitchFamily="34" charset="-128"/>
              </a:defRPr>
            </a:lvl2pPr>
            <a:lvl3pPr marL="1143000" indent="-228600">
              <a:defRPr sz="3600">
                <a:solidFill>
                  <a:schemeClr val="tx1"/>
                </a:solidFill>
                <a:latin typeface="Times New Roman" panose="02020603050405020304" pitchFamily="18" charset="0"/>
                <a:ea typeface="MS PGothic" panose="020B0600070205080204" pitchFamily="34" charset="-128"/>
              </a:defRPr>
            </a:lvl3pPr>
            <a:lvl4pPr marL="1600200" indent="-228600">
              <a:defRPr sz="3600">
                <a:solidFill>
                  <a:schemeClr val="tx1"/>
                </a:solidFill>
                <a:latin typeface="Times New Roman" panose="02020603050405020304" pitchFamily="18" charset="0"/>
                <a:ea typeface="MS PGothic" panose="020B0600070205080204" pitchFamily="34" charset="-128"/>
              </a:defRPr>
            </a:lvl4pPr>
            <a:lvl5pPr marL="2057400" indent="-228600">
              <a:defRPr sz="36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9pPr>
          </a:lstStyle>
          <a:p>
            <a:fld id="{6EE7424C-8FB8-4CF0-BFF2-9F563EF47ABE}" type="slidenum">
              <a:rPr lang="en-US" altLang="en-US" sz="1200"/>
              <a:pPr/>
              <a:t>17</a:t>
            </a:fld>
            <a:endParaRPr lang="en-US" altLang="en-US" sz="1200"/>
          </a:p>
        </p:txBody>
      </p:sp>
      <p:sp>
        <p:nvSpPr>
          <p:cNvPr id="137219" name="Rectangle 2"/>
          <p:cNvSpPr>
            <a:spLocks noGrp="1" noRot="1" noChangeAspect="1" noChangeArrowheads="1" noTextEdit="1"/>
          </p:cNvSpPr>
          <p:nvPr>
            <p:ph type="sldImg"/>
          </p:nvPr>
        </p:nvSpPr>
        <p:spPr>
          <a:ln/>
        </p:spPr>
      </p:sp>
      <p:sp>
        <p:nvSpPr>
          <p:cNvPr id="137220"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buFontTx/>
              <a:buChar char="•"/>
            </a:pPr>
            <a:r>
              <a:rPr lang="en-US" altLang="en-US">
                <a:latin typeface="Times New Roman" panose="02020603050405020304" pitchFamily="18" charset="0"/>
              </a:rPr>
              <a:t> Where in the heart is the SA node located? </a:t>
            </a:r>
            <a:r>
              <a:rPr lang="en-US" altLang="en-US" i="1">
                <a:latin typeface="Times New Roman" panose="02020603050405020304" pitchFamily="18" charset="0"/>
              </a:rPr>
              <a:t>(In a small region of specialized muscle tissue in the posterior portion of the right atrium)</a:t>
            </a:r>
          </a:p>
        </p:txBody>
      </p:sp>
    </p:spTree>
    <p:extLst>
      <p:ext uri="{BB962C8B-B14F-4D97-AF65-F5344CB8AC3E}">
        <p14:creationId xmlns:p14="http://schemas.microsoft.com/office/powerpoint/2010/main" val="398391115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3600">
                <a:solidFill>
                  <a:schemeClr val="tx1"/>
                </a:solidFill>
                <a:latin typeface="Times New Roman" panose="02020603050405020304" pitchFamily="18" charset="0"/>
                <a:ea typeface="MS PGothic" panose="020B0600070205080204" pitchFamily="34" charset="-128"/>
              </a:defRPr>
            </a:lvl1pPr>
            <a:lvl2pPr marL="742950" indent="-285750">
              <a:defRPr sz="3600">
                <a:solidFill>
                  <a:schemeClr val="tx1"/>
                </a:solidFill>
                <a:latin typeface="Times New Roman" panose="02020603050405020304" pitchFamily="18" charset="0"/>
                <a:ea typeface="MS PGothic" panose="020B0600070205080204" pitchFamily="34" charset="-128"/>
              </a:defRPr>
            </a:lvl2pPr>
            <a:lvl3pPr marL="1143000" indent="-228600">
              <a:defRPr sz="3600">
                <a:solidFill>
                  <a:schemeClr val="tx1"/>
                </a:solidFill>
                <a:latin typeface="Times New Roman" panose="02020603050405020304" pitchFamily="18" charset="0"/>
                <a:ea typeface="MS PGothic" panose="020B0600070205080204" pitchFamily="34" charset="-128"/>
              </a:defRPr>
            </a:lvl3pPr>
            <a:lvl4pPr marL="1600200" indent="-228600">
              <a:defRPr sz="3600">
                <a:solidFill>
                  <a:schemeClr val="tx1"/>
                </a:solidFill>
                <a:latin typeface="Times New Roman" panose="02020603050405020304" pitchFamily="18" charset="0"/>
                <a:ea typeface="MS PGothic" panose="020B0600070205080204" pitchFamily="34" charset="-128"/>
              </a:defRPr>
            </a:lvl4pPr>
            <a:lvl5pPr marL="2057400" indent="-228600">
              <a:defRPr sz="36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9pPr>
          </a:lstStyle>
          <a:p>
            <a:fld id="{0543CD98-8CD1-4BC5-B83F-2AAB9DDF8D43}" type="slidenum">
              <a:rPr lang="en-US" altLang="en-US" sz="1200"/>
              <a:pPr/>
              <a:t>18</a:t>
            </a:fld>
            <a:endParaRPr lang="en-US" altLang="en-US" sz="1200"/>
          </a:p>
        </p:txBody>
      </p:sp>
      <p:sp>
        <p:nvSpPr>
          <p:cNvPr id="138243" name="Rectangle 2"/>
          <p:cNvSpPr>
            <a:spLocks noGrp="1" noRot="1" noChangeAspect="1" noChangeArrowheads="1" noTextEdit="1"/>
          </p:cNvSpPr>
          <p:nvPr>
            <p:ph type="sldImg"/>
          </p:nvPr>
        </p:nvSpPr>
        <p:spPr>
          <a:ln/>
        </p:spPr>
      </p:sp>
      <p:sp>
        <p:nvSpPr>
          <p:cNvPr id="138244"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buFontTx/>
              <a:buChar char="•"/>
            </a:pPr>
            <a:r>
              <a:rPr lang="en-US" altLang="en-US">
                <a:latin typeface="Times New Roman" panose="02020603050405020304" pitchFamily="18" charset="0"/>
              </a:rPr>
              <a:t> Where is the AV node? </a:t>
            </a:r>
            <a:r>
              <a:rPr lang="en-US" altLang="en-US" i="1">
                <a:latin typeface="Times New Roman" panose="02020603050405020304" pitchFamily="18" charset="0"/>
              </a:rPr>
              <a:t>(In the posterior portion of the interatrial septum)</a:t>
            </a:r>
          </a:p>
          <a:p>
            <a:pPr eaLnBrk="1" hangingPunct="1">
              <a:buFontTx/>
              <a:buChar char="•"/>
            </a:pPr>
            <a:r>
              <a:rPr lang="en-US" altLang="en-US">
                <a:latin typeface="Times New Roman" panose="02020603050405020304" pitchFamily="18" charset="0"/>
              </a:rPr>
              <a:t>The normal ECG shows five waves (deflections) that represent the electrical changes as a wave of excitation spreads through the heart. What are the deflections called? </a:t>
            </a:r>
            <a:r>
              <a:rPr lang="en-US" altLang="en-US" i="1">
                <a:latin typeface="Times New Roman" panose="02020603050405020304" pitchFamily="18" charset="0"/>
              </a:rPr>
              <a:t>(P, QRS, and T waves) </a:t>
            </a:r>
          </a:p>
        </p:txBody>
      </p:sp>
    </p:spTree>
    <p:extLst>
      <p:ext uri="{BB962C8B-B14F-4D97-AF65-F5344CB8AC3E}">
        <p14:creationId xmlns:p14="http://schemas.microsoft.com/office/powerpoint/2010/main" val="375179323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3600">
                <a:solidFill>
                  <a:schemeClr val="tx1"/>
                </a:solidFill>
                <a:latin typeface="Times New Roman" panose="02020603050405020304" pitchFamily="18" charset="0"/>
                <a:ea typeface="MS PGothic" panose="020B0600070205080204" pitchFamily="34" charset="-128"/>
              </a:defRPr>
            </a:lvl1pPr>
            <a:lvl2pPr marL="742950" indent="-285750">
              <a:defRPr sz="3600">
                <a:solidFill>
                  <a:schemeClr val="tx1"/>
                </a:solidFill>
                <a:latin typeface="Times New Roman" panose="02020603050405020304" pitchFamily="18" charset="0"/>
                <a:ea typeface="MS PGothic" panose="020B0600070205080204" pitchFamily="34" charset="-128"/>
              </a:defRPr>
            </a:lvl2pPr>
            <a:lvl3pPr marL="1143000" indent="-228600">
              <a:defRPr sz="3600">
                <a:solidFill>
                  <a:schemeClr val="tx1"/>
                </a:solidFill>
                <a:latin typeface="Times New Roman" panose="02020603050405020304" pitchFamily="18" charset="0"/>
                <a:ea typeface="MS PGothic" panose="020B0600070205080204" pitchFamily="34" charset="-128"/>
              </a:defRPr>
            </a:lvl3pPr>
            <a:lvl4pPr marL="1600200" indent="-228600">
              <a:defRPr sz="3600">
                <a:solidFill>
                  <a:schemeClr val="tx1"/>
                </a:solidFill>
                <a:latin typeface="Times New Roman" panose="02020603050405020304" pitchFamily="18" charset="0"/>
                <a:ea typeface="MS PGothic" panose="020B0600070205080204" pitchFamily="34" charset="-128"/>
              </a:defRPr>
            </a:lvl4pPr>
            <a:lvl5pPr marL="2057400" indent="-228600">
              <a:defRPr sz="36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9pPr>
          </a:lstStyle>
          <a:p>
            <a:fld id="{F2CF14A0-879B-49A0-9FFF-0DFEF5642F04}" type="slidenum">
              <a:rPr lang="en-US" altLang="en-US" sz="1200"/>
              <a:pPr/>
              <a:t>19</a:t>
            </a:fld>
            <a:endParaRPr lang="en-US" altLang="en-US" sz="1200"/>
          </a:p>
        </p:txBody>
      </p:sp>
      <p:sp>
        <p:nvSpPr>
          <p:cNvPr id="141315" name="Rectangle 2"/>
          <p:cNvSpPr>
            <a:spLocks noGrp="1" noRot="1" noChangeAspect="1" noChangeArrowheads="1" noTextEdit="1"/>
          </p:cNvSpPr>
          <p:nvPr>
            <p:ph type="sldImg"/>
          </p:nvPr>
        </p:nvSpPr>
        <p:spPr>
          <a:ln/>
        </p:spPr>
      </p:sp>
      <p:sp>
        <p:nvSpPr>
          <p:cNvPr id="141316"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buFontTx/>
              <a:buChar char="•"/>
            </a:pPr>
            <a:r>
              <a:rPr lang="en-US" altLang="en-US">
                <a:latin typeface="Times New Roman" panose="02020603050405020304" pitchFamily="18" charset="0"/>
              </a:rPr>
              <a:t> The ECG diagnoses electrical problems in the heart, such as arrhythmias.</a:t>
            </a:r>
          </a:p>
          <a:p>
            <a:pPr eaLnBrk="1" hangingPunct="1">
              <a:buFontTx/>
              <a:buChar char="•"/>
            </a:pPr>
            <a:r>
              <a:rPr lang="en-US" altLang="en-US">
                <a:latin typeface="Times New Roman" panose="02020603050405020304" pitchFamily="18" charset="0"/>
              </a:rPr>
              <a:t> Identify deflections on the ECG. </a:t>
            </a:r>
          </a:p>
          <a:p>
            <a:pPr eaLnBrk="1" hangingPunct="1">
              <a:buFontTx/>
              <a:buChar char="•"/>
            </a:pPr>
            <a:r>
              <a:rPr lang="en-US" altLang="en-US">
                <a:latin typeface="Times New Roman" panose="02020603050405020304" pitchFamily="18" charset="0"/>
              </a:rPr>
              <a:t> What is happening in the heart with each wave complex?</a:t>
            </a:r>
          </a:p>
        </p:txBody>
      </p:sp>
    </p:spTree>
    <p:extLst>
      <p:ext uri="{BB962C8B-B14F-4D97-AF65-F5344CB8AC3E}">
        <p14:creationId xmlns:p14="http://schemas.microsoft.com/office/powerpoint/2010/main" val="282166368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3600">
                <a:solidFill>
                  <a:schemeClr val="tx1"/>
                </a:solidFill>
                <a:latin typeface="Times New Roman" panose="02020603050405020304" pitchFamily="18" charset="0"/>
                <a:ea typeface="MS PGothic" panose="020B0600070205080204" pitchFamily="34" charset="-128"/>
              </a:defRPr>
            </a:lvl1pPr>
            <a:lvl2pPr marL="742950" indent="-285750">
              <a:defRPr sz="3600">
                <a:solidFill>
                  <a:schemeClr val="tx1"/>
                </a:solidFill>
                <a:latin typeface="Times New Roman" panose="02020603050405020304" pitchFamily="18" charset="0"/>
                <a:ea typeface="MS PGothic" panose="020B0600070205080204" pitchFamily="34" charset="-128"/>
              </a:defRPr>
            </a:lvl2pPr>
            <a:lvl3pPr marL="1143000" indent="-228600">
              <a:defRPr sz="3600">
                <a:solidFill>
                  <a:schemeClr val="tx1"/>
                </a:solidFill>
                <a:latin typeface="Times New Roman" panose="02020603050405020304" pitchFamily="18" charset="0"/>
                <a:ea typeface="MS PGothic" panose="020B0600070205080204" pitchFamily="34" charset="-128"/>
              </a:defRPr>
            </a:lvl3pPr>
            <a:lvl4pPr marL="1600200" indent="-228600">
              <a:defRPr sz="3600">
                <a:solidFill>
                  <a:schemeClr val="tx1"/>
                </a:solidFill>
                <a:latin typeface="Times New Roman" panose="02020603050405020304" pitchFamily="18" charset="0"/>
                <a:ea typeface="MS PGothic" panose="020B0600070205080204" pitchFamily="34" charset="-128"/>
              </a:defRPr>
            </a:lvl4pPr>
            <a:lvl5pPr marL="2057400" indent="-228600">
              <a:defRPr sz="36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9pPr>
          </a:lstStyle>
          <a:p>
            <a:fld id="{AC73A8C8-56A8-42AC-AB5C-9605A6DF5F07}" type="slidenum">
              <a:rPr lang="en-US" altLang="en-US" sz="1200"/>
              <a:pPr/>
              <a:t>20</a:t>
            </a:fld>
            <a:endParaRPr lang="en-US" altLang="en-US" sz="1200"/>
          </a:p>
        </p:txBody>
      </p:sp>
      <p:sp>
        <p:nvSpPr>
          <p:cNvPr id="142339" name="Rectangle 2"/>
          <p:cNvSpPr>
            <a:spLocks noGrp="1" noRot="1" noChangeAspect="1" noChangeArrowheads="1" noTextEdit="1"/>
          </p:cNvSpPr>
          <p:nvPr>
            <p:ph type="sldImg"/>
          </p:nvPr>
        </p:nvSpPr>
        <p:spPr>
          <a:ln/>
        </p:spPr>
      </p:sp>
      <p:sp>
        <p:nvSpPr>
          <p:cNvPr id="142340"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buFontTx/>
              <a:buChar char="•"/>
            </a:pPr>
            <a:r>
              <a:rPr lang="en-US" altLang="en-US">
                <a:latin typeface="Times New Roman" panose="02020603050405020304" pitchFamily="18" charset="0"/>
              </a:rPr>
              <a:t> The ECG diagnoses electrical problems in the heart, such as arrhythmias.</a:t>
            </a:r>
          </a:p>
          <a:p>
            <a:pPr eaLnBrk="1" hangingPunct="1">
              <a:buFontTx/>
              <a:buChar char="•"/>
            </a:pPr>
            <a:r>
              <a:rPr lang="en-US" altLang="en-US">
                <a:latin typeface="Times New Roman" panose="02020603050405020304" pitchFamily="18" charset="0"/>
              </a:rPr>
              <a:t> Identify deflections on the ECG. </a:t>
            </a:r>
          </a:p>
          <a:p>
            <a:pPr eaLnBrk="1" hangingPunct="1">
              <a:buFontTx/>
              <a:buChar char="•"/>
            </a:pPr>
            <a:r>
              <a:rPr lang="en-US" altLang="en-US">
                <a:latin typeface="Times New Roman" panose="02020603050405020304" pitchFamily="18" charset="0"/>
              </a:rPr>
              <a:t> What is happening in the heart with each wave complex?</a:t>
            </a:r>
          </a:p>
        </p:txBody>
      </p:sp>
    </p:spTree>
    <p:extLst>
      <p:ext uri="{BB962C8B-B14F-4D97-AF65-F5344CB8AC3E}">
        <p14:creationId xmlns:p14="http://schemas.microsoft.com/office/powerpoint/2010/main" val="375693419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3600">
                <a:solidFill>
                  <a:schemeClr val="tx1"/>
                </a:solidFill>
                <a:latin typeface="Times New Roman" panose="02020603050405020304" pitchFamily="18" charset="0"/>
                <a:ea typeface="MS PGothic" panose="020B0600070205080204" pitchFamily="34" charset="-128"/>
              </a:defRPr>
            </a:lvl1pPr>
            <a:lvl2pPr marL="742950" indent="-285750">
              <a:defRPr sz="3600">
                <a:solidFill>
                  <a:schemeClr val="tx1"/>
                </a:solidFill>
                <a:latin typeface="Times New Roman" panose="02020603050405020304" pitchFamily="18" charset="0"/>
                <a:ea typeface="MS PGothic" panose="020B0600070205080204" pitchFamily="34" charset="-128"/>
              </a:defRPr>
            </a:lvl2pPr>
            <a:lvl3pPr marL="1143000" indent="-228600">
              <a:defRPr sz="3600">
                <a:solidFill>
                  <a:schemeClr val="tx1"/>
                </a:solidFill>
                <a:latin typeface="Times New Roman" panose="02020603050405020304" pitchFamily="18" charset="0"/>
                <a:ea typeface="MS PGothic" panose="020B0600070205080204" pitchFamily="34" charset="-128"/>
              </a:defRPr>
            </a:lvl3pPr>
            <a:lvl4pPr marL="1600200" indent="-228600">
              <a:defRPr sz="3600">
                <a:solidFill>
                  <a:schemeClr val="tx1"/>
                </a:solidFill>
                <a:latin typeface="Times New Roman" panose="02020603050405020304" pitchFamily="18" charset="0"/>
                <a:ea typeface="MS PGothic" panose="020B0600070205080204" pitchFamily="34" charset="-128"/>
              </a:defRPr>
            </a:lvl4pPr>
            <a:lvl5pPr marL="2057400" indent="-228600">
              <a:defRPr sz="36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9pPr>
          </a:lstStyle>
          <a:p>
            <a:fld id="{F2A88D96-69A7-4241-BEB3-A495B4AC4220}" type="slidenum">
              <a:rPr lang="en-US" altLang="en-US" sz="1200"/>
              <a:pPr/>
              <a:t>21</a:t>
            </a:fld>
            <a:endParaRPr lang="en-US" altLang="en-US" sz="1200"/>
          </a:p>
        </p:txBody>
      </p:sp>
      <p:sp>
        <p:nvSpPr>
          <p:cNvPr id="143363" name="Rectangle 2"/>
          <p:cNvSpPr>
            <a:spLocks noGrp="1" noRot="1" noChangeAspect="1" noChangeArrowheads="1" noTextEdit="1"/>
          </p:cNvSpPr>
          <p:nvPr>
            <p:ph type="sldImg"/>
          </p:nvPr>
        </p:nvSpPr>
        <p:spPr>
          <a:ln/>
        </p:spPr>
      </p:sp>
      <p:sp>
        <p:nvSpPr>
          <p:cNvPr id="143364"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buFontTx/>
              <a:buChar char="•"/>
            </a:pPr>
            <a:r>
              <a:rPr lang="en-US" altLang="en-US">
                <a:latin typeface="Times New Roman" panose="02020603050405020304" pitchFamily="18" charset="0"/>
              </a:rPr>
              <a:t> The ECG diagnoses electrical problems in the heart, such as arrhythmias.</a:t>
            </a:r>
          </a:p>
          <a:p>
            <a:pPr eaLnBrk="1" hangingPunct="1">
              <a:buFontTx/>
              <a:buChar char="•"/>
            </a:pPr>
            <a:r>
              <a:rPr lang="en-US" altLang="en-US">
                <a:latin typeface="Times New Roman" panose="02020603050405020304" pitchFamily="18" charset="0"/>
              </a:rPr>
              <a:t> Identify deflections on the ECG. </a:t>
            </a:r>
          </a:p>
          <a:p>
            <a:pPr eaLnBrk="1" hangingPunct="1">
              <a:buFontTx/>
              <a:buChar char="•"/>
            </a:pPr>
            <a:r>
              <a:rPr lang="en-US" altLang="en-US">
                <a:latin typeface="Times New Roman" panose="02020603050405020304" pitchFamily="18" charset="0"/>
              </a:rPr>
              <a:t> What is happening in the heart with each wave complex?</a:t>
            </a:r>
          </a:p>
        </p:txBody>
      </p:sp>
    </p:spTree>
    <p:extLst>
      <p:ext uri="{BB962C8B-B14F-4D97-AF65-F5344CB8AC3E}">
        <p14:creationId xmlns:p14="http://schemas.microsoft.com/office/powerpoint/2010/main" val="334526203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3600">
                <a:solidFill>
                  <a:schemeClr val="tx1"/>
                </a:solidFill>
                <a:latin typeface="Times New Roman" panose="02020603050405020304" pitchFamily="18" charset="0"/>
                <a:ea typeface="MS PGothic" panose="020B0600070205080204" pitchFamily="34" charset="-128"/>
              </a:defRPr>
            </a:lvl1pPr>
            <a:lvl2pPr marL="742950" indent="-285750">
              <a:defRPr sz="3600">
                <a:solidFill>
                  <a:schemeClr val="tx1"/>
                </a:solidFill>
                <a:latin typeface="Times New Roman" panose="02020603050405020304" pitchFamily="18" charset="0"/>
                <a:ea typeface="MS PGothic" panose="020B0600070205080204" pitchFamily="34" charset="-128"/>
              </a:defRPr>
            </a:lvl2pPr>
            <a:lvl3pPr marL="1143000" indent="-228600">
              <a:defRPr sz="3600">
                <a:solidFill>
                  <a:schemeClr val="tx1"/>
                </a:solidFill>
                <a:latin typeface="Times New Roman" panose="02020603050405020304" pitchFamily="18" charset="0"/>
                <a:ea typeface="MS PGothic" panose="020B0600070205080204" pitchFamily="34" charset="-128"/>
              </a:defRPr>
            </a:lvl3pPr>
            <a:lvl4pPr marL="1600200" indent="-228600">
              <a:defRPr sz="3600">
                <a:solidFill>
                  <a:schemeClr val="tx1"/>
                </a:solidFill>
                <a:latin typeface="Times New Roman" panose="02020603050405020304" pitchFamily="18" charset="0"/>
                <a:ea typeface="MS PGothic" panose="020B0600070205080204" pitchFamily="34" charset="-128"/>
              </a:defRPr>
            </a:lvl4pPr>
            <a:lvl5pPr marL="2057400" indent="-228600">
              <a:defRPr sz="36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9pPr>
          </a:lstStyle>
          <a:p>
            <a:fld id="{AD84D0FD-AFB7-4A76-BF4B-BA39277CDF60}" type="slidenum">
              <a:rPr lang="en-US" altLang="en-US" sz="1200"/>
              <a:pPr/>
              <a:t>22</a:t>
            </a:fld>
            <a:endParaRPr lang="en-US" altLang="en-US" sz="1200"/>
          </a:p>
        </p:txBody>
      </p:sp>
      <p:sp>
        <p:nvSpPr>
          <p:cNvPr id="144387" name="Rectangle 2"/>
          <p:cNvSpPr>
            <a:spLocks noGrp="1" noRot="1" noChangeAspect="1" noChangeArrowheads="1" noTextEdit="1"/>
          </p:cNvSpPr>
          <p:nvPr>
            <p:ph type="sldImg"/>
          </p:nvPr>
        </p:nvSpPr>
        <p:spPr>
          <a:ln/>
        </p:spPr>
      </p:sp>
      <p:sp>
        <p:nvSpPr>
          <p:cNvPr id="144388"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buFontTx/>
              <a:buChar char="•"/>
            </a:pPr>
            <a:r>
              <a:rPr lang="en-US" altLang="en-US">
                <a:latin typeface="Times New Roman" panose="02020603050405020304" pitchFamily="18" charset="0"/>
              </a:rPr>
              <a:t> How does the sphygmomanometer work?</a:t>
            </a:r>
          </a:p>
          <a:p>
            <a:pPr eaLnBrk="1" hangingPunct="1">
              <a:buFontTx/>
              <a:buChar char="•"/>
            </a:pPr>
            <a:r>
              <a:rPr lang="en-US" altLang="en-US">
                <a:latin typeface="Times New Roman" panose="02020603050405020304" pitchFamily="18" charset="0"/>
              </a:rPr>
              <a:t> Compare this device to over-the-counter electronic monitors. </a:t>
            </a:r>
          </a:p>
          <a:p>
            <a:pPr eaLnBrk="1" hangingPunct="1">
              <a:buFontTx/>
              <a:buChar char="•"/>
            </a:pPr>
            <a:r>
              <a:rPr lang="en-US" altLang="en-US">
                <a:latin typeface="Times New Roman" panose="02020603050405020304" pitchFamily="18" charset="0"/>
              </a:rPr>
              <a:t> What effect does exercise have on blood pressure measurements? </a:t>
            </a:r>
          </a:p>
          <a:p>
            <a:pPr eaLnBrk="1" hangingPunct="1">
              <a:buFontTx/>
              <a:buChar char="•"/>
            </a:pPr>
            <a:r>
              <a:rPr lang="en-US" altLang="en-US">
                <a:latin typeface="Times New Roman" panose="02020603050405020304" pitchFamily="18" charset="0"/>
              </a:rPr>
              <a:t> What causes increases and decreases in blood pressure?</a:t>
            </a:r>
          </a:p>
        </p:txBody>
      </p:sp>
    </p:spTree>
    <p:extLst>
      <p:ext uri="{BB962C8B-B14F-4D97-AF65-F5344CB8AC3E}">
        <p14:creationId xmlns:p14="http://schemas.microsoft.com/office/powerpoint/2010/main" val="284877862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3600">
                <a:solidFill>
                  <a:schemeClr val="tx1"/>
                </a:solidFill>
                <a:latin typeface="Times New Roman" panose="02020603050405020304" pitchFamily="18" charset="0"/>
                <a:ea typeface="MS PGothic" panose="020B0600070205080204" pitchFamily="34" charset="-128"/>
              </a:defRPr>
            </a:lvl1pPr>
            <a:lvl2pPr marL="742950" indent="-285750">
              <a:defRPr sz="3600">
                <a:solidFill>
                  <a:schemeClr val="tx1"/>
                </a:solidFill>
                <a:latin typeface="Times New Roman" panose="02020603050405020304" pitchFamily="18" charset="0"/>
                <a:ea typeface="MS PGothic" panose="020B0600070205080204" pitchFamily="34" charset="-128"/>
              </a:defRPr>
            </a:lvl2pPr>
            <a:lvl3pPr marL="1143000" indent="-228600">
              <a:defRPr sz="3600">
                <a:solidFill>
                  <a:schemeClr val="tx1"/>
                </a:solidFill>
                <a:latin typeface="Times New Roman" panose="02020603050405020304" pitchFamily="18" charset="0"/>
                <a:ea typeface="MS PGothic" panose="020B0600070205080204" pitchFamily="34" charset="-128"/>
              </a:defRPr>
            </a:lvl3pPr>
            <a:lvl4pPr marL="1600200" indent="-228600">
              <a:defRPr sz="3600">
                <a:solidFill>
                  <a:schemeClr val="tx1"/>
                </a:solidFill>
                <a:latin typeface="Times New Roman" panose="02020603050405020304" pitchFamily="18" charset="0"/>
                <a:ea typeface="MS PGothic" panose="020B0600070205080204" pitchFamily="34" charset="-128"/>
              </a:defRPr>
            </a:lvl4pPr>
            <a:lvl5pPr marL="2057400" indent="-228600">
              <a:defRPr sz="36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9pPr>
          </a:lstStyle>
          <a:p>
            <a:fld id="{EB7B2DF6-F7ED-4D34-BD4F-3786F69D2864}" type="slidenum">
              <a:rPr lang="en-US" altLang="en-US" sz="1200"/>
              <a:pPr/>
              <a:t>49</a:t>
            </a:fld>
            <a:endParaRPr lang="en-US" altLang="en-US" sz="1200"/>
          </a:p>
        </p:txBody>
      </p:sp>
      <p:sp>
        <p:nvSpPr>
          <p:cNvPr id="149507" name="Rectangle 2"/>
          <p:cNvSpPr>
            <a:spLocks noGrp="1" noRot="1" noChangeAspect="1" noChangeArrowheads="1" noTextEdit="1"/>
          </p:cNvSpPr>
          <p:nvPr>
            <p:ph type="sldImg"/>
          </p:nvPr>
        </p:nvSpPr>
        <p:spPr>
          <a:ln/>
        </p:spPr>
      </p:sp>
      <p:sp>
        <p:nvSpPr>
          <p:cNvPr id="149508"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rPr>
              <a:t>The correct answer is A: pericardium.</a:t>
            </a:r>
          </a:p>
        </p:txBody>
      </p:sp>
    </p:spTree>
    <p:extLst>
      <p:ext uri="{BB962C8B-B14F-4D97-AF65-F5344CB8AC3E}">
        <p14:creationId xmlns:p14="http://schemas.microsoft.com/office/powerpoint/2010/main" val="257625241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3600">
                <a:solidFill>
                  <a:schemeClr val="tx1"/>
                </a:solidFill>
                <a:latin typeface="Times New Roman" panose="02020603050405020304" pitchFamily="18" charset="0"/>
                <a:ea typeface="MS PGothic" panose="020B0600070205080204" pitchFamily="34" charset="-128"/>
              </a:defRPr>
            </a:lvl1pPr>
            <a:lvl2pPr marL="742950" indent="-285750">
              <a:defRPr sz="3600">
                <a:solidFill>
                  <a:schemeClr val="tx1"/>
                </a:solidFill>
                <a:latin typeface="Times New Roman" panose="02020603050405020304" pitchFamily="18" charset="0"/>
                <a:ea typeface="MS PGothic" panose="020B0600070205080204" pitchFamily="34" charset="-128"/>
              </a:defRPr>
            </a:lvl2pPr>
            <a:lvl3pPr marL="1143000" indent="-228600">
              <a:defRPr sz="3600">
                <a:solidFill>
                  <a:schemeClr val="tx1"/>
                </a:solidFill>
                <a:latin typeface="Times New Roman" panose="02020603050405020304" pitchFamily="18" charset="0"/>
                <a:ea typeface="MS PGothic" panose="020B0600070205080204" pitchFamily="34" charset="-128"/>
              </a:defRPr>
            </a:lvl3pPr>
            <a:lvl4pPr marL="1600200" indent="-228600">
              <a:defRPr sz="3600">
                <a:solidFill>
                  <a:schemeClr val="tx1"/>
                </a:solidFill>
                <a:latin typeface="Times New Roman" panose="02020603050405020304" pitchFamily="18" charset="0"/>
                <a:ea typeface="MS PGothic" panose="020B0600070205080204" pitchFamily="34" charset="-128"/>
              </a:defRPr>
            </a:lvl4pPr>
            <a:lvl5pPr marL="2057400" indent="-228600">
              <a:defRPr sz="36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9pPr>
          </a:lstStyle>
          <a:p>
            <a:fld id="{B2F600D6-EA84-4D63-83C5-7C2845D0B36F}" type="slidenum">
              <a:rPr lang="en-US" altLang="en-US" sz="1200"/>
              <a:pPr/>
              <a:t>50</a:t>
            </a:fld>
            <a:endParaRPr lang="en-US" altLang="en-US" sz="1200"/>
          </a:p>
        </p:txBody>
      </p:sp>
      <p:sp>
        <p:nvSpPr>
          <p:cNvPr id="150531" name="Rectangle 2"/>
          <p:cNvSpPr>
            <a:spLocks noGrp="1" noRot="1" noChangeAspect="1" noChangeArrowheads="1" noTextEdit="1"/>
          </p:cNvSpPr>
          <p:nvPr>
            <p:ph type="sldImg"/>
          </p:nvPr>
        </p:nvSpPr>
        <p:spPr>
          <a:ln/>
        </p:spPr>
      </p:sp>
      <p:sp>
        <p:nvSpPr>
          <p:cNvPr id="150532"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rPr>
              <a:t>The correct answer is C: systole.</a:t>
            </a:r>
          </a:p>
        </p:txBody>
      </p:sp>
    </p:spTree>
    <p:extLst>
      <p:ext uri="{BB962C8B-B14F-4D97-AF65-F5344CB8AC3E}">
        <p14:creationId xmlns:p14="http://schemas.microsoft.com/office/powerpoint/2010/main" val="394134096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3600">
                <a:solidFill>
                  <a:schemeClr val="tx1"/>
                </a:solidFill>
                <a:latin typeface="Times New Roman" panose="02020603050405020304" pitchFamily="18" charset="0"/>
                <a:ea typeface="MS PGothic" panose="020B0600070205080204" pitchFamily="34" charset="-128"/>
              </a:defRPr>
            </a:lvl1pPr>
            <a:lvl2pPr marL="742950" indent="-285750">
              <a:defRPr sz="3600">
                <a:solidFill>
                  <a:schemeClr val="tx1"/>
                </a:solidFill>
                <a:latin typeface="Times New Roman" panose="02020603050405020304" pitchFamily="18" charset="0"/>
                <a:ea typeface="MS PGothic" panose="020B0600070205080204" pitchFamily="34" charset="-128"/>
              </a:defRPr>
            </a:lvl2pPr>
            <a:lvl3pPr marL="1143000" indent="-228600">
              <a:defRPr sz="3600">
                <a:solidFill>
                  <a:schemeClr val="tx1"/>
                </a:solidFill>
                <a:latin typeface="Times New Roman" panose="02020603050405020304" pitchFamily="18" charset="0"/>
                <a:ea typeface="MS PGothic" panose="020B0600070205080204" pitchFamily="34" charset="-128"/>
              </a:defRPr>
            </a:lvl3pPr>
            <a:lvl4pPr marL="1600200" indent="-228600">
              <a:defRPr sz="3600">
                <a:solidFill>
                  <a:schemeClr val="tx1"/>
                </a:solidFill>
                <a:latin typeface="Times New Roman" panose="02020603050405020304" pitchFamily="18" charset="0"/>
                <a:ea typeface="MS PGothic" panose="020B0600070205080204" pitchFamily="34" charset="-128"/>
              </a:defRPr>
            </a:lvl4pPr>
            <a:lvl5pPr marL="2057400" indent="-228600">
              <a:defRPr sz="36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9pPr>
          </a:lstStyle>
          <a:p>
            <a:fld id="{83817ECE-2371-4AF0-8AE8-51488F6CB7D7}" type="slidenum">
              <a:rPr lang="en-US" altLang="en-US" sz="1200"/>
              <a:pPr/>
              <a:t>51</a:t>
            </a:fld>
            <a:endParaRPr lang="en-US" altLang="en-US" sz="1200"/>
          </a:p>
        </p:txBody>
      </p:sp>
      <p:sp>
        <p:nvSpPr>
          <p:cNvPr id="151555" name="Rectangle 2"/>
          <p:cNvSpPr>
            <a:spLocks noGrp="1" noRot="1" noChangeAspect="1" noChangeArrowheads="1" noTextEdit="1"/>
          </p:cNvSpPr>
          <p:nvPr>
            <p:ph type="sldImg"/>
          </p:nvPr>
        </p:nvSpPr>
        <p:spPr>
          <a:ln/>
        </p:spPr>
      </p:sp>
      <p:sp>
        <p:nvSpPr>
          <p:cNvPr id="151556"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GB" altLang="en-US">
              <a:latin typeface="Times New Roman" panose="02020603050405020304" pitchFamily="18" charset="0"/>
            </a:endParaRPr>
          </a:p>
        </p:txBody>
      </p:sp>
    </p:spTree>
    <p:extLst>
      <p:ext uri="{BB962C8B-B14F-4D97-AF65-F5344CB8AC3E}">
        <p14:creationId xmlns:p14="http://schemas.microsoft.com/office/powerpoint/2010/main" val="45994480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3600">
                <a:solidFill>
                  <a:schemeClr val="tx1"/>
                </a:solidFill>
                <a:latin typeface="Times New Roman" panose="02020603050405020304" pitchFamily="18" charset="0"/>
                <a:ea typeface="MS PGothic" panose="020B0600070205080204" pitchFamily="34" charset="-128"/>
              </a:defRPr>
            </a:lvl1pPr>
            <a:lvl2pPr marL="742950" indent="-285750">
              <a:defRPr sz="3600">
                <a:solidFill>
                  <a:schemeClr val="tx1"/>
                </a:solidFill>
                <a:latin typeface="Times New Roman" panose="02020603050405020304" pitchFamily="18" charset="0"/>
                <a:ea typeface="MS PGothic" panose="020B0600070205080204" pitchFamily="34" charset="-128"/>
              </a:defRPr>
            </a:lvl2pPr>
            <a:lvl3pPr marL="1143000" indent="-228600">
              <a:defRPr sz="3600">
                <a:solidFill>
                  <a:schemeClr val="tx1"/>
                </a:solidFill>
                <a:latin typeface="Times New Roman" panose="02020603050405020304" pitchFamily="18" charset="0"/>
                <a:ea typeface="MS PGothic" panose="020B0600070205080204" pitchFamily="34" charset="-128"/>
              </a:defRPr>
            </a:lvl3pPr>
            <a:lvl4pPr marL="1600200" indent="-228600">
              <a:defRPr sz="3600">
                <a:solidFill>
                  <a:schemeClr val="tx1"/>
                </a:solidFill>
                <a:latin typeface="Times New Roman" panose="02020603050405020304" pitchFamily="18" charset="0"/>
                <a:ea typeface="MS PGothic" panose="020B0600070205080204" pitchFamily="34" charset="-128"/>
              </a:defRPr>
            </a:lvl4pPr>
            <a:lvl5pPr marL="2057400" indent="-228600">
              <a:defRPr sz="36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9pPr>
          </a:lstStyle>
          <a:p>
            <a:fld id="{31863ABB-4D49-43D3-BFD0-D383D6D3E63B}" type="slidenum">
              <a:rPr lang="en-US" altLang="en-US" sz="1200"/>
              <a:pPr/>
              <a:t>52</a:t>
            </a:fld>
            <a:endParaRPr lang="en-US" altLang="en-US" sz="1200"/>
          </a:p>
        </p:txBody>
      </p:sp>
      <p:sp>
        <p:nvSpPr>
          <p:cNvPr id="152579" name="Rectangle 2"/>
          <p:cNvSpPr>
            <a:spLocks noGrp="1" noRot="1" noChangeAspect="1" noChangeArrowheads="1" noTextEdit="1"/>
          </p:cNvSpPr>
          <p:nvPr>
            <p:ph type="sldImg"/>
          </p:nvPr>
        </p:nvSpPr>
        <p:spPr>
          <a:ln/>
        </p:spPr>
      </p:sp>
      <p:sp>
        <p:nvSpPr>
          <p:cNvPr id="152580"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buFontTx/>
              <a:buChar char="•"/>
            </a:pPr>
            <a:r>
              <a:rPr lang="en-US" altLang="en-US">
                <a:latin typeface="Times New Roman" panose="02020603050405020304" pitchFamily="18" charset="0"/>
              </a:rPr>
              <a:t> What device establishes normal heart rhythm?</a:t>
            </a:r>
          </a:p>
          <a:p>
            <a:pPr eaLnBrk="1" hangingPunct="1">
              <a:buFontTx/>
              <a:buChar char="•"/>
            </a:pPr>
            <a:r>
              <a:rPr lang="en-US" altLang="en-US">
                <a:latin typeface="Times New Roman" panose="02020603050405020304" pitchFamily="18" charset="0"/>
              </a:rPr>
              <a:t> What term describes the action of applying a defibrillator to give an electric shock to the heart?</a:t>
            </a:r>
          </a:p>
          <a:p>
            <a:pPr eaLnBrk="1" hangingPunct="1">
              <a:buFontTx/>
              <a:buChar char="•"/>
            </a:pPr>
            <a:r>
              <a:rPr lang="en-US" altLang="en-US">
                <a:latin typeface="Times New Roman" panose="02020603050405020304" pitchFamily="18" charset="0"/>
              </a:rPr>
              <a:t> On the list, which terms are associated with </a:t>
            </a:r>
            <a:r>
              <a:rPr lang="ja-JP" altLang="en-US">
                <a:latin typeface="Times New Roman" panose="02020603050405020304" pitchFamily="18" charset="0"/>
              </a:rPr>
              <a:t>“</a:t>
            </a:r>
            <a:r>
              <a:rPr lang="en-US" altLang="ja-JP">
                <a:latin typeface="Times New Roman" panose="02020603050405020304" pitchFamily="18" charset="0"/>
              </a:rPr>
              <a:t>palpitations</a:t>
            </a:r>
            <a:r>
              <a:rPr lang="ja-JP" altLang="en-US">
                <a:latin typeface="Times New Roman" panose="02020603050405020304" pitchFamily="18" charset="0"/>
              </a:rPr>
              <a:t>”</a:t>
            </a:r>
            <a:r>
              <a:rPr lang="en-US" altLang="ja-JP">
                <a:latin typeface="Times New Roman" panose="02020603050405020304" pitchFamily="18" charset="0"/>
              </a:rPr>
              <a:t>?</a:t>
            </a:r>
            <a:endParaRPr lang="en-US" altLang="en-US">
              <a:latin typeface="Times New Roman" panose="02020603050405020304" pitchFamily="18" charset="0"/>
            </a:endParaRPr>
          </a:p>
        </p:txBody>
      </p:sp>
    </p:spTree>
    <p:extLst>
      <p:ext uri="{BB962C8B-B14F-4D97-AF65-F5344CB8AC3E}">
        <p14:creationId xmlns:p14="http://schemas.microsoft.com/office/powerpoint/2010/main" val="72196744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3600">
                <a:solidFill>
                  <a:schemeClr val="tx1"/>
                </a:solidFill>
                <a:latin typeface="Times New Roman" panose="02020603050405020304" pitchFamily="18" charset="0"/>
                <a:ea typeface="MS PGothic" panose="020B0600070205080204" pitchFamily="34" charset="-128"/>
              </a:defRPr>
            </a:lvl1pPr>
            <a:lvl2pPr marL="742950" indent="-285750">
              <a:defRPr sz="3600">
                <a:solidFill>
                  <a:schemeClr val="tx1"/>
                </a:solidFill>
                <a:latin typeface="Times New Roman" panose="02020603050405020304" pitchFamily="18" charset="0"/>
                <a:ea typeface="MS PGothic" panose="020B0600070205080204" pitchFamily="34" charset="-128"/>
              </a:defRPr>
            </a:lvl2pPr>
            <a:lvl3pPr marL="1143000" indent="-228600">
              <a:defRPr sz="3600">
                <a:solidFill>
                  <a:schemeClr val="tx1"/>
                </a:solidFill>
                <a:latin typeface="Times New Roman" panose="02020603050405020304" pitchFamily="18" charset="0"/>
                <a:ea typeface="MS PGothic" panose="020B0600070205080204" pitchFamily="34" charset="-128"/>
              </a:defRPr>
            </a:lvl3pPr>
            <a:lvl4pPr marL="1600200" indent="-228600">
              <a:defRPr sz="3600">
                <a:solidFill>
                  <a:schemeClr val="tx1"/>
                </a:solidFill>
                <a:latin typeface="Times New Roman" panose="02020603050405020304" pitchFamily="18" charset="0"/>
                <a:ea typeface="MS PGothic" panose="020B0600070205080204" pitchFamily="34" charset="-128"/>
              </a:defRPr>
            </a:lvl4pPr>
            <a:lvl5pPr marL="2057400" indent="-228600">
              <a:defRPr sz="36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9pPr>
          </a:lstStyle>
          <a:p>
            <a:fld id="{637A460D-DB39-48C9-8591-5FFECEE18502}" type="slidenum">
              <a:rPr lang="en-US" altLang="en-US" sz="1200"/>
              <a:pPr/>
              <a:t>53</a:t>
            </a:fld>
            <a:endParaRPr lang="en-US" altLang="en-US" sz="1200"/>
          </a:p>
        </p:txBody>
      </p:sp>
      <p:sp>
        <p:nvSpPr>
          <p:cNvPr id="153603" name="Rectangle 2"/>
          <p:cNvSpPr>
            <a:spLocks noGrp="1" noRot="1" noChangeAspect="1" noChangeArrowheads="1" noTextEdit="1"/>
          </p:cNvSpPr>
          <p:nvPr>
            <p:ph type="sldImg"/>
          </p:nvPr>
        </p:nvSpPr>
        <p:spPr>
          <a:ln/>
        </p:spPr>
      </p:sp>
      <p:sp>
        <p:nvSpPr>
          <p:cNvPr id="153604"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buFontTx/>
              <a:buChar char="•"/>
            </a:pPr>
            <a:r>
              <a:rPr lang="en-US" altLang="en-US">
                <a:latin typeface="Times New Roman" panose="02020603050405020304" pitchFamily="18" charset="0"/>
              </a:rPr>
              <a:t> What is a </a:t>
            </a:r>
            <a:r>
              <a:rPr lang="ja-JP" altLang="en-US">
                <a:latin typeface="Times New Roman" panose="02020603050405020304" pitchFamily="18" charset="0"/>
              </a:rPr>
              <a:t>“</a:t>
            </a:r>
            <a:r>
              <a:rPr lang="en-US" altLang="ja-JP">
                <a:latin typeface="Times New Roman" panose="02020603050405020304" pitchFamily="18" charset="0"/>
              </a:rPr>
              <a:t>blue baby</a:t>
            </a:r>
            <a:r>
              <a:rPr lang="ja-JP" altLang="en-US">
                <a:latin typeface="Times New Roman" panose="02020603050405020304" pitchFamily="18" charset="0"/>
              </a:rPr>
              <a:t>”</a:t>
            </a:r>
            <a:r>
              <a:rPr lang="en-US" altLang="ja-JP">
                <a:latin typeface="Times New Roman" panose="02020603050405020304" pitchFamily="18" charset="0"/>
              </a:rPr>
              <a:t>?</a:t>
            </a:r>
          </a:p>
          <a:p>
            <a:pPr eaLnBrk="1" hangingPunct="1">
              <a:buFontTx/>
              <a:buChar char="•"/>
            </a:pPr>
            <a:r>
              <a:rPr lang="en-US" altLang="en-US">
                <a:latin typeface="Times New Roman" panose="02020603050405020304" pitchFamily="18" charset="0"/>
              </a:rPr>
              <a:t> In terms of septal defects, what are two recent procedures that serve as alternatives to traditional surgery? </a:t>
            </a:r>
            <a:r>
              <a:rPr lang="en-US" altLang="en-US" i="1">
                <a:latin typeface="Times New Roman" panose="02020603050405020304" pitchFamily="18" charset="0"/>
              </a:rPr>
              <a:t>(Trans-catheter closure and minimally invasive heart surgery)</a:t>
            </a:r>
          </a:p>
        </p:txBody>
      </p:sp>
    </p:spTree>
    <p:extLst>
      <p:ext uri="{BB962C8B-B14F-4D97-AF65-F5344CB8AC3E}">
        <p14:creationId xmlns:p14="http://schemas.microsoft.com/office/powerpoint/2010/main" val="305510536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3600">
                <a:solidFill>
                  <a:schemeClr val="tx1"/>
                </a:solidFill>
                <a:latin typeface="Times New Roman" panose="02020603050405020304" pitchFamily="18" charset="0"/>
                <a:ea typeface="MS PGothic" panose="020B0600070205080204" pitchFamily="34" charset="-128"/>
              </a:defRPr>
            </a:lvl1pPr>
            <a:lvl2pPr marL="742950" indent="-285750">
              <a:defRPr sz="3600">
                <a:solidFill>
                  <a:schemeClr val="tx1"/>
                </a:solidFill>
                <a:latin typeface="Times New Roman" panose="02020603050405020304" pitchFamily="18" charset="0"/>
                <a:ea typeface="MS PGothic" panose="020B0600070205080204" pitchFamily="34" charset="-128"/>
              </a:defRPr>
            </a:lvl2pPr>
            <a:lvl3pPr marL="1143000" indent="-228600">
              <a:defRPr sz="3600">
                <a:solidFill>
                  <a:schemeClr val="tx1"/>
                </a:solidFill>
                <a:latin typeface="Times New Roman" panose="02020603050405020304" pitchFamily="18" charset="0"/>
                <a:ea typeface="MS PGothic" panose="020B0600070205080204" pitchFamily="34" charset="-128"/>
              </a:defRPr>
            </a:lvl3pPr>
            <a:lvl4pPr marL="1600200" indent="-228600">
              <a:defRPr sz="3600">
                <a:solidFill>
                  <a:schemeClr val="tx1"/>
                </a:solidFill>
                <a:latin typeface="Times New Roman" panose="02020603050405020304" pitchFamily="18" charset="0"/>
                <a:ea typeface="MS PGothic" panose="020B0600070205080204" pitchFamily="34" charset="-128"/>
              </a:defRPr>
            </a:lvl4pPr>
            <a:lvl5pPr marL="2057400" indent="-228600">
              <a:defRPr sz="36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9pPr>
          </a:lstStyle>
          <a:p>
            <a:fld id="{6634A5C9-F4D7-4201-AC0C-A40BB52B1277}" type="slidenum">
              <a:rPr lang="en-US" altLang="en-US" sz="1200"/>
              <a:pPr/>
              <a:t>54</a:t>
            </a:fld>
            <a:endParaRPr lang="en-US" altLang="en-US" sz="1200"/>
          </a:p>
        </p:txBody>
      </p:sp>
      <p:sp>
        <p:nvSpPr>
          <p:cNvPr id="154627" name="Rectangle 2"/>
          <p:cNvSpPr>
            <a:spLocks noGrp="1" noRot="1" noChangeAspect="1" noChangeArrowheads="1" noTextEdit="1"/>
          </p:cNvSpPr>
          <p:nvPr>
            <p:ph type="sldImg"/>
          </p:nvPr>
        </p:nvSpPr>
        <p:spPr>
          <a:ln/>
        </p:spPr>
      </p:sp>
      <p:sp>
        <p:nvSpPr>
          <p:cNvPr id="154628"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buFontTx/>
              <a:buChar char="•"/>
            </a:pPr>
            <a:r>
              <a:rPr lang="en-US" altLang="en-US">
                <a:latin typeface="Times New Roman" panose="02020603050405020304" pitchFamily="18" charset="0"/>
              </a:rPr>
              <a:t> What drugs improve the performance of the heart and its pumping activity? </a:t>
            </a:r>
            <a:r>
              <a:rPr lang="en-US" altLang="en-US" i="1">
                <a:latin typeface="Times New Roman" panose="02020603050405020304" pitchFamily="18" charset="0"/>
              </a:rPr>
              <a:t>(Angiotensin-converting enzyme (ACE) inhibitors and beta-blockers)</a:t>
            </a:r>
          </a:p>
          <a:p>
            <a:pPr eaLnBrk="1" hangingPunct="1">
              <a:buFontTx/>
              <a:buChar char="•"/>
            </a:pPr>
            <a:r>
              <a:rPr lang="en-US" altLang="en-US">
                <a:latin typeface="Times New Roman" panose="02020603050405020304" pitchFamily="18" charset="0"/>
              </a:rPr>
              <a:t> What device do patients awaiting a transplant use to help assist the heart</a:t>
            </a:r>
            <a:r>
              <a:rPr lang="ja-JP" altLang="en-US">
                <a:latin typeface="Times New Roman" panose="02020603050405020304" pitchFamily="18" charset="0"/>
              </a:rPr>
              <a:t>’</a:t>
            </a:r>
            <a:r>
              <a:rPr lang="en-US" altLang="ja-JP">
                <a:latin typeface="Times New Roman" panose="02020603050405020304" pitchFamily="18" charset="0"/>
              </a:rPr>
              <a:t>s pumping? </a:t>
            </a:r>
            <a:r>
              <a:rPr lang="en-US" altLang="ja-JP" i="1">
                <a:latin typeface="Times New Roman" panose="02020603050405020304" pitchFamily="18" charset="0"/>
              </a:rPr>
              <a:t>(A left ventricular assist device or LVAD)</a:t>
            </a:r>
            <a:endParaRPr lang="en-US" altLang="en-US" i="1">
              <a:latin typeface="Times New Roman" panose="02020603050405020304" pitchFamily="18" charset="0"/>
            </a:endParaRPr>
          </a:p>
        </p:txBody>
      </p:sp>
    </p:spTree>
    <p:extLst>
      <p:ext uri="{BB962C8B-B14F-4D97-AF65-F5344CB8AC3E}">
        <p14:creationId xmlns:p14="http://schemas.microsoft.com/office/powerpoint/2010/main" val="340393125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3600">
                <a:solidFill>
                  <a:schemeClr val="tx1"/>
                </a:solidFill>
                <a:latin typeface="Times New Roman" panose="02020603050405020304" pitchFamily="18" charset="0"/>
                <a:ea typeface="MS PGothic" panose="020B0600070205080204" pitchFamily="34" charset="-128"/>
              </a:defRPr>
            </a:lvl1pPr>
            <a:lvl2pPr marL="742950" indent="-285750">
              <a:defRPr sz="3600">
                <a:solidFill>
                  <a:schemeClr val="tx1"/>
                </a:solidFill>
                <a:latin typeface="Times New Roman" panose="02020603050405020304" pitchFamily="18" charset="0"/>
                <a:ea typeface="MS PGothic" panose="020B0600070205080204" pitchFamily="34" charset="-128"/>
              </a:defRPr>
            </a:lvl2pPr>
            <a:lvl3pPr marL="1143000" indent="-228600">
              <a:defRPr sz="3600">
                <a:solidFill>
                  <a:schemeClr val="tx1"/>
                </a:solidFill>
                <a:latin typeface="Times New Roman" panose="02020603050405020304" pitchFamily="18" charset="0"/>
                <a:ea typeface="MS PGothic" panose="020B0600070205080204" pitchFamily="34" charset="-128"/>
              </a:defRPr>
            </a:lvl3pPr>
            <a:lvl4pPr marL="1600200" indent="-228600">
              <a:defRPr sz="3600">
                <a:solidFill>
                  <a:schemeClr val="tx1"/>
                </a:solidFill>
                <a:latin typeface="Times New Roman" panose="02020603050405020304" pitchFamily="18" charset="0"/>
                <a:ea typeface="MS PGothic" panose="020B0600070205080204" pitchFamily="34" charset="-128"/>
              </a:defRPr>
            </a:lvl4pPr>
            <a:lvl5pPr marL="2057400" indent="-228600">
              <a:defRPr sz="36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9pPr>
          </a:lstStyle>
          <a:p>
            <a:fld id="{0AD3E637-612F-4BB6-A647-FE6E1AC8C45A}" type="slidenum">
              <a:rPr lang="en-US" altLang="en-US" sz="1200"/>
              <a:pPr/>
              <a:t>55</a:t>
            </a:fld>
            <a:endParaRPr lang="en-US" altLang="en-US" sz="1200"/>
          </a:p>
        </p:txBody>
      </p:sp>
      <p:sp>
        <p:nvSpPr>
          <p:cNvPr id="155651" name="Rectangle 2"/>
          <p:cNvSpPr>
            <a:spLocks noGrp="1" noRot="1" noChangeAspect="1" noChangeArrowheads="1" noTextEdit="1"/>
          </p:cNvSpPr>
          <p:nvPr>
            <p:ph type="sldImg"/>
          </p:nvPr>
        </p:nvSpPr>
        <p:spPr>
          <a:ln/>
        </p:spPr>
      </p:sp>
      <p:sp>
        <p:nvSpPr>
          <p:cNvPr id="155652"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buFontTx/>
              <a:buChar char="•"/>
            </a:pPr>
            <a:r>
              <a:rPr lang="en-US" altLang="en-US">
                <a:latin typeface="Times New Roman" panose="02020603050405020304" pitchFamily="18" charset="0"/>
              </a:rPr>
              <a:t> What is atherosclerosis? </a:t>
            </a:r>
            <a:r>
              <a:rPr lang="en-US" altLang="en-US" i="1">
                <a:latin typeface="Times New Roman" panose="02020603050405020304" pitchFamily="18" charset="0"/>
              </a:rPr>
              <a:t>(The deposition of fatty compounds on the inner lining of the coronary arteries)</a:t>
            </a:r>
          </a:p>
          <a:p>
            <a:pPr eaLnBrk="1" hangingPunct="1">
              <a:buFontTx/>
              <a:buChar char="•"/>
            </a:pPr>
            <a:r>
              <a:rPr lang="en-US" altLang="en-US">
                <a:latin typeface="Times New Roman" panose="02020603050405020304" pitchFamily="18" charset="0"/>
              </a:rPr>
              <a:t> What is ACS? </a:t>
            </a:r>
            <a:r>
              <a:rPr lang="en-US" altLang="en-US" i="1">
                <a:latin typeface="Times New Roman" panose="02020603050405020304" pitchFamily="18" charset="0"/>
              </a:rPr>
              <a:t>(It describes the consequences after plaque rupture in coronary arteries.)</a:t>
            </a:r>
          </a:p>
          <a:p>
            <a:pPr eaLnBrk="1" hangingPunct="1">
              <a:buFontTx/>
              <a:buChar char="•"/>
            </a:pPr>
            <a:r>
              <a:rPr lang="en-US" altLang="en-US">
                <a:latin typeface="Times New Roman" panose="02020603050405020304" pitchFamily="18" charset="0"/>
              </a:rPr>
              <a:t> What is unstable angina? </a:t>
            </a:r>
            <a:r>
              <a:rPr lang="en-US" altLang="en-US" i="1">
                <a:latin typeface="Times New Roman" panose="02020603050405020304" pitchFamily="18" charset="0"/>
              </a:rPr>
              <a:t>(Chest pain at rest or chest pain of increasing frequency)</a:t>
            </a:r>
          </a:p>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269637653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3600">
                <a:solidFill>
                  <a:schemeClr val="tx1"/>
                </a:solidFill>
                <a:latin typeface="Times New Roman" panose="02020603050405020304" pitchFamily="18" charset="0"/>
                <a:ea typeface="MS PGothic" panose="020B0600070205080204" pitchFamily="34" charset="-128"/>
              </a:defRPr>
            </a:lvl1pPr>
            <a:lvl2pPr marL="742950" indent="-285750">
              <a:defRPr sz="3600">
                <a:solidFill>
                  <a:schemeClr val="tx1"/>
                </a:solidFill>
                <a:latin typeface="Times New Roman" panose="02020603050405020304" pitchFamily="18" charset="0"/>
                <a:ea typeface="MS PGothic" panose="020B0600070205080204" pitchFamily="34" charset="-128"/>
              </a:defRPr>
            </a:lvl2pPr>
            <a:lvl3pPr marL="1143000" indent="-228600">
              <a:defRPr sz="3600">
                <a:solidFill>
                  <a:schemeClr val="tx1"/>
                </a:solidFill>
                <a:latin typeface="Times New Roman" panose="02020603050405020304" pitchFamily="18" charset="0"/>
                <a:ea typeface="MS PGothic" panose="020B0600070205080204" pitchFamily="34" charset="-128"/>
              </a:defRPr>
            </a:lvl3pPr>
            <a:lvl4pPr marL="1600200" indent="-228600">
              <a:defRPr sz="3600">
                <a:solidFill>
                  <a:schemeClr val="tx1"/>
                </a:solidFill>
                <a:latin typeface="Times New Roman" panose="02020603050405020304" pitchFamily="18" charset="0"/>
                <a:ea typeface="MS PGothic" panose="020B0600070205080204" pitchFamily="34" charset="-128"/>
              </a:defRPr>
            </a:lvl4pPr>
            <a:lvl5pPr marL="2057400" indent="-228600">
              <a:defRPr sz="36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9pPr>
          </a:lstStyle>
          <a:p>
            <a:fld id="{346332B5-89B5-4BFD-ADDA-EC1B73B196AE}" type="slidenum">
              <a:rPr lang="en-US" altLang="en-US" sz="1200"/>
              <a:pPr/>
              <a:t>56</a:t>
            </a:fld>
            <a:endParaRPr lang="en-US" altLang="en-US" sz="1200"/>
          </a:p>
        </p:txBody>
      </p:sp>
      <p:sp>
        <p:nvSpPr>
          <p:cNvPr id="156675" name="Rectangle 2"/>
          <p:cNvSpPr>
            <a:spLocks noGrp="1" noRot="1" noChangeAspect="1" noChangeArrowheads="1" noTextEdit="1"/>
          </p:cNvSpPr>
          <p:nvPr>
            <p:ph type="sldImg"/>
          </p:nvPr>
        </p:nvSpPr>
        <p:spPr>
          <a:ln/>
        </p:spPr>
      </p:sp>
      <p:sp>
        <p:nvSpPr>
          <p:cNvPr id="156676"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buFontTx/>
              <a:buChar char="•"/>
            </a:pPr>
            <a:r>
              <a:rPr lang="en-US" altLang="en-US">
                <a:latin typeface="Times New Roman" panose="02020603050405020304" pitchFamily="18" charset="0"/>
              </a:rPr>
              <a:t> What drug is given for acute attacks of angina? </a:t>
            </a:r>
            <a:r>
              <a:rPr lang="en-US" altLang="en-US" i="1">
                <a:latin typeface="Times New Roman" panose="02020603050405020304" pitchFamily="18" charset="0"/>
              </a:rPr>
              <a:t>(Nitroglycerin is given sublingually.)</a:t>
            </a:r>
          </a:p>
          <a:p>
            <a:pPr eaLnBrk="1" hangingPunct="1">
              <a:buFontTx/>
              <a:buChar char="•"/>
            </a:pPr>
            <a:r>
              <a:rPr lang="en-US" altLang="en-US">
                <a:latin typeface="Times New Roman" panose="02020603050405020304" pitchFamily="18" charset="0"/>
              </a:rPr>
              <a:t> This drug is one of several nitrates that is a powerful vasodilator that increases coronary blood flow and lowers blood pressure.</a:t>
            </a:r>
          </a:p>
          <a:p>
            <a:pPr eaLnBrk="1" hangingPunct="1">
              <a:buFontTx/>
              <a:buChar char="•"/>
            </a:pPr>
            <a:r>
              <a:rPr lang="en-US" altLang="en-US">
                <a:latin typeface="Times New Roman" panose="02020603050405020304" pitchFamily="18" charset="0"/>
              </a:rPr>
              <a:t> What do statins do? </a:t>
            </a:r>
          </a:p>
        </p:txBody>
      </p:sp>
    </p:spTree>
    <p:extLst>
      <p:ext uri="{BB962C8B-B14F-4D97-AF65-F5344CB8AC3E}">
        <p14:creationId xmlns:p14="http://schemas.microsoft.com/office/powerpoint/2010/main" val="345609801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3600">
                <a:solidFill>
                  <a:schemeClr val="tx1"/>
                </a:solidFill>
                <a:latin typeface="Times New Roman" panose="02020603050405020304" pitchFamily="18" charset="0"/>
                <a:ea typeface="MS PGothic" panose="020B0600070205080204" pitchFamily="34" charset="-128"/>
              </a:defRPr>
            </a:lvl1pPr>
            <a:lvl2pPr marL="742950" indent="-285750">
              <a:defRPr sz="3600">
                <a:solidFill>
                  <a:schemeClr val="tx1"/>
                </a:solidFill>
                <a:latin typeface="Times New Roman" panose="02020603050405020304" pitchFamily="18" charset="0"/>
                <a:ea typeface="MS PGothic" panose="020B0600070205080204" pitchFamily="34" charset="-128"/>
              </a:defRPr>
            </a:lvl2pPr>
            <a:lvl3pPr marL="1143000" indent="-228600">
              <a:defRPr sz="3600">
                <a:solidFill>
                  <a:schemeClr val="tx1"/>
                </a:solidFill>
                <a:latin typeface="Times New Roman" panose="02020603050405020304" pitchFamily="18" charset="0"/>
                <a:ea typeface="MS PGothic" panose="020B0600070205080204" pitchFamily="34" charset="-128"/>
              </a:defRPr>
            </a:lvl3pPr>
            <a:lvl4pPr marL="1600200" indent="-228600">
              <a:defRPr sz="3600">
                <a:solidFill>
                  <a:schemeClr val="tx1"/>
                </a:solidFill>
                <a:latin typeface="Times New Roman" panose="02020603050405020304" pitchFamily="18" charset="0"/>
                <a:ea typeface="MS PGothic" panose="020B0600070205080204" pitchFamily="34" charset="-128"/>
              </a:defRPr>
            </a:lvl4pPr>
            <a:lvl5pPr marL="2057400" indent="-228600">
              <a:defRPr sz="36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9pPr>
          </a:lstStyle>
          <a:p>
            <a:fld id="{403129B4-F489-4C8B-8D9B-5E8EE18F763F}" type="slidenum">
              <a:rPr lang="en-US" altLang="en-US" sz="1200"/>
              <a:pPr/>
              <a:t>57</a:t>
            </a:fld>
            <a:endParaRPr lang="en-US" altLang="en-US" sz="1200"/>
          </a:p>
        </p:txBody>
      </p:sp>
      <p:sp>
        <p:nvSpPr>
          <p:cNvPr id="157699" name="Rectangle 2"/>
          <p:cNvSpPr>
            <a:spLocks noGrp="1" noRot="1" noChangeAspect="1" noChangeArrowheads="1" noTextEdit="1"/>
          </p:cNvSpPr>
          <p:nvPr>
            <p:ph type="sldImg"/>
          </p:nvPr>
        </p:nvSpPr>
        <p:spPr>
          <a:ln/>
        </p:spPr>
      </p:sp>
      <p:sp>
        <p:nvSpPr>
          <p:cNvPr id="157700"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buFontTx/>
              <a:buChar char="•"/>
            </a:pPr>
            <a:r>
              <a:rPr lang="en-US" altLang="en-US">
                <a:latin typeface="Times New Roman" panose="02020603050405020304" pitchFamily="18" charset="0"/>
              </a:rPr>
              <a:t> What is CABG? </a:t>
            </a:r>
            <a:r>
              <a:rPr lang="en-US" altLang="en-US" i="1">
                <a:latin typeface="Times New Roman" panose="02020603050405020304" pitchFamily="18" charset="0"/>
              </a:rPr>
              <a:t>(An open heart operation to treat coronary artery disease by replacing clogged vessels)</a:t>
            </a:r>
          </a:p>
          <a:p>
            <a:pPr eaLnBrk="1" hangingPunct="1">
              <a:buFontTx/>
              <a:buChar char="•"/>
            </a:pPr>
            <a:r>
              <a:rPr lang="en-US" altLang="en-US">
                <a:latin typeface="Times New Roman" panose="02020603050405020304" pitchFamily="18" charset="0"/>
              </a:rPr>
              <a:t> What is PTCA? </a:t>
            </a:r>
            <a:r>
              <a:rPr lang="en-US" altLang="en-US" i="1">
                <a:latin typeface="Times New Roman" panose="02020603050405020304" pitchFamily="18" charset="0"/>
              </a:rPr>
              <a:t>(Catheterization with balloons and stents to open clogged coronary arteries)</a:t>
            </a:r>
          </a:p>
          <a:p>
            <a:pPr eaLnBrk="1" hangingPunct="1">
              <a:buFontTx/>
              <a:buChar char="•"/>
            </a:pPr>
            <a:r>
              <a:rPr lang="en-US" altLang="en-US">
                <a:latin typeface="Times New Roman" panose="02020603050405020304" pitchFamily="18" charset="0"/>
              </a:rPr>
              <a:t> What is TMLR? </a:t>
            </a:r>
            <a:r>
              <a:rPr lang="en-US" altLang="en-US" i="1">
                <a:latin typeface="Times New Roman" panose="02020603050405020304" pitchFamily="18" charset="0"/>
              </a:rPr>
              <a:t>(</a:t>
            </a:r>
            <a:r>
              <a:rPr lang="en-US" altLang="en-US">
                <a:latin typeface="Times New Roman" panose="02020603050405020304" pitchFamily="18" charset="0"/>
              </a:rPr>
              <a:t>A</a:t>
            </a:r>
            <a:r>
              <a:rPr lang="en-US" altLang="en-US" i="1">
                <a:latin typeface="Times New Roman" panose="02020603050405020304" pitchFamily="18" charset="0"/>
              </a:rPr>
              <a:t> laser makes holes in the heart muscle to induce angiogenesis or growth of new blood vessels)</a:t>
            </a:r>
          </a:p>
        </p:txBody>
      </p:sp>
    </p:spTree>
    <p:extLst>
      <p:ext uri="{BB962C8B-B14F-4D97-AF65-F5344CB8AC3E}">
        <p14:creationId xmlns:p14="http://schemas.microsoft.com/office/powerpoint/2010/main" val="372456369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3600">
                <a:solidFill>
                  <a:schemeClr val="tx1"/>
                </a:solidFill>
                <a:latin typeface="Times New Roman" panose="02020603050405020304" pitchFamily="18" charset="0"/>
                <a:ea typeface="MS PGothic" panose="020B0600070205080204" pitchFamily="34" charset="-128"/>
              </a:defRPr>
            </a:lvl1pPr>
            <a:lvl2pPr marL="742950" indent="-285750">
              <a:defRPr sz="3600">
                <a:solidFill>
                  <a:schemeClr val="tx1"/>
                </a:solidFill>
                <a:latin typeface="Times New Roman" panose="02020603050405020304" pitchFamily="18" charset="0"/>
                <a:ea typeface="MS PGothic" panose="020B0600070205080204" pitchFamily="34" charset="-128"/>
              </a:defRPr>
            </a:lvl2pPr>
            <a:lvl3pPr marL="1143000" indent="-228600">
              <a:defRPr sz="3600">
                <a:solidFill>
                  <a:schemeClr val="tx1"/>
                </a:solidFill>
                <a:latin typeface="Times New Roman" panose="02020603050405020304" pitchFamily="18" charset="0"/>
                <a:ea typeface="MS PGothic" panose="020B0600070205080204" pitchFamily="34" charset="-128"/>
              </a:defRPr>
            </a:lvl3pPr>
            <a:lvl4pPr marL="1600200" indent="-228600">
              <a:defRPr sz="3600">
                <a:solidFill>
                  <a:schemeClr val="tx1"/>
                </a:solidFill>
                <a:latin typeface="Times New Roman" panose="02020603050405020304" pitchFamily="18" charset="0"/>
                <a:ea typeface="MS PGothic" panose="020B0600070205080204" pitchFamily="34" charset="-128"/>
              </a:defRPr>
            </a:lvl4pPr>
            <a:lvl5pPr marL="2057400" indent="-228600">
              <a:defRPr sz="36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9pPr>
          </a:lstStyle>
          <a:p>
            <a:fld id="{A76FBA93-2940-45E4-B264-BF3DDF3F62A9}" type="slidenum">
              <a:rPr lang="en-US" altLang="en-US" sz="1200"/>
              <a:pPr/>
              <a:t>58</a:t>
            </a:fld>
            <a:endParaRPr lang="en-US" altLang="en-US" sz="1200"/>
          </a:p>
        </p:txBody>
      </p:sp>
      <p:sp>
        <p:nvSpPr>
          <p:cNvPr id="158723" name="Rectangle 2"/>
          <p:cNvSpPr>
            <a:spLocks noGrp="1" noRot="1" noChangeAspect="1" noChangeArrowheads="1" noTextEdit="1"/>
          </p:cNvSpPr>
          <p:nvPr>
            <p:ph type="sldImg"/>
          </p:nvPr>
        </p:nvSpPr>
        <p:spPr>
          <a:ln/>
        </p:spPr>
      </p:sp>
      <p:sp>
        <p:nvSpPr>
          <p:cNvPr id="158724"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buFontTx/>
              <a:buChar char="•"/>
            </a:pPr>
            <a:r>
              <a:rPr lang="en-US" altLang="en-US">
                <a:latin typeface="Times New Roman" panose="02020603050405020304" pitchFamily="18" charset="0"/>
              </a:rPr>
              <a:t> What is endocarditis? </a:t>
            </a:r>
            <a:r>
              <a:rPr lang="en-US" altLang="en-US" i="1">
                <a:latin typeface="Times New Roman" panose="02020603050405020304" pitchFamily="18" charset="0"/>
              </a:rPr>
              <a:t>(Inflammation of the inner lining of the heart caused by bacteria)</a:t>
            </a:r>
          </a:p>
          <a:p>
            <a:pPr eaLnBrk="1" hangingPunct="1">
              <a:buFontTx/>
              <a:buChar char="•"/>
            </a:pPr>
            <a:r>
              <a:rPr lang="en-US" altLang="en-US">
                <a:latin typeface="Times New Roman" panose="02020603050405020304" pitchFamily="18" charset="0"/>
              </a:rPr>
              <a:t> What is MVP? </a:t>
            </a:r>
            <a:r>
              <a:rPr lang="en-US" altLang="en-US" i="1">
                <a:latin typeface="Times New Roman" panose="02020603050405020304" pitchFamily="18" charset="0"/>
              </a:rPr>
              <a:t>(Improper closure of the mitral valve)</a:t>
            </a:r>
          </a:p>
          <a:p>
            <a:pPr eaLnBrk="1" hangingPunct="1">
              <a:buFontTx/>
              <a:buChar char="•"/>
            </a:pPr>
            <a:r>
              <a:rPr lang="en-US" altLang="en-US">
                <a:latin typeface="Times New Roman" panose="02020603050405020304" pitchFamily="18" charset="0"/>
              </a:rPr>
              <a:t> What is rheumatic heart disease? </a:t>
            </a:r>
            <a:r>
              <a:rPr lang="en-US" altLang="en-US" i="1">
                <a:latin typeface="Times New Roman" panose="02020603050405020304" pitchFamily="18" charset="0"/>
              </a:rPr>
              <a:t>(Heart disease caused by rheumatic fever)</a:t>
            </a:r>
          </a:p>
        </p:txBody>
      </p:sp>
    </p:spTree>
    <p:extLst>
      <p:ext uri="{BB962C8B-B14F-4D97-AF65-F5344CB8AC3E}">
        <p14:creationId xmlns:p14="http://schemas.microsoft.com/office/powerpoint/2010/main" val="419405370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3600">
                <a:solidFill>
                  <a:schemeClr val="tx1"/>
                </a:solidFill>
                <a:latin typeface="Times New Roman" panose="02020603050405020304" pitchFamily="18" charset="0"/>
                <a:ea typeface="MS PGothic" panose="020B0600070205080204" pitchFamily="34" charset="-128"/>
              </a:defRPr>
            </a:lvl1pPr>
            <a:lvl2pPr marL="742950" indent="-285750">
              <a:defRPr sz="3600">
                <a:solidFill>
                  <a:schemeClr val="tx1"/>
                </a:solidFill>
                <a:latin typeface="Times New Roman" panose="02020603050405020304" pitchFamily="18" charset="0"/>
                <a:ea typeface="MS PGothic" panose="020B0600070205080204" pitchFamily="34" charset="-128"/>
              </a:defRPr>
            </a:lvl2pPr>
            <a:lvl3pPr marL="1143000" indent="-228600">
              <a:defRPr sz="3600">
                <a:solidFill>
                  <a:schemeClr val="tx1"/>
                </a:solidFill>
                <a:latin typeface="Times New Roman" panose="02020603050405020304" pitchFamily="18" charset="0"/>
                <a:ea typeface="MS PGothic" panose="020B0600070205080204" pitchFamily="34" charset="-128"/>
              </a:defRPr>
            </a:lvl3pPr>
            <a:lvl4pPr marL="1600200" indent="-228600">
              <a:defRPr sz="3600">
                <a:solidFill>
                  <a:schemeClr val="tx1"/>
                </a:solidFill>
                <a:latin typeface="Times New Roman" panose="02020603050405020304" pitchFamily="18" charset="0"/>
                <a:ea typeface="MS PGothic" panose="020B0600070205080204" pitchFamily="34" charset="-128"/>
              </a:defRPr>
            </a:lvl4pPr>
            <a:lvl5pPr marL="2057400" indent="-228600">
              <a:defRPr sz="36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9pPr>
          </a:lstStyle>
          <a:p>
            <a:fld id="{D627DD23-10DD-47B1-AC3F-E888F09241E1}" type="slidenum">
              <a:rPr lang="en-US" altLang="en-US" sz="1200"/>
              <a:pPr/>
              <a:t>59</a:t>
            </a:fld>
            <a:endParaRPr lang="en-US" altLang="en-US" sz="1200"/>
          </a:p>
        </p:txBody>
      </p:sp>
      <p:sp>
        <p:nvSpPr>
          <p:cNvPr id="159747" name="Rectangle 2"/>
          <p:cNvSpPr>
            <a:spLocks noGrp="1" noRot="1" noChangeAspect="1" noChangeArrowheads="1" noTextEdit="1"/>
          </p:cNvSpPr>
          <p:nvPr>
            <p:ph type="sldImg"/>
          </p:nvPr>
        </p:nvSpPr>
        <p:spPr>
          <a:ln/>
        </p:spPr>
      </p:sp>
      <p:sp>
        <p:nvSpPr>
          <p:cNvPr id="159748"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buFontTx/>
              <a:buChar char="•"/>
            </a:pPr>
            <a:r>
              <a:rPr lang="en-US" altLang="en-US">
                <a:latin typeface="Times New Roman" panose="02020603050405020304" pitchFamily="18" charset="0"/>
              </a:rPr>
              <a:t> What is PVD? </a:t>
            </a:r>
            <a:r>
              <a:rPr lang="en-US" altLang="en-US" i="1">
                <a:latin typeface="Times New Roman" panose="02020603050405020304" pitchFamily="18" charset="0"/>
              </a:rPr>
              <a:t>(Blockage of blood vessels outside the heart)</a:t>
            </a:r>
          </a:p>
          <a:p>
            <a:pPr eaLnBrk="1" hangingPunct="1">
              <a:buFontTx/>
              <a:buChar char="•"/>
            </a:pPr>
            <a:r>
              <a:rPr lang="en-US" altLang="en-US">
                <a:latin typeface="Times New Roman" panose="02020603050405020304" pitchFamily="18" charset="0"/>
              </a:rPr>
              <a:t> A sign of PVD in the lower extremities is intermittent claudication, an absence of pain or discomfort in a leg at rest, but a recurrence of pain, tension, and weakness after walking has begun.</a:t>
            </a:r>
          </a:p>
          <a:p>
            <a:pPr eaLnBrk="1" hangingPunct="1">
              <a:buFontTx/>
              <a:buChar char="•"/>
            </a:pPr>
            <a:r>
              <a:rPr lang="en-US" altLang="en-US">
                <a:latin typeface="Times New Roman" panose="02020603050405020304" pitchFamily="18" charset="0"/>
              </a:rPr>
              <a:t> What are the signs of Raynaud disease?</a:t>
            </a:r>
          </a:p>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338699095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3600">
                <a:solidFill>
                  <a:schemeClr val="tx1"/>
                </a:solidFill>
                <a:latin typeface="Times New Roman" panose="02020603050405020304" pitchFamily="18" charset="0"/>
                <a:ea typeface="MS PGothic" panose="020B0600070205080204" pitchFamily="34" charset="-128"/>
              </a:defRPr>
            </a:lvl1pPr>
            <a:lvl2pPr marL="742950" indent="-285750">
              <a:defRPr sz="3600">
                <a:solidFill>
                  <a:schemeClr val="tx1"/>
                </a:solidFill>
                <a:latin typeface="Times New Roman" panose="02020603050405020304" pitchFamily="18" charset="0"/>
                <a:ea typeface="MS PGothic" panose="020B0600070205080204" pitchFamily="34" charset="-128"/>
              </a:defRPr>
            </a:lvl2pPr>
            <a:lvl3pPr marL="1143000" indent="-228600">
              <a:defRPr sz="3600">
                <a:solidFill>
                  <a:schemeClr val="tx1"/>
                </a:solidFill>
                <a:latin typeface="Times New Roman" panose="02020603050405020304" pitchFamily="18" charset="0"/>
                <a:ea typeface="MS PGothic" panose="020B0600070205080204" pitchFamily="34" charset="-128"/>
              </a:defRPr>
            </a:lvl3pPr>
            <a:lvl4pPr marL="1600200" indent="-228600">
              <a:defRPr sz="3600">
                <a:solidFill>
                  <a:schemeClr val="tx1"/>
                </a:solidFill>
                <a:latin typeface="Times New Roman" panose="02020603050405020304" pitchFamily="18" charset="0"/>
                <a:ea typeface="MS PGothic" panose="020B0600070205080204" pitchFamily="34" charset="-128"/>
              </a:defRPr>
            </a:lvl4pPr>
            <a:lvl5pPr marL="2057400" indent="-228600">
              <a:defRPr sz="36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9pPr>
          </a:lstStyle>
          <a:p>
            <a:fld id="{1DA9F24B-CFD0-4035-A184-D75D8CFE609F}" type="slidenum">
              <a:rPr lang="en-US" altLang="en-US" sz="1200"/>
              <a:pPr/>
              <a:t>60</a:t>
            </a:fld>
            <a:endParaRPr lang="en-US" altLang="en-US" sz="1200"/>
          </a:p>
        </p:txBody>
      </p:sp>
      <p:sp>
        <p:nvSpPr>
          <p:cNvPr id="160771" name="Rectangle 2"/>
          <p:cNvSpPr>
            <a:spLocks noGrp="1" noRot="1" noChangeAspect="1" noChangeArrowheads="1" noTextEdit="1"/>
          </p:cNvSpPr>
          <p:nvPr>
            <p:ph type="sldImg"/>
          </p:nvPr>
        </p:nvSpPr>
        <p:spPr>
          <a:ln/>
        </p:spPr>
      </p:sp>
      <p:sp>
        <p:nvSpPr>
          <p:cNvPr id="160772"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rPr>
              <a:t>The correct answer is A: fibrillation.</a:t>
            </a:r>
          </a:p>
        </p:txBody>
      </p:sp>
    </p:spTree>
    <p:extLst>
      <p:ext uri="{BB962C8B-B14F-4D97-AF65-F5344CB8AC3E}">
        <p14:creationId xmlns:p14="http://schemas.microsoft.com/office/powerpoint/2010/main" val="41112220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3600">
                <a:solidFill>
                  <a:schemeClr val="tx1"/>
                </a:solidFill>
                <a:latin typeface="Times New Roman" panose="02020603050405020304" pitchFamily="18" charset="0"/>
                <a:ea typeface="MS PGothic" panose="020B0600070205080204" pitchFamily="34" charset="-128"/>
              </a:defRPr>
            </a:lvl1pPr>
            <a:lvl2pPr marL="742950" indent="-285750">
              <a:defRPr sz="3600">
                <a:solidFill>
                  <a:schemeClr val="tx1"/>
                </a:solidFill>
                <a:latin typeface="Times New Roman" panose="02020603050405020304" pitchFamily="18" charset="0"/>
                <a:ea typeface="MS PGothic" panose="020B0600070205080204" pitchFamily="34" charset="-128"/>
              </a:defRPr>
            </a:lvl2pPr>
            <a:lvl3pPr marL="1143000" indent="-228600">
              <a:defRPr sz="3600">
                <a:solidFill>
                  <a:schemeClr val="tx1"/>
                </a:solidFill>
                <a:latin typeface="Times New Roman" panose="02020603050405020304" pitchFamily="18" charset="0"/>
                <a:ea typeface="MS PGothic" panose="020B0600070205080204" pitchFamily="34" charset="-128"/>
              </a:defRPr>
            </a:lvl3pPr>
            <a:lvl4pPr marL="1600200" indent="-228600">
              <a:defRPr sz="3600">
                <a:solidFill>
                  <a:schemeClr val="tx1"/>
                </a:solidFill>
                <a:latin typeface="Times New Roman" panose="02020603050405020304" pitchFamily="18" charset="0"/>
                <a:ea typeface="MS PGothic" panose="020B0600070205080204" pitchFamily="34" charset="-128"/>
              </a:defRPr>
            </a:lvl4pPr>
            <a:lvl5pPr marL="2057400" indent="-228600">
              <a:defRPr sz="36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9pPr>
          </a:lstStyle>
          <a:p>
            <a:fld id="{3CB459ED-EDCF-4F32-B215-764CB28E3041}" type="slidenum">
              <a:rPr lang="en-US" altLang="en-US" sz="1200"/>
              <a:pPr/>
              <a:t>61</a:t>
            </a:fld>
            <a:endParaRPr lang="en-US" altLang="en-US" sz="1200"/>
          </a:p>
        </p:txBody>
      </p:sp>
      <p:sp>
        <p:nvSpPr>
          <p:cNvPr id="161795" name="Rectangle 2"/>
          <p:cNvSpPr>
            <a:spLocks noGrp="1" noRot="1" noChangeAspect="1" noChangeArrowheads="1" noTextEdit="1"/>
          </p:cNvSpPr>
          <p:nvPr>
            <p:ph type="sldImg"/>
          </p:nvPr>
        </p:nvSpPr>
        <p:spPr>
          <a:ln/>
        </p:spPr>
      </p:sp>
      <p:sp>
        <p:nvSpPr>
          <p:cNvPr id="161796"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GB" altLang="en-US">
              <a:latin typeface="Times New Roman" panose="02020603050405020304" pitchFamily="18" charset="0"/>
            </a:endParaRPr>
          </a:p>
        </p:txBody>
      </p:sp>
    </p:spTree>
    <p:extLst>
      <p:ext uri="{BB962C8B-B14F-4D97-AF65-F5344CB8AC3E}">
        <p14:creationId xmlns:p14="http://schemas.microsoft.com/office/powerpoint/2010/main" val="312972840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3600">
                <a:solidFill>
                  <a:schemeClr val="tx1"/>
                </a:solidFill>
                <a:latin typeface="Times New Roman" panose="02020603050405020304" pitchFamily="18" charset="0"/>
                <a:ea typeface="MS PGothic" panose="020B0600070205080204" pitchFamily="34" charset="-128"/>
              </a:defRPr>
            </a:lvl1pPr>
            <a:lvl2pPr marL="742950" indent="-285750">
              <a:defRPr sz="3600">
                <a:solidFill>
                  <a:schemeClr val="tx1"/>
                </a:solidFill>
                <a:latin typeface="Times New Roman" panose="02020603050405020304" pitchFamily="18" charset="0"/>
                <a:ea typeface="MS PGothic" panose="020B0600070205080204" pitchFamily="34" charset="-128"/>
              </a:defRPr>
            </a:lvl2pPr>
            <a:lvl3pPr marL="1143000" indent="-228600">
              <a:defRPr sz="3600">
                <a:solidFill>
                  <a:schemeClr val="tx1"/>
                </a:solidFill>
                <a:latin typeface="Times New Roman" panose="02020603050405020304" pitchFamily="18" charset="0"/>
                <a:ea typeface="MS PGothic" panose="020B0600070205080204" pitchFamily="34" charset="-128"/>
              </a:defRPr>
            </a:lvl3pPr>
            <a:lvl4pPr marL="1600200" indent="-228600">
              <a:defRPr sz="3600">
                <a:solidFill>
                  <a:schemeClr val="tx1"/>
                </a:solidFill>
                <a:latin typeface="Times New Roman" panose="02020603050405020304" pitchFamily="18" charset="0"/>
                <a:ea typeface="MS PGothic" panose="020B0600070205080204" pitchFamily="34" charset="-128"/>
              </a:defRPr>
            </a:lvl4pPr>
            <a:lvl5pPr marL="2057400" indent="-228600">
              <a:defRPr sz="36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9pPr>
          </a:lstStyle>
          <a:p>
            <a:fld id="{E2C45B55-FD40-474D-A54E-00458ACCB699}" type="slidenum">
              <a:rPr lang="en-US" altLang="en-US" sz="1200"/>
              <a:pPr/>
              <a:t>62</a:t>
            </a:fld>
            <a:endParaRPr lang="en-US" altLang="en-US" sz="1200"/>
          </a:p>
        </p:txBody>
      </p:sp>
      <p:sp>
        <p:nvSpPr>
          <p:cNvPr id="162819" name="Rectangle 2"/>
          <p:cNvSpPr>
            <a:spLocks noGrp="1" noRot="1" noChangeAspect="1" noChangeArrowheads="1" noTextEdit="1"/>
          </p:cNvSpPr>
          <p:nvPr>
            <p:ph type="sldImg"/>
          </p:nvPr>
        </p:nvSpPr>
        <p:spPr>
          <a:ln/>
        </p:spPr>
      </p:sp>
      <p:sp>
        <p:nvSpPr>
          <p:cNvPr id="162820"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buFontTx/>
              <a:buChar char="•"/>
            </a:pPr>
            <a:r>
              <a:rPr lang="en-US" altLang="en-US">
                <a:latin typeface="Times New Roman" panose="02020603050405020304" pitchFamily="18" charset="0"/>
              </a:rPr>
              <a:t> What are lipid tests? </a:t>
            </a:r>
          </a:p>
          <a:p>
            <a:pPr eaLnBrk="1" hangingPunct="1">
              <a:buFontTx/>
              <a:buChar char="•"/>
            </a:pPr>
            <a:r>
              <a:rPr lang="en-US" altLang="en-US">
                <a:latin typeface="Times New Roman" panose="02020603050405020304" pitchFamily="18" charset="0"/>
              </a:rPr>
              <a:t> What is lipoprotein electrophoresis? Why is this test ordered?</a:t>
            </a:r>
          </a:p>
          <a:p>
            <a:pPr eaLnBrk="1" hangingPunct="1">
              <a:buFontTx/>
              <a:buChar char="•"/>
            </a:pPr>
            <a:r>
              <a:rPr lang="en-US" altLang="en-US">
                <a:latin typeface="Times New Roman" panose="02020603050405020304" pitchFamily="18" charset="0"/>
              </a:rPr>
              <a:t> What are serum enzyme tests? Why is this test ordered?</a:t>
            </a:r>
          </a:p>
        </p:txBody>
      </p:sp>
    </p:spTree>
    <p:extLst>
      <p:ext uri="{BB962C8B-B14F-4D97-AF65-F5344CB8AC3E}">
        <p14:creationId xmlns:p14="http://schemas.microsoft.com/office/powerpoint/2010/main" val="428787764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3600">
                <a:solidFill>
                  <a:schemeClr val="tx1"/>
                </a:solidFill>
                <a:latin typeface="Times New Roman" panose="02020603050405020304" pitchFamily="18" charset="0"/>
                <a:ea typeface="MS PGothic" panose="020B0600070205080204" pitchFamily="34" charset="-128"/>
              </a:defRPr>
            </a:lvl1pPr>
            <a:lvl2pPr marL="742950" indent="-285750">
              <a:defRPr sz="3600">
                <a:solidFill>
                  <a:schemeClr val="tx1"/>
                </a:solidFill>
                <a:latin typeface="Times New Roman" panose="02020603050405020304" pitchFamily="18" charset="0"/>
                <a:ea typeface="MS PGothic" panose="020B0600070205080204" pitchFamily="34" charset="-128"/>
              </a:defRPr>
            </a:lvl2pPr>
            <a:lvl3pPr marL="1143000" indent="-228600">
              <a:defRPr sz="3600">
                <a:solidFill>
                  <a:schemeClr val="tx1"/>
                </a:solidFill>
                <a:latin typeface="Times New Roman" panose="02020603050405020304" pitchFamily="18" charset="0"/>
                <a:ea typeface="MS PGothic" panose="020B0600070205080204" pitchFamily="34" charset="-128"/>
              </a:defRPr>
            </a:lvl3pPr>
            <a:lvl4pPr marL="1600200" indent="-228600">
              <a:defRPr sz="3600">
                <a:solidFill>
                  <a:schemeClr val="tx1"/>
                </a:solidFill>
                <a:latin typeface="Times New Roman" panose="02020603050405020304" pitchFamily="18" charset="0"/>
                <a:ea typeface="MS PGothic" panose="020B0600070205080204" pitchFamily="34" charset="-128"/>
              </a:defRPr>
            </a:lvl4pPr>
            <a:lvl5pPr marL="2057400" indent="-228600">
              <a:defRPr sz="36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9pPr>
          </a:lstStyle>
          <a:p>
            <a:fld id="{5D1D481F-0894-483F-A072-657C7DFDD3F9}" type="slidenum">
              <a:rPr lang="en-US" altLang="en-US" sz="1200"/>
              <a:pPr/>
              <a:t>63</a:t>
            </a:fld>
            <a:endParaRPr lang="en-US" altLang="en-US" sz="1200"/>
          </a:p>
        </p:txBody>
      </p:sp>
      <p:sp>
        <p:nvSpPr>
          <p:cNvPr id="163843" name="Rectangle 2"/>
          <p:cNvSpPr>
            <a:spLocks noGrp="1" noRot="1" noChangeAspect="1" noChangeArrowheads="1" noTextEdit="1"/>
          </p:cNvSpPr>
          <p:nvPr>
            <p:ph type="sldImg"/>
          </p:nvPr>
        </p:nvSpPr>
        <p:spPr>
          <a:ln/>
        </p:spPr>
      </p:sp>
      <p:sp>
        <p:nvSpPr>
          <p:cNvPr id="163844"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buFontTx/>
              <a:buChar char="•"/>
            </a:pPr>
            <a:r>
              <a:rPr lang="en-US" altLang="en-US">
                <a:latin typeface="Times New Roman" panose="02020603050405020304" pitchFamily="18" charset="0"/>
              </a:rPr>
              <a:t> What determines when each of these tests should be used? </a:t>
            </a:r>
          </a:p>
          <a:p>
            <a:pPr eaLnBrk="1" hangingPunct="1">
              <a:buFontTx/>
              <a:buChar char="•"/>
            </a:pPr>
            <a:r>
              <a:rPr lang="en-US" altLang="en-US">
                <a:latin typeface="Times New Roman" panose="02020603050405020304" pitchFamily="18" charset="0"/>
              </a:rPr>
              <a:t> Differentiate between invasive and noninvasive diagnostic tests.</a:t>
            </a:r>
          </a:p>
        </p:txBody>
      </p:sp>
    </p:spTree>
    <p:extLst>
      <p:ext uri="{BB962C8B-B14F-4D97-AF65-F5344CB8AC3E}">
        <p14:creationId xmlns:p14="http://schemas.microsoft.com/office/powerpoint/2010/main" val="208375983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3600">
                <a:solidFill>
                  <a:schemeClr val="tx1"/>
                </a:solidFill>
                <a:latin typeface="Times New Roman" panose="02020603050405020304" pitchFamily="18" charset="0"/>
                <a:ea typeface="MS PGothic" panose="020B0600070205080204" pitchFamily="34" charset="-128"/>
              </a:defRPr>
            </a:lvl1pPr>
            <a:lvl2pPr marL="742950" indent="-285750">
              <a:defRPr sz="3600">
                <a:solidFill>
                  <a:schemeClr val="tx1"/>
                </a:solidFill>
                <a:latin typeface="Times New Roman" panose="02020603050405020304" pitchFamily="18" charset="0"/>
                <a:ea typeface="MS PGothic" panose="020B0600070205080204" pitchFamily="34" charset="-128"/>
              </a:defRPr>
            </a:lvl2pPr>
            <a:lvl3pPr marL="1143000" indent="-228600">
              <a:defRPr sz="3600">
                <a:solidFill>
                  <a:schemeClr val="tx1"/>
                </a:solidFill>
                <a:latin typeface="Times New Roman" panose="02020603050405020304" pitchFamily="18" charset="0"/>
                <a:ea typeface="MS PGothic" panose="020B0600070205080204" pitchFamily="34" charset="-128"/>
              </a:defRPr>
            </a:lvl3pPr>
            <a:lvl4pPr marL="1600200" indent="-228600">
              <a:defRPr sz="3600">
                <a:solidFill>
                  <a:schemeClr val="tx1"/>
                </a:solidFill>
                <a:latin typeface="Times New Roman" panose="02020603050405020304" pitchFamily="18" charset="0"/>
                <a:ea typeface="MS PGothic" panose="020B0600070205080204" pitchFamily="34" charset="-128"/>
              </a:defRPr>
            </a:lvl4pPr>
            <a:lvl5pPr marL="2057400" indent="-228600">
              <a:defRPr sz="36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9pPr>
          </a:lstStyle>
          <a:p>
            <a:fld id="{C2F0E7CD-2B16-48F2-AA98-7B973757E4C6}" type="slidenum">
              <a:rPr lang="en-US" altLang="en-US" sz="1200"/>
              <a:pPr/>
              <a:t>64</a:t>
            </a:fld>
            <a:endParaRPr lang="en-US" altLang="en-US" sz="1200"/>
          </a:p>
        </p:txBody>
      </p:sp>
      <p:sp>
        <p:nvSpPr>
          <p:cNvPr id="164867" name="Rectangle 2"/>
          <p:cNvSpPr>
            <a:spLocks noGrp="1" noRot="1" noChangeAspect="1" noChangeArrowheads="1" noTextEdit="1"/>
          </p:cNvSpPr>
          <p:nvPr>
            <p:ph type="sldImg"/>
          </p:nvPr>
        </p:nvSpPr>
        <p:spPr>
          <a:ln/>
        </p:spPr>
      </p:sp>
      <p:sp>
        <p:nvSpPr>
          <p:cNvPr id="164868"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buFontTx/>
              <a:buChar char="•"/>
            </a:pPr>
            <a:r>
              <a:rPr lang="en-US" altLang="en-US">
                <a:latin typeface="Times New Roman" panose="02020603050405020304" pitchFamily="18" charset="0"/>
              </a:rPr>
              <a:t> Are there any risks or side effects from having these tests performed?</a:t>
            </a:r>
          </a:p>
        </p:txBody>
      </p:sp>
    </p:spTree>
    <p:extLst>
      <p:ext uri="{BB962C8B-B14F-4D97-AF65-F5344CB8AC3E}">
        <p14:creationId xmlns:p14="http://schemas.microsoft.com/office/powerpoint/2010/main" val="236466461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3600">
                <a:solidFill>
                  <a:schemeClr val="tx1"/>
                </a:solidFill>
                <a:latin typeface="Times New Roman" panose="02020603050405020304" pitchFamily="18" charset="0"/>
                <a:ea typeface="MS PGothic" panose="020B0600070205080204" pitchFamily="34" charset="-128"/>
              </a:defRPr>
            </a:lvl1pPr>
            <a:lvl2pPr marL="742950" indent="-285750">
              <a:defRPr sz="3600">
                <a:solidFill>
                  <a:schemeClr val="tx1"/>
                </a:solidFill>
                <a:latin typeface="Times New Roman" panose="02020603050405020304" pitchFamily="18" charset="0"/>
                <a:ea typeface="MS PGothic" panose="020B0600070205080204" pitchFamily="34" charset="-128"/>
              </a:defRPr>
            </a:lvl2pPr>
            <a:lvl3pPr marL="1143000" indent="-228600">
              <a:defRPr sz="3600">
                <a:solidFill>
                  <a:schemeClr val="tx1"/>
                </a:solidFill>
                <a:latin typeface="Times New Roman" panose="02020603050405020304" pitchFamily="18" charset="0"/>
                <a:ea typeface="MS PGothic" panose="020B0600070205080204" pitchFamily="34" charset="-128"/>
              </a:defRPr>
            </a:lvl3pPr>
            <a:lvl4pPr marL="1600200" indent="-228600">
              <a:defRPr sz="3600">
                <a:solidFill>
                  <a:schemeClr val="tx1"/>
                </a:solidFill>
                <a:latin typeface="Times New Roman" panose="02020603050405020304" pitchFamily="18" charset="0"/>
                <a:ea typeface="MS PGothic" panose="020B0600070205080204" pitchFamily="34" charset="-128"/>
              </a:defRPr>
            </a:lvl4pPr>
            <a:lvl5pPr marL="2057400" indent="-228600">
              <a:defRPr sz="36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9pPr>
          </a:lstStyle>
          <a:p>
            <a:fld id="{D5F8FCF6-714C-48D4-8595-9146571F3F47}" type="slidenum">
              <a:rPr lang="en-US" altLang="en-US" sz="1200"/>
              <a:pPr/>
              <a:t>65</a:t>
            </a:fld>
            <a:endParaRPr lang="en-US" altLang="en-US" sz="1200"/>
          </a:p>
        </p:txBody>
      </p:sp>
      <p:sp>
        <p:nvSpPr>
          <p:cNvPr id="165891" name="Rectangle 2"/>
          <p:cNvSpPr>
            <a:spLocks noGrp="1" noRot="1" noChangeAspect="1" noChangeArrowheads="1" noTextEdit="1"/>
          </p:cNvSpPr>
          <p:nvPr>
            <p:ph type="sldImg"/>
          </p:nvPr>
        </p:nvSpPr>
        <p:spPr>
          <a:ln/>
        </p:spPr>
      </p:sp>
      <p:sp>
        <p:nvSpPr>
          <p:cNvPr id="165892"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buFontTx/>
              <a:buChar char="•"/>
            </a:pPr>
            <a:r>
              <a:rPr lang="en-US" altLang="en-US">
                <a:latin typeface="Times New Roman" panose="02020603050405020304" pitchFamily="18" charset="0"/>
              </a:rPr>
              <a:t> What is the anticipated or theorized cardiac problem that leads a person to get a test? </a:t>
            </a:r>
          </a:p>
          <a:p>
            <a:pPr eaLnBrk="1" hangingPunct="1">
              <a:buFontTx/>
              <a:buChar char="•"/>
            </a:pPr>
            <a:r>
              <a:rPr lang="en-US" altLang="en-US">
                <a:latin typeface="Times New Roman" panose="02020603050405020304" pitchFamily="18" charset="0"/>
              </a:rPr>
              <a:t> Be as specific as possible when describing the procedures. Find one unique thing about each test that makes it memorable. Have the students help you do this.</a:t>
            </a:r>
          </a:p>
        </p:txBody>
      </p:sp>
    </p:spTree>
    <p:extLst>
      <p:ext uri="{BB962C8B-B14F-4D97-AF65-F5344CB8AC3E}">
        <p14:creationId xmlns:p14="http://schemas.microsoft.com/office/powerpoint/2010/main" val="236335183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3600">
                <a:solidFill>
                  <a:schemeClr val="tx1"/>
                </a:solidFill>
                <a:latin typeface="Times New Roman" panose="02020603050405020304" pitchFamily="18" charset="0"/>
                <a:ea typeface="MS PGothic" panose="020B0600070205080204" pitchFamily="34" charset="-128"/>
              </a:defRPr>
            </a:lvl1pPr>
            <a:lvl2pPr marL="742950" indent="-285750">
              <a:defRPr sz="3600">
                <a:solidFill>
                  <a:schemeClr val="tx1"/>
                </a:solidFill>
                <a:latin typeface="Times New Roman" panose="02020603050405020304" pitchFamily="18" charset="0"/>
                <a:ea typeface="MS PGothic" panose="020B0600070205080204" pitchFamily="34" charset="-128"/>
              </a:defRPr>
            </a:lvl2pPr>
            <a:lvl3pPr marL="1143000" indent="-228600">
              <a:defRPr sz="3600">
                <a:solidFill>
                  <a:schemeClr val="tx1"/>
                </a:solidFill>
                <a:latin typeface="Times New Roman" panose="02020603050405020304" pitchFamily="18" charset="0"/>
                <a:ea typeface="MS PGothic" panose="020B0600070205080204" pitchFamily="34" charset="-128"/>
              </a:defRPr>
            </a:lvl3pPr>
            <a:lvl4pPr marL="1600200" indent="-228600">
              <a:defRPr sz="3600">
                <a:solidFill>
                  <a:schemeClr val="tx1"/>
                </a:solidFill>
                <a:latin typeface="Times New Roman" panose="02020603050405020304" pitchFamily="18" charset="0"/>
                <a:ea typeface="MS PGothic" panose="020B0600070205080204" pitchFamily="34" charset="-128"/>
              </a:defRPr>
            </a:lvl4pPr>
            <a:lvl5pPr marL="2057400" indent="-228600">
              <a:defRPr sz="36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9pPr>
          </a:lstStyle>
          <a:p>
            <a:fld id="{0DE1E752-CB33-4E1F-81B0-D1EA352DF46C}" type="slidenum">
              <a:rPr lang="en-US" altLang="en-US" sz="1200"/>
              <a:pPr/>
              <a:t>66</a:t>
            </a:fld>
            <a:endParaRPr lang="en-US" altLang="en-US" sz="1200"/>
          </a:p>
        </p:txBody>
      </p:sp>
      <p:sp>
        <p:nvSpPr>
          <p:cNvPr id="167939" name="Rectangle 2"/>
          <p:cNvSpPr>
            <a:spLocks noGrp="1" noRot="1" noChangeAspect="1" noChangeArrowheads="1" noTextEdit="1"/>
          </p:cNvSpPr>
          <p:nvPr>
            <p:ph type="sldImg"/>
          </p:nvPr>
        </p:nvSpPr>
        <p:spPr>
          <a:ln/>
        </p:spPr>
      </p:sp>
      <p:sp>
        <p:nvSpPr>
          <p:cNvPr id="167940"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buFontTx/>
              <a:buChar char="•"/>
            </a:pPr>
            <a:r>
              <a:rPr lang="en-US" altLang="en-US">
                <a:latin typeface="Times New Roman" panose="02020603050405020304" pitchFamily="18" charset="0"/>
              </a:rPr>
              <a:t> Use photographs or online images to show some of the equipment used routinely to diagnose and treat the heart during acute abnormalities.</a:t>
            </a:r>
          </a:p>
        </p:txBody>
      </p:sp>
    </p:spTree>
    <p:extLst>
      <p:ext uri="{BB962C8B-B14F-4D97-AF65-F5344CB8AC3E}">
        <p14:creationId xmlns:p14="http://schemas.microsoft.com/office/powerpoint/2010/main" val="129626560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3600">
                <a:solidFill>
                  <a:schemeClr val="tx1"/>
                </a:solidFill>
                <a:latin typeface="Times New Roman" panose="02020603050405020304" pitchFamily="18" charset="0"/>
                <a:ea typeface="MS PGothic" panose="020B0600070205080204" pitchFamily="34" charset="-128"/>
              </a:defRPr>
            </a:lvl1pPr>
            <a:lvl2pPr marL="742950" indent="-285750">
              <a:defRPr sz="3600">
                <a:solidFill>
                  <a:schemeClr val="tx1"/>
                </a:solidFill>
                <a:latin typeface="Times New Roman" panose="02020603050405020304" pitchFamily="18" charset="0"/>
                <a:ea typeface="MS PGothic" panose="020B0600070205080204" pitchFamily="34" charset="-128"/>
              </a:defRPr>
            </a:lvl2pPr>
            <a:lvl3pPr marL="1143000" indent="-228600">
              <a:defRPr sz="3600">
                <a:solidFill>
                  <a:schemeClr val="tx1"/>
                </a:solidFill>
                <a:latin typeface="Times New Roman" panose="02020603050405020304" pitchFamily="18" charset="0"/>
                <a:ea typeface="MS PGothic" panose="020B0600070205080204" pitchFamily="34" charset="-128"/>
              </a:defRPr>
            </a:lvl3pPr>
            <a:lvl4pPr marL="1600200" indent="-228600">
              <a:defRPr sz="3600">
                <a:solidFill>
                  <a:schemeClr val="tx1"/>
                </a:solidFill>
                <a:latin typeface="Times New Roman" panose="02020603050405020304" pitchFamily="18" charset="0"/>
                <a:ea typeface="MS PGothic" panose="020B0600070205080204" pitchFamily="34" charset="-128"/>
              </a:defRPr>
            </a:lvl4pPr>
            <a:lvl5pPr marL="2057400" indent="-228600">
              <a:defRPr sz="36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9pPr>
          </a:lstStyle>
          <a:p>
            <a:fld id="{E8B21208-90EE-4E14-8B31-FE7E7A880677}" type="slidenum">
              <a:rPr lang="en-US" altLang="en-US" sz="1200"/>
              <a:pPr/>
              <a:t>67</a:t>
            </a:fld>
            <a:endParaRPr lang="en-US" altLang="en-US" sz="1200"/>
          </a:p>
        </p:txBody>
      </p:sp>
      <p:sp>
        <p:nvSpPr>
          <p:cNvPr id="168963" name="Rectangle 2"/>
          <p:cNvSpPr>
            <a:spLocks noGrp="1" noRot="1" noChangeAspect="1" noChangeArrowheads="1" noTextEdit="1"/>
          </p:cNvSpPr>
          <p:nvPr>
            <p:ph type="sldImg"/>
          </p:nvPr>
        </p:nvSpPr>
        <p:spPr>
          <a:ln/>
        </p:spPr>
      </p:sp>
      <p:sp>
        <p:nvSpPr>
          <p:cNvPr id="168964"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GB" altLang="en-US">
              <a:latin typeface="Times New Roman" panose="02020603050405020304" pitchFamily="18" charset="0"/>
            </a:endParaRPr>
          </a:p>
        </p:txBody>
      </p:sp>
    </p:spTree>
    <p:extLst>
      <p:ext uri="{BB962C8B-B14F-4D97-AF65-F5344CB8AC3E}">
        <p14:creationId xmlns:p14="http://schemas.microsoft.com/office/powerpoint/2010/main" val="10893656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3600">
                <a:solidFill>
                  <a:schemeClr val="tx1"/>
                </a:solidFill>
                <a:latin typeface="Times New Roman" panose="02020603050405020304" pitchFamily="18" charset="0"/>
                <a:ea typeface="MS PGothic" panose="020B0600070205080204" pitchFamily="34" charset="-128"/>
              </a:defRPr>
            </a:lvl1pPr>
            <a:lvl2pPr marL="742950" indent="-285750">
              <a:defRPr sz="3600">
                <a:solidFill>
                  <a:schemeClr val="tx1"/>
                </a:solidFill>
                <a:latin typeface="Times New Roman" panose="02020603050405020304" pitchFamily="18" charset="0"/>
                <a:ea typeface="MS PGothic" panose="020B0600070205080204" pitchFamily="34" charset="-128"/>
              </a:defRPr>
            </a:lvl2pPr>
            <a:lvl3pPr marL="1143000" indent="-228600">
              <a:defRPr sz="3600">
                <a:solidFill>
                  <a:schemeClr val="tx1"/>
                </a:solidFill>
                <a:latin typeface="Times New Roman" panose="02020603050405020304" pitchFamily="18" charset="0"/>
                <a:ea typeface="MS PGothic" panose="020B0600070205080204" pitchFamily="34" charset="-128"/>
              </a:defRPr>
            </a:lvl3pPr>
            <a:lvl4pPr marL="1600200" indent="-228600">
              <a:defRPr sz="3600">
                <a:solidFill>
                  <a:schemeClr val="tx1"/>
                </a:solidFill>
                <a:latin typeface="Times New Roman" panose="02020603050405020304" pitchFamily="18" charset="0"/>
                <a:ea typeface="MS PGothic" panose="020B0600070205080204" pitchFamily="34" charset="-128"/>
              </a:defRPr>
            </a:lvl4pPr>
            <a:lvl5pPr marL="2057400" indent="-228600">
              <a:defRPr sz="36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9pPr>
          </a:lstStyle>
          <a:p>
            <a:fld id="{0E0A0AD0-0F4D-446F-B594-20BF79C1DB8A}" type="slidenum">
              <a:rPr lang="en-US" altLang="en-US" sz="1200"/>
              <a:pPr/>
              <a:t>68</a:t>
            </a:fld>
            <a:endParaRPr lang="en-US" altLang="en-US" sz="1200"/>
          </a:p>
        </p:txBody>
      </p:sp>
      <p:sp>
        <p:nvSpPr>
          <p:cNvPr id="171011" name="Rectangle 2"/>
          <p:cNvSpPr>
            <a:spLocks noGrp="1" noRot="1" noChangeAspect="1" noChangeArrowheads="1" noTextEdit="1"/>
          </p:cNvSpPr>
          <p:nvPr>
            <p:ph type="sldImg"/>
          </p:nvPr>
        </p:nvSpPr>
        <p:spPr>
          <a:ln/>
        </p:spPr>
      </p:sp>
      <p:sp>
        <p:nvSpPr>
          <p:cNvPr id="171012"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GB" altLang="en-US">
              <a:latin typeface="Times New Roman" panose="02020603050405020304" pitchFamily="18" charset="0"/>
            </a:endParaRPr>
          </a:p>
        </p:txBody>
      </p:sp>
    </p:spTree>
    <p:extLst>
      <p:ext uri="{BB962C8B-B14F-4D97-AF65-F5344CB8AC3E}">
        <p14:creationId xmlns:p14="http://schemas.microsoft.com/office/powerpoint/2010/main" val="328060410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419" dirty="0"/>
          </a:p>
        </p:txBody>
      </p:sp>
      <p:sp>
        <p:nvSpPr>
          <p:cNvPr id="4" name="Slide Number Placeholder 3"/>
          <p:cNvSpPr>
            <a:spLocks noGrp="1"/>
          </p:cNvSpPr>
          <p:nvPr>
            <p:ph type="sldNum" sz="quarter" idx="10"/>
          </p:nvPr>
        </p:nvSpPr>
        <p:spPr/>
        <p:txBody>
          <a:bodyPr/>
          <a:lstStyle/>
          <a:p>
            <a:fld id="{9DD8956B-8F79-4131-A174-E4232C945132}" type="slidenum">
              <a:rPr lang="en-US" altLang="en-US" smtClean="0"/>
              <a:pPr/>
              <a:t>69</a:t>
            </a:fld>
            <a:endParaRPr lang="en-US" altLang="en-US"/>
          </a:p>
        </p:txBody>
      </p:sp>
    </p:spTree>
    <p:extLst>
      <p:ext uri="{BB962C8B-B14F-4D97-AF65-F5344CB8AC3E}">
        <p14:creationId xmlns:p14="http://schemas.microsoft.com/office/powerpoint/2010/main" val="307643751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3600">
                <a:solidFill>
                  <a:schemeClr val="tx1"/>
                </a:solidFill>
                <a:latin typeface="Times New Roman" panose="02020603050405020304" pitchFamily="18" charset="0"/>
                <a:ea typeface="MS PGothic" panose="020B0600070205080204" pitchFamily="34" charset="-128"/>
              </a:defRPr>
            </a:lvl1pPr>
            <a:lvl2pPr marL="742950" indent="-285750">
              <a:defRPr sz="3600">
                <a:solidFill>
                  <a:schemeClr val="tx1"/>
                </a:solidFill>
                <a:latin typeface="Times New Roman" panose="02020603050405020304" pitchFamily="18" charset="0"/>
                <a:ea typeface="MS PGothic" panose="020B0600070205080204" pitchFamily="34" charset="-128"/>
              </a:defRPr>
            </a:lvl2pPr>
            <a:lvl3pPr marL="1143000" indent="-228600">
              <a:defRPr sz="3600">
                <a:solidFill>
                  <a:schemeClr val="tx1"/>
                </a:solidFill>
                <a:latin typeface="Times New Roman" panose="02020603050405020304" pitchFamily="18" charset="0"/>
                <a:ea typeface="MS PGothic" panose="020B0600070205080204" pitchFamily="34" charset="-128"/>
              </a:defRPr>
            </a:lvl3pPr>
            <a:lvl4pPr marL="1600200" indent="-228600">
              <a:defRPr sz="3600">
                <a:solidFill>
                  <a:schemeClr val="tx1"/>
                </a:solidFill>
                <a:latin typeface="Times New Roman" panose="02020603050405020304" pitchFamily="18" charset="0"/>
                <a:ea typeface="MS PGothic" panose="020B0600070205080204" pitchFamily="34" charset="-128"/>
              </a:defRPr>
            </a:lvl4pPr>
            <a:lvl5pPr marL="2057400" indent="-228600">
              <a:defRPr sz="36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9pPr>
          </a:lstStyle>
          <a:p>
            <a:fld id="{7CD02E84-8BC4-4E8A-8D58-93E2F9AA38E5}" type="slidenum">
              <a:rPr lang="en-US" altLang="en-US" sz="1200"/>
              <a:pPr/>
              <a:t>78</a:t>
            </a:fld>
            <a:endParaRPr lang="en-US" altLang="en-US" sz="1200"/>
          </a:p>
        </p:txBody>
      </p:sp>
      <p:sp>
        <p:nvSpPr>
          <p:cNvPr id="182275" name="Rectangle 2"/>
          <p:cNvSpPr>
            <a:spLocks noGrp="1" noRot="1" noChangeAspect="1" noChangeArrowheads="1" noTextEdit="1"/>
          </p:cNvSpPr>
          <p:nvPr>
            <p:ph type="sldImg"/>
          </p:nvPr>
        </p:nvSpPr>
        <p:spPr>
          <a:ln/>
        </p:spPr>
      </p:sp>
      <p:sp>
        <p:nvSpPr>
          <p:cNvPr id="182276"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rPr>
              <a:t>The correct answer is C: percutaneous coronary intervention (also known as PCI). See the text for more information.</a:t>
            </a:r>
          </a:p>
        </p:txBody>
      </p:sp>
    </p:spTree>
    <p:extLst>
      <p:ext uri="{BB962C8B-B14F-4D97-AF65-F5344CB8AC3E}">
        <p14:creationId xmlns:p14="http://schemas.microsoft.com/office/powerpoint/2010/main" val="36997495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5" name="Text Box 5"/>
          <p:cNvSpPr txBox="1">
            <a:spLocks noChangeArrowheads="1"/>
          </p:cNvSpPr>
          <p:nvPr userDrawn="1"/>
        </p:nvSpPr>
        <p:spPr bwMode="auto">
          <a:xfrm>
            <a:off x="7696200" y="6461125"/>
            <a:ext cx="1143000" cy="2444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pPr algn="r" eaLnBrk="1" hangingPunct="1">
              <a:spcBef>
                <a:spcPct val="50000"/>
              </a:spcBef>
            </a:pPr>
            <a:fld id="{4F46A433-53BE-44F2-B0BE-CD4AA7F6F7B2}" type="slidenum">
              <a:rPr lang="en-US" altLang="en-US" sz="1000">
                <a:latin typeface="Arial" panose="020B0604020202020204" pitchFamily="34" charset="0"/>
                <a:cs typeface="Arial" panose="020B0604020202020204" pitchFamily="34" charset="0"/>
              </a:rPr>
              <a:pPr algn="r" eaLnBrk="1" hangingPunct="1">
                <a:spcBef>
                  <a:spcPct val="50000"/>
                </a:spcBef>
              </a:pPr>
              <a:t>‹#›</a:t>
            </a:fld>
            <a:endParaRPr lang="en-US" altLang="en-US" sz="1000">
              <a:latin typeface="Arial" panose="020B0604020202020204" pitchFamily="34" charset="0"/>
              <a:cs typeface="Arial" panose="020B0604020202020204" pitchFamily="34" charset="0"/>
            </a:endParaRPr>
          </a:p>
        </p:txBody>
      </p:sp>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9" name="Date Placeholder 8"/>
          <p:cNvSpPr>
            <a:spLocks noGrp="1"/>
          </p:cNvSpPr>
          <p:nvPr>
            <p:ph type="dt" sz="half" idx="10"/>
          </p:nvPr>
        </p:nvSpPr>
        <p:spPr/>
        <p:txBody>
          <a:bodyPr/>
          <a:lstStyle/>
          <a:p>
            <a:pPr>
              <a:defRPr/>
            </a:pPr>
            <a:fld id="{401F176B-337D-4B0C-9E0F-CF98E924232A}" type="datetimeFigureOut">
              <a:rPr lang="en-US" smtClean="0"/>
              <a:pPr>
                <a:defRPr/>
              </a:pPr>
              <a:t>12/7/2023</a:t>
            </a:fld>
            <a:endParaRPr lang="en-US"/>
          </a:p>
        </p:txBody>
      </p:sp>
      <p:sp>
        <p:nvSpPr>
          <p:cNvPr id="10" name="Footer Placeholder 9"/>
          <p:cNvSpPr>
            <a:spLocks noGrp="1"/>
          </p:cNvSpPr>
          <p:nvPr>
            <p:ph type="ftr" sz="quarter" idx="11"/>
          </p:nvPr>
        </p:nvSpPr>
        <p:spPr>
          <a:xfrm>
            <a:off x="3124200" y="5859295"/>
            <a:ext cx="2895600" cy="365125"/>
          </a:xfrm>
          <a:prstGeom prst="rect">
            <a:avLst/>
          </a:prstGeom>
        </p:spPr>
        <p:txBody>
          <a:bodyPr/>
          <a:lstStyle/>
          <a:p>
            <a:pPr>
              <a:defRPr/>
            </a:pPr>
            <a:endParaRPr lang="en-US" dirty="0"/>
          </a:p>
        </p:txBody>
      </p:sp>
      <p:sp>
        <p:nvSpPr>
          <p:cNvPr id="11" name="Slide Number Placeholder 10"/>
          <p:cNvSpPr>
            <a:spLocks noGrp="1"/>
          </p:cNvSpPr>
          <p:nvPr>
            <p:ph type="sldNum" sz="quarter" idx="12"/>
          </p:nvPr>
        </p:nvSpPr>
        <p:spPr/>
        <p:txBody>
          <a:bodyPr/>
          <a:lstStyle/>
          <a:p>
            <a:fld id="{28A3EFAA-5F29-4212-A320-E00D10714EB8}" type="slidenum">
              <a:rPr lang="en-US" altLang="en-US" smtClean="0"/>
              <a:pPr/>
              <a:t>‹#›</a:t>
            </a:fld>
            <a:endParaRPr lang="en-US" altLang="en-US"/>
          </a:p>
        </p:txBody>
      </p:sp>
      <p:sp>
        <p:nvSpPr>
          <p:cNvPr id="4" name="Rectangle 8"/>
          <p:cNvSpPr txBox="1">
            <a:spLocks noGrp="1" noChangeArrowheads="1"/>
          </p:cNvSpPr>
          <p:nvPr userDrawn="1"/>
        </p:nvSpPr>
        <p:spPr bwMode="auto">
          <a:xfrm>
            <a:off x="917575" y="6444916"/>
            <a:ext cx="7769225" cy="381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algn="ctr" eaLnBrk="1" hangingPunct="1">
              <a:defRPr/>
            </a:pPr>
            <a:endParaRPr lang="en-US" dirty="0"/>
          </a:p>
        </p:txBody>
      </p:sp>
    </p:spTree>
    <p:extLst>
      <p:ext uri="{BB962C8B-B14F-4D97-AF65-F5344CB8AC3E}">
        <p14:creationId xmlns:p14="http://schemas.microsoft.com/office/powerpoint/2010/main" val="1569383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s-419"/>
          </a:p>
        </p:txBody>
      </p:sp>
      <p:sp>
        <p:nvSpPr>
          <p:cNvPr id="3" name="Date Placeholder 2"/>
          <p:cNvSpPr>
            <a:spLocks noGrp="1"/>
          </p:cNvSpPr>
          <p:nvPr>
            <p:ph type="dt" sz="half" idx="10"/>
          </p:nvPr>
        </p:nvSpPr>
        <p:spPr/>
        <p:txBody>
          <a:bodyPr/>
          <a:lstStyle/>
          <a:p>
            <a:pPr>
              <a:defRPr/>
            </a:pPr>
            <a:fld id="{401F176B-337D-4B0C-9E0F-CF98E924232A}" type="datetimeFigureOut">
              <a:rPr lang="en-US" smtClean="0"/>
              <a:pPr>
                <a:defRPr/>
              </a:pPr>
              <a:t>12/7/2023</a:t>
            </a:fld>
            <a:endParaRPr lang="en-US"/>
          </a:p>
        </p:txBody>
      </p:sp>
      <p:sp>
        <p:nvSpPr>
          <p:cNvPr id="4" name="Footer Placeholder 3"/>
          <p:cNvSpPr>
            <a:spLocks noGrp="1"/>
          </p:cNvSpPr>
          <p:nvPr>
            <p:ph type="ftr" sz="quarter" idx="11"/>
          </p:nvPr>
        </p:nvSpPr>
        <p:spPr>
          <a:xfrm>
            <a:off x="3124200" y="6356350"/>
            <a:ext cx="2895600" cy="365125"/>
          </a:xfrm>
          <a:prstGeom prst="rect">
            <a:avLst/>
          </a:prstGeom>
        </p:spPr>
        <p:txBody>
          <a:bodyPr/>
          <a:lstStyle/>
          <a:p>
            <a:pPr>
              <a:defRPr/>
            </a:pPr>
            <a:endParaRPr lang="en-US" dirty="0"/>
          </a:p>
        </p:txBody>
      </p:sp>
      <p:sp>
        <p:nvSpPr>
          <p:cNvPr id="5" name="Slide Number Placeholder 4"/>
          <p:cNvSpPr>
            <a:spLocks noGrp="1"/>
          </p:cNvSpPr>
          <p:nvPr>
            <p:ph type="sldNum" sz="quarter" idx="12"/>
          </p:nvPr>
        </p:nvSpPr>
        <p:spPr/>
        <p:txBody>
          <a:bodyPr/>
          <a:lstStyle/>
          <a:p>
            <a:fld id="{28A3EFAA-5F29-4212-A320-E00D10714EB8}" type="slidenum">
              <a:rPr lang="en-US" altLang="en-US" smtClean="0"/>
              <a:pPr/>
              <a:t>‹#›</a:t>
            </a:fld>
            <a:endParaRPr lang="en-US" altLang="en-US"/>
          </a:p>
        </p:txBody>
      </p:sp>
    </p:spTree>
    <p:extLst>
      <p:ext uri="{BB962C8B-B14F-4D97-AF65-F5344CB8AC3E}">
        <p14:creationId xmlns:p14="http://schemas.microsoft.com/office/powerpoint/2010/main" val="3486592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3B2D8646-B954-479C-A337-986E442FC1A9}" type="datetimeFigureOut">
              <a:rPr lang="en-US"/>
              <a:pPr>
                <a:defRPr/>
              </a:pPr>
              <a:t>12/7/2023</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67C3B6F8-FB65-40D1-9D78-3B0834AA2902}" type="slidenum">
              <a:rPr lang="en-US" altLang="en-US"/>
              <a:pPr/>
              <a:t>‹#›</a:t>
            </a:fld>
            <a:endParaRPr lang="en-US" altLang="en-US"/>
          </a:p>
        </p:txBody>
      </p:sp>
    </p:spTree>
    <p:extLst>
      <p:ext uri="{BB962C8B-B14F-4D97-AF65-F5344CB8AC3E}">
        <p14:creationId xmlns:p14="http://schemas.microsoft.com/office/powerpoint/2010/main" val="10425524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4026FB1C-0B93-4FFC-AFAC-202B5BB6FD8D}" type="datetimeFigureOut">
              <a:rPr lang="en-US"/>
              <a:pPr>
                <a:defRPr/>
              </a:pPr>
              <a:t>12/7/2023</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8AD0EB3D-4C75-400C-847F-27CED06B6053}" type="slidenum">
              <a:rPr lang="en-US" altLang="en-US"/>
              <a:pPr/>
              <a:t>‹#›</a:t>
            </a:fld>
            <a:endParaRPr lang="en-US" altLang="en-US"/>
          </a:p>
        </p:txBody>
      </p:sp>
    </p:spTree>
    <p:extLst>
      <p:ext uri="{BB962C8B-B14F-4D97-AF65-F5344CB8AC3E}">
        <p14:creationId xmlns:p14="http://schemas.microsoft.com/office/powerpoint/2010/main" val="29846592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9C71BE0B-DC10-4A86-884B-421A21A3786F}" type="datetimeFigureOut">
              <a:rPr lang="en-US"/>
              <a:pPr>
                <a:defRPr/>
              </a:pPr>
              <a:t>12/7/2023</a:t>
            </a:fld>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EA7988B2-9A38-4469-A73A-3A8A3875C86B}" type="slidenum">
              <a:rPr lang="en-US" altLang="en-US"/>
              <a:pPr/>
              <a:t>‹#›</a:t>
            </a:fld>
            <a:endParaRPr lang="en-US" altLang="en-US"/>
          </a:p>
        </p:txBody>
      </p:sp>
    </p:spTree>
    <p:extLst>
      <p:ext uri="{BB962C8B-B14F-4D97-AF65-F5344CB8AC3E}">
        <p14:creationId xmlns:p14="http://schemas.microsoft.com/office/powerpoint/2010/main" val="14841103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43F8196F-BB54-4DF1-9DDF-EB61181FD455}" type="datetimeFigureOut">
              <a:rPr lang="en-US"/>
              <a:pPr>
                <a:defRPr/>
              </a:pPr>
              <a:t>12/7/2023</a:t>
            </a:fld>
            <a:endParaRPr lang="en-US"/>
          </a:p>
        </p:txBody>
      </p:sp>
      <p:sp>
        <p:nvSpPr>
          <p:cNvPr id="8"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fld id="{1069FD97-2CE7-4101-9BDA-A6CDF9D7F198}" type="slidenum">
              <a:rPr lang="en-US" altLang="en-US"/>
              <a:pPr/>
              <a:t>‹#›</a:t>
            </a:fld>
            <a:endParaRPr lang="en-US" altLang="en-US"/>
          </a:p>
        </p:txBody>
      </p:sp>
    </p:spTree>
    <p:extLst>
      <p:ext uri="{BB962C8B-B14F-4D97-AF65-F5344CB8AC3E}">
        <p14:creationId xmlns:p14="http://schemas.microsoft.com/office/powerpoint/2010/main" val="14988138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Date Placeholder 5"/>
          <p:cNvSpPr>
            <a:spLocks noGrp="1"/>
          </p:cNvSpPr>
          <p:nvPr>
            <p:ph type="dt" sz="half" idx="10"/>
          </p:nvPr>
        </p:nvSpPr>
        <p:spPr/>
        <p:txBody>
          <a:bodyPr/>
          <a:lstStyle/>
          <a:p>
            <a:pPr>
              <a:defRPr/>
            </a:pPr>
            <a:fld id="{401F176B-337D-4B0C-9E0F-CF98E924232A}" type="datetimeFigureOut">
              <a:rPr lang="en-US" smtClean="0"/>
              <a:pPr>
                <a:defRPr/>
              </a:pPr>
              <a:t>12/7/2023</a:t>
            </a:fld>
            <a:endParaRPr lang="en-US"/>
          </a:p>
        </p:txBody>
      </p:sp>
      <p:sp>
        <p:nvSpPr>
          <p:cNvPr id="7" name="Footer Placeholder 6"/>
          <p:cNvSpPr>
            <a:spLocks noGrp="1"/>
          </p:cNvSpPr>
          <p:nvPr>
            <p:ph type="ftr" sz="quarter" idx="11"/>
          </p:nvPr>
        </p:nvSpPr>
        <p:spPr>
          <a:xfrm>
            <a:off x="3124200" y="6356350"/>
            <a:ext cx="2895600" cy="365125"/>
          </a:xfrm>
          <a:prstGeom prst="rect">
            <a:avLst/>
          </a:prstGeom>
        </p:spPr>
        <p:txBody>
          <a:bodyPr/>
          <a:lstStyle/>
          <a:p>
            <a:pPr>
              <a:defRPr/>
            </a:pPr>
            <a:endParaRPr lang="en-US" dirty="0"/>
          </a:p>
        </p:txBody>
      </p:sp>
      <p:sp>
        <p:nvSpPr>
          <p:cNvPr id="8" name="Slide Number Placeholder 7"/>
          <p:cNvSpPr>
            <a:spLocks noGrp="1"/>
          </p:cNvSpPr>
          <p:nvPr>
            <p:ph type="sldNum" sz="quarter" idx="12"/>
          </p:nvPr>
        </p:nvSpPr>
        <p:spPr/>
        <p:txBody>
          <a:bodyPr/>
          <a:lstStyle/>
          <a:p>
            <a:fld id="{28A3EFAA-5F29-4212-A320-E00D10714EB8}" type="slidenum">
              <a:rPr lang="en-US" altLang="en-US" smtClean="0"/>
              <a:pPr/>
              <a:t>‹#›</a:t>
            </a:fld>
            <a:endParaRPr lang="en-US" altLang="en-US"/>
          </a:p>
        </p:txBody>
      </p:sp>
    </p:spTree>
    <p:extLst>
      <p:ext uri="{BB962C8B-B14F-4D97-AF65-F5344CB8AC3E}">
        <p14:creationId xmlns:p14="http://schemas.microsoft.com/office/powerpoint/2010/main" val="15011345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A7EF424A-0666-4F8A-AE0B-042263A2F523}" type="datetimeFigureOut">
              <a:rPr lang="en-US"/>
              <a:pPr>
                <a:defRPr/>
              </a:pPr>
              <a:t>12/7/2023</a:t>
            </a:fld>
            <a:endParaRPr lang="en-US"/>
          </a:p>
        </p:txBody>
      </p:sp>
      <p:sp>
        <p:nvSpPr>
          <p:cNvPr id="3" name="Footer Placeholder 4"/>
          <p:cNvSpPr>
            <a:spLocks noGrp="1"/>
          </p:cNvSpPr>
          <p:nvPr>
            <p:ph type="ftr" sz="quarter" idx="11"/>
          </p:nvPr>
        </p:nvSpPr>
        <p:spPr>
          <a:xfrm>
            <a:off x="3124200" y="6356350"/>
            <a:ext cx="2895600" cy="365125"/>
          </a:xfrm>
          <a:prstGeom prst="rect">
            <a:avLst/>
          </a:prstGeom>
        </p:spPr>
        <p:txBody>
          <a:bodyPr/>
          <a:lstStyle>
            <a:lvl1pPr>
              <a:defRPr sz="1000" baseline="0">
                <a:latin typeface="Arial" pitchFamily="34" charset="0"/>
                <a:cs typeface="Arial" pitchFamily="34" charset="0"/>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fld id="{98923256-9629-4751-9FC7-D9A617797BD9}" type="slidenum">
              <a:rPr lang="en-US" altLang="en-US"/>
              <a:pPr/>
              <a:t>‹#›</a:t>
            </a:fld>
            <a:endParaRPr lang="en-US" altLang="en-US"/>
          </a:p>
        </p:txBody>
      </p:sp>
    </p:spTree>
    <p:extLst>
      <p:ext uri="{BB962C8B-B14F-4D97-AF65-F5344CB8AC3E}">
        <p14:creationId xmlns:p14="http://schemas.microsoft.com/office/powerpoint/2010/main" val="3502221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DFBC957C-8A28-4346-A91E-3181E23B9FCE}" type="datetimeFigureOut">
              <a:rPr lang="en-US"/>
              <a:pPr>
                <a:defRPr/>
              </a:pPr>
              <a:t>12/7/2023</a:t>
            </a:fld>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9223BBEA-FBE4-4D1C-948E-35E3FD648AC7}" type="slidenum">
              <a:rPr lang="en-US" altLang="en-US"/>
              <a:pPr/>
              <a:t>‹#›</a:t>
            </a:fld>
            <a:endParaRPr lang="en-US" altLang="en-US"/>
          </a:p>
        </p:txBody>
      </p:sp>
    </p:spTree>
    <p:extLst>
      <p:ext uri="{BB962C8B-B14F-4D97-AF65-F5344CB8AC3E}">
        <p14:creationId xmlns:p14="http://schemas.microsoft.com/office/powerpoint/2010/main" val="29191257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ABD414B3-CE71-4CAC-BF20-28E9BC6B1BBE}" type="datetimeFigureOut">
              <a:rPr lang="en-US"/>
              <a:pPr>
                <a:defRPr/>
              </a:pPr>
              <a:t>12/7/2023</a:t>
            </a:fld>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BB0C2544-6AE1-4FFD-9204-B2754DEAA11A}" type="slidenum">
              <a:rPr lang="en-US" altLang="en-US"/>
              <a:pPr/>
              <a:t>‹#›</a:t>
            </a:fld>
            <a:endParaRPr lang="en-US" altLang="en-US"/>
          </a:p>
        </p:txBody>
      </p:sp>
    </p:spTree>
    <p:extLst>
      <p:ext uri="{BB962C8B-B14F-4D97-AF65-F5344CB8AC3E}">
        <p14:creationId xmlns:p14="http://schemas.microsoft.com/office/powerpoint/2010/main" val="37806670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2A489D59-B1E6-4DCF-8F4C-326D6ED2C2BE}" type="datetimeFigureOut">
              <a:rPr lang="en-US"/>
              <a:pPr>
                <a:defRPr/>
              </a:pPr>
              <a:t>12/7/2023</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7DB8DA79-2483-40AE-83CF-C031752A90C3}" type="slidenum">
              <a:rPr lang="en-US" altLang="en-US"/>
              <a:pPr/>
              <a:t>‹#›</a:t>
            </a:fld>
            <a:endParaRPr lang="en-US" altLang="en-US"/>
          </a:p>
        </p:txBody>
      </p:sp>
    </p:spTree>
    <p:extLst>
      <p:ext uri="{BB962C8B-B14F-4D97-AF65-F5344CB8AC3E}">
        <p14:creationId xmlns:p14="http://schemas.microsoft.com/office/powerpoint/2010/main" val="24305378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F4BF2560-A50C-4A12-98A3-C5D77FC1843E}" type="datetimeFigureOut">
              <a:rPr lang="en-US"/>
              <a:pPr>
                <a:defRPr/>
              </a:pPr>
              <a:t>12/7/2023</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BE28CD66-7605-4E45-9E45-CFA0ED8972E6}" type="slidenum">
              <a:rPr lang="en-US" altLang="en-US"/>
              <a:pPr/>
              <a:t>‹#›</a:t>
            </a:fld>
            <a:endParaRPr lang="en-US" altLang="en-US"/>
          </a:p>
        </p:txBody>
      </p:sp>
    </p:spTree>
    <p:extLst>
      <p:ext uri="{BB962C8B-B14F-4D97-AF65-F5344CB8AC3E}">
        <p14:creationId xmlns:p14="http://schemas.microsoft.com/office/powerpoint/2010/main" val="165566903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ClipArt">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685800" y="228600"/>
            <a:ext cx="7772400" cy="1219200"/>
          </a:xfrm>
        </p:spPr>
        <p:txBody>
          <a:bodyPr/>
          <a:lstStyle/>
          <a:p>
            <a:r>
              <a:rPr lang="en-US"/>
              <a:t>Click to edit Master title style</a:t>
            </a:r>
          </a:p>
        </p:txBody>
      </p:sp>
      <p:sp>
        <p:nvSpPr>
          <p:cNvPr id="3" name="Text Placeholder 2"/>
          <p:cNvSpPr>
            <a:spLocks noGrp="1"/>
          </p:cNvSpPr>
          <p:nvPr>
            <p:ph type="body" sz="half" idx="1"/>
          </p:nvPr>
        </p:nvSpPr>
        <p:spPr>
          <a:xfrm>
            <a:off x="685800" y="1641475"/>
            <a:ext cx="3810000" cy="4454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lipArt Placeholder 3"/>
          <p:cNvSpPr>
            <a:spLocks noGrp="1"/>
          </p:cNvSpPr>
          <p:nvPr>
            <p:ph type="clipArt" sz="half" idx="2"/>
          </p:nvPr>
        </p:nvSpPr>
        <p:spPr>
          <a:xfrm>
            <a:off x="4648200" y="1641475"/>
            <a:ext cx="3810000" cy="4454525"/>
          </a:xfrm>
        </p:spPr>
        <p:txBody>
          <a:bodyPr rtlCol="0">
            <a:normAutofit/>
          </a:bodyPr>
          <a:lstStyle/>
          <a:p>
            <a:pPr lvl="0"/>
            <a:endParaRPr lang="en-US" noProof="0"/>
          </a:p>
        </p:txBody>
      </p:sp>
    </p:spTree>
    <p:extLst>
      <p:ext uri="{BB962C8B-B14F-4D97-AF65-F5344CB8AC3E}">
        <p14:creationId xmlns:p14="http://schemas.microsoft.com/office/powerpoint/2010/main" val="398429191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228600"/>
            <a:ext cx="7772400" cy="1219200"/>
          </a:xfrm>
        </p:spPr>
        <p:txBody>
          <a:bodyPr/>
          <a:lstStyle/>
          <a:p>
            <a:r>
              <a:rPr lang="en-US"/>
              <a:t>Click to edit Master title style</a:t>
            </a:r>
          </a:p>
        </p:txBody>
      </p:sp>
      <p:sp>
        <p:nvSpPr>
          <p:cNvPr id="3" name="Text Placeholder 2"/>
          <p:cNvSpPr>
            <a:spLocks noGrp="1"/>
          </p:cNvSpPr>
          <p:nvPr>
            <p:ph type="body" sz="half" idx="1"/>
          </p:nvPr>
        </p:nvSpPr>
        <p:spPr>
          <a:xfrm>
            <a:off x="685800" y="1641475"/>
            <a:ext cx="3810000" cy="4454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41475"/>
            <a:ext cx="3810000" cy="4454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818823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AndTx">
  <p:cSld name="Title, Content and Text">
    <p:spTree>
      <p:nvGrpSpPr>
        <p:cNvPr id="1" name=""/>
        <p:cNvGrpSpPr/>
        <p:nvPr/>
      </p:nvGrpSpPr>
      <p:grpSpPr>
        <a:xfrm>
          <a:off x="0" y="0"/>
          <a:ext cx="0" cy="0"/>
          <a:chOff x="0" y="0"/>
          <a:chExt cx="0" cy="0"/>
        </a:xfrm>
      </p:grpSpPr>
      <p:sp>
        <p:nvSpPr>
          <p:cNvPr id="2" name="Title 1"/>
          <p:cNvSpPr>
            <a:spLocks noGrp="1"/>
          </p:cNvSpPr>
          <p:nvPr>
            <p:ph type="title"/>
          </p:nvPr>
        </p:nvSpPr>
        <p:spPr>
          <a:xfrm>
            <a:off x="685800" y="228600"/>
            <a:ext cx="7772400" cy="1219200"/>
          </a:xfrm>
        </p:spPr>
        <p:txBody>
          <a:bodyPr/>
          <a:lstStyle/>
          <a:p>
            <a:r>
              <a:rPr lang="en-US"/>
              <a:t>Click to edit Master title style</a:t>
            </a:r>
          </a:p>
        </p:txBody>
      </p:sp>
      <p:sp>
        <p:nvSpPr>
          <p:cNvPr id="3" name="Content Placeholder 2"/>
          <p:cNvSpPr>
            <a:spLocks noGrp="1"/>
          </p:cNvSpPr>
          <p:nvPr>
            <p:ph sz="half" idx="1"/>
          </p:nvPr>
        </p:nvSpPr>
        <p:spPr>
          <a:xfrm>
            <a:off x="685800" y="1641475"/>
            <a:ext cx="3810000" cy="4454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648200" y="1641475"/>
            <a:ext cx="3810000" cy="4454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883118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hangingPunct="1">
              <a:defRPr sz="1200">
                <a:solidFill>
                  <a:schemeClr val="tx1">
                    <a:tint val="75000"/>
                  </a:schemeClr>
                </a:solidFill>
              </a:defRPr>
            </a:lvl1pPr>
          </a:lstStyle>
          <a:p>
            <a:pPr>
              <a:defRPr/>
            </a:pPr>
            <a:fld id="{401F176B-337D-4B0C-9E0F-CF98E924232A}" type="datetimeFigureOut">
              <a:rPr lang="en-US"/>
              <a:pPr>
                <a:defRPr/>
              </a:pPr>
              <a:t>12/7/2023</a:t>
            </a:fld>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defRPr>
            </a:lvl1pPr>
          </a:lstStyle>
          <a:p>
            <a:fld id="{28A3EFAA-5F29-4212-A320-E00D10714EB8}" type="slidenum">
              <a:rPr lang="en-US" altLang="en-US"/>
              <a:pPr/>
              <a:t>‹#›</a:t>
            </a:fld>
            <a:endParaRPr lang="en-US" altLang="en-US"/>
          </a:p>
        </p:txBody>
      </p:sp>
      <p:sp>
        <p:nvSpPr>
          <p:cNvPr id="1032" name="Text Box 5"/>
          <p:cNvSpPr txBox="1">
            <a:spLocks noChangeArrowheads="1"/>
          </p:cNvSpPr>
          <p:nvPr userDrawn="1"/>
        </p:nvSpPr>
        <p:spPr bwMode="auto">
          <a:xfrm>
            <a:off x="7696200" y="6461125"/>
            <a:ext cx="1143000" cy="2444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pPr algn="r" eaLnBrk="1" hangingPunct="1">
              <a:spcBef>
                <a:spcPct val="50000"/>
              </a:spcBef>
            </a:pPr>
            <a:fld id="{0FF5DB33-233E-420C-BB96-6F4A112866E6}" type="slidenum">
              <a:rPr lang="en-US" altLang="en-US" sz="1000">
                <a:latin typeface="Arial" panose="020B0604020202020204" pitchFamily="34" charset="0"/>
                <a:cs typeface="Arial" panose="020B0604020202020204" pitchFamily="34" charset="0"/>
              </a:rPr>
              <a:pPr algn="r" eaLnBrk="1" hangingPunct="1">
                <a:spcBef>
                  <a:spcPct val="50000"/>
                </a:spcBef>
              </a:pPr>
              <a:t>‹#›</a:t>
            </a:fld>
            <a:endParaRPr lang="en-US" altLang="en-US" sz="1000">
              <a:latin typeface="Arial" panose="020B0604020202020204" pitchFamily="34" charset="0"/>
              <a:cs typeface="Arial" panose="020B0604020202020204" pitchFamily="34" charset="0"/>
            </a:endParaRPr>
          </a:p>
        </p:txBody>
      </p:sp>
      <p:pic>
        <p:nvPicPr>
          <p:cNvPr id="2" name="Picture 1">
            <a:extLst>
              <a:ext uri="{FF2B5EF4-FFF2-40B4-BE49-F238E27FC236}">
                <a16:creationId xmlns:a16="http://schemas.microsoft.com/office/drawing/2014/main" id="{617217DA-FE88-86CA-9B1F-08709A595BBF}"/>
              </a:ext>
            </a:extLst>
          </p:cNvPr>
          <p:cNvPicPr>
            <a:picLocks noChangeAspect="1"/>
          </p:cNvPicPr>
          <p:nvPr userDrawn="1"/>
        </p:nvPicPr>
        <p:blipFill>
          <a:blip r:embed="rId17"/>
          <a:stretch>
            <a:fillRect/>
          </a:stretch>
        </p:blipFill>
        <p:spPr>
          <a:xfrm>
            <a:off x="3041871" y="6478581"/>
            <a:ext cx="3118010" cy="209561"/>
          </a:xfrm>
          <a:prstGeom prst="rect">
            <a:avLst/>
          </a:prstGeom>
        </p:spPr>
      </p:pic>
    </p:spTree>
  </p:cSld>
  <p:clrMap bg1="lt1" tx1="dk1" bg2="lt2" tx2="dk2" accent1="accent1" accent2="accent2" accent3="accent3" accent4="accent4" accent5="accent5" accent6="accent6" hlink="hlink" folHlink="folHlink"/>
  <p:sldLayoutIdLst>
    <p:sldLayoutId id="2147483948" r:id="rId1"/>
    <p:sldLayoutId id="2147483951" r:id="rId2"/>
    <p:sldLayoutId id="2147483939" r:id="rId3"/>
    <p:sldLayoutId id="2147483940" r:id="rId4"/>
    <p:sldLayoutId id="2147483941" r:id="rId5"/>
    <p:sldLayoutId id="2147483942" r:id="rId6"/>
    <p:sldLayoutId id="2147483943" r:id="rId7"/>
    <p:sldLayoutId id="2147483949" r:id="rId8"/>
    <p:sldLayoutId id="2147483944" r:id="rId9"/>
    <p:sldLayoutId id="2147483945" r:id="rId10"/>
    <p:sldLayoutId id="2147483946" r:id="rId11"/>
    <p:sldLayoutId id="2147483947" r:id="rId12"/>
    <p:sldLayoutId id="2147483952" r:id="rId13"/>
    <p:sldLayoutId id="2147483953" r:id="rId14"/>
    <p:sldLayoutId id="2147483954" r:id="rId15"/>
  </p:sldLayoutIdLst>
  <p:hf sldNum="0" hd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6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41.xml"/><Relationship Id="rId1" Type="http://schemas.openxmlformats.org/officeDocument/2006/relationships/slideLayout" Target="../slideLayouts/slideLayout5.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The Language of Medicine</a:t>
            </a:r>
            <a:br>
              <a:rPr lang="en-US" dirty="0"/>
            </a:br>
            <a:r>
              <a:rPr lang="en-US" dirty="0"/>
              <a:t>13</a:t>
            </a:r>
            <a:r>
              <a:rPr lang="en-US" baseline="30000" dirty="0"/>
              <a:t>th</a:t>
            </a:r>
            <a:r>
              <a:rPr lang="en-US" dirty="0"/>
              <a:t> edition</a:t>
            </a:r>
          </a:p>
        </p:txBody>
      </p:sp>
      <p:sp>
        <p:nvSpPr>
          <p:cNvPr id="3" name="Subtitle 2"/>
          <p:cNvSpPr>
            <a:spLocks noGrp="1"/>
          </p:cNvSpPr>
          <p:nvPr>
            <p:ph type="subTitle" idx="1"/>
          </p:nvPr>
        </p:nvSpPr>
        <p:spPr/>
        <p:txBody>
          <a:bodyPr/>
          <a:lstStyle/>
          <a:p>
            <a:r>
              <a:rPr lang="en-US" dirty="0" err="1">
                <a:solidFill>
                  <a:schemeClr val="tx1"/>
                </a:solidFill>
              </a:rPr>
              <a:t>Davi</a:t>
            </a:r>
            <a:r>
              <a:rPr lang="en-US" dirty="0">
                <a:solidFill>
                  <a:schemeClr val="tx1"/>
                </a:solidFill>
              </a:rPr>
              <a:t>-Ellen </a:t>
            </a:r>
            <a:r>
              <a:rPr lang="en-US" dirty="0" err="1">
                <a:solidFill>
                  <a:schemeClr val="tx1"/>
                </a:solidFill>
              </a:rPr>
              <a:t>Chabner</a:t>
            </a:r>
            <a:endParaRPr lang="en-US" dirty="0">
              <a:solidFill>
                <a:schemeClr val="tx1"/>
              </a:solidFill>
            </a:endParaRPr>
          </a:p>
        </p:txBody>
      </p:sp>
    </p:spTree>
    <p:extLst>
      <p:ext uri="{BB962C8B-B14F-4D97-AF65-F5344CB8AC3E}">
        <p14:creationId xmlns:p14="http://schemas.microsoft.com/office/powerpoint/2010/main" val="14282889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1026"/>
          <p:cNvSpPr>
            <a:spLocks noGrp="1" noChangeArrowheads="1"/>
          </p:cNvSpPr>
          <p:nvPr>
            <p:ph type="title"/>
          </p:nvPr>
        </p:nvSpPr>
        <p:spPr>
          <a:xfrm>
            <a:off x="762000" y="228600"/>
            <a:ext cx="7620000" cy="1143000"/>
          </a:xfrm>
        </p:spPr>
        <p:txBody>
          <a:bodyPr rtlCol="0">
            <a:normAutofit fontScale="90000"/>
          </a:bodyPr>
          <a:lstStyle/>
          <a:p>
            <a:pPr eaLnBrk="1" fontAlgn="auto" hangingPunct="1">
              <a:spcAft>
                <a:spcPts val="0"/>
              </a:spcAft>
              <a:defRPr/>
            </a:pPr>
            <a:r>
              <a:rPr lang="en-US" dirty="0"/>
              <a:t>Chapter 11</a:t>
            </a:r>
            <a:br>
              <a:rPr lang="en-US" dirty="0"/>
            </a:br>
            <a:r>
              <a:rPr lang="en-US" dirty="0"/>
              <a:t>Cardiovascular System</a:t>
            </a:r>
          </a:p>
        </p:txBody>
      </p:sp>
    </p:spTree>
    <p:extLst>
      <p:ext uri="{BB962C8B-B14F-4D97-AF65-F5344CB8AC3E}">
        <p14:creationId xmlns:p14="http://schemas.microsoft.com/office/powerpoint/2010/main" val="35846466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4"/>
          <p:cNvSpPr>
            <a:spLocks noGrp="1" noChangeArrowheads="1"/>
          </p:cNvSpPr>
          <p:nvPr>
            <p:ph type="title"/>
          </p:nvPr>
        </p:nvSpPr>
        <p:spPr/>
        <p:txBody>
          <a:bodyPr/>
          <a:lstStyle/>
          <a:p>
            <a:pPr eaLnBrk="1" hangingPunct="1"/>
            <a:r>
              <a:rPr lang="en-US" altLang="en-US" dirty="0"/>
              <a:t>Chapter Goals (Slide 1 of 2)</a:t>
            </a:r>
          </a:p>
        </p:txBody>
      </p:sp>
      <p:sp>
        <p:nvSpPr>
          <p:cNvPr id="8195" name="Rectangle 5"/>
          <p:cNvSpPr>
            <a:spLocks noGrp="1" noChangeArrowheads="1"/>
          </p:cNvSpPr>
          <p:nvPr>
            <p:ph idx="1"/>
          </p:nvPr>
        </p:nvSpPr>
        <p:spPr/>
        <p:txBody>
          <a:bodyPr/>
          <a:lstStyle/>
          <a:p>
            <a:pPr eaLnBrk="1" hangingPunct="1"/>
            <a:r>
              <a:rPr lang="en-US" altLang="en-US"/>
              <a:t>Name the parts of the heart and associated blood vessels and their functions in the circulation of blood.</a:t>
            </a:r>
          </a:p>
          <a:p>
            <a:pPr eaLnBrk="1" hangingPunct="1"/>
            <a:r>
              <a:rPr lang="en-US" altLang="en-US"/>
              <a:t>Trace the pathway of blood through the heart.</a:t>
            </a:r>
          </a:p>
          <a:p>
            <a:pPr eaLnBrk="1" hangingPunct="1"/>
            <a:r>
              <a:rPr lang="en-US" altLang="en-US"/>
              <a:t>Identify and describe major pathologic conditions affecting the heart and blood vessels.</a:t>
            </a:r>
          </a:p>
        </p:txBody>
      </p:sp>
    </p:spTree>
    <p:extLst>
      <p:ext uri="{BB962C8B-B14F-4D97-AF65-F5344CB8AC3E}">
        <p14:creationId xmlns:p14="http://schemas.microsoft.com/office/powerpoint/2010/main" val="22032256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p:cNvSpPr>
            <a:spLocks noGrp="1" noChangeArrowheads="1"/>
          </p:cNvSpPr>
          <p:nvPr>
            <p:ph type="title"/>
          </p:nvPr>
        </p:nvSpPr>
        <p:spPr/>
        <p:txBody>
          <a:bodyPr/>
          <a:lstStyle/>
          <a:p>
            <a:pPr eaLnBrk="1" hangingPunct="1"/>
            <a:r>
              <a:rPr lang="en-US" altLang="en-US" dirty="0"/>
              <a:t>Chapter Goals (Slide 2 of 2)</a:t>
            </a:r>
          </a:p>
        </p:txBody>
      </p:sp>
      <p:sp>
        <p:nvSpPr>
          <p:cNvPr id="4101" name="Rectangle 5"/>
          <p:cNvSpPr>
            <a:spLocks noGrp="1" noChangeArrowheads="1"/>
          </p:cNvSpPr>
          <p:nvPr>
            <p:ph idx="1"/>
          </p:nvPr>
        </p:nvSpPr>
        <p:spPr/>
        <p:txBody>
          <a:bodyPr rtlCol="0">
            <a:normAutofit lnSpcReduction="10000"/>
          </a:bodyPr>
          <a:lstStyle/>
          <a:p>
            <a:pPr eaLnBrk="1" fontAlgn="auto" hangingPunct="1">
              <a:spcAft>
                <a:spcPts val="0"/>
              </a:spcAft>
              <a:defRPr/>
            </a:pPr>
            <a:r>
              <a:rPr lang="en-US" dirty="0"/>
              <a:t>Define combining forms that relate to the cardiovascular system.</a:t>
            </a:r>
          </a:p>
          <a:p>
            <a:pPr eaLnBrk="1" fontAlgn="auto" hangingPunct="1">
              <a:spcAft>
                <a:spcPts val="0"/>
              </a:spcAft>
              <a:defRPr/>
            </a:pPr>
            <a:r>
              <a:rPr lang="en-US" dirty="0"/>
              <a:t>Describe important laboratory tests and clinical procedures pertaining to the cardiovascular system and recognize relevant abbreviations.</a:t>
            </a:r>
          </a:p>
          <a:p>
            <a:pPr eaLnBrk="1" fontAlgn="auto" hangingPunct="1">
              <a:spcAft>
                <a:spcPts val="0"/>
              </a:spcAft>
              <a:defRPr/>
            </a:pPr>
            <a:r>
              <a:rPr lang="en-US" dirty="0"/>
              <a:t>Apply your new knowledge to understand medical terms in their proper context, such as in medical reports and records.</a:t>
            </a:r>
          </a:p>
        </p:txBody>
      </p:sp>
    </p:spTree>
    <p:extLst>
      <p:ext uri="{BB962C8B-B14F-4D97-AF65-F5344CB8AC3E}">
        <p14:creationId xmlns:p14="http://schemas.microsoft.com/office/powerpoint/2010/main" val="1169073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a:xfrm>
            <a:off x="762000" y="228600"/>
            <a:ext cx="7620000" cy="1143000"/>
          </a:xfrm>
        </p:spPr>
        <p:txBody>
          <a:bodyPr rtlCol="0">
            <a:normAutofit fontScale="90000"/>
          </a:bodyPr>
          <a:lstStyle/>
          <a:p>
            <a:pPr eaLnBrk="1" fontAlgn="auto" hangingPunct="1">
              <a:spcAft>
                <a:spcPts val="0"/>
              </a:spcAft>
              <a:defRPr/>
            </a:pPr>
            <a:r>
              <a:rPr lang="en-US"/>
              <a:t>Chapter 11</a:t>
            </a:r>
            <a:br>
              <a:rPr lang="en-US"/>
            </a:br>
            <a:r>
              <a:rPr lang="en-US"/>
              <a:t>Lesson 11.1</a:t>
            </a:r>
          </a:p>
        </p:txBody>
      </p:sp>
    </p:spTree>
    <p:extLst>
      <p:ext uri="{BB962C8B-B14F-4D97-AF65-F5344CB8AC3E}">
        <p14:creationId xmlns:p14="http://schemas.microsoft.com/office/powerpoint/2010/main" val="22318773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4"/>
          <p:cNvSpPr>
            <a:spLocks noGrp="1" noChangeArrowheads="1"/>
          </p:cNvSpPr>
          <p:nvPr>
            <p:ph type="title"/>
          </p:nvPr>
        </p:nvSpPr>
        <p:spPr/>
        <p:txBody>
          <a:bodyPr/>
          <a:lstStyle/>
          <a:p>
            <a:pPr eaLnBrk="1" hangingPunct="1"/>
            <a:r>
              <a:rPr lang="en-US" altLang="en-US"/>
              <a:t>Introduction</a:t>
            </a:r>
          </a:p>
        </p:txBody>
      </p:sp>
      <p:sp>
        <p:nvSpPr>
          <p:cNvPr id="11267" name="Rectangle 5"/>
          <p:cNvSpPr>
            <a:spLocks noGrp="1" noChangeArrowheads="1"/>
          </p:cNvSpPr>
          <p:nvPr>
            <p:ph idx="1"/>
          </p:nvPr>
        </p:nvSpPr>
        <p:spPr/>
        <p:txBody>
          <a:bodyPr/>
          <a:lstStyle/>
          <a:p>
            <a:pPr eaLnBrk="1" hangingPunct="1"/>
            <a:r>
              <a:rPr lang="en-US" altLang="en-US" b="1"/>
              <a:t>Cardiovascular system:</a:t>
            </a:r>
            <a:r>
              <a:rPr lang="en-US" altLang="en-US"/>
              <a:t> delivers oxygen and nutrients to cells of body tissue</a:t>
            </a:r>
          </a:p>
          <a:p>
            <a:pPr lvl="1" eaLnBrk="1" hangingPunct="1">
              <a:buFont typeface="Wingdings" panose="05000000000000000000" pitchFamily="2" charset="2"/>
              <a:buChar char="Ø"/>
            </a:pPr>
            <a:r>
              <a:rPr lang="en-US" altLang="en-US"/>
              <a:t>Heart (muscular pump)</a:t>
            </a:r>
          </a:p>
          <a:p>
            <a:pPr lvl="1" eaLnBrk="1" hangingPunct="1">
              <a:buFont typeface="Wingdings" panose="05000000000000000000" pitchFamily="2" charset="2"/>
              <a:buChar char="Ø"/>
            </a:pPr>
            <a:r>
              <a:rPr lang="en-US" altLang="en-US"/>
              <a:t>Blood vessels (fuel line and transportation network)</a:t>
            </a:r>
          </a:p>
        </p:txBody>
      </p:sp>
    </p:spTree>
    <p:extLst>
      <p:ext uri="{BB962C8B-B14F-4D97-AF65-F5344CB8AC3E}">
        <p14:creationId xmlns:p14="http://schemas.microsoft.com/office/powerpoint/2010/main" val="24982909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4"/>
          <p:cNvSpPr>
            <a:spLocks noGrp="1" noChangeArrowheads="1"/>
          </p:cNvSpPr>
          <p:nvPr>
            <p:ph type="title"/>
          </p:nvPr>
        </p:nvSpPr>
        <p:spPr>
          <a:xfrm>
            <a:off x="685800" y="152400"/>
            <a:ext cx="7772400" cy="1219200"/>
          </a:xfrm>
        </p:spPr>
        <p:txBody>
          <a:bodyPr rtlCol="0">
            <a:normAutofit fontScale="90000"/>
          </a:bodyPr>
          <a:lstStyle/>
          <a:p>
            <a:pPr eaLnBrk="1" fontAlgn="auto" hangingPunct="1">
              <a:spcAft>
                <a:spcPts val="0"/>
              </a:spcAft>
              <a:defRPr/>
            </a:pPr>
            <a:r>
              <a:rPr lang="en-US"/>
              <a:t>Blood Vessels and the </a:t>
            </a:r>
            <a:br>
              <a:rPr lang="en-US"/>
            </a:br>
            <a:r>
              <a:rPr lang="en-US"/>
              <a:t>Circulation of Blood</a:t>
            </a:r>
          </a:p>
        </p:txBody>
      </p:sp>
      <p:sp>
        <p:nvSpPr>
          <p:cNvPr id="6149" name="Rectangle 5"/>
          <p:cNvSpPr>
            <a:spLocks noGrp="1" noChangeArrowheads="1"/>
          </p:cNvSpPr>
          <p:nvPr>
            <p:ph idx="1"/>
          </p:nvPr>
        </p:nvSpPr>
        <p:spPr/>
        <p:txBody>
          <a:bodyPr rtlCol="0">
            <a:normAutofit lnSpcReduction="10000"/>
          </a:bodyPr>
          <a:lstStyle/>
          <a:p>
            <a:pPr eaLnBrk="1" fontAlgn="auto" hangingPunct="1">
              <a:spcAft>
                <a:spcPts val="0"/>
              </a:spcAft>
              <a:defRPr/>
            </a:pPr>
            <a:r>
              <a:rPr lang="en-US" b="1" dirty="0"/>
              <a:t>Arteries</a:t>
            </a:r>
            <a:r>
              <a:rPr lang="en-US" dirty="0"/>
              <a:t> are the vessels that lead away from the heart.</a:t>
            </a:r>
          </a:p>
          <a:p>
            <a:pPr eaLnBrk="1" fontAlgn="auto" hangingPunct="1">
              <a:spcAft>
                <a:spcPts val="0"/>
              </a:spcAft>
              <a:defRPr/>
            </a:pPr>
            <a:r>
              <a:rPr lang="en-US" b="1" dirty="0"/>
              <a:t>Veins</a:t>
            </a:r>
            <a:r>
              <a:rPr lang="en-US" dirty="0"/>
              <a:t> have thinner walls than arteries and move deoxygenated blood toward the heart from the tissues.</a:t>
            </a:r>
          </a:p>
          <a:p>
            <a:pPr eaLnBrk="1" fontAlgn="auto" hangingPunct="1">
              <a:spcAft>
                <a:spcPts val="0"/>
              </a:spcAft>
              <a:defRPr/>
            </a:pPr>
            <a:r>
              <a:rPr lang="en-US" b="1" dirty="0"/>
              <a:t>Capillaries</a:t>
            </a:r>
            <a:r>
              <a:rPr lang="en-US" dirty="0"/>
              <a:t> are the smallest vessels. They form the point of exchange for oxygen and nutrients into body cells and waste products coming from body cells. </a:t>
            </a:r>
          </a:p>
        </p:txBody>
      </p:sp>
    </p:spTree>
    <p:extLst>
      <p:ext uri="{BB962C8B-B14F-4D97-AF65-F5344CB8AC3E}">
        <p14:creationId xmlns:p14="http://schemas.microsoft.com/office/powerpoint/2010/main" val="17319475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pPr eaLnBrk="1" hangingPunct="1"/>
            <a:r>
              <a:rPr lang="en-US" altLang="en-US"/>
              <a:t>Blood Vessels</a:t>
            </a:r>
          </a:p>
        </p:txBody>
      </p:sp>
      <p:pic>
        <p:nvPicPr>
          <p:cNvPr id="5" name="Picture 10" descr="There are 3 different types of blood vessels in the body: arteries, veins, and capillaries. All 3 vessels are lined with endothelium. Endothelial cells actively secrete substances that prevent clotting and regulate the tone of blood vessels."/>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652024" y="1600200"/>
            <a:ext cx="5839952" cy="45259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1806134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pPr eaLnBrk="1" hangingPunct="1"/>
            <a:r>
              <a:rPr lang="en-US" altLang="en-US"/>
              <a:t>Blood Circulation/Systemic Circulation</a:t>
            </a:r>
          </a:p>
        </p:txBody>
      </p:sp>
      <p:pic>
        <p:nvPicPr>
          <p:cNvPr id="5" name="Picture 9" descr="In pulmonary circulation, blood flows from the heart to lung capillaries and back to the heart. In systemic circulation, blood flows from the heart to tissue capillaries and back to the heart."/>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795560" y="1600200"/>
            <a:ext cx="3552880" cy="45259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38926226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pPr eaLnBrk="1" hangingPunct="1"/>
            <a:r>
              <a:rPr lang="en-US" altLang="en-US"/>
              <a:t>The Aorta and Arteries</a:t>
            </a:r>
          </a:p>
        </p:txBody>
      </p:sp>
      <p:pic>
        <p:nvPicPr>
          <p:cNvPr id="5" name="Picture 13" descr="The muscles in the left side of the heart pump blood out of the heart through the largest single artery in the body, the aorta. The aorta divides into numerous branches called arteries that carry oxygenated blood to all parts of the body. Pulse points are areas in which the pulse expansion and contraction of the superficial artery can be felt."/>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3036944" y="1600200"/>
            <a:ext cx="3070111" cy="45259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25777049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pPr eaLnBrk="1" hangingPunct="1"/>
            <a:r>
              <a:rPr lang="en-US" altLang="en-US" sz="4000" dirty="0"/>
              <a:t>Anatomy of the Heart </a:t>
            </a:r>
          </a:p>
        </p:txBody>
      </p:sp>
      <p:sp>
        <p:nvSpPr>
          <p:cNvPr id="2" name="Content Placeholder 1"/>
          <p:cNvSpPr>
            <a:spLocks noGrp="1"/>
          </p:cNvSpPr>
          <p:nvPr>
            <p:ph idx="1"/>
          </p:nvPr>
        </p:nvSpPr>
        <p:spPr>
          <a:xfrm>
            <a:off x="1828800" y="1219200"/>
            <a:ext cx="5791200" cy="5299074"/>
          </a:xfrm>
        </p:spPr>
        <p:txBody>
          <a:bodyPr/>
          <a:lstStyle/>
          <a:p>
            <a:pPr marL="0" indent="0">
              <a:buNone/>
              <a:defRPr/>
            </a:pPr>
            <a:r>
              <a:rPr lang="en-US" sz="2400" b="1" dirty="0"/>
              <a:t>Anatomical structures of the heart include:</a:t>
            </a:r>
          </a:p>
          <a:p>
            <a:pPr lvl="1">
              <a:buFont typeface="Wingdings" panose="05000000000000000000" pitchFamily="2" charset="2"/>
              <a:buChar char="Ø"/>
              <a:defRPr/>
            </a:pPr>
            <a:r>
              <a:rPr lang="en-US" sz="2000" dirty="0"/>
              <a:t> Superior vena cava</a:t>
            </a:r>
          </a:p>
          <a:p>
            <a:pPr lvl="1">
              <a:buFont typeface="Wingdings" panose="05000000000000000000" pitchFamily="2" charset="2"/>
              <a:buChar char="Ø"/>
              <a:defRPr/>
            </a:pPr>
            <a:r>
              <a:rPr lang="en-US" sz="2000" dirty="0"/>
              <a:t> Inferior vena cava</a:t>
            </a:r>
          </a:p>
          <a:p>
            <a:pPr lvl="1">
              <a:buFont typeface="Wingdings" panose="05000000000000000000" pitchFamily="2" charset="2"/>
              <a:buChar char="Ø"/>
              <a:defRPr/>
            </a:pPr>
            <a:r>
              <a:rPr lang="en-US" sz="2000" dirty="0"/>
              <a:t> Right atrium</a:t>
            </a:r>
          </a:p>
          <a:p>
            <a:pPr lvl="1">
              <a:buFont typeface="Wingdings" panose="05000000000000000000" pitchFamily="2" charset="2"/>
              <a:buChar char="Ø"/>
              <a:defRPr/>
            </a:pPr>
            <a:r>
              <a:rPr lang="en-US" sz="2000" dirty="0"/>
              <a:t> Tricuspid valve</a:t>
            </a:r>
          </a:p>
          <a:p>
            <a:pPr lvl="1">
              <a:buFont typeface="Wingdings" panose="05000000000000000000" pitchFamily="2" charset="2"/>
              <a:buChar char="Ø"/>
              <a:defRPr/>
            </a:pPr>
            <a:r>
              <a:rPr lang="en-US" sz="2000" dirty="0"/>
              <a:t> Right ventricle</a:t>
            </a:r>
          </a:p>
          <a:p>
            <a:pPr lvl="1">
              <a:buFont typeface="Wingdings" panose="05000000000000000000" pitchFamily="2" charset="2"/>
              <a:buChar char="Ø"/>
              <a:defRPr/>
            </a:pPr>
            <a:r>
              <a:rPr lang="en-US" sz="2000" dirty="0"/>
              <a:t> Pulmonary valve</a:t>
            </a:r>
          </a:p>
          <a:p>
            <a:pPr lvl="1">
              <a:buFont typeface="Wingdings" panose="05000000000000000000" pitchFamily="2" charset="2"/>
              <a:buChar char="Ø"/>
              <a:defRPr/>
            </a:pPr>
            <a:r>
              <a:rPr lang="en-US" sz="2000" dirty="0"/>
              <a:t> Pulmonary artery</a:t>
            </a:r>
          </a:p>
          <a:p>
            <a:pPr lvl="1">
              <a:buFont typeface="Wingdings" panose="05000000000000000000" pitchFamily="2" charset="2"/>
              <a:buChar char="Ø"/>
              <a:defRPr/>
            </a:pPr>
            <a:r>
              <a:rPr lang="en-US" sz="2000" dirty="0"/>
              <a:t> Pulmonary veins</a:t>
            </a:r>
          </a:p>
          <a:p>
            <a:pPr lvl="1">
              <a:buFont typeface="Wingdings" panose="05000000000000000000" pitchFamily="2" charset="2"/>
              <a:buChar char="Ø"/>
              <a:defRPr/>
            </a:pPr>
            <a:r>
              <a:rPr lang="en-US" sz="2000" dirty="0"/>
              <a:t> Left atrium</a:t>
            </a:r>
          </a:p>
          <a:p>
            <a:pPr lvl="1">
              <a:buFont typeface="Wingdings" panose="05000000000000000000" pitchFamily="2" charset="2"/>
              <a:buChar char="Ø"/>
              <a:defRPr/>
            </a:pPr>
            <a:r>
              <a:rPr lang="en-US" sz="2000" dirty="0"/>
              <a:t> Mitral valve</a:t>
            </a:r>
          </a:p>
          <a:p>
            <a:pPr lvl="1">
              <a:buFont typeface="Wingdings" panose="05000000000000000000" pitchFamily="2" charset="2"/>
              <a:buChar char="Ø"/>
              <a:defRPr/>
            </a:pPr>
            <a:r>
              <a:rPr lang="en-US" sz="2000" dirty="0"/>
              <a:t> Left ventricle</a:t>
            </a:r>
          </a:p>
          <a:p>
            <a:pPr lvl="1">
              <a:buFont typeface="Wingdings" panose="05000000000000000000" pitchFamily="2" charset="2"/>
              <a:buChar char="Ø"/>
              <a:defRPr/>
            </a:pPr>
            <a:r>
              <a:rPr lang="en-US" sz="2000" dirty="0"/>
              <a:t> Aortic valve</a:t>
            </a:r>
          </a:p>
          <a:p>
            <a:pPr lvl="1">
              <a:buFont typeface="Wingdings" panose="05000000000000000000" pitchFamily="2" charset="2"/>
              <a:buChar char="Ø"/>
              <a:defRPr/>
            </a:pPr>
            <a:r>
              <a:rPr lang="en-US" sz="2000" dirty="0"/>
              <a:t> Aorta</a:t>
            </a:r>
          </a:p>
          <a:p>
            <a:endParaRPr lang="es-419" dirty="0"/>
          </a:p>
        </p:txBody>
      </p:sp>
    </p:spTree>
    <p:extLst>
      <p:ext uri="{BB962C8B-B14F-4D97-AF65-F5344CB8AC3E}">
        <p14:creationId xmlns:p14="http://schemas.microsoft.com/office/powerpoint/2010/main" val="22313257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4"/>
          <p:cNvSpPr>
            <a:spLocks noGrp="1" noChangeArrowheads="1"/>
          </p:cNvSpPr>
          <p:nvPr>
            <p:ph type="title"/>
          </p:nvPr>
        </p:nvSpPr>
        <p:spPr/>
        <p:txBody>
          <a:bodyPr/>
          <a:lstStyle/>
          <a:p>
            <a:pPr eaLnBrk="1" hangingPunct="1"/>
            <a:r>
              <a:rPr lang="en-US" altLang="en-US"/>
              <a:t>Major Valves of the Heart</a:t>
            </a:r>
          </a:p>
        </p:txBody>
      </p:sp>
      <p:sp>
        <p:nvSpPr>
          <p:cNvPr id="18435" name="Rectangle 5"/>
          <p:cNvSpPr>
            <a:spLocks noGrp="1" noChangeArrowheads="1"/>
          </p:cNvSpPr>
          <p:nvPr>
            <p:ph idx="1"/>
          </p:nvPr>
        </p:nvSpPr>
        <p:spPr/>
        <p:txBody>
          <a:bodyPr/>
          <a:lstStyle/>
          <a:p>
            <a:pPr eaLnBrk="1" hangingPunct="1"/>
            <a:r>
              <a:rPr lang="en-US" altLang="en-US" b="1"/>
              <a:t>Tricuspid valve</a:t>
            </a:r>
            <a:r>
              <a:rPr lang="en-US" altLang="en-US"/>
              <a:t> (cusps are flaps of the valves): between the right atrium and right ventricle</a:t>
            </a:r>
          </a:p>
          <a:p>
            <a:pPr eaLnBrk="1" hangingPunct="1"/>
            <a:r>
              <a:rPr lang="en-US" altLang="en-US" b="1"/>
              <a:t>Pulmonary valve:</a:t>
            </a:r>
            <a:r>
              <a:rPr lang="en-US" altLang="en-US"/>
              <a:t> between the right ventricle and pulmonary artery</a:t>
            </a:r>
          </a:p>
          <a:p>
            <a:pPr eaLnBrk="1" hangingPunct="1"/>
            <a:r>
              <a:rPr lang="en-US" altLang="en-US" b="1"/>
              <a:t>Mitral valve:</a:t>
            </a:r>
            <a:r>
              <a:rPr lang="en-US" altLang="en-US"/>
              <a:t> between the left atrium and left ventricle</a:t>
            </a:r>
          </a:p>
          <a:p>
            <a:pPr eaLnBrk="1" hangingPunct="1"/>
            <a:r>
              <a:rPr lang="en-US" altLang="en-US" b="1"/>
              <a:t>Aortic valve:</a:t>
            </a:r>
            <a:r>
              <a:rPr lang="en-US" altLang="en-US"/>
              <a:t> between the left atrium and aorta</a:t>
            </a:r>
          </a:p>
        </p:txBody>
      </p:sp>
    </p:spTree>
    <p:extLst>
      <p:ext uri="{BB962C8B-B14F-4D97-AF65-F5344CB8AC3E}">
        <p14:creationId xmlns:p14="http://schemas.microsoft.com/office/powerpoint/2010/main" val="27090227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rtlCol="0">
            <a:normAutofit fontScale="90000"/>
          </a:bodyPr>
          <a:lstStyle/>
          <a:p>
            <a:pPr eaLnBrk="1" fontAlgn="auto" hangingPunct="1">
              <a:spcAft>
                <a:spcPts val="0"/>
              </a:spcAft>
              <a:defRPr/>
            </a:pPr>
            <a:r>
              <a:rPr lang="en-US"/>
              <a:t>Pathway of Blood </a:t>
            </a:r>
            <a:br>
              <a:rPr lang="en-US"/>
            </a:br>
            <a:r>
              <a:rPr lang="en-US"/>
              <a:t>through the Heart</a:t>
            </a:r>
          </a:p>
        </p:txBody>
      </p:sp>
      <p:pic>
        <p:nvPicPr>
          <p:cNvPr id="5" name="Picture 10" descr="Pathway of blood through the heart: blood enters the heart via superior vena cava/inferior vena cava to the right side of the heart. It then flows through the lungs where carbon dioxide is exhaled and oxygen inhaled. This oxygenated blood enters the left side of the heart to the aorta, where it travels to all parts of the body."/>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600200" y="2057400"/>
            <a:ext cx="6515100" cy="40719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34175146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4"/>
          <p:cNvSpPr>
            <a:spLocks noGrp="1" noChangeArrowheads="1"/>
          </p:cNvSpPr>
          <p:nvPr>
            <p:ph type="title"/>
          </p:nvPr>
        </p:nvSpPr>
        <p:spPr/>
        <p:txBody>
          <a:bodyPr/>
          <a:lstStyle/>
          <a:p>
            <a:pPr eaLnBrk="1" hangingPunct="1"/>
            <a:r>
              <a:rPr lang="en-US" altLang="en-US" dirty="0"/>
              <a:t>Heartbeat</a:t>
            </a:r>
          </a:p>
        </p:txBody>
      </p:sp>
      <p:sp>
        <p:nvSpPr>
          <p:cNvPr id="20483" name="Rectangle 5"/>
          <p:cNvSpPr>
            <a:spLocks noGrp="1" noChangeArrowheads="1"/>
          </p:cNvSpPr>
          <p:nvPr>
            <p:ph idx="1"/>
          </p:nvPr>
        </p:nvSpPr>
        <p:spPr/>
        <p:txBody>
          <a:bodyPr/>
          <a:lstStyle/>
          <a:p>
            <a:pPr marL="0" indent="0" eaLnBrk="1" hangingPunct="1">
              <a:lnSpc>
                <a:spcPct val="90000"/>
              </a:lnSpc>
              <a:buFont typeface="Arial" panose="020B0604020202020204" pitchFamily="34" charset="0"/>
              <a:buNone/>
              <a:defRPr/>
            </a:pPr>
            <a:r>
              <a:rPr lang="en-US" dirty="0"/>
              <a:t>Two phases of the heartbeat:</a:t>
            </a:r>
          </a:p>
          <a:p>
            <a:pPr eaLnBrk="1" hangingPunct="1">
              <a:lnSpc>
                <a:spcPct val="90000"/>
              </a:lnSpc>
              <a:defRPr/>
            </a:pPr>
            <a:r>
              <a:rPr lang="en-US" b="1" dirty="0"/>
              <a:t>Diastole:</a:t>
            </a:r>
            <a:r>
              <a:rPr lang="en-US" dirty="0"/>
              <a:t> relaxation</a:t>
            </a:r>
          </a:p>
          <a:p>
            <a:pPr eaLnBrk="1" hangingPunct="1">
              <a:lnSpc>
                <a:spcPct val="90000"/>
              </a:lnSpc>
              <a:defRPr/>
            </a:pPr>
            <a:r>
              <a:rPr lang="en-US" b="1" dirty="0"/>
              <a:t>Systole:</a:t>
            </a:r>
            <a:r>
              <a:rPr lang="en-US" dirty="0"/>
              <a:t> contraction</a:t>
            </a:r>
          </a:p>
          <a:p>
            <a:pPr lvl="1" eaLnBrk="1" hangingPunct="1">
              <a:lnSpc>
                <a:spcPct val="90000"/>
              </a:lnSpc>
              <a:buFont typeface="Wingdings" pitchFamily="2" charset="2"/>
              <a:buChar char="Ø"/>
              <a:defRPr/>
            </a:pPr>
            <a:r>
              <a:rPr lang="en-US" dirty="0"/>
              <a:t>The diastole-systole cardiac cycle occurs between 70 to 80 times per minute (100,000 times per day).</a:t>
            </a:r>
          </a:p>
          <a:p>
            <a:pPr lvl="1" eaLnBrk="1" hangingPunct="1">
              <a:lnSpc>
                <a:spcPct val="90000"/>
              </a:lnSpc>
              <a:buFont typeface="Wingdings" pitchFamily="2" charset="2"/>
              <a:buChar char="Ø"/>
              <a:defRPr/>
            </a:pPr>
            <a:r>
              <a:rPr lang="en-US" dirty="0"/>
              <a:t>The heart pumps 3 ounces of blood with each contraction. This means that about 5 quarts are pumped per minute (75 gallons an hour and about 2000 gallons a day).</a:t>
            </a:r>
          </a:p>
        </p:txBody>
      </p:sp>
    </p:spTree>
    <p:extLst>
      <p:ext uri="{BB962C8B-B14F-4D97-AF65-F5344CB8AC3E}">
        <p14:creationId xmlns:p14="http://schemas.microsoft.com/office/powerpoint/2010/main" val="19915916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pPr eaLnBrk="1" hangingPunct="1"/>
            <a:r>
              <a:rPr lang="en-US" altLang="en-US"/>
              <a:t>Heart Sounds</a:t>
            </a:r>
          </a:p>
        </p:txBody>
      </p:sp>
      <p:sp>
        <p:nvSpPr>
          <p:cNvPr id="21507" name="Rectangle 3"/>
          <p:cNvSpPr>
            <a:spLocks noGrp="1" noChangeArrowheads="1"/>
          </p:cNvSpPr>
          <p:nvPr>
            <p:ph idx="1"/>
          </p:nvPr>
        </p:nvSpPr>
        <p:spPr/>
        <p:txBody>
          <a:bodyPr/>
          <a:lstStyle/>
          <a:p>
            <a:pPr eaLnBrk="1" hangingPunct="1">
              <a:buFont typeface="Wingdings 2" panose="05020102010507070707" pitchFamily="18" charset="2"/>
              <a:buNone/>
            </a:pPr>
            <a:r>
              <a:rPr lang="en-US" altLang="en-US" b="1"/>
              <a:t>Closure of valves associated with sounds </a:t>
            </a:r>
            <a:r>
              <a:rPr lang="ja-JP" altLang="en-US" b="1"/>
              <a:t>“</a:t>
            </a:r>
            <a:r>
              <a:rPr lang="en-US" altLang="ja-JP" b="1"/>
              <a:t>lubb-dubb, lubb-dubb</a:t>
            </a:r>
            <a:r>
              <a:rPr lang="ja-JP" altLang="en-US" b="1"/>
              <a:t>”</a:t>
            </a:r>
            <a:endParaRPr lang="en-US" altLang="ja-JP" b="1"/>
          </a:p>
          <a:p>
            <a:pPr eaLnBrk="1" hangingPunct="1"/>
            <a:r>
              <a:rPr lang="en-US" altLang="en-US" b="1"/>
              <a:t>lubb</a:t>
            </a:r>
            <a:r>
              <a:rPr lang="en-US" altLang="en-US"/>
              <a:t>: closure of the tricuspid and mitral valves at the beginning of systole</a:t>
            </a:r>
          </a:p>
          <a:p>
            <a:pPr eaLnBrk="1" hangingPunct="1"/>
            <a:r>
              <a:rPr lang="en-US" altLang="en-US" b="1"/>
              <a:t>dubb</a:t>
            </a:r>
            <a:r>
              <a:rPr lang="en-US" altLang="en-US"/>
              <a:t>: closure of the aortic and pulmonary valves at the end of systole</a:t>
            </a:r>
          </a:p>
          <a:p>
            <a:pPr eaLnBrk="1" hangingPunct="1"/>
            <a:r>
              <a:rPr lang="en-US" altLang="en-US" b="1"/>
              <a:t>murmur</a:t>
            </a:r>
            <a:r>
              <a:rPr lang="en-US" altLang="en-US"/>
              <a:t>: an abnormal heart sound caused by improper valve closure</a:t>
            </a:r>
          </a:p>
        </p:txBody>
      </p:sp>
    </p:spTree>
    <p:extLst>
      <p:ext uri="{BB962C8B-B14F-4D97-AF65-F5344CB8AC3E}">
        <p14:creationId xmlns:p14="http://schemas.microsoft.com/office/powerpoint/2010/main" val="24127218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1026"/>
          <p:cNvSpPr>
            <a:spLocks noGrp="1" noChangeArrowheads="1"/>
          </p:cNvSpPr>
          <p:nvPr>
            <p:ph type="title"/>
          </p:nvPr>
        </p:nvSpPr>
        <p:spPr/>
        <p:txBody>
          <a:bodyPr/>
          <a:lstStyle/>
          <a:p>
            <a:pPr eaLnBrk="1" hangingPunct="1"/>
            <a:r>
              <a:rPr lang="en-US" altLang="en-US"/>
              <a:t>Phases of the Heartbeat</a:t>
            </a:r>
          </a:p>
        </p:txBody>
      </p:sp>
      <p:pic>
        <p:nvPicPr>
          <p:cNvPr id="5" name="Picture 1033" descr="There are 2 phases of the heartbeat: diastole (relaxation) and systole (contraction). During diastole, the tricuspid and mitral valves open as blood enters the ventricles. During systole, the pulmonary and aortic valves are open as blood is pumped to the pulmonary artery and aorta."/>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066980" y="1890490"/>
            <a:ext cx="7238820" cy="38245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784237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228600" y="274638"/>
            <a:ext cx="8458200" cy="1143000"/>
          </a:xfrm>
        </p:spPr>
        <p:txBody>
          <a:bodyPr/>
          <a:lstStyle/>
          <a:p>
            <a:pPr eaLnBrk="1" hangingPunct="1"/>
            <a:r>
              <a:rPr lang="en-US" altLang="en-US" sz="4000" dirty="0"/>
              <a:t>Conduction System of the Heart</a:t>
            </a:r>
            <a:br>
              <a:rPr lang="en-US" altLang="en-US" sz="4000" dirty="0"/>
            </a:br>
            <a:r>
              <a:rPr lang="en-US" altLang="en-US" sz="4000" dirty="0"/>
              <a:t> (slide 1 of 2)</a:t>
            </a:r>
          </a:p>
        </p:txBody>
      </p:sp>
      <p:sp>
        <p:nvSpPr>
          <p:cNvPr id="24579" name="Rectangle 3"/>
          <p:cNvSpPr>
            <a:spLocks noGrp="1" noChangeArrowheads="1"/>
          </p:cNvSpPr>
          <p:nvPr>
            <p:ph idx="1"/>
          </p:nvPr>
        </p:nvSpPr>
        <p:spPr/>
        <p:txBody>
          <a:bodyPr/>
          <a:lstStyle/>
          <a:p>
            <a:pPr marL="533400" indent="-533400" eaLnBrk="1" hangingPunct="1">
              <a:buFont typeface="Arial" panose="020B0604020202020204" pitchFamily="34" charset="0"/>
              <a:buNone/>
            </a:pPr>
            <a:r>
              <a:rPr lang="en-US" altLang="en-US" b="1"/>
              <a:t>Sinoatrial node (SA node)</a:t>
            </a:r>
            <a:r>
              <a:rPr lang="en-US" altLang="en-US"/>
              <a:t>: the pacemaker of the heart</a:t>
            </a:r>
          </a:p>
          <a:p>
            <a:pPr marL="533400" indent="-533400" eaLnBrk="1" hangingPunct="1">
              <a:buFont typeface="Wingdings 2" panose="05020102010507070707" pitchFamily="18" charset="2"/>
              <a:buNone/>
            </a:pPr>
            <a:r>
              <a:rPr lang="en-US" altLang="en-US" b="1"/>
              <a:t>Pacemaker</a:t>
            </a:r>
            <a:r>
              <a:rPr lang="en-US" altLang="en-US"/>
              <a:t>: origin of electrical impulse causing walls of the atria to contract and force blood into the ventricles (ending diastole)</a:t>
            </a:r>
          </a:p>
        </p:txBody>
      </p:sp>
    </p:spTree>
    <p:extLst>
      <p:ext uri="{BB962C8B-B14F-4D97-AF65-F5344CB8AC3E}">
        <p14:creationId xmlns:p14="http://schemas.microsoft.com/office/powerpoint/2010/main" val="766415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0" name="Rectangle 4"/>
          <p:cNvSpPr>
            <a:spLocks noGrp="1" noChangeArrowheads="1"/>
          </p:cNvSpPr>
          <p:nvPr>
            <p:ph type="title"/>
          </p:nvPr>
        </p:nvSpPr>
        <p:spPr/>
        <p:txBody>
          <a:bodyPr rtlCol="0">
            <a:normAutofit fontScale="90000"/>
          </a:bodyPr>
          <a:lstStyle/>
          <a:p>
            <a:pPr eaLnBrk="1" fontAlgn="auto" hangingPunct="1">
              <a:spcAft>
                <a:spcPts val="0"/>
              </a:spcAft>
              <a:defRPr/>
            </a:pPr>
            <a:r>
              <a:rPr lang="en-US" dirty="0"/>
              <a:t> Conduction System of the Heart</a:t>
            </a:r>
            <a:br>
              <a:rPr lang="en-US" dirty="0"/>
            </a:br>
            <a:r>
              <a:rPr lang="en-US" dirty="0"/>
              <a:t> (slide 2 of 2</a:t>
            </a:r>
            <a:r>
              <a:rPr lang="en-US" altLang="ja-JP" dirty="0"/>
              <a:t>)</a:t>
            </a:r>
            <a:endParaRPr lang="en-US" dirty="0"/>
          </a:p>
        </p:txBody>
      </p:sp>
      <p:sp>
        <p:nvSpPr>
          <p:cNvPr id="25603" name="Rectangle 5"/>
          <p:cNvSpPr>
            <a:spLocks noGrp="1" noChangeArrowheads="1"/>
          </p:cNvSpPr>
          <p:nvPr>
            <p:ph idx="1"/>
          </p:nvPr>
        </p:nvSpPr>
        <p:spPr/>
        <p:txBody>
          <a:bodyPr/>
          <a:lstStyle/>
          <a:p>
            <a:pPr eaLnBrk="1" hangingPunct="1">
              <a:lnSpc>
                <a:spcPct val="90000"/>
              </a:lnSpc>
            </a:pPr>
            <a:r>
              <a:rPr lang="en-US" altLang="en-US" sz="2800" b="1" dirty="0" err="1"/>
              <a:t>Atrioventricular</a:t>
            </a:r>
            <a:r>
              <a:rPr lang="en-US" altLang="en-US" sz="2800" b="1" dirty="0"/>
              <a:t> </a:t>
            </a:r>
            <a:r>
              <a:rPr lang="en-US" altLang="en-US" sz="2800" dirty="0"/>
              <a:t>node (AV node): This sends the excitation wave to a bundle of specialized fibers called the </a:t>
            </a:r>
            <a:r>
              <a:rPr lang="en-US" altLang="en-US" sz="2800" dirty="0" err="1"/>
              <a:t>atrioventricular</a:t>
            </a:r>
            <a:r>
              <a:rPr lang="en-US" altLang="en-US" sz="2800" dirty="0"/>
              <a:t> bundle or Bundle of His. </a:t>
            </a:r>
          </a:p>
          <a:p>
            <a:pPr eaLnBrk="1" hangingPunct="1">
              <a:lnSpc>
                <a:spcPct val="90000"/>
              </a:lnSpc>
            </a:pPr>
            <a:r>
              <a:rPr lang="en-US" altLang="en-US" sz="2800" b="1" dirty="0"/>
              <a:t>Bundle of His (pronounced </a:t>
            </a:r>
            <a:r>
              <a:rPr lang="ja-JP" altLang="en-US" sz="2800" b="1"/>
              <a:t>“</a:t>
            </a:r>
            <a:r>
              <a:rPr lang="en-US" altLang="ja-JP" sz="2800" b="1" dirty="0"/>
              <a:t>hiss</a:t>
            </a:r>
            <a:r>
              <a:rPr lang="ja-JP" altLang="en-US" sz="2800" b="1"/>
              <a:t>”</a:t>
            </a:r>
            <a:r>
              <a:rPr lang="en-US" altLang="ja-JP" sz="2800" b="1" dirty="0"/>
              <a:t>):</a:t>
            </a:r>
            <a:r>
              <a:rPr lang="en-US" altLang="ja-JP" sz="2800" dirty="0"/>
              <a:t> Helps form conduction </a:t>
            </a:r>
            <a:r>
              <a:rPr lang="en-US" altLang="ja-JP" sz="2800" dirty="0" err="1"/>
              <a:t>myofibers</a:t>
            </a:r>
            <a:r>
              <a:rPr lang="en-US" altLang="ja-JP" sz="2800" dirty="0"/>
              <a:t> that extend to ventricle walls and stimulate them to contract, beginning systole. A short rest period follows.</a:t>
            </a:r>
          </a:p>
          <a:p>
            <a:pPr eaLnBrk="1" hangingPunct="1">
              <a:lnSpc>
                <a:spcPct val="90000"/>
              </a:lnSpc>
            </a:pPr>
            <a:r>
              <a:rPr lang="en-US" altLang="en-US" sz="2800" dirty="0"/>
              <a:t>The pacemaker begins wave of excitation again.</a:t>
            </a:r>
          </a:p>
          <a:p>
            <a:pPr eaLnBrk="1" hangingPunct="1">
              <a:lnSpc>
                <a:spcPct val="90000"/>
              </a:lnSpc>
            </a:pPr>
            <a:r>
              <a:rPr lang="en-US" altLang="en-US" sz="2800" dirty="0"/>
              <a:t>ECG or EKG (electrocardiogram): The record used to detect electrical changes in heart muscle as the heart beats</a:t>
            </a:r>
            <a:r>
              <a:rPr lang="en-US" altLang="en-US" sz="2400" dirty="0"/>
              <a:t>.</a:t>
            </a:r>
          </a:p>
        </p:txBody>
      </p:sp>
    </p:spTree>
    <p:extLst>
      <p:ext uri="{BB962C8B-B14F-4D97-AF65-F5344CB8AC3E}">
        <p14:creationId xmlns:p14="http://schemas.microsoft.com/office/powerpoint/2010/main" val="34782270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pPr eaLnBrk="1" hangingPunct="1"/>
            <a:r>
              <a:rPr lang="en-US" altLang="en-US" dirty="0"/>
              <a:t>Electrocardiogram (slide 1 of 3)</a:t>
            </a:r>
          </a:p>
        </p:txBody>
      </p:sp>
      <p:sp>
        <p:nvSpPr>
          <p:cNvPr id="28675" name="Rectangle 9"/>
          <p:cNvSpPr>
            <a:spLocks noGrp="1" noChangeArrowheads="1"/>
          </p:cNvSpPr>
          <p:nvPr>
            <p:ph sz="half" idx="1"/>
          </p:nvPr>
        </p:nvSpPr>
        <p:spPr>
          <a:xfrm>
            <a:off x="685800" y="1905000"/>
            <a:ext cx="3505200" cy="4191000"/>
          </a:xfrm>
        </p:spPr>
        <p:txBody>
          <a:bodyPr/>
          <a:lstStyle/>
          <a:p>
            <a:pPr eaLnBrk="1" hangingPunct="1">
              <a:lnSpc>
                <a:spcPct val="80000"/>
              </a:lnSpc>
            </a:pPr>
            <a:r>
              <a:rPr lang="en-US" altLang="en-US" sz="2000" b="1" dirty="0"/>
              <a:t>P wave</a:t>
            </a:r>
            <a:r>
              <a:rPr lang="en-US" altLang="en-US" sz="2000" dirty="0"/>
              <a:t> = spread of excitation wave over the atria just before contraction</a:t>
            </a:r>
          </a:p>
          <a:p>
            <a:pPr eaLnBrk="1" hangingPunct="1">
              <a:lnSpc>
                <a:spcPct val="80000"/>
              </a:lnSpc>
            </a:pPr>
            <a:r>
              <a:rPr lang="en-US" altLang="en-US" sz="2000" dirty="0"/>
              <a:t> </a:t>
            </a:r>
            <a:r>
              <a:rPr lang="en-US" altLang="en-US" sz="2000" b="1" dirty="0"/>
              <a:t>QRS wave</a:t>
            </a:r>
            <a:r>
              <a:rPr lang="en-US" altLang="en-US" sz="2000" dirty="0"/>
              <a:t> = spread of excitation wave over the ventricles as the ventricles contract;</a:t>
            </a:r>
          </a:p>
          <a:p>
            <a:pPr eaLnBrk="1" hangingPunct="1">
              <a:lnSpc>
                <a:spcPct val="80000"/>
              </a:lnSpc>
            </a:pPr>
            <a:r>
              <a:rPr lang="en-US" altLang="en-US" sz="2000" b="1" dirty="0"/>
              <a:t>T wave</a:t>
            </a:r>
            <a:r>
              <a:rPr lang="en-US" altLang="en-US" sz="2000" dirty="0"/>
              <a:t> = electrical recovery and relaxation of ventricles. A heart attack (myocardial infarction or MI) can be recognized by an elevation in the S-T segment of the ECG. Thus, one type of MI is an S-T elevation MI or STEMI</a:t>
            </a:r>
          </a:p>
        </p:txBody>
      </p:sp>
      <p:pic>
        <p:nvPicPr>
          <p:cNvPr id="6" name="Picture 12" descr="The record used to detect electrical changes in heart muscle as the heart beats is an electrocardiogram. The normal tracing shows five waves, or deflections, that represent the electrical changes as a wave of excitation spreads through the heart. The deflections are called P, QRS, and T waves."/>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4518532" y="2362200"/>
            <a:ext cx="4130168" cy="3276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28707678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pPr eaLnBrk="1" hangingPunct="1"/>
            <a:r>
              <a:rPr lang="en-US" altLang="en-US" dirty="0"/>
              <a:t>Electrocardiogram (slide 2 of 3</a:t>
            </a:r>
            <a:r>
              <a:rPr lang="en-US" altLang="ja-JP" dirty="0"/>
              <a:t>)</a:t>
            </a:r>
            <a:endParaRPr lang="en-US" altLang="en-US" dirty="0"/>
          </a:p>
        </p:txBody>
      </p:sp>
      <p:pic>
        <p:nvPicPr>
          <p:cNvPr id="5" name="Picture 10" descr="A heart attack or myocardial infarction (MI) can be recognized by an elevation in the ST segment of the electrocardiographic tracing."/>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490412" y="1600200"/>
            <a:ext cx="5914741" cy="47244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28288059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pPr eaLnBrk="1" hangingPunct="1"/>
            <a:r>
              <a:rPr lang="en-US" altLang="en-US" dirty="0"/>
              <a:t>Electrocardiogram (slide 3 of 3</a:t>
            </a:r>
            <a:r>
              <a:rPr lang="en-US" altLang="ja-JP" dirty="0"/>
              <a:t>)</a:t>
            </a:r>
            <a:endParaRPr lang="en-US" altLang="en-US" dirty="0"/>
          </a:p>
        </p:txBody>
      </p:sp>
      <p:pic>
        <p:nvPicPr>
          <p:cNvPr id="6" name="Picture 8" descr="The record used to detect electrical changes in heart muscle as the heart beats is an electrocardiogram. The normal tracing shows five waves, or deflections, that represent the electrical changes as a wave of excitation spreads through the heart. The deflections are called P, QRS, and T waves."/>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661472" y="1747360"/>
            <a:ext cx="5577528" cy="442483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5363701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4"/>
          <p:cNvSpPr>
            <a:spLocks noGrp="1" noChangeArrowheads="1"/>
          </p:cNvSpPr>
          <p:nvPr>
            <p:ph type="title"/>
          </p:nvPr>
        </p:nvSpPr>
        <p:spPr/>
        <p:txBody>
          <a:bodyPr/>
          <a:lstStyle/>
          <a:p>
            <a:pPr eaLnBrk="1" hangingPunct="1"/>
            <a:r>
              <a:rPr lang="en-US" altLang="en-US"/>
              <a:t>Blood Pressure</a:t>
            </a:r>
          </a:p>
        </p:txBody>
      </p:sp>
      <p:sp>
        <p:nvSpPr>
          <p:cNvPr id="31747" name="Rectangle 5"/>
          <p:cNvSpPr>
            <a:spLocks noGrp="1" noChangeArrowheads="1"/>
          </p:cNvSpPr>
          <p:nvPr>
            <p:ph sz="half" idx="1"/>
          </p:nvPr>
        </p:nvSpPr>
        <p:spPr>
          <a:xfrm>
            <a:off x="457200" y="2286000"/>
            <a:ext cx="4889308" cy="3544411"/>
          </a:xfrm>
        </p:spPr>
        <p:txBody>
          <a:bodyPr/>
          <a:lstStyle/>
          <a:p>
            <a:pPr eaLnBrk="1" hangingPunct="1"/>
            <a:r>
              <a:rPr lang="en-US" altLang="en-US" sz="2400" b="1" dirty="0">
                <a:ea typeface="MS PGothic" panose="020B0600070205080204" pitchFamily="34" charset="-128"/>
              </a:rPr>
              <a:t>Blood pressure:</a:t>
            </a:r>
            <a:r>
              <a:rPr lang="en-US" altLang="en-US" sz="2400" dirty="0">
                <a:ea typeface="MS PGothic" panose="020B0600070205080204" pitchFamily="34" charset="-128"/>
              </a:rPr>
              <a:t> The force that blood exerts on arterial walls</a:t>
            </a:r>
          </a:p>
          <a:p>
            <a:pPr eaLnBrk="1" hangingPunct="1"/>
            <a:r>
              <a:rPr lang="en-US" altLang="en-US" sz="2400" dirty="0">
                <a:ea typeface="MS PGothic" panose="020B0600070205080204" pitchFamily="34" charset="-128"/>
              </a:rPr>
              <a:t>Measured using a </a:t>
            </a:r>
            <a:r>
              <a:rPr lang="en-US" altLang="en-US" sz="2400" b="1" dirty="0">
                <a:ea typeface="MS PGothic" panose="020B0600070205080204" pitchFamily="34" charset="-128"/>
              </a:rPr>
              <a:t>sphygmomanometer</a:t>
            </a:r>
          </a:p>
          <a:p>
            <a:pPr eaLnBrk="1" hangingPunct="1"/>
            <a:r>
              <a:rPr lang="en-US" altLang="en-US" sz="2400" dirty="0">
                <a:ea typeface="MS PGothic" panose="020B0600070205080204" pitchFamily="34" charset="-128"/>
              </a:rPr>
              <a:t>Expressed as a fraction:                 systolic pressure/diastolic pressure </a:t>
            </a:r>
          </a:p>
          <a:p>
            <a:pPr lvl="2" eaLnBrk="1" hangingPunct="1">
              <a:buFont typeface="Wingdings" panose="05000000000000000000" pitchFamily="2" charset="2"/>
              <a:buChar char="Ø"/>
            </a:pPr>
            <a:r>
              <a:rPr lang="en-US" altLang="en-US" sz="2400" dirty="0">
                <a:ea typeface="MS PGothic" panose="020B0600070205080204" pitchFamily="34" charset="-128"/>
              </a:rPr>
              <a:t>Example: 120/80 mm Hg</a:t>
            </a:r>
          </a:p>
          <a:p>
            <a:pPr marL="0" indent="0" eaLnBrk="1" hangingPunct="1">
              <a:buNone/>
            </a:pPr>
            <a:endParaRPr lang="en-US" altLang="en-US" sz="2000" dirty="0">
              <a:ea typeface="MS PGothic" panose="020B0600070205080204" pitchFamily="34" charset="-128"/>
            </a:endParaRPr>
          </a:p>
        </p:txBody>
      </p:sp>
      <p:pic>
        <p:nvPicPr>
          <p:cNvPr id="6" name="Picture 9" descr="Blood pressure is the force that blood exerts on arterial walls. This pressure is measured with a sphygmomanomete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5346508" y="2514600"/>
            <a:ext cx="3187892" cy="263001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23970417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Vocabulary (Slide 1 of 22)</a:t>
            </a:r>
          </a:p>
        </p:txBody>
      </p:sp>
      <p:graphicFrame>
        <p:nvGraphicFramePr>
          <p:cNvPr id="6" name="Content Placeholder 5" descr="Group 1 of 11:  This table lists a group of vocabulary terms from the text.  The same terms are repeated on the next slide with corresponding definitions."/>
          <p:cNvGraphicFramePr>
            <a:graphicFrameLocks noGrp="1"/>
          </p:cNvGraphicFramePr>
          <p:nvPr>
            <p:ph idx="1"/>
            <p:extLst>
              <p:ext uri="{D42A27DB-BD31-4B8C-83A1-F6EECF244321}">
                <p14:modId xmlns:p14="http://schemas.microsoft.com/office/powerpoint/2010/main" val="488009220"/>
              </p:ext>
            </p:extLst>
          </p:nvPr>
        </p:nvGraphicFramePr>
        <p:xfrm>
          <a:off x="3314700" y="2057400"/>
          <a:ext cx="2514600" cy="2286000"/>
        </p:xfrm>
        <a:graphic>
          <a:graphicData uri="http://schemas.openxmlformats.org/drawingml/2006/table">
            <a:tbl>
              <a:tblPr firstRow="1" bandRow="1">
                <a:tableStyleId>{5C22544A-7EE6-4342-B048-85BDC9FD1C3A}</a:tableStyleId>
              </a:tblPr>
              <a:tblGrid>
                <a:gridCol w="2514600">
                  <a:extLst>
                    <a:ext uri="{9D8B030D-6E8A-4147-A177-3AD203B41FA5}">
                      <a16:colId xmlns:a16="http://schemas.microsoft.com/office/drawing/2014/main" val="20000"/>
                    </a:ext>
                  </a:extLst>
                </a:gridCol>
              </a:tblGrid>
              <a:tr h="370840">
                <a:tc>
                  <a:txBody>
                    <a:bodyPr/>
                    <a:lstStyle/>
                    <a:p>
                      <a:r>
                        <a:rPr lang="en-US" sz="2400" dirty="0"/>
                        <a:t>Term</a:t>
                      </a:r>
                    </a:p>
                  </a:txBody>
                  <a:tcPr/>
                </a:tc>
                <a:extLst>
                  <a:ext uri="{0D108BD9-81ED-4DB2-BD59-A6C34878D82A}">
                    <a16:rowId xmlns:a16="http://schemas.microsoft.com/office/drawing/2014/main" val="10000"/>
                  </a:ext>
                </a:extLst>
              </a:tr>
              <a:tr h="370840">
                <a:tc>
                  <a:txBody>
                    <a:bodyPr/>
                    <a:lstStyle/>
                    <a:p>
                      <a:r>
                        <a:rPr lang="en-US" altLang="en-US" sz="2400" dirty="0"/>
                        <a:t>aorta</a:t>
                      </a:r>
                      <a:endParaRPr lang="en-US" sz="2400" dirty="0"/>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apex of the heart</a:t>
                      </a:r>
                    </a:p>
                  </a:txBody>
                  <a:tcPr/>
                </a:tc>
                <a:extLst>
                  <a:ext uri="{0D108BD9-81ED-4DB2-BD59-A6C34878D82A}">
                    <a16:rowId xmlns:a16="http://schemas.microsoft.com/office/drawing/2014/main" val="10002"/>
                  </a:ext>
                </a:extLst>
              </a:tr>
              <a:tr h="370840">
                <a:tc>
                  <a:txBody>
                    <a:bodyPr/>
                    <a:lstStyle/>
                    <a:p>
                      <a:r>
                        <a:rPr lang="en-US" altLang="en-US" sz="2400" dirty="0"/>
                        <a:t>arteriole</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dirty="0"/>
                        <a:t>artery </a:t>
                      </a:r>
                      <a:endParaRPr lang="en-US" sz="2400" dirty="0"/>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3927127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Vocabulary (Slide 2 of 22)</a:t>
            </a:r>
          </a:p>
        </p:txBody>
      </p:sp>
      <p:graphicFrame>
        <p:nvGraphicFramePr>
          <p:cNvPr id="6" name="Content Placeholder 5" descr="Group 1 of 11.  List of vocabulary terms  with corresponding meanings or definitions."/>
          <p:cNvGraphicFramePr>
            <a:graphicFrameLocks noGrp="1"/>
          </p:cNvGraphicFramePr>
          <p:nvPr>
            <p:ph idx="1"/>
            <p:extLst>
              <p:ext uri="{D42A27DB-BD31-4B8C-83A1-F6EECF244321}">
                <p14:modId xmlns:p14="http://schemas.microsoft.com/office/powerpoint/2010/main" val="2163681711"/>
              </p:ext>
            </p:extLst>
          </p:nvPr>
        </p:nvGraphicFramePr>
        <p:xfrm>
          <a:off x="457200" y="1600200"/>
          <a:ext cx="8229600" cy="3017520"/>
        </p:xfrm>
        <a:graphic>
          <a:graphicData uri="http://schemas.openxmlformats.org/drawingml/2006/table">
            <a:tbl>
              <a:tblPr firstRow="1" bandRow="1">
                <a:tableStyleId>{5C22544A-7EE6-4342-B048-85BDC9FD1C3A}</a:tableStyleId>
              </a:tblPr>
              <a:tblGrid>
                <a:gridCol w="2514600">
                  <a:extLst>
                    <a:ext uri="{9D8B030D-6E8A-4147-A177-3AD203B41FA5}">
                      <a16:colId xmlns:a16="http://schemas.microsoft.com/office/drawing/2014/main" val="20000"/>
                    </a:ext>
                  </a:extLst>
                </a:gridCol>
                <a:gridCol w="57150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r>
                        <a:rPr lang="en-US" altLang="en-US" sz="2400" dirty="0"/>
                        <a:t>aorta</a:t>
                      </a:r>
                      <a:endParaRPr lang="en-US" sz="2400" dirty="0"/>
                    </a:p>
                  </a:txBody>
                  <a:tcPr/>
                </a:tc>
                <a:tc>
                  <a:txBody>
                    <a:bodyPr/>
                    <a:lstStyle/>
                    <a:p>
                      <a:r>
                        <a:rPr lang="en-US" altLang="en-US" sz="2400" dirty="0"/>
                        <a:t>The largest artery in the body</a:t>
                      </a:r>
                      <a:endParaRPr lang="en-US" sz="2400" dirty="0"/>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apex of the heart</a:t>
                      </a:r>
                    </a:p>
                  </a:txBody>
                  <a:tcPr/>
                </a:tc>
                <a:tc>
                  <a:txBody>
                    <a:bodyPr/>
                    <a:lstStyle/>
                    <a:p>
                      <a:r>
                        <a:rPr lang="en-US" altLang="en-US" sz="2400" dirty="0"/>
                        <a:t>The lower tip of the heart</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dirty="0"/>
                        <a:t>arteriole</a:t>
                      </a:r>
                      <a:endParaRPr lang="en-US" sz="2400" dirty="0"/>
                    </a:p>
                  </a:txBody>
                  <a:tcPr/>
                </a:tc>
                <a:tc>
                  <a:txBody>
                    <a:bodyPr/>
                    <a:lstStyle/>
                    <a:p>
                      <a:r>
                        <a:rPr lang="en-US" altLang="en-US" sz="2400" dirty="0"/>
                        <a:t>A small artery</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dirty="0"/>
                        <a:t>artery </a:t>
                      </a:r>
                      <a:endParaRPr lang="en-US" sz="2400" dirty="0"/>
                    </a:p>
                  </a:txBody>
                  <a:tcPr/>
                </a:tc>
                <a:tc>
                  <a:txBody>
                    <a:bodyPr/>
                    <a:lstStyle/>
                    <a:p>
                      <a:r>
                        <a:rPr lang="en-US" altLang="en-US" sz="2400" dirty="0"/>
                        <a:t>The largest type of blood vessel; carries blood away from the heart to all parts of the body</a:t>
                      </a:r>
                      <a:endParaRPr lang="en-US" sz="2400" dirty="0"/>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52106010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Vocabulary (Slide 3 of 22)</a:t>
            </a:r>
          </a:p>
        </p:txBody>
      </p:sp>
      <p:graphicFrame>
        <p:nvGraphicFramePr>
          <p:cNvPr id="6" name="Content Placeholder 5" descr="Group 2 of 11:  This table lists a group of vocabulary terms from the text.  The same terms are repeated on the next slide with corresponding definitions."/>
          <p:cNvGraphicFramePr>
            <a:graphicFrameLocks noGrp="1"/>
          </p:cNvGraphicFramePr>
          <p:nvPr>
            <p:ph idx="1"/>
            <p:extLst>
              <p:ext uri="{D42A27DB-BD31-4B8C-83A1-F6EECF244321}">
                <p14:modId xmlns:p14="http://schemas.microsoft.com/office/powerpoint/2010/main" val="4004110138"/>
              </p:ext>
            </p:extLst>
          </p:nvPr>
        </p:nvGraphicFramePr>
        <p:xfrm>
          <a:off x="1752600" y="2286000"/>
          <a:ext cx="5638800" cy="1828800"/>
        </p:xfrm>
        <a:graphic>
          <a:graphicData uri="http://schemas.openxmlformats.org/drawingml/2006/table">
            <a:tbl>
              <a:tblPr firstRow="1" bandRow="1">
                <a:tableStyleId>{5C22544A-7EE6-4342-B048-85BDC9FD1C3A}</a:tableStyleId>
              </a:tblPr>
              <a:tblGrid>
                <a:gridCol w="5638800">
                  <a:extLst>
                    <a:ext uri="{9D8B030D-6E8A-4147-A177-3AD203B41FA5}">
                      <a16:colId xmlns:a16="http://schemas.microsoft.com/office/drawing/2014/main" val="20000"/>
                    </a:ext>
                  </a:extLst>
                </a:gridCol>
              </a:tblGrid>
              <a:tr h="370840">
                <a:tc>
                  <a:txBody>
                    <a:bodyPr/>
                    <a:lstStyle/>
                    <a:p>
                      <a:r>
                        <a:rPr lang="en-US" sz="2400" dirty="0"/>
                        <a:t>Term</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err="1"/>
                        <a:t>atrioventricular</a:t>
                      </a:r>
                      <a:r>
                        <a:rPr lang="en-US" altLang="en-US" sz="2400" dirty="0"/>
                        <a:t> bundle (bundle of His)</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err="1"/>
                        <a:t>atrioventricular</a:t>
                      </a:r>
                      <a:r>
                        <a:rPr lang="en-US" altLang="en-US" sz="2400" dirty="0"/>
                        <a:t> node (AV node)</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atrium (</a:t>
                      </a:r>
                      <a:r>
                        <a:rPr lang="en-US" altLang="en-US" sz="2400" i="1" dirty="0"/>
                        <a:t>plural: </a:t>
                      </a:r>
                      <a:r>
                        <a:rPr lang="en-US" altLang="en-US" sz="2400" dirty="0"/>
                        <a:t>atria)</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3159840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Vocabulary (Slide 4 of 22)</a:t>
            </a:r>
          </a:p>
        </p:txBody>
      </p:sp>
      <p:graphicFrame>
        <p:nvGraphicFramePr>
          <p:cNvPr id="6" name="Content Placeholder 5" descr="Group 2 of 11.  List of vocabulary terms  with corresponding meanings or definitions."/>
          <p:cNvGraphicFramePr>
            <a:graphicFrameLocks noGrp="1"/>
          </p:cNvGraphicFramePr>
          <p:nvPr>
            <p:ph idx="1"/>
            <p:extLst>
              <p:ext uri="{D42A27DB-BD31-4B8C-83A1-F6EECF244321}">
                <p14:modId xmlns:p14="http://schemas.microsoft.com/office/powerpoint/2010/main" val="4277792227"/>
              </p:ext>
            </p:extLst>
          </p:nvPr>
        </p:nvGraphicFramePr>
        <p:xfrm>
          <a:off x="457200" y="1600200"/>
          <a:ext cx="8229600" cy="4023360"/>
        </p:xfrm>
        <a:graphic>
          <a:graphicData uri="http://schemas.openxmlformats.org/drawingml/2006/table">
            <a:tbl>
              <a:tblPr firstRow="1" bandRow="1">
                <a:tableStyleId>{5C22544A-7EE6-4342-B048-85BDC9FD1C3A}</a:tableStyleId>
              </a:tblPr>
              <a:tblGrid>
                <a:gridCol w="2514600">
                  <a:extLst>
                    <a:ext uri="{9D8B030D-6E8A-4147-A177-3AD203B41FA5}">
                      <a16:colId xmlns:a16="http://schemas.microsoft.com/office/drawing/2014/main" val="20000"/>
                    </a:ext>
                  </a:extLst>
                </a:gridCol>
                <a:gridCol w="57150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err="1"/>
                        <a:t>atrioventricular</a:t>
                      </a:r>
                      <a:r>
                        <a:rPr lang="en-US" altLang="en-US" sz="2400" dirty="0"/>
                        <a:t> bundle (bundle of His)</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Specialized muscle fibers connecting the atria with the ventricles and transmitting electrical impulses between them</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err="1"/>
                        <a:t>atrioventricular</a:t>
                      </a:r>
                      <a:r>
                        <a:rPr lang="en-US" altLang="en-US" sz="2400" dirty="0"/>
                        <a:t> node (AV node)</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Specialized tissue in the wall between atria; electrical impulses pass from pacemaker through AV node and bundle of His toward ventricles</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atrium (</a:t>
                      </a:r>
                      <a:r>
                        <a:rPr lang="en-US" altLang="en-US" sz="2400" i="1" dirty="0"/>
                        <a:t>plural: </a:t>
                      </a:r>
                      <a:r>
                        <a:rPr lang="en-US" altLang="en-US" sz="2400" dirty="0"/>
                        <a:t>atria)</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One of two upper chambers of the heart</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88830498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Vocabulary (Slide 5 of 22)</a:t>
            </a:r>
          </a:p>
        </p:txBody>
      </p:sp>
      <p:graphicFrame>
        <p:nvGraphicFramePr>
          <p:cNvPr id="6" name="Content Placeholder 5" descr="Group 3 of 11:  This table lists a group of vocabulary terms from the text.  The same terms are repeated on the next slide with corresponding definitions."/>
          <p:cNvGraphicFramePr>
            <a:graphicFrameLocks noGrp="1"/>
          </p:cNvGraphicFramePr>
          <p:nvPr>
            <p:ph idx="1"/>
            <p:extLst>
              <p:ext uri="{D42A27DB-BD31-4B8C-83A1-F6EECF244321}">
                <p14:modId xmlns:p14="http://schemas.microsoft.com/office/powerpoint/2010/main" val="1582136054"/>
              </p:ext>
            </p:extLst>
          </p:nvPr>
        </p:nvGraphicFramePr>
        <p:xfrm>
          <a:off x="2438400" y="1981200"/>
          <a:ext cx="4267200" cy="2286000"/>
        </p:xfrm>
        <a:graphic>
          <a:graphicData uri="http://schemas.openxmlformats.org/drawingml/2006/table">
            <a:tbl>
              <a:tblPr firstRow="1" bandRow="1">
                <a:tableStyleId>{5C22544A-7EE6-4342-B048-85BDC9FD1C3A}</a:tableStyleId>
              </a:tblPr>
              <a:tblGrid>
                <a:gridCol w="4267200">
                  <a:extLst>
                    <a:ext uri="{9D8B030D-6E8A-4147-A177-3AD203B41FA5}">
                      <a16:colId xmlns:a16="http://schemas.microsoft.com/office/drawing/2014/main" val="20000"/>
                    </a:ext>
                  </a:extLst>
                </a:gridCol>
              </a:tblGrid>
              <a:tr h="370840">
                <a:tc>
                  <a:txBody>
                    <a:bodyPr/>
                    <a:lstStyle/>
                    <a:p>
                      <a:r>
                        <a:rPr lang="en-US" sz="2400" dirty="0"/>
                        <a:t>Term</a:t>
                      </a:r>
                    </a:p>
                  </a:txBody>
                  <a:tcPr/>
                </a:tc>
                <a:extLst>
                  <a:ext uri="{0D108BD9-81ED-4DB2-BD59-A6C34878D82A}">
                    <a16:rowId xmlns:a16="http://schemas.microsoft.com/office/drawing/2014/main" val="10000"/>
                  </a:ext>
                </a:extLst>
              </a:tr>
              <a:tr h="370840">
                <a:tc>
                  <a:txBody>
                    <a:bodyPr/>
                    <a:lstStyle/>
                    <a:p>
                      <a:r>
                        <a:rPr lang="en-US" altLang="en-US" sz="2400" dirty="0"/>
                        <a:t>capillary</a:t>
                      </a:r>
                      <a:endParaRPr lang="en-US" sz="2400" dirty="0"/>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carbon dioxide (CO</a:t>
                      </a:r>
                      <a:r>
                        <a:rPr lang="en-US" altLang="en-US" sz="2400" baseline="-25000" dirty="0"/>
                        <a:t>2</a:t>
                      </a:r>
                      <a:r>
                        <a:rPr lang="en-US" altLang="en-US" sz="2400" dirty="0"/>
                        <a:t>)</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coronary arteries</a:t>
                      </a:r>
                    </a:p>
                  </a:txBody>
                  <a:tcPr/>
                </a:tc>
                <a:extLst>
                  <a:ext uri="{0D108BD9-81ED-4DB2-BD59-A6C34878D82A}">
                    <a16:rowId xmlns:a16="http://schemas.microsoft.com/office/drawing/2014/main" val="10003"/>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deoxygenated blood</a:t>
                      </a: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8620266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Vocabulary (Slide 6 of 22)</a:t>
            </a:r>
          </a:p>
        </p:txBody>
      </p:sp>
      <p:graphicFrame>
        <p:nvGraphicFramePr>
          <p:cNvPr id="6" name="Content Placeholder 5" descr="Group 3 of 11.  List of vocabulary terms  with corresponding meanings or definitions."/>
          <p:cNvGraphicFramePr>
            <a:graphicFrameLocks noGrp="1"/>
          </p:cNvGraphicFramePr>
          <p:nvPr>
            <p:ph idx="1"/>
            <p:extLst>
              <p:ext uri="{D42A27DB-BD31-4B8C-83A1-F6EECF244321}">
                <p14:modId xmlns:p14="http://schemas.microsoft.com/office/powerpoint/2010/main" val="3235524548"/>
              </p:ext>
            </p:extLst>
          </p:nvPr>
        </p:nvGraphicFramePr>
        <p:xfrm>
          <a:off x="457200" y="1600200"/>
          <a:ext cx="8229600" cy="4114800"/>
        </p:xfrm>
        <a:graphic>
          <a:graphicData uri="http://schemas.openxmlformats.org/drawingml/2006/table">
            <a:tbl>
              <a:tblPr firstRow="1" bandRow="1">
                <a:tableStyleId>{5C22544A-7EE6-4342-B048-85BDC9FD1C3A}</a:tableStyleId>
              </a:tblPr>
              <a:tblGrid>
                <a:gridCol w="2514600">
                  <a:extLst>
                    <a:ext uri="{9D8B030D-6E8A-4147-A177-3AD203B41FA5}">
                      <a16:colId xmlns:a16="http://schemas.microsoft.com/office/drawing/2014/main" val="20000"/>
                    </a:ext>
                  </a:extLst>
                </a:gridCol>
                <a:gridCol w="57150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r>
                        <a:rPr lang="en-US" altLang="en-US" sz="2400" dirty="0"/>
                        <a:t>capillary</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ea typeface="MS PGothic" panose="020B0600070205080204" pitchFamily="34" charset="-128"/>
                        </a:rPr>
                        <a:t>The smallest blood vessel</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carbon dioxide (CO</a:t>
                      </a:r>
                      <a:r>
                        <a:rPr lang="en-US" altLang="en-US" sz="2400" baseline="-25000" dirty="0"/>
                        <a:t>2</a:t>
                      </a:r>
                      <a:r>
                        <a:rPr lang="en-US" altLang="en-US" sz="2400" dirty="0"/>
                        <a:t>)</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ea typeface="MS PGothic" panose="020B0600070205080204" pitchFamily="34" charset="-128"/>
                        </a:rPr>
                        <a:t>Waste gas released by body cells, transported via veins to the heart, and then to lungs for exhalation</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coronary arteries</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ea typeface="MS PGothic" panose="020B0600070205080204" pitchFamily="34" charset="-128"/>
                        </a:rPr>
                        <a:t>Blood vessels that branch from the aorta and carry oxygen-rich blood to the heart muscle</a:t>
                      </a:r>
                    </a:p>
                  </a:txBody>
                  <a:tcPr/>
                </a:tc>
                <a:extLst>
                  <a:ext uri="{0D108BD9-81ED-4DB2-BD59-A6C34878D82A}">
                    <a16:rowId xmlns:a16="http://schemas.microsoft.com/office/drawing/2014/main" val="10003"/>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deoxygenated blood</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ea typeface="MS PGothic" panose="020B0600070205080204" pitchFamily="34" charset="-128"/>
                        </a:rPr>
                        <a:t>Oxygen-poor blood</a:t>
                      </a: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51123717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Vocabulary (Slide 7 of 22)</a:t>
            </a:r>
          </a:p>
        </p:txBody>
      </p:sp>
      <p:graphicFrame>
        <p:nvGraphicFramePr>
          <p:cNvPr id="6" name="Content Placeholder 5" descr="Group 4 of 11:  This table lists a group of vocabulary terms from the text.  The same terms are repeated on the next slide with corresponding definitions."/>
          <p:cNvGraphicFramePr>
            <a:graphicFrameLocks noGrp="1"/>
          </p:cNvGraphicFramePr>
          <p:nvPr>
            <p:ph idx="1"/>
            <p:extLst>
              <p:ext uri="{D42A27DB-BD31-4B8C-83A1-F6EECF244321}">
                <p14:modId xmlns:p14="http://schemas.microsoft.com/office/powerpoint/2010/main" val="4259092057"/>
              </p:ext>
            </p:extLst>
          </p:nvPr>
        </p:nvGraphicFramePr>
        <p:xfrm>
          <a:off x="3314700" y="1981200"/>
          <a:ext cx="2514600" cy="2286000"/>
        </p:xfrm>
        <a:graphic>
          <a:graphicData uri="http://schemas.openxmlformats.org/drawingml/2006/table">
            <a:tbl>
              <a:tblPr firstRow="1" bandRow="1">
                <a:tableStyleId>{5C22544A-7EE6-4342-B048-85BDC9FD1C3A}</a:tableStyleId>
              </a:tblPr>
              <a:tblGrid>
                <a:gridCol w="2514600">
                  <a:extLst>
                    <a:ext uri="{9D8B030D-6E8A-4147-A177-3AD203B41FA5}">
                      <a16:colId xmlns:a16="http://schemas.microsoft.com/office/drawing/2014/main" val="20000"/>
                    </a:ext>
                  </a:extLst>
                </a:gridCol>
              </a:tblGrid>
              <a:tr h="370840">
                <a:tc>
                  <a:txBody>
                    <a:bodyPr/>
                    <a:lstStyle/>
                    <a:p>
                      <a:r>
                        <a:rPr lang="en-US" sz="2400" dirty="0"/>
                        <a:t>Term</a:t>
                      </a:r>
                    </a:p>
                  </a:txBody>
                  <a:tcPr/>
                </a:tc>
                <a:extLst>
                  <a:ext uri="{0D108BD9-81ED-4DB2-BD59-A6C34878D82A}">
                    <a16:rowId xmlns:a16="http://schemas.microsoft.com/office/drawing/2014/main" val="10000"/>
                  </a:ext>
                </a:extLst>
              </a:tr>
              <a:tr h="370840">
                <a:tc>
                  <a:txBody>
                    <a:bodyPr/>
                    <a:lstStyle/>
                    <a:p>
                      <a:r>
                        <a:rPr lang="en-US" altLang="en-US" sz="2400" dirty="0">
                          <a:ea typeface="MS PGothic" panose="020B0600070205080204" pitchFamily="34" charset="-128"/>
                        </a:rPr>
                        <a:t>diastole</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dirty="0">
                          <a:ea typeface="MS PGothic" panose="020B0600070205080204" pitchFamily="34" charset="-128"/>
                        </a:rPr>
                        <a:t>electrocardiogram</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dirty="0">
                          <a:ea typeface="MS PGothic" panose="020B0600070205080204" pitchFamily="34" charset="-128"/>
                        </a:rPr>
                        <a:t>endocardium</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dirty="0">
                          <a:ea typeface="MS PGothic" panose="020B0600070205080204" pitchFamily="34" charset="-128"/>
                        </a:rPr>
                        <a:t>endothelium</a:t>
                      </a:r>
                      <a:endParaRPr lang="en-US" sz="2400" dirty="0"/>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401637811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Vocabulary (Slide 8 of 22)</a:t>
            </a:r>
          </a:p>
        </p:txBody>
      </p:sp>
      <p:graphicFrame>
        <p:nvGraphicFramePr>
          <p:cNvPr id="6" name="Content Placeholder 5" descr="Group 4 of 11.  List of vocabulary terms  with corresponding meanings or definitions."/>
          <p:cNvGraphicFramePr>
            <a:graphicFrameLocks noGrp="1"/>
          </p:cNvGraphicFramePr>
          <p:nvPr>
            <p:ph idx="1"/>
            <p:extLst>
              <p:ext uri="{D42A27DB-BD31-4B8C-83A1-F6EECF244321}">
                <p14:modId xmlns:p14="http://schemas.microsoft.com/office/powerpoint/2010/main" val="2191995728"/>
              </p:ext>
            </p:extLst>
          </p:nvPr>
        </p:nvGraphicFramePr>
        <p:xfrm>
          <a:off x="457200" y="1600200"/>
          <a:ext cx="8229600" cy="2651760"/>
        </p:xfrm>
        <a:graphic>
          <a:graphicData uri="http://schemas.openxmlformats.org/drawingml/2006/table">
            <a:tbl>
              <a:tblPr firstRow="1" bandRow="1">
                <a:tableStyleId>{5C22544A-7EE6-4342-B048-85BDC9FD1C3A}</a:tableStyleId>
              </a:tblPr>
              <a:tblGrid>
                <a:gridCol w="2514600">
                  <a:extLst>
                    <a:ext uri="{9D8B030D-6E8A-4147-A177-3AD203B41FA5}">
                      <a16:colId xmlns:a16="http://schemas.microsoft.com/office/drawing/2014/main" val="20000"/>
                    </a:ext>
                  </a:extLst>
                </a:gridCol>
                <a:gridCol w="57150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r>
                        <a:rPr lang="en-US" altLang="en-US" sz="2400" dirty="0">
                          <a:ea typeface="MS PGothic" panose="020B0600070205080204" pitchFamily="34" charset="-128"/>
                        </a:rPr>
                        <a:t>diastole</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Relaxation phase of the heartbeat</a:t>
                      </a:r>
                    </a:p>
                  </a:txBody>
                  <a:tcPr/>
                </a:tc>
                <a:extLst>
                  <a:ext uri="{0D108BD9-81ED-4DB2-BD59-A6C34878D82A}">
                    <a16:rowId xmlns:a16="http://schemas.microsoft.com/office/drawing/2014/main" val="10001"/>
                  </a:ext>
                </a:extLst>
              </a:tr>
              <a:tr h="370840">
                <a:tc>
                  <a:txBody>
                    <a:bodyPr/>
                    <a:lstStyle/>
                    <a:p>
                      <a:r>
                        <a:rPr lang="en-US" altLang="en-US" sz="2400" dirty="0">
                          <a:ea typeface="MS PGothic" panose="020B0600070205080204" pitchFamily="34" charset="-128"/>
                        </a:rPr>
                        <a:t>electrocardiogram</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Record of the electricity flowing through the heart</a:t>
                      </a:r>
                    </a:p>
                  </a:txBody>
                  <a:tcPr/>
                </a:tc>
                <a:extLst>
                  <a:ext uri="{0D108BD9-81ED-4DB2-BD59-A6C34878D82A}">
                    <a16:rowId xmlns:a16="http://schemas.microsoft.com/office/drawing/2014/main" val="10002"/>
                  </a:ext>
                </a:extLst>
              </a:tr>
              <a:tr h="370840">
                <a:tc>
                  <a:txBody>
                    <a:bodyPr/>
                    <a:lstStyle/>
                    <a:p>
                      <a:r>
                        <a:rPr lang="en-US" altLang="en-US" sz="2400" dirty="0">
                          <a:ea typeface="MS PGothic" panose="020B0600070205080204" pitchFamily="34" charset="-128"/>
                        </a:rPr>
                        <a:t>endocardium</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Inner lining of the heart</a:t>
                      </a:r>
                    </a:p>
                  </a:txBody>
                  <a:tcPr/>
                </a:tc>
                <a:extLst>
                  <a:ext uri="{0D108BD9-81ED-4DB2-BD59-A6C34878D82A}">
                    <a16:rowId xmlns:a16="http://schemas.microsoft.com/office/drawing/2014/main" val="10003"/>
                  </a:ext>
                </a:extLst>
              </a:tr>
              <a:tr h="370840">
                <a:tc>
                  <a:txBody>
                    <a:bodyPr/>
                    <a:lstStyle/>
                    <a:p>
                      <a:r>
                        <a:rPr lang="en-US" altLang="en-US" sz="2400" dirty="0">
                          <a:ea typeface="MS PGothic" panose="020B0600070205080204" pitchFamily="34" charset="-128"/>
                        </a:rPr>
                        <a:t>endothelium</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Innermost lining of blood vessels</a:t>
                      </a: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75529360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Vocabulary (Slide 9 of 22)</a:t>
            </a:r>
          </a:p>
        </p:txBody>
      </p:sp>
      <p:graphicFrame>
        <p:nvGraphicFramePr>
          <p:cNvPr id="6" name="Content Placeholder 5" descr="Group 5 of 11:  This table lists a group of vocabulary terms from the text.  The same terms are repeated on the next slide with corresponding definitions."/>
          <p:cNvGraphicFramePr>
            <a:graphicFrameLocks noGrp="1"/>
          </p:cNvGraphicFramePr>
          <p:nvPr>
            <p:ph idx="1"/>
            <p:extLst>
              <p:ext uri="{D42A27DB-BD31-4B8C-83A1-F6EECF244321}">
                <p14:modId xmlns:p14="http://schemas.microsoft.com/office/powerpoint/2010/main" val="2984768793"/>
              </p:ext>
            </p:extLst>
          </p:nvPr>
        </p:nvGraphicFramePr>
        <p:xfrm>
          <a:off x="3314700" y="1981200"/>
          <a:ext cx="2514600" cy="2651760"/>
        </p:xfrm>
        <a:graphic>
          <a:graphicData uri="http://schemas.openxmlformats.org/drawingml/2006/table">
            <a:tbl>
              <a:tblPr firstRow="1" bandRow="1">
                <a:tableStyleId>{5C22544A-7EE6-4342-B048-85BDC9FD1C3A}</a:tableStyleId>
              </a:tblPr>
              <a:tblGrid>
                <a:gridCol w="2514600">
                  <a:extLst>
                    <a:ext uri="{9D8B030D-6E8A-4147-A177-3AD203B41FA5}">
                      <a16:colId xmlns:a16="http://schemas.microsoft.com/office/drawing/2014/main" val="20000"/>
                    </a:ext>
                  </a:extLst>
                </a:gridCol>
              </a:tblGrid>
              <a:tr h="370840">
                <a:tc>
                  <a:txBody>
                    <a:bodyPr/>
                    <a:lstStyle/>
                    <a:p>
                      <a:r>
                        <a:rPr lang="en-US" sz="2400" dirty="0"/>
                        <a:t>Term</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mitral valve</a:t>
                      </a:r>
                    </a:p>
                  </a:txBody>
                  <a:tcPr/>
                </a:tc>
                <a:extLst>
                  <a:ext uri="{0D108BD9-81ED-4DB2-BD59-A6C34878D82A}">
                    <a16:rowId xmlns:a16="http://schemas.microsoft.com/office/drawing/2014/main" val="10001"/>
                  </a:ext>
                </a:extLst>
              </a:tr>
              <a:tr h="370840">
                <a:tc>
                  <a:txBody>
                    <a:bodyPr/>
                    <a:lstStyle/>
                    <a:p>
                      <a:r>
                        <a:rPr lang="en-US" altLang="en-US" sz="2400" dirty="0"/>
                        <a:t>murmur</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dirty="0"/>
                        <a:t>myocardium</a:t>
                      </a:r>
                      <a:endParaRPr lang="en-US" sz="2400" dirty="0"/>
                    </a:p>
                  </a:txBody>
                  <a:tcPr/>
                </a:tc>
                <a:extLst>
                  <a:ext uri="{0D108BD9-81ED-4DB2-BD59-A6C34878D82A}">
                    <a16:rowId xmlns:a16="http://schemas.microsoft.com/office/drawing/2014/main" val="10003"/>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normal sinus rhythm</a:t>
                      </a: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28618121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Vocabulary (Slide 10 of 22)</a:t>
            </a:r>
          </a:p>
        </p:txBody>
      </p:sp>
      <p:graphicFrame>
        <p:nvGraphicFramePr>
          <p:cNvPr id="6" name="Content Placeholder 5" descr="Group 5 of 11.  List of vocabulary terms  with corresponding meanings or definitions."/>
          <p:cNvGraphicFramePr>
            <a:graphicFrameLocks noGrp="1"/>
          </p:cNvGraphicFramePr>
          <p:nvPr>
            <p:ph idx="1"/>
            <p:extLst>
              <p:ext uri="{D42A27DB-BD31-4B8C-83A1-F6EECF244321}">
                <p14:modId xmlns:p14="http://schemas.microsoft.com/office/powerpoint/2010/main" val="2642893748"/>
              </p:ext>
            </p:extLst>
          </p:nvPr>
        </p:nvGraphicFramePr>
        <p:xfrm>
          <a:off x="457200" y="1600200"/>
          <a:ext cx="8229600" cy="3383280"/>
        </p:xfrm>
        <a:graphic>
          <a:graphicData uri="http://schemas.openxmlformats.org/drawingml/2006/table">
            <a:tbl>
              <a:tblPr firstRow="1" bandRow="1">
                <a:tableStyleId>{5C22544A-7EE6-4342-B048-85BDC9FD1C3A}</a:tableStyleId>
              </a:tblPr>
              <a:tblGrid>
                <a:gridCol w="2514600">
                  <a:extLst>
                    <a:ext uri="{9D8B030D-6E8A-4147-A177-3AD203B41FA5}">
                      <a16:colId xmlns:a16="http://schemas.microsoft.com/office/drawing/2014/main" val="20000"/>
                    </a:ext>
                  </a:extLst>
                </a:gridCol>
                <a:gridCol w="57150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mitral valve</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Valve between the left atrium and left ventricle; bicuspid valve</a:t>
                      </a:r>
                    </a:p>
                  </a:txBody>
                  <a:tcPr/>
                </a:tc>
                <a:extLst>
                  <a:ext uri="{0D108BD9-81ED-4DB2-BD59-A6C34878D82A}">
                    <a16:rowId xmlns:a16="http://schemas.microsoft.com/office/drawing/2014/main" val="10001"/>
                  </a:ext>
                </a:extLst>
              </a:tr>
              <a:tr h="370840">
                <a:tc>
                  <a:txBody>
                    <a:bodyPr/>
                    <a:lstStyle/>
                    <a:p>
                      <a:r>
                        <a:rPr lang="en-US" altLang="en-US" sz="2400" dirty="0"/>
                        <a:t>murmur</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Abnormal swishing sound caused by improper closure of heart valves</a:t>
                      </a:r>
                    </a:p>
                  </a:txBody>
                  <a:tcPr/>
                </a:tc>
                <a:extLst>
                  <a:ext uri="{0D108BD9-81ED-4DB2-BD59-A6C34878D82A}">
                    <a16:rowId xmlns:a16="http://schemas.microsoft.com/office/drawing/2014/main" val="10002"/>
                  </a:ext>
                </a:extLst>
              </a:tr>
              <a:tr h="370840">
                <a:tc>
                  <a:txBody>
                    <a:bodyPr/>
                    <a:lstStyle/>
                    <a:p>
                      <a:r>
                        <a:rPr lang="en-US" altLang="en-US" sz="2400" dirty="0"/>
                        <a:t>myocardium</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Muscular, middle layer of the heart</a:t>
                      </a:r>
                    </a:p>
                  </a:txBody>
                  <a:tcPr/>
                </a:tc>
                <a:extLst>
                  <a:ext uri="{0D108BD9-81ED-4DB2-BD59-A6C34878D82A}">
                    <a16:rowId xmlns:a16="http://schemas.microsoft.com/office/drawing/2014/main" val="10003"/>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normal sinus rhythm</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Heart rhythm originating in </a:t>
                      </a:r>
                      <a:r>
                        <a:rPr lang="en-US" altLang="en-US" sz="2400" dirty="0" err="1"/>
                        <a:t>sinoatrial</a:t>
                      </a:r>
                      <a:r>
                        <a:rPr lang="en-US" altLang="en-US" sz="2400" dirty="0"/>
                        <a:t> node with resting rate of 60-100 beats/min</a:t>
                      </a: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08314717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Vocabulary (Slide 11 of 22)</a:t>
            </a:r>
          </a:p>
        </p:txBody>
      </p:sp>
      <p:graphicFrame>
        <p:nvGraphicFramePr>
          <p:cNvPr id="6" name="Content Placeholder 5" descr="Group 6 of 11:  This table lists a group of vocabulary terms from the text.  The same terms are repeated on the next slide with corresponding definitions."/>
          <p:cNvGraphicFramePr>
            <a:graphicFrameLocks noGrp="1"/>
          </p:cNvGraphicFramePr>
          <p:nvPr>
            <p:ph idx="1"/>
            <p:extLst>
              <p:ext uri="{D42A27DB-BD31-4B8C-83A1-F6EECF244321}">
                <p14:modId xmlns:p14="http://schemas.microsoft.com/office/powerpoint/2010/main" val="4103330680"/>
              </p:ext>
            </p:extLst>
          </p:nvPr>
        </p:nvGraphicFramePr>
        <p:xfrm>
          <a:off x="2171700" y="2362200"/>
          <a:ext cx="4800600" cy="2286000"/>
        </p:xfrm>
        <a:graphic>
          <a:graphicData uri="http://schemas.openxmlformats.org/drawingml/2006/table">
            <a:tbl>
              <a:tblPr firstRow="1" bandRow="1">
                <a:tableStyleId>{5C22544A-7EE6-4342-B048-85BDC9FD1C3A}</a:tableStyleId>
              </a:tblPr>
              <a:tblGrid>
                <a:gridCol w="4800600">
                  <a:extLst>
                    <a:ext uri="{9D8B030D-6E8A-4147-A177-3AD203B41FA5}">
                      <a16:colId xmlns:a16="http://schemas.microsoft.com/office/drawing/2014/main" val="20000"/>
                    </a:ext>
                  </a:extLst>
                </a:gridCol>
              </a:tblGrid>
              <a:tr h="370840">
                <a:tc>
                  <a:txBody>
                    <a:bodyPr/>
                    <a:lstStyle/>
                    <a:p>
                      <a:r>
                        <a:rPr lang="en-US" sz="2400" dirty="0"/>
                        <a:t>Term</a:t>
                      </a:r>
                    </a:p>
                  </a:txBody>
                  <a:tcPr/>
                </a:tc>
                <a:extLst>
                  <a:ext uri="{0D108BD9-81ED-4DB2-BD59-A6C34878D82A}">
                    <a16:rowId xmlns:a16="http://schemas.microsoft.com/office/drawing/2014/main" val="10000"/>
                  </a:ext>
                </a:extLst>
              </a:tr>
              <a:tr h="370840">
                <a:tc>
                  <a:txBody>
                    <a:bodyPr/>
                    <a:lstStyle/>
                    <a:p>
                      <a:r>
                        <a:rPr lang="en-US" altLang="en-US" sz="2400" dirty="0"/>
                        <a:t>oxygen</a:t>
                      </a:r>
                      <a:endParaRPr lang="en-US" sz="2400" dirty="0"/>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pacemaker (</a:t>
                      </a:r>
                      <a:r>
                        <a:rPr lang="en-US" altLang="en-US" sz="2400" dirty="0" err="1"/>
                        <a:t>sinoatrial</a:t>
                      </a:r>
                      <a:r>
                        <a:rPr lang="en-US" altLang="en-US" sz="2400" dirty="0"/>
                        <a:t> node)</a:t>
                      </a:r>
                    </a:p>
                  </a:txBody>
                  <a:tcPr/>
                </a:tc>
                <a:extLst>
                  <a:ext uri="{0D108BD9-81ED-4DB2-BD59-A6C34878D82A}">
                    <a16:rowId xmlns:a16="http://schemas.microsoft.com/office/drawing/2014/main" val="10002"/>
                  </a:ext>
                </a:extLst>
              </a:tr>
              <a:tr h="370840">
                <a:tc>
                  <a:txBody>
                    <a:bodyPr/>
                    <a:lstStyle/>
                    <a:p>
                      <a:r>
                        <a:rPr lang="en-US" altLang="en-US" sz="2400" dirty="0"/>
                        <a:t>pericardium</a:t>
                      </a:r>
                      <a:endParaRPr lang="en-US" sz="2400" dirty="0"/>
                    </a:p>
                  </a:txBody>
                  <a:tcPr/>
                </a:tc>
                <a:extLst>
                  <a:ext uri="{0D108BD9-81ED-4DB2-BD59-A6C34878D82A}">
                    <a16:rowId xmlns:a16="http://schemas.microsoft.com/office/drawing/2014/main" val="10003"/>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pulmonary artery</a:t>
                      </a: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413820153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Vocabulary (Slide 12 of 22)</a:t>
            </a:r>
          </a:p>
        </p:txBody>
      </p:sp>
      <p:graphicFrame>
        <p:nvGraphicFramePr>
          <p:cNvPr id="6" name="Content Placeholder 5" descr="Group 6 of 11.  List of vocabulary terms  with corresponding meanings or definitions."/>
          <p:cNvGraphicFramePr>
            <a:graphicFrameLocks noGrp="1"/>
          </p:cNvGraphicFramePr>
          <p:nvPr>
            <p:ph idx="1"/>
            <p:extLst>
              <p:ext uri="{D42A27DB-BD31-4B8C-83A1-F6EECF244321}">
                <p14:modId xmlns:p14="http://schemas.microsoft.com/office/powerpoint/2010/main" val="2443485728"/>
              </p:ext>
            </p:extLst>
          </p:nvPr>
        </p:nvGraphicFramePr>
        <p:xfrm>
          <a:off x="457200" y="1600200"/>
          <a:ext cx="8229600" cy="4114800"/>
        </p:xfrm>
        <a:graphic>
          <a:graphicData uri="http://schemas.openxmlformats.org/drawingml/2006/table">
            <a:tbl>
              <a:tblPr firstRow="1" bandRow="1">
                <a:tableStyleId>{5C22544A-7EE6-4342-B048-85BDC9FD1C3A}</a:tableStyleId>
              </a:tblPr>
              <a:tblGrid>
                <a:gridCol w="2514600">
                  <a:extLst>
                    <a:ext uri="{9D8B030D-6E8A-4147-A177-3AD203B41FA5}">
                      <a16:colId xmlns:a16="http://schemas.microsoft.com/office/drawing/2014/main" val="20000"/>
                    </a:ext>
                  </a:extLst>
                </a:gridCol>
                <a:gridCol w="57150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r>
                        <a:rPr lang="en-US" altLang="en-US" sz="2400" dirty="0"/>
                        <a:t>oxygen</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Gas carried by the blood from the lungs to the heart to be pumped via arteries to all body cells</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pacemaker (</a:t>
                      </a:r>
                      <a:r>
                        <a:rPr lang="en-US" altLang="en-US" sz="2400" dirty="0" err="1"/>
                        <a:t>sinoatrial</a:t>
                      </a:r>
                      <a:r>
                        <a:rPr lang="en-US" altLang="en-US" sz="2400" dirty="0"/>
                        <a:t> node)</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Specialized nervous tissue in the right atrium that begins the heartbeat</a:t>
                      </a:r>
                    </a:p>
                  </a:txBody>
                  <a:tcPr/>
                </a:tc>
                <a:extLst>
                  <a:ext uri="{0D108BD9-81ED-4DB2-BD59-A6C34878D82A}">
                    <a16:rowId xmlns:a16="http://schemas.microsoft.com/office/drawing/2014/main" val="10002"/>
                  </a:ext>
                </a:extLst>
              </a:tr>
              <a:tr h="370840">
                <a:tc>
                  <a:txBody>
                    <a:bodyPr/>
                    <a:lstStyle/>
                    <a:p>
                      <a:r>
                        <a:rPr lang="en-US" altLang="en-US" sz="2400" dirty="0"/>
                        <a:t>pericardium</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Double-layered membrane surrounding the heart</a:t>
                      </a:r>
                    </a:p>
                  </a:txBody>
                  <a:tcPr/>
                </a:tc>
                <a:extLst>
                  <a:ext uri="{0D108BD9-81ED-4DB2-BD59-A6C34878D82A}">
                    <a16:rowId xmlns:a16="http://schemas.microsoft.com/office/drawing/2014/main" val="10003"/>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pulmonary artery</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Artery carrying oxygen-poor blood from the heart to the lungs</a:t>
                      </a: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15652856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Vocabulary (Slide 13 of 22)</a:t>
            </a:r>
          </a:p>
        </p:txBody>
      </p:sp>
      <p:graphicFrame>
        <p:nvGraphicFramePr>
          <p:cNvPr id="6" name="Content Placeholder 5" descr="Group 7 of 11:  This table lists a group of vocabulary terms from the text.  The same terms are repeated on the next slide with corresponding definitions."/>
          <p:cNvGraphicFramePr>
            <a:graphicFrameLocks noGrp="1"/>
          </p:cNvGraphicFramePr>
          <p:nvPr>
            <p:ph idx="1"/>
            <p:extLst>
              <p:ext uri="{D42A27DB-BD31-4B8C-83A1-F6EECF244321}">
                <p14:modId xmlns:p14="http://schemas.microsoft.com/office/powerpoint/2010/main" val="1026928374"/>
              </p:ext>
            </p:extLst>
          </p:nvPr>
        </p:nvGraphicFramePr>
        <p:xfrm>
          <a:off x="2324100" y="2133600"/>
          <a:ext cx="4495800" cy="1828800"/>
        </p:xfrm>
        <a:graphic>
          <a:graphicData uri="http://schemas.openxmlformats.org/drawingml/2006/table">
            <a:tbl>
              <a:tblPr firstRow="1" bandRow="1">
                <a:tableStyleId>{5C22544A-7EE6-4342-B048-85BDC9FD1C3A}</a:tableStyleId>
              </a:tblPr>
              <a:tblGrid>
                <a:gridCol w="4495800">
                  <a:extLst>
                    <a:ext uri="{9D8B030D-6E8A-4147-A177-3AD203B41FA5}">
                      <a16:colId xmlns:a16="http://schemas.microsoft.com/office/drawing/2014/main" val="20000"/>
                    </a:ext>
                  </a:extLst>
                </a:gridCol>
              </a:tblGrid>
              <a:tr h="370840">
                <a:tc>
                  <a:txBody>
                    <a:bodyPr/>
                    <a:lstStyle/>
                    <a:p>
                      <a:r>
                        <a:rPr lang="en-US" sz="2400" dirty="0"/>
                        <a:t>Term</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pulmonary circulation</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pulmonary valve</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pulmonary vein</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428057351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Vocabulary (Slide 14 of 22)</a:t>
            </a:r>
          </a:p>
        </p:txBody>
      </p:sp>
      <p:graphicFrame>
        <p:nvGraphicFramePr>
          <p:cNvPr id="6" name="Content Placeholder 5" descr="Group 7 of 11.  List of vocabulary terms  with corresponding meanings or definitions."/>
          <p:cNvGraphicFramePr>
            <a:graphicFrameLocks noGrp="1"/>
          </p:cNvGraphicFramePr>
          <p:nvPr>
            <p:ph idx="1"/>
            <p:extLst>
              <p:ext uri="{D42A27DB-BD31-4B8C-83A1-F6EECF244321}">
                <p14:modId xmlns:p14="http://schemas.microsoft.com/office/powerpoint/2010/main" val="1218414040"/>
              </p:ext>
            </p:extLst>
          </p:nvPr>
        </p:nvGraphicFramePr>
        <p:xfrm>
          <a:off x="457200" y="1600200"/>
          <a:ext cx="8229600" cy="2926080"/>
        </p:xfrm>
        <a:graphic>
          <a:graphicData uri="http://schemas.openxmlformats.org/drawingml/2006/table">
            <a:tbl>
              <a:tblPr firstRow="1" bandRow="1">
                <a:tableStyleId>{5C22544A-7EE6-4342-B048-85BDC9FD1C3A}</a:tableStyleId>
              </a:tblPr>
              <a:tblGrid>
                <a:gridCol w="2514600">
                  <a:extLst>
                    <a:ext uri="{9D8B030D-6E8A-4147-A177-3AD203B41FA5}">
                      <a16:colId xmlns:a16="http://schemas.microsoft.com/office/drawing/2014/main" val="20000"/>
                    </a:ext>
                  </a:extLst>
                </a:gridCol>
                <a:gridCol w="57150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pulmonary circulation</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Flow of blood from the heart to the lungs and back to the heart</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pulmonary valve</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Valve positioned between the right ventricle and the pulmonary artery</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pulmonary vein</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Carries oxygenated blood from the lungs to the left atrium of the heart</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00376619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Vocabulary (Slide 15 of 22)</a:t>
            </a:r>
          </a:p>
        </p:txBody>
      </p:sp>
      <p:graphicFrame>
        <p:nvGraphicFramePr>
          <p:cNvPr id="6" name="Content Placeholder 5" descr="Group 8 of 11:  This table lists a group of vocabulary terms from the text.  The same terms are repeated on the next slide with corresponding definitions."/>
          <p:cNvGraphicFramePr>
            <a:graphicFrameLocks noGrp="1"/>
          </p:cNvGraphicFramePr>
          <p:nvPr>
            <p:ph idx="1"/>
            <p:extLst>
              <p:ext uri="{D42A27DB-BD31-4B8C-83A1-F6EECF244321}">
                <p14:modId xmlns:p14="http://schemas.microsoft.com/office/powerpoint/2010/main" val="3240516295"/>
              </p:ext>
            </p:extLst>
          </p:nvPr>
        </p:nvGraphicFramePr>
        <p:xfrm>
          <a:off x="2667000" y="2057400"/>
          <a:ext cx="3810000" cy="1828800"/>
        </p:xfrm>
        <a:graphic>
          <a:graphicData uri="http://schemas.openxmlformats.org/drawingml/2006/table">
            <a:tbl>
              <a:tblPr firstRow="1" bandRow="1">
                <a:tableStyleId>{5C22544A-7EE6-4342-B048-85BDC9FD1C3A}</a:tableStyleId>
              </a:tblPr>
              <a:tblGrid>
                <a:gridCol w="3810000">
                  <a:extLst>
                    <a:ext uri="{9D8B030D-6E8A-4147-A177-3AD203B41FA5}">
                      <a16:colId xmlns:a16="http://schemas.microsoft.com/office/drawing/2014/main" val="20000"/>
                    </a:ext>
                  </a:extLst>
                </a:gridCol>
              </a:tblGrid>
              <a:tr h="370840">
                <a:tc>
                  <a:txBody>
                    <a:bodyPr/>
                    <a:lstStyle/>
                    <a:p>
                      <a:r>
                        <a:rPr lang="en-US" sz="2400" dirty="0"/>
                        <a:t>Term</a:t>
                      </a:r>
                    </a:p>
                  </a:txBody>
                  <a:tcPr/>
                </a:tc>
                <a:extLst>
                  <a:ext uri="{0D108BD9-81ED-4DB2-BD59-A6C34878D82A}">
                    <a16:rowId xmlns:a16="http://schemas.microsoft.com/office/drawing/2014/main" val="10000"/>
                  </a:ext>
                </a:extLst>
              </a:tr>
              <a:tr h="370840">
                <a:tc>
                  <a:txBody>
                    <a:bodyPr/>
                    <a:lstStyle/>
                    <a:p>
                      <a:r>
                        <a:rPr lang="en-US" altLang="en-US" sz="2400" dirty="0"/>
                        <a:t>pulse</a:t>
                      </a:r>
                      <a:endParaRPr lang="en-US" sz="2400" dirty="0"/>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septum (</a:t>
                      </a:r>
                      <a:r>
                        <a:rPr lang="en-US" altLang="en-US" sz="2400" i="1" dirty="0"/>
                        <a:t>plural:</a:t>
                      </a:r>
                      <a:r>
                        <a:rPr lang="en-US" altLang="en-US" sz="2400" dirty="0"/>
                        <a:t> septa)</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err="1"/>
                        <a:t>sinoatrial</a:t>
                      </a:r>
                      <a:r>
                        <a:rPr lang="en-US" altLang="en-US" sz="2400" dirty="0"/>
                        <a:t> node (SA node)</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82496037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Vocabulary (Slide 16 of 22)</a:t>
            </a:r>
          </a:p>
        </p:txBody>
      </p:sp>
      <p:graphicFrame>
        <p:nvGraphicFramePr>
          <p:cNvPr id="6" name="Content Placeholder 5" descr="Group 8 of 11.  List of vocabulary terms  with corresponding meanings or definitions."/>
          <p:cNvGraphicFramePr>
            <a:graphicFrameLocks noGrp="1"/>
          </p:cNvGraphicFramePr>
          <p:nvPr>
            <p:ph idx="1"/>
            <p:extLst>
              <p:ext uri="{D42A27DB-BD31-4B8C-83A1-F6EECF244321}">
                <p14:modId xmlns:p14="http://schemas.microsoft.com/office/powerpoint/2010/main" val="3503094464"/>
              </p:ext>
            </p:extLst>
          </p:nvPr>
        </p:nvGraphicFramePr>
        <p:xfrm>
          <a:off x="457200" y="1600200"/>
          <a:ext cx="8229600" cy="3291840"/>
        </p:xfrm>
        <a:graphic>
          <a:graphicData uri="http://schemas.openxmlformats.org/drawingml/2006/table">
            <a:tbl>
              <a:tblPr firstRow="1" bandRow="1">
                <a:tableStyleId>{5C22544A-7EE6-4342-B048-85BDC9FD1C3A}</a:tableStyleId>
              </a:tblPr>
              <a:tblGrid>
                <a:gridCol w="2514600">
                  <a:extLst>
                    <a:ext uri="{9D8B030D-6E8A-4147-A177-3AD203B41FA5}">
                      <a16:colId xmlns:a16="http://schemas.microsoft.com/office/drawing/2014/main" val="20000"/>
                    </a:ext>
                  </a:extLst>
                </a:gridCol>
                <a:gridCol w="57150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r>
                        <a:rPr lang="en-US" altLang="en-US" sz="2400" dirty="0"/>
                        <a:t>pulse</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The beat of the heart as felt through the walls of the arteries</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septum (</a:t>
                      </a:r>
                      <a:r>
                        <a:rPr lang="en-US" altLang="en-US" sz="2400" i="1" dirty="0"/>
                        <a:t>plural:</a:t>
                      </a:r>
                      <a:r>
                        <a:rPr lang="en-US" altLang="en-US" sz="2400" dirty="0"/>
                        <a:t> septa)</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A partition or wall dividing a cavity, such as that between the right and left atria and right and left ventricles</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err="1"/>
                        <a:t>sinoatrial</a:t>
                      </a:r>
                      <a:r>
                        <a:rPr lang="en-US" altLang="en-US" sz="2400" dirty="0"/>
                        <a:t> node (SA node)</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The pacemaker of the heart</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00685616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Vocabulary (Slide 17 of 22)</a:t>
            </a:r>
          </a:p>
        </p:txBody>
      </p:sp>
      <p:graphicFrame>
        <p:nvGraphicFramePr>
          <p:cNvPr id="6" name="Content Placeholder 5" descr="Group 9 of 11:  This table lists a group of vocabulary terms from the text.  The same terms are repeated on the next slide with corresponding definitions."/>
          <p:cNvGraphicFramePr>
            <a:graphicFrameLocks noGrp="1"/>
          </p:cNvGraphicFramePr>
          <p:nvPr>
            <p:ph idx="1"/>
            <p:extLst>
              <p:ext uri="{D42A27DB-BD31-4B8C-83A1-F6EECF244321}">
                <p14:modId xmlns:p14="http://schemas.microsoft.com/office/powerpoint/2010/main" val="490375607"/>
              </p:ext>
            </p:extLst>
          </p:nvPr>
        </p:nvGraphicFramePr>
        <p:xfrm>
          <a:off x="2971800" y="1981200"/>
          <a:ext cx="3200400" cy="2286000"/>
        </p:xfrm>
        <a:graphic>
          <a:graphicData uri="http://schemas.openxmlformats.org/drawingml/2006/table">
            <a:tbl>
              <a:tblPr firstRow="1" bandRow="1">
                <a:tableStyleId>{5C22544A-7EE6-4342-B048-85BDC9FD1C3A}</a:tableStyleId>
              </a:tblPr>
              <a:tblGrid>
                <a:gridCol w="3200400">
                  <a:extLst>
                    <a:ext uri="{9D8B030D-6E8A-4147-A177-3AD203B41FA5}">
                      <a16:colId xmlns:a16="http://schemas.microsoft.com/office/drawing/2014/main" val="20000"/>
                    </a:ext>
                  </a:extLst>
                </a:gridCol>
              </a:tblGrid>
              <a:tr h="370840">
                <a:tc>
                  <a:txBody>
                    <a:bodyPr/>
                    <a:lstStyle/>
                    <a:p>
                      <a:r>
                        <a:rPr lang="en-US" sz="2400" dirty="0"/>
                        <a:t>Term</a:t>
                      </a:r>
                    </a:p>
                  </a:txBody>
                  <a:tcPr/>
                </a:tc>
                <a:extLst>
                  <a:ext uri="{0D108BD9-81ED-4DB2-BD59-A6C34878D82A}">
                    <a16:rowId xmlns:a16="http://schemas.microsoft.com/office/drawing/2014/main" val="10000"/>
                  </a:ext>
                </a:extLst>
              </a:tr>
              <a:tr h="370840">
                <a:tc>
                  <a:txBody>
                    <a:bodyPr/>
                    <a:lstStyle/>
                    <a:p>
                      <a:r>
                        <a:rPr lang="en-US" altLang="en-US" sz="2400" dirty="0"/>
                        <a:t>sphygmomanometer</a:t>
                      </a:r>
                      <a:endParaRPr lang="en-US" sz="2400" dirty="0"/>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systemic circulation</a:t>
                      </a:r>
                    </a:p>
                  </a:txBody>
                  <a:tcPr/>
                </a:tc>
                <a:extLst>
                  <a:ext uri="{0D108BD9-81ED-4DB2-BD59-A6C34878D82A}">
                    <a16:rowId xmlns:a16="http://schemas.microsoft.com/office/drawing/2014/main" val="10002"/>
                  </a:ext>
                </a:extLst>
              </a:tr>
              <a:tr h="370840">
                <a:tc>
                  <a:txBody>
                    <a:bodyPr/>
                    <a:lstStyle/>
                    <a:p>
                      <a:r>
                        <a:rPr lang="en-US" altLang="en-US" sz="2400" dirty="0"/>
                        <a:t>systole</a:t>
                      </a:r>
                      <a:endParaRPr lang="en-US" sz="2400" dirty="0"/>
                    </a:p>
                  </a:txBody>
                  <a:tcPr/>
                </a:tc>
                <a:extLst>
                  <a:ext uri="{0D108BD9-81ED-4DB2-BD59-A6C34878D82A}">
                    <a16:rowId xmlns:a16="http://schemas.microsoft.com/office/drawing/2014/main" val="10003"/>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tricuspid valve</a:t>
                      </a: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66760815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Vocabulary (Slide 18 of 22)</a:t>
            </a:r>
          </a:p>
        </p:txBody>
      </p:sp>
      <p:graphicFrame>
        <p:nvGraphicFramePr>
          <p:cNvPr id="6" name="Content Placeholder 5" descr="Group 9 of 11.  List of vocabulary terms  with corresponding meanings or definitions."/>
          <p:cNvGraphicFramePr>
            <a:graphicFrameLocks noGrp="1"/>
          </p:cNvGraphicFramePr>
          <p:nvPr>
            <p:ph idx="1"/>
            <p:extLst>
              <p:ext uri="{D42A27DB-BD31-4B8C-83A1-F6EECF244321}">
                <p14:modId xmlns:p14="http://schemas.microsoft.com/office/powerpoint/2010/main" val="3657420347"/>
              </p:ext>
            </p:extLst>
          </p:nvPr>
        </p:nvGraphicFramePr>
        <p:xfrm>
          <a:off x="457200" y="1600200"/>
          <a:ext cx="8229600" cy="3017520"/>
        </p:xfrm>
        <a:graphic>
          <a:graphicData uri="http://schemas.openxmlformats.org/drawingml/2006/table">
            <a:tbl>
              <a:tblPr firstRow="1" bandRow="1">
                <a:tableStyleId>{5C22544A-7EE6-4342-B048-85BDC9FD1C3A}</a:tableStyleId>
              </a:tblPr>
              <a:tblGrid>
                <a:gridCol w="2819400">
                  <a:extLst>
                    <a:ext uri="{9D8B030D-6E8A-4147-A177-3AD203B41FA5}">
                      <a16:colId xmlns:a16="http://schemas.microsoft.com/office/drawing/2014/main" val="20000"/>
                    </a:ext>
                  </a:extLst>
                </a:gridCol>
                <a:gridCol w="54102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r>
                        <a:rPr lang="en-US" altLang="en-US" sz="2400" dirty="0"/>
                        <a:t>sphygmomanometer</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An instrument to measure blood pressure</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systemic circulation</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Flow of blood from body tissue to the heart and back</a:t>
                      </a:r>
                    </a:p>
                  </a:txBody>
                  <a:tcPr/>
                </a:tc>
                <a:extLst>
                  <a:ext uri="{0D108BD9-81ED-4DB2-BD59-A6C34878D82A}">
                    <a16:rowId xmlns:a16="http://schemas.microsoft.com/office/drawing/2014/main" val="10002"/>
                  </a:ext>
                </a:extLst>
              </a:tr>
              <a:tr h="370840">
                <a:tc>
                  <a:txBody>
                    <a:bodyPr/>
                    <a:lstStyle/>
                    <a:p>
                      <a:r>
                        <a:rPr lang="en-US" altLang="en-US" sz="2400" dirty="0"/>
                        <a:t>systole</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The contraction phase of the heartbeat</a:t>
                      </a:r>
                    </a:p>
                  </a:txBody>
                  <a:tcPr/>
                </a:tc>
                <a:extLst>
                  <a:ext uri="{0D108BD9-81ED-4DB2-BD59-A6C34878D82A}">
                    <a16:rowId xmlns:a16="http://schemas.microsoft.com/office/drawing/2014/main" val="10003"/>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tricuspid valve</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Located between the right atrium and right ventricle; has three leaflets or cusps</a:t>
                      </a: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70011833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Vocabulary (Slide 19 of 22)</a:t>
            </a:r>
          </a:p>
        </p:txBody>
      </p:sp>
      <p:graphicFrame>
        <p:nvGraphicFramePr>
          <p:cNvPr id="6" name="Content Placeholder 5" descr="Group 10 of 11:  This table lists a group of vocabulary terms from the text.  The same terms are repeated on the next slide with corresponding definitions."/>
          <p:cNvGraphicFramePr>
            <a:graphicFrameLocks noGrp="1"/>
          </p:cNvGraphicFramePr>
          <p:nvPr>
            <p:ph idx="1"/>
            <p:extLst>
              <p:ext uri="{D42A27DB-BD31-4B8C-83A1-F6EECF244321}">
                <p14:modId xmlns:p14="http://schemas.microsoft.com/office/powerpoint/2010/main" val="3182054214"/>
              </p:ext>
            </p:extLst>
          </p:nvPr>
        </p:nvGraphicFramePr>
        <p:xfrm>
          <a:off x="3314700" y="2209800"/>
          <a:ext cx="2514600" cy="1371600"/>
        </p:xfrm>
        <a:graphic>
          <a:graphicData uri="http://schemas.openxmlformats.org/drawingml/2006/table">
            <a:tbl>
              <a:tblPr firstRow="1" bandRow="1">
                <a:tableStyleId>{5C22544A-7EE6-4342-B048-85BDC9FD1C3A}</a:tableStyleId>
              </a:tblPr>
              <a:tblGrid>
                <a:gridCol w="2514600">
                  <a:extLst>
                    <a:ext uri="{9D8B030D-6E8A-4147-A177-3AD203B41FA5}">
                      <a16:colId xmlns:a16="http://schemas.microsoft.com/office/drawing/2014/main" val="20000"/>
                    </a:ext>
                  </a:extLst>
                </a:gridCol>
              </a:tblGrid>
              <a:tr h="370840">
                <a:tc>
                  <a:txBody>
                    <a:bodyPr/>
                    <a:lstStyle/>
                    <a:p>
                      <a:r>
                        <a:rPr lang="en-US" sz="2400" dirty="0"/>
                        <a:t>Term</a:t>
                      </a:r>
                    </a:p>
                  </a:txBody>
                  <a:tcPr/>
                </a:tc>
                <a:extLst>
                  <a:ext uri="{0D108BD9-81ED-4DB2-BD59-A6C34878D82A}">
                    <a16:rowId xmlns:a16="http://schemas.microsoft.com/office/drawing/2014/main" val="10000"/>
                  </a:ext>
                </a:extLst>
              </a:tr>
              <a:tr h="370840">
                <a:tc>
                  <a:txBody>
                    <a:bodyPr/>
                    <a:lstStyle/>
                    <a:p>
                      <a:r>
                        <a:rPr lang="en-US" sz="2400" dirty="0">
                          <a:ea typeface="ＭＳ Ｐゴシック" charset="0"/>
                        </a:rPr>
                        <a:t>valve</a:t>
                      </a:r>
                      <a:endParaRPr lang="en-US" sz="2400" dirty="0"/>
                    </a:p>
                  </a:txBody>
                  <a:tcPr/>
                </a:tc>
                <a:extLst>
                  <a:ext uri="{0D108BD9-81ED-4DB2-BD59-A6C34878D82A}">
                    <a16:rowId xmlns:a16="http://schemas.microsoft.com/office/drawing/2014/main" val="10001"/>
                  </a:ext>
                </a:extLst>
              </a:tr>
              <a:tr h="370840">
                <a:tc>
                  <a:txBody>
                    <a:bodyPr/>
                    <a:lstStyle/>
                    <a:p>
                      <a:r>
                        <a:rPr lang="en-US" sz="2400" dirty="0">
                          <a:ea typeface="ＭＳ Ｐゴシック" charset="0"/>
                        </a:rPr>
                        <a:t>vein</a:t>
                      </a:r>
                      <a:endParaRPr lang="en-US" sz="2400" dirty="0"/>
                    </a:p>
                  </a:txBody>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14510530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Vocabulary (Slide 20 of 22)</a:t>
            </a:r>
          </a:p>
        </p:txBody>
      </p:sp>
      <p:graphicFrame>
        <p:nvGraphicFramePr>
          <p:cNvPr id="6" name="Content Placeholder 5" descr="Group 10 of 11.  List of vocabulary terms  with corresponding meanings or definitions."/>
          <p:cNvGraphicFramePr>
            <a:graphicFrameLocks noGrp="1"/>
          </p:cNvGraphicFramePr>
          <p:nvPr>
            <p:ph idx="1"/>
            <p:extLst>
              <p:ext uri="{D42A27DB-BD31-4B8C-83A1-F6EECF244321}">
                <p14:modId xmlns:p14="http://schemas.microsoft.com/office/powerpoint/2010/main" val="4099488832"/>
              </p:ext>
            </p:extLst>
          </p:nvPr>
        </p:nvGraphicFramePr>
        <p:xfrm>
          <a:off x="457200" y="1600200"/>
          <a:ext cx="8229600" cy="3200400"/>
        </p:xfrm>
        <a:graphic>
          <a:graphicData uri="http://schemas.openxmlformats.org/drawingml/2006/table">
            <a:tbl>
              <a:tblPr firstRow="1" bandRow="1">
                <a:tableStyleId>{5C22544A-7EE6-4342-B048-85BDC9FD1C3A}</a:tableStyleId>
              </a:tblPr>
              <a:tblGrid>
                <a:gridCol w="2514600">
                  <a:extLst>
                    <a:ext uri="{9D8B030D-6E8A-4147-A177-3AD203B41FA5}">
                      <a16:colId xmlns:a16="http://schemas.microsoft.com/office/drawing/2014/main" val="20000"/>
                    </a:ext>
                  </a:extLst>
                </a:gridCol>
                <a:gridCol w="57150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r>
                        <a:rPr lang="en-US" sz="2400" dirty="0">
                          <a:ea typeface="ＭＳ Ｐゴシック" charset="0"/>
                        </a:rPr>
                        <a:t>valve</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A structure in veins or in the heart that temporarily closes an opening so blood flows in only one direction</a:t>
                      </a:r>
                    </a:p>
                  </a:txBody>
                  <a:tcPr/>
                </a:tc>
                <a:extLst>
                  <a:ext uri="{0D108BD9-81ED-4DB2-BD59-A6C34878D82A}">
                    <a16:rowId xmlns:a16="http://schemas.microsoft.com/office/drawing/2014/main" val="10001"/>
                  </a:ext>
                </a:extLst>
              </a:tr>
              <a:tr h="370840">
                <a:tc>
                  <a:txBody>
                    <a:bodyPr/>
                    <a:lstStyle/>
                    <a:p>
                      <a:r>
                        <a:rPr lang="en-US" sz="2400" dirty="0">
                          <a:ea typeface="ＭＳ Ｐゴシック" charset="0"/>
                        </a:rPr>
                        <a:t>vein</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A thin-walled vessel that carries blood from body tissues and lungs back to the heart; contains valves to prevent the backflow of blood</a:t>
                      </a:r>
                    </a:p>
                  </a:txBody>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421250995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Vocabulary (Slide 21 of 22)</a:t>
            </a:r>
          </a:p>
        </p:txBody>
      </p:sp>
      <p:graphicFrame>
        <p:nvGraphicFramePr>
          <p:cNvPr id="6" name="Content Placeholder 5" descr="Group 11 of 11:  This table lists a group of vocabulary terms from the text.  The same terms are repeated on the next slide with corresponding definitions."/>
          <p:cNvGraphicFramePr>
            <a:graphicFrameLocks noGrp="1"/>
          </p:cNvGraphicFramePr>
          <p:nvPr>
            <p:ph idx="1"/>
            <p:extLst>
              <p:ext uri="{D42A27DB-BD31-4B8C-83A1-F6EECF244321}">
                <p14:modId xmlns:p14="http://schemas.microsoft.com/office/powerpoint/2010/main" val="4109463288"/>
              </p:ext>
            </p:extLst>
          </p:nvPr>
        </p:nvGraphicFramePr>
        <p:xfrm>
          <a:off x="2171700" y="2133600"/>
          <a:ext cx="4800600" cy="1828800"/>
        </p:xfrm>
        <a:graphic>
          <a:graphicData uri="http://schemas.openxmlformats.org/drawingml/2006/table">
            <a:tbl>
              <a:tblPr firstRow="1" bandRow="1">
                <a:tableStyleId>{5C22544A-7EE6-4342-B048-85BDC9FD1C3A}</a:tableStyleId>
              </a:tblPr>
              <a:tblGrid>
                <a:gridCol w="4800600">
                  <a:extLst>
                    <a:ext uri="{9D8B030D-6E8A-4147-A177-3AD203B41FA5}">
                      <a16:colId xmlns:a16="http://schemas.microsoft.com/office/drawing/2014/main" val="20000"/>
                    </a:ext>
                  </a:extLst>
                </a:gridCol>
              </a:tblGrid>
              <a:tr h="370840">
                <a:tc>
                  <a:txBody>
                    <a:bodyPr/>
                    <a:lstStyle/>
                    <a:p>
                      <a:r>
                        <a:rPr lang="en-US" sz="2400" dirty="0"/>
                        <a:t>Term</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vena cava (</a:t>
                      </a:r>
                      <a:r>
                        <a:rPr lang="en-US" altLang="en-US" sz="2400" i="1" dirty="0"/>
                        <a:t>plural: </a:t>
                      </a:r>
                      <a:r>
                        <a:rPr lang="en-US" altLang="en-US" sz="2400" dirty="0"/>
                        <a:t>venae </a:t>
                      </a:r>
                      <a:r>
                        <a:rPr lang="en-US" altLang="en-US" sz="2400" dirty="0" err="1"/>
                        <a:t>cavae</a:t>
                      </a:r>
                      <a:r>
                        <a:rPr lang="en-US" altLang="en-US" sz="2400" dirty="0"/>
                        <a:t>)</a:t>
                      </a:r>
                    </a:p>
                  </a:txBody>
                  <a:tcPr/>
                </a:tc>
                <a:extLst>
                  <a:ext uri="{0D108BD9-81ED-4DB2-BD59-A6C34878D82A}">
                    <a16:rowId xmlns:a16="http://schemas.microsoft.com/office/drawing/2014/main" val="10001"/>
                  </a:ext>
                </a:extLst>
              </a:tr>
              <a:tr h="370840">
                <a:tc>
                  <a:txBody>
                    <a:bodyPr/>
                    <a:lstStyle/>
                    <a:p>
                      <a:r>
                        <a:rPr lang="en-US" altLang="en-US" sz="2400" dirty="0"/>
                        <a:t>ventricle</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dirty="0" err="1"/>
                        <a:t>venule</a:t>
                      </a:r>
                      <a:endParaRPr lang="en-US" sz="2400" dirty="0"/>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57741750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Vocabulary (Slide 22 of 22)</a:t>
            </a:r>
          </a:p>
        </p:txBody>
      </p:sp>
      <p:graphicFrame>
        <p:nvGraphicFramePr>
          <p:cNvPr id="6" name="Content Placeholder 5" descr="Group 11 of 11.  List of vocabulary terms  with corresponding meanings or definitions."/>
          <p:cNvGraphicFramePr>
            <a:graphicFrameLocks noGrp="1"/>
          </p:cNvGraphicFramePr>
          <p:nvPr>
            <p:ph idx="1"/>
            <p:extLst>
              <p:ext uri="{D42A27DB-BD31-4B8C-83A1-F6EECF244321}">
                <p14:modId xmlns:p14="http://schemas.microsoft.com/office/powerpoint/2010/main" val="23991984"/>
              </p:ext>
            </p:extLst>
          </p:nvPr>
        </p:nvGraphicFramePr>
        <p:xfrm>
          <a:off x="457200" y="1600200"/>
          <a:ext cx="8229600" cy="2560320"/>
        </p:xfrm>
        <a:graphic>
          <a:graphicData uri="http://schemas.openxmlformats.org/drawingml/2006/table">
            <a:tbl>
              <a:tblPr firstRow="1" bandRow="1">
                <a:tableStyleId>{5C22544A-7EE6-4342-B048-85BDC9FD1C3A}</a:tableStyleId>
              </a:tblPr>
              <a:tblGrid>
                <a:gridCol w="2514600">
                  <a:extLst>
                    <a:ext uri="{9D8B030D-6E8A-4147-A177-3AD203B41FA5}">
                      <a16:colId xmlns:a16="http://schemas.microsoft.com/office/drawing/2014/main" val="20000"/>
                    </a:ext>
                  </a:extLst>
                </a:gridCol>
                <a:gridCol w="57150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vena cava (</a:t>
                      </a:r>
                      <a:r>
                        <a:rPr lang="en-US" altLang="en-US" sz="2400" i="1" dirty="0"/>
                        <a:t>plural: </a:t>
                      </a:r>
                      <a:r>
                        <a:rPr lang="en-US" altLang="en-US" sz="2400" dirty="0"/>
                        <a:t>venae </a:t>
                      </a:r>
                      <a:r>
                        <a:rPr lang="en-US" altLang="en-US" sz="2400" dirty="0" err="1"/>
                        <a:t>cavae</a:t>
                      </a:r>
                      <a:r>
                        <a:rPr lang="en-US" altLang="en-US" sz="2400" dirty="0"/>
                        <a:t>)</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The largest vein in the body; superior and inferior venae </a:t>
                      </a:r>
                      <a:r>
                        <a:rPr lang="en-US" altLang="en-US" sz="2400" dirty="0" err="1"/>
                        <a:t>cavae</a:t>
                      </a:r>
                      <a:r>
                        <a:rPr lang="en-US" altLang="en-US" sz="2400" dirty="0"/>
                        <a:t> return blood to the right atrium of heart</a:t>
                      </a:r>
                    </a:p>
                  </a:txBody>
                  <a:tcPr/>
                </a:tc>
                <a:extLst>
                  <a:ext uri="{0D108BD9-81ED-4DB2-BD59-A6C34878D82A}">
                    <a16:rowId xmlns:a16="http://schemas.microsoft.com/office/drawing/2014/main" val="10001"/>
                  </a:ext>
                </a:extLst>
              </a:tr>
              <a:tr h="370840">
                <a:tc>
                  <a:txBody>
                    <a:bodyPr/>
                    <a:lstStyle/>
                    <a:p>
                      <a:r>
                        <a:rPr lang="en-US" altLang="en-US" sz="2400" dirty="0"/>
                        <a:t>ventricle</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One of two lower chambers of the heart</a:t>
                      </a:r>
                    </a:p>
                  </a:txBody>
                  <a:tcPr/>
                </a:tc>
                <a:extLst>
                  <a:ext uri="{0D108BD9-81ED-4DB2-BD59-A6C34878D82A}">
                    <a16:rowId xmlns:a16="http://schemas.microsoft.com/office/drawing/2014/main" val="10002"/>
                  </a:ext>
                </a:extLst>
              </a:tr>
              <a:tr h="370840">
                <a:tc>
                  <a:txBody>
                    <a:bodyPr/>
                    <a:lstStyle/>
                    <a:p>
                      <a:r>
                        <a:rPr lang="en-US" altLang="en-US" sz="2400" dirty="0" err="1"/>
                        <a:t>venule</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A small vein</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40515267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Combining Forms and Terminology </a:t>
            </a:r>
            <a:r>
              <a:rPr lang="en-US" sz="4000" dirty="0"/>
              <a:t>(Slide 1 of 4)</a:t>
            </a:r>
          </a:p>
        </p:txBody>
      </p:sp>
      <p:graphicFrame>
        <p:nvGraphicFramePr>
          <p:cNvPr id="6" name="Content Placeholder 5" descr="Group 1 of 4 combining forms from the Terminology section of the textbook  with corresponding meanings or definitions. "/>
          <p:cNvGraphicFramePr>
            <a:graphicFrameLocks noGrp="1"/>
          </p:cNvGraphicFramePr>
          <p:nvPr>
            <p:ph idx="1"/>
            <p:extLst>
              <p:ext uri="{D42A27DB-BD31-4B8C-83A1-F6EECF244321}">
                <p14:modId xmlns:p14="http://schemas.microsoft.com/office/powerpoint/2010/main" val="421124721"/>
              </p:ext>
            </p:extLst>
          </p:nvPr>
        </p:nvGraphicFramePr>
        <p:xfrm>
          <a:off x="457200" y="1600200"/>
          <a:ext cx="8229600" cy="3200400"/>
        </p:xfrm>
        <a:graphic>
          <a:graphicData uri="http://schemas.openxmlformats.org/drawingml/2006/table">
            <a:tbl>
              <a:tblPr firstRow="1" bandRow="1">
                <a:tableStyleId>{68D230F3-CF80-4859-8CE7-A43EE81993B5}</a:tableStyleId>
              </a:tblPr>
              <a:tblGrid>
                <a:gridCol w="2362200">
                  <a:extLst>
                    <a:ext uri="{9D8B030D-6E8A-4147-A177-3AD203B41FA5}">
                      <a16:colId xmlns:a16="http://schemas.microsoft.com/office/drawing/2014/main" val="20000"/>
                    </a:ext>
                  </a:extLst>
                </a:gridCol>
                <a:gridCol w="5867400">
                  <a:extLst>
                    <a:ext uri="{9D8B030D-6E8A-4147-A177-3AD203B41FA5}">
                      <a16:colId xmlns:a16="http://schemas.microsoft.com/office/drawing/2014/main" val="20001"/>
                    </a:ext>
                  </a:extLst>
                </a:gridCol>
              </a:tblGrid>
              <a:tr h="370840">
                <a:tc>
                  <a:txBody>
                    <a:bodyPr/>
                    <a:lstStyle/>
                    <a:p>
                      <a:r>
                        <a:rPr lang="en-US" sz="2400" dirty="0"/>
                        <a:t>Combining Form</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altLang="en-US" sz="2400" b="1" dirty="0" err="1"/>
                        <a:t>angi</a:t>
                      </a:r>
                      <a:r>
                        <a:rPr lang="en-US" altLang="en-US" sz="2400" b="1" dirty="0"/>
                        <a:t>/o</a:t>
                      </a:r>
                      <a:endParaRPr lang="en-US" sz="2400" dirty="0"/>
                    </a:p>
                  </a:txBody>
                  <a:tcPr/>
                </a:tc>
                <a:tc>
                  <a:txBody>
                    <a:bodyPr/>
                    <a:lstStyle/>
                    <a:p>
                      <a:r>
                        <a:rPr lang="en-US" altLang="en-US" sz="2400" dirty="0"/>
                        <a:t>vessel</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b="1" dirty="0" err="1"/>
                        <a:t>aort</a:t>
                      </a:r>
                      <a:r>
                        <a:rPr lang="en-US" altLang="en-US" sz="2400" b="1" dirty="0"/>
                        <a:t>/o</a:t>
                      </a:r>
                      <a:endParaRPr lang="en-US" sz="2400" dirty="0"/>
                    </a:p>
                  </a:txBody>
                  <a:tcPr/>
                </a:tc>
                <a:tc>
                  <a:txBody>
                    <a:bodyPr/>
                    <a:lstStyle/>
                    <a:p>
                      <a:r>
                        <a:rPr lang="en-US" altLang="en-US" sz="2400" dirty="0"/>
                        <a:t>aorta</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b="1" dirty="0" err="1"/>
                        <a:t>arter</a:t>
                      </a:r>
                      <a:r>
                        <a:rPr lang="en-US" altLang="en-US" sz="2400" b="1" dirty="0"/>
                        <a:t>/o</a:t>
                      </a:r>
                      <a:endParaRPr lang="en-US" sz="2400" dirty="0"/>
                    </a:p>
                  </a:txBody>
                  <a:tcPr/>
                </a:tc>
                <a:tc>
                  <a:txBody>
                    <a:bodyPr/>
                    <a:lstStyle/>
                    <a:p>
                      <a:r>
                        <a:rPr lang="en-US" altLang="en-US" sz="2400" dirty="0"/>
                        <a:t>artery</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b="1" dirty="0" err="1"/>
                        <a:t>arteri</a:t>
                      </a:r>
                      <a:r>
                        <a:rPr lang="en-US" altLang="en-US" sz="2400" b="1" dirty="0"/>
                        <a:t>/o</a:t>
                      </a:r>
                      <a:endParaRPr lang="en-US" sz="2400" dirty="0"/>
                    </a:p>
                  </a:txBody>
                  <a:tcPr/>
                </a:tc>
                <a:tc>
                  <a:txBody>
                    <a:bodyPr/>
                    <a:lstStyle/>
                    <a:p>
                      <a:r>
                        <a:rPr lang="en-US" altLang="en-US" sz="2400" dirty="0"/>
                        <a:t>artery</a:t>
                      </a:r>
                      <a:endParaRPr lang="en-US" sz="2400" dirty="0"/>
                    </a:p>
                  </a:txBody>
                  <a:tcPr/>
                </a:tc>
                <a:extLst>
                  <a:ext uri="{0D108BD9-81ED-4DB2-BD59-A6C34878D82A}">
                    <a16:rowId xmlns:a16="http://schemas.microsoft.com/office/drawing/2014/main" val="10004"/>
                  </a:ext>
                </a:extLst>
              </a:tr>
              <a:tr h="370840">
                <a:tc>
                  <a:txBody>
                    <a:bodyPr/>
                    <a:lstStyle/>
                    <a:p>
                      <a:r>
                        <a:rPr lang="en-US" altLang="en-US" sz="2400" b="1" dirty="0" err="1"/>
                        <a:t>ather</a:t>
                      </a:r>
                      <a:r>
                        <a:rPr lang="en-US" altLang="en-US" sz="2400" b="1" dirty="0"/>
                        <a:t>/o</a:t>
                      </a:r>
                      <a:endParaRPr lang="en-US" sz="2400" dirty="0"/>
                    </a:p>
                  </a:txBody>
                  <a:tcPr/>
                </a:tc>
                <a:tc>
                  <a:txBody>
                    <a:bodyPr/>
                    <a:lstStyle/>
                    <a:p>
                      <a:r>
                        <a:rPr lang="en-US" altLang="en-US" sz="2400" dirty="0"/>
                        <a:t>yellowish plaque</a:t>
                      </a:r>
                      <a:endParaRPr lang="en-US" sz="2400" dirty="0"/>
                    </a:p>
                  </a:txBody>
                  <a:tcPr/>
                </a:tc>
                <a:extLst>
                  <a:ext uri="{0D108BD9-81ED-4DB2-BD59-A6C34878D82A}">
                    <a16:rowId xmlns:a16="http://schemas.microsoft.com/office/drawing/2014/main" val="10005"/>
                  </a:ext>
                </a:extLst>
              </a:tr>
              <a:tr h="370840">
                <a:tc>
                  <a:txBody>
                    <a:bodyPr/>
                    <a:lstStyle/>
                    <a:p>
                      <a:r>
                        <a:rPr lang="en-US" altLang="en-US" sz="2400" b="1" dirty="0" err="1"/>
                        <a:t>atri</a:t>
                      </a:r>
                      <a:r>
                        <a:rPr lang="en-US" altLang="en-US" sz="2400" b="1" dirty="0"/>
                        <a:t>/o</a:t>
                      </a:r>
                      <a:endParaRPr lang="en-US" sz="2400" dirty="0"/>
                    </a:p>
                  </a:txBody>
                  <a:tcPr/>
                </a:tc>
                <a:tc>
                  <a:txBody>
                    <a:bodyPr/>
                    <a:lstStyle/>
                    <a:p>
                      <a:r>
                        <a:rPr lang="en-US" altLang="en-US" sz="2400" dirty="0"/>
                        <a:t>atrium</a:t>
                      </a:r>
                      <a:endParaRPr lang="en-US" sz="2400" dirty="0"/>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29881089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Combining Forms and Terminology </a:t>
            </a:r>
            <a:r>
              <a:rPr lang="en-US" sz="4000" dirty="0"/>
              <a:t>(Slide 2 of 4)</a:t>
            </a:r>
          </a:p>
        </p:txBody>
      </p:sp>
      <p:graphicFrame>
        <p:nvGraphicFramePr>
          <p:cNvPr id="6" name="Content Placeholder 5" descr="Group 2 of 4 combining forms from the Terminology section of the textbook  with corresponding meanings or definitions. "/>
          <p:cNvGraphicFramePr>
            <a:graphicFrameLocks noGrp="1"/>
          </p:cNvGraphicFramePr>
          <p:nvPr>
            <p:ph idx="1"/>
            <p:extLst>
              <p:ext uri="{D42A27DB-BD31-4B8C-83A1-F6EECF244321}">
                <p14:modId xmlns:p14="http://schemas.microsoft.com/office/powerpoint/2010/main" val="3138132445"/>
              </p:ext>
            </p:extLst>
          </p:nvPr>
        </p:nvGraphicFramePr>
        <p:xfrm>
          <a:off x="457200" y="1600200"/>
          <a:ext cx="8229600" cy="3200400"/>
        </p:xfrm>
        <a:graphic>
          <a:graphicData uri="http://schemas.openxmlformats.org/drawingml/2006/table">
            <a:tbl>
              <a:tblPr firstRow="1" bandRow="1">
                <a:tableStyleId>{68D230F3-CF80-4859-8CE7-A43EE81993B5}</a:tableStyleId>
              </a:tblPr>
              <a:tblGrid>
                <a:gridCol w="2362200">
                  <a:extLst>
                    <a:ext uri="{9D8B030D-6E8A-4147-A177-3AD203B41FA5}">
                      <a16:colId xmlns:a16="http://schemas.microsoft.com/office/drawing/2014/main" val="20000"/>
                    </a:ext>
                  </a:extLst>
                </a:gridCol>
                <a:gridCol w="5867400">
                  <a:extLst>
                    <a:ext uri="{9D8B030D-6E8A-4147-A177-3AD203B41FA5}">
                      <a16:colId xmlns:a16="http://schemas.microsoft.com/office/drawing/2014/main" val="20001"/>
                    </a:ext>
                  </a:extLst>
                </a:gridCol>
              </a:tblGrid>
              <a:tr h="370840">
                <a:tc>
                  <a:txBody>
                    <a:bodyPr/>
                    <a:lstStyle/>
                    <a:p>
                      <a:r>
                        <a:rPr lang="en-US" sz="2400" dirty="0"/>
                        <a:t>Combining Form</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altLang="en-US" sz="2400" b="1" dirty="0" err="1"/>
                        <a:t>brachi</a:t>
                      </a:r>
                      <a:r>
                        <a:rPr lang="en-US" altLang="en-US" sz="2400" b="1" dirty="0"/>
                        <a:t>/o</a:t>
                      </a:r>
                      <a:endParaRPr lang="en-US" sz="2400" dirty="0"/>
                    </a:p>
                  </a:txBody>
                  <a:tcPr/>
                </a:tc>
                <a:tc>
                  <a:txBody>
                    <a:bodyPr/>
                    <a:lstStyle/>
                    <a:p>
                      <a:r>
                        <a:rPr lang="en-US" altLang="en-US" sz="2400" dirty="0"/>
                        <a:t>arm</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b="1" dirty="0" err="1"/>
                        <a:t>cardi</a:t>
                      </a:r>
                      <a:r>
                        <a:rPr lang="en-US" altLang="en-US" sz="2400" b="1" dirty="0"/>
                        <a:t>/o</a:t>
                      </a:r>
                      <a:endParaRPr lang="en-US" sz="2400" dirty="0"/>
                    </a:p>
                  </a:txBody>
                  <a:tcPr/>
                </a:tc>
                <a:tc>
                  <a:txBody>
                    <a:bodyPr/>
                    <a:lstStyle/>
                    <a:p>
                      <a:r>
                        <a:rPr lang="en-US" altLang="en-US" sz="2400" dirty="0"/>
                        <a:t>heart</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b="1" dirty="0"/>
                        <a:t>cholesterol/o</a:t>
                      </a:r>
                      <a:endParaRPr lang="en-US" sz="2400" dirty="0"/>
                    </a:p>
                  </a:txBody>
                  <a:tcPr/>
                </a:tc>
                <a:tc>
                  <a:txBody>
                    <a:bodyPr/>
                    <a:lstStyle/>
                    <a:p>
                      <a:r>
                        <a:rPr lang="en-US" altLang="en-US" sz="2400" dirty="0"/>
                        <a:t>cholesterol</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b="1" dirty="0" err="1"/>
                        <a:t>coron</a:t>
                      </a:r>
                      <a:r>
                        <a:rPr lang="en-US" altLang="en-US" sz="2400" b="1" dirty="0"/>
                        <a:t>/o</a:t>
                      </a:r>
                      <a:endParaRPr lang="en-US" sz="2400" dirty="0"/>
                    </a:p>
                  </a:txBody>
                  <a:tcPr/>
                </a:tc>
                <a:tc>
                  <a:txBody>
                    <a:bodyPr/>
                    <a:lstStyle/>
                    <a:p>
                      <a:r>
                        <a:rPr lang="en-US" altLang="en-US" sz="2400" dirty="0"/>
                        <a:t>heart</a:t>
                      </a:r>
                      <a:endParaRPr lang="en-US" sz="2400" dirty="0"/>
                    </a:p>
                  </a:txBody>
                  <a:tcPr/>
                </a:tc>
                <a:extLst>
                  <a:ext uri="{0D108BD9-81ED-4DB2-BD59-A6C34878D82A}">
                    <a16:rowId xmlns:a16="http://schemas.microsoft.com/office/drawing/2014/main" val="10004"/>
                  </a:ext>
                </a:extLst>
              </a:tr>
              <a:tr h="370840">
                <a:tc>
                  <a:txBody>
                    <a:bodyPr/>
                    <a:lstStyle/>
                    <a:p>
                      <a:r>
                        <a:rPr lang="en-US" altLang="en-US" sz="2400" b="1" dirty="0"/>
                        <a:t>cyan/o</a:t>
                      </a:r>
                      <a:endParaRPr lang="en-US" sz="2400" dirty="0"/>
                    </a:p>
                  </a:txBody>
                  <a:tcPr/>
                </a:tc>
                <a:tc>
                  <a:txBody>
                    <a:bodyPr/>
                    <a:lstStyle/>
                    <a:p>
                      <a:r>
                        <a:rPr lang="en-US" altLang="en-US" sz="2400" dirty="0"/>
                        <a:t>blue</a:t>
                      </a:r>
                      <a:endParaRPr lang="en-US" sz="2400" dirty="0"/>
                    </a:p>
                  </a:txBody>
                  <a:tcPr/>
                </a:tc>
                <a:extLst>
                  <a:ext uri="{0D108BD9-81ED-4DB2-BD59-A6C34878D82A}">
                    <a16:rowId xmlns:a16="http://schemas.microsoft.com/office/drawing/2014/main" val="10005"/>
                  </a:ext>
                </a:extLst>
              </a:tr>
              <a:tr h="370840">
                <a:tc>
                  <a:txBody>
                    <a:bodyPr/>
                    <a:lstStyle/>
                    <a:p>
                      <a:r>
                        <a:rPr lang="en-US" altLang="en-US" sz="2400" b="1" dirty="0" err="1"/>
                        <a:t>myx</a:t>
                      </a:r>
                      <a:r>
                        <a:rPr lang="en-US" altLang="en-US" sz="2400" b="1" dirty="0"/>
                        <a:t>/o</a:t>
                      </a:r>
                      <a:endParaRPr lang="en-US" sz="2400" dirty="0"/>
                    </a:p>
                  </a:txBody>
                  <a:tcPr/>
                </a:tc>
                <a:tc>
                  <a:txBody>
                    <a:bodyPr/>
                    <a:lstStyle/>
                    <a:p>
                      <a:r>
                        <a:rPr lang="en-US" altLang="en-US" sz="2400" dirty="0"/>
                        <a:t>mucus</a:t>
                      </a:r>
                      <a:endParaRPr lang="en-US" sz="2400" dirty="0"/>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32125500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Combining Forms and Terminology </a:t>
            </a:r>
            <a:r>
              <a:rPr lang="en-US" sz="4000" dirty="0"/>
              <a:t>(Slide 3 of 4)</a:t>
            </a:r>
          </a:p>
        </p:txBody>
      </p:sp>
      <p:graphicFrame>
        <p:nvGraphicFramePr>
          <p:cNvPr id="6" name="Content Placeholder 5" descr="Group 3 of 4 combining forms from the Terminology section of the textbook  with corresponding meanings or definitions. "/>
          <p:cNvGraphicFramePr>
            <a:graphicFrameLocks noGrp="1"/>
          </p:cNvGraphicFramePr>
          <p:nvPr>
            <p:ph idx="1"/>
            <p:extLst>
              <p:ext uri="{D42A27DB-BD31-4B8C-83A1-F6EECF244321}">
                <p14:modId xmlns:p14="http://schemas.microsoft.com/office/powerpoint/2010/main" val="517460607"/>
              </p:ext>
            </p:extLst>
          </p:nvPr>
        </p:nvGraphicFramePr>
        <p:xfrm>
          <a:off x="457200" y="1600200"/>
          <a:ext cx="8229600" cy="3200400"/>
        </p:xfrm>
        <a:graphic>
          <a:graphicData uri="http://schemas.openxmlformats.org/drawingml/2006/table">
            <a:tbl>
              <a:tblPr firstRow="1" bandRow="1">
                <a:tableStyleId>{68D230F3-CF80-4859-8CE7-A43EE81993B5}</a:tableStyleId>
              </a:tblPr>
              <a:tblGrid>
                <a:gridCol w="2362200">
                  <a:extLst>
                    <a:ext uri="{9D8B030D-6E8A-4147-A177-3AD203B41FA5}">
                      <a16:colId xmlns:a16="http://schemas.microsoft.com/office/drawing/2014/main" val="20000"/>
                    </a:ext>
                  </a:extLst>
                </a:gridCol>
                <a:gridCol w="5867400">
                  <a:extLst>
                    <a:ext uri="{9D8B030D-6E8A-4147-A177-3AD203B41FA5}">
                      <a16:colId xmlns:a16="http://schemas.microsoft.com/office/drawing/2014/main" val="20001"/>
                    </a:ext>
                  </a:extLst>
                </a:gridCol>
              </a:tblGrid>
              <a:tr h="370840">
                <a:tc>
                  <a:txBody>
                    <a:bodyPr/>
                    <a:lstStyle/>
                    <a:p>
                      <a:r>
                        <a:rPr lang="en-US" sz="2400" dirty="0"/>
                        <a:t>Combining Form</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altLang="en-US" sz="2400" b="1" dirty="0"/>
                        <a:t>ox/o</a:t>
                      </a:r>
                      <a:endParaRPr lang="en-US" sz="2400" dirty="0"/>
                    </a:p>
                  </a:txBody>
                  <a:tcPr/>
                </a:tc>
                <a:tc>
                  <a:txBody>
                    <a:bodyPr/>
                    <a:lstStyle/>
                    <a:p>
                      <a:r>
                        <a:rPr lang="en-US" altLang="en-US" sz="2400" dirty="0"/>
                        <a:t>oxygen</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b="1" dirty="0" err="1"/>
                        <a:t>pericardi</a:t>
                      </a:r>
                      <a:r>
                        <a:rPr lang="en-US" altLang="en-US" sz="2400" b="1" dirty="0"/>
                        <a:t>/o</a:t>
                      </a:r>
                      <a:endParaRPr lang="en-US" sz="2400" dirty="0"/>
                    </a:p>
                  </a:txBody>
                  <a:tcPr/>
                </a:tc>
                <a:tc>
                  <a:txBody>
                    <a:bodyPr/>
                    <a:lstStyle/>
                    <a:p>
                      <a:r>
                        <a:rPr lang="en-US" altLang="en-US" sz="2400" dirty="0"/>
                        <a:t>pericardium</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b="1" dirty="0" err="1"/>
                        <a:t>phleb</a:t>
                      </a:r>
                      <a:r>
                        <a:rPr lang="en-US" altLang="en-US" sz="2400" b="1" dirty="0"/>
                        <a:t>/o</a:t>
                      </a:r>
                      <a:endParaRPr lang="en-US" sz="2400" dirty="0"/>
                    </a:p>
                  </a:txBody>
                  <a:tcPr/>
                </a:tc>
                <a:tc>
                  <a:txBody>
                    <a:bodyPr/>
                    <a:lstStyle/>
                    <a:p>
                      <a:r>
                        <a:rPr lang="en-US" altLang="en-US" sz="2400" dirty="0"/>
                        <a:t>vein</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b="1" dirty="0" err="1"/>
                        <a:t>sphygm</a:t>
                      </a:r>
                      <a:r>
                        <a:rPr lang="en-US" altLang="en-US" sz="2400" b="1" dirty="0"/>
                        <a:t>/o</a:t>
                      </a:r>
                      <a:endParaRPr lang="en-US" sz="2400" dirty="0"/>
                    </a:p>
                  </a:txBody>
                  <a:tcPr/>
                </a:tc>
                <a:tc>
                  <a:txBody>
                    <a:bodyPr/>
                    <a:lstStyle/>
                    <a:p>
                      <a:r>
                        <a:rPr lang="en-US" altLang="en-US" sz="2400" dirty="0"/>
                        <a:t>pulse</a:t>
                      </a:r>
                      <a:endParaRPr lang="en-US" sz="2400" dirty="0"/>
                    </a:p>
                  </a:txBody>
                  <a:tcPr/>
                </a:tc>
                <a:extLst>
                  <a:ext uri="{0D108BD9-81ED-4DB2-BD59-A6C34878D82A}">
                    <a16:rowId xmlns:a16="http://schemas.microsoft.com/office/drawing/2014/main" val="10004"/>
                  </a:ext>
                </a:extLst>
              </a:tr>
              <a:tr h="370840">
                <a:tc>
                  <a:txBody>
                    <a:bodyPr/>
                    <a:lstStyle/>
                    <a:p>
                      <a:r>
                        <a:rPr lang="en-US" altLang="en-US" sz="2400" b="1" dirty="0" err="1"/>
                        <a:t>steth</a:t>
                      </a:r>
                      <a:r>
                        <a:rPr lang="en-US" altLang="en-US" sz="2400" b="1" dirty="0"/>
                        <a:t>/o</a:t>
                      </a:r>
                      <a:endParaRPr lang="en-US" sz="2400" dirty="0"/>
                    </a:p>
                  </a:txBody>
                  <a:tcPr/>
                </a:tc>
                <a:tc>
                  <a:txBody>
                    <a:bodyPr/>
                    <a:lstStyle/>
                    <a:p>
                      <a:r>
                        <a:rPr lang="en-US" altLang="en-US" sz="2400" dirty="0"/>
                        <a:t>chest</a:t>
                      </a:r>
                      <a:endParaRPr lang="en-US" sz="2400" dirty="0"/>
                    </a:p>
                  </a:txBody>
                  <a:tcPr/>
                </a:tc>
                <a:extLst>
                  <a:ext uri="{0D108BD9-81ED-4DB2-BD59-A6C34878D82A}">
                    <a16:rowId xmlns:a16="http://schemas.microsoft.com/office/drawing/2014/main" val="10005"/>
                  </a:ext>
                </a:extLst>
              </a:tr>
              <a:tr h="370840">
                <a:tc>
                  <a:txBody>
                    <a:bodyPr/>
                    <a:lstStyle/>
                    <a:p>
                      <a:r>
                        <a:rPr lang="en-US" altLang="en-US" sz="2400" b="1" dirty="0" err="1"/>
                        <a:t>thromb</a:t>
                      </a:r>
                      <a:r>
                        <a:rPr lang="en-US" altLang="en-US" sz="2400" b="1" dirty="0"/>
                        <a:t>/o</a:t>
                      </a:r>
                      <a:endParaRPr lang="en-US" sz="2400" dirty="0"/>
                    </a:p>
                  </a:txBody>
                  <a:tcPr/>
                </a:tc>
                <a:tc>
                  <a:txBody>
                    <a:bodyPr/>
                    <a:lstStyle/>
                    <a:p>
                      <a:r>
                        <a:rPr lang="en-US" altLang="en-US" sz="2400" dirty="0"/>
                        <a:t>clot</a:t>
                      </a:r>
                      <a:endParaRPr lang="en-US" sz="2400" dirty="0"/>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45597087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Combining Forms and Terminology </a:t>
            </a:r>
            <a:r>
              <a:rPr lang="en-US" sz="4000" dirty="0"/>
              <a:t>(Slide 4 of 4)</a:t>
            </a:r>
          </a:p>
        </p:txBody>
      </p:sp>
      <p:graphicFrame>
        <p:nvGraphicFramePr>
          <p:cNvPr id="6" name="Content Placeholder 5" descr="Group 4 of 4 combining forms from the Terminology section of the textbook  with corresponding meanings or definitions. "/>
          <p:cNvGraphicFramePr>
            <a:graphicFrameLocks noGrp="1"/>
          </p:cNvGraphicFramePr>
          <p:nvPr>
            <p:ph idx="1"/>
            <p:extLst>
              <p:ext uri="{D42A27DB-BD31-4B8C-83A1-F6EECF244321}">
                <p14:modId xmlns:p14="http://schemas.microsoft.com/office/powerpoint/2010/main" val="1366462768"/>
              </p:ext>
            </p:extLst>
          </p:nvPr>
        </p:nvGraphicFramePr>
        <p:xfrm>
          <a:off x="457200" y="1600200"/>
          <a:ext cx="8229600" cy="3200400"/>
        </p:xfrm>
        <a:graphic>
          <a:graphicData uri="http://schemas.openxmlformats.org/drawingml/2006/table">
            <a:tbl>
              <a:tblPr firstRow="1" bandRow="1">
                <a:tableStyleId>{68D230F3-CF80-4859-8CE7-A43EE81993B5}</a:tableStyleId>
              </a:tblPr>
              <a:tblGrid>
                <a:gridCol w="2362200">
                  <a:extLst>
                    <a:ext uri="{9D8B030D-6E8A-4147-A177-3AD203B41FA5}">
                      <a16:colId xmlns:a16="http://schemas.microsoft.com/office/drawing/2014/main" val="20000"/>
                    </a:ext>
                  </a:extLst>
                </a:gridCol>
                <a:gridCol w="5867400">
                  <a:extLst>
                    <a:ext uri="{9D8B030D-6E8A-4147-A177-3AD203B41FA5}">
                      <a16:colId xmlns:a16="http://schemas.microsoft.com/office/drawing/2014/main" val="20001"/>
                    </a:ext>
                  </a:extLst>
                </a:gridCol>
              </a:tblGrid>
              <a:tr h="370840">
                <a:tc>
                  <a:txBody>
                    <a:bodyPr/>
                    <a:lstStyle/>
                    <a:p>
                      <a:r>
                        <a:rPr lang="en-US" sz="2400" dirty="0"/>
                        <a:t>Combining Form</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altLang="en-US" sz="2400" b="1" dirty="0" err="1"/>
                        <a:t>valvul</a:t>
                      </a:r>
                      <a:r>
                        <a:rPr lang="en-US" altLang="en-US" sz="2400" b="1" dirty="0"/>
                        <a:t>/o</a:t>
                      </a:r>
                      <a:endParaRPr lang="en-US" sz="2400" dirty="0"/>
                    </a:p>
                  </a:txBody>
                  <a:tcPr/>
                </a:tc>
                <a:tc>
                  <a:txBody>
                    <a:bodyPr/>
                    <a:lstStyle/>
                    <a:p>
                      <a:r>
                        <a:rPr lang="en-US" altLang="en-US" sz="2400" dirty="0"/>
                        <a:t>valve</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b="1" dirty="0" err="1"/>
                        <a:t>valv</a:t>
                      </a:r>
                      <a:r>
                        <a:rPr lang="en-US" altLang="en-US" sz="2400" b="1" dirty="0"/>
                        <a:t>/o</a:t>
                      </a:r>
                      <a:endParaRPr lang="en-US" sz="2400" dirty="0"/>
                    </a:p>
                  </a:txBody>
                  <a:tcPr/>
                </a:tc>
                <a:tc>
                  <a:txBody>
                    <a:bodyPr/>
                    <a:lstStyle/>
                    <a:p>
                      <a:r>
                        <a:rPr lang="en-US" altLang="en-US" sz="2400" dirty="0"/>
                        <a:t>valve</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b="1" dirty="0"/>
                        <a:t>vas/o</a:t>
                      </a:r>
                      <a:endParaRPr lang="en-US" sz="2400" dirty="0"/>
                    </a:p>
                  </a:txBody>
                  <a:tcPr/>
                </a:tc>
                <a:tc>
                  <a:txBody>
                    <a:bodyPr/>
                    <a:lstStyle/>
                    <a:p>
                      <a:r>
                        <a:rPr lang="en-US" altLang="en-US" sz="2400" dirty="0"/>
                        <a:t>vessel</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b="1" dirty="0" err="1"/>
                        <a:t>vascul</a:t>
                      </a:r>
                      <a:r>
                        <a:rPr lang="en-US" altLang="en-US" sz="2400" b="1" dirty="0"/>
                        <a:t>/o	</a:t>
                      </a:r>
                      <a:endParaRPr lang="en-US" sz="2400" dirty="0"/>
                    </a:p>
                  </a:txBody>
                  <a:tcPr/>
                </a:tc>
                <a:tc>
                  <a:txBody>
                    <a:bodyPr/>
                    <a:lstStyle/>
                    <a:p>
                      <a:r>
                        <a:rPr lang="en-US" altLang="en-US" sz="2400" dirty="0"/>
                        <a:t>vessel</a:t>
                      </a:r>
                      <a:endParaRPr lang="en-US" sz="2400" dirty="0"/>
                    </a:p>
                  </a:txBody>
                  <a:tcPr/>
                </a:tc>
                <a:extLst>
                  <a:ext uri="{0D108BD9-81ED-4DB2-BD59-A6C34878D82A}">
                    <a16:rowId xmlns:a16="http://schemas.microsoft.com/office/drawing/2014/main" val="10004"/>
                  </a:ext>
                </a:extLst>
              </a:tr>
              <a:tr h="370840">
                <a:tc>
                  <a:txBody>
                    <a:bodyPr/>
                    <a:lstStyle/>
                    <a:p>
                      <a:r>
                        <a:rPr lang="en-US" altLang="en-US" sz="2400" b="1" dirty="0" err="1"/>
                        <a:t>ven</a:t>
                      </a:r>
                      <a:r>
                        <a:rPr lang="en-US" altLang="en-US" sz="2400" b="1" dirty="0"/>
                        <a:t>/o, </a:t>
                      </a:r>
                      <a:r>
                        <a:rPr lang="en-US" altLang="en-US" sz="2400" b="1" dirty="0" err="1"/>
                        <a:t>ven</a:t>
                      </a:r>
                      <a:r>
                        <a:rPr lang="en-US" altLang="en-US" sz="2400" b="1" dirty="0"/>
                        <a:t>/</a:t>
                      </a:r>
                      <a:r>
                        <a:rPr lang="en-US" altLang="en-US" sz="2400" b="1" dirty="0" err="1"/>
                        <a:t>i</a:t>
                      </a:r>
                      <a:endParaRPr lang="en-US" sz="2400" dirty="0"/>
                    </a:p>
                  </a:txBody>
                  <a:tcPr/>
                </a:tc>
                <a:tc>
                  <a:txBody>
                    <a:bodyPr/>
                    <a:lstStyle/>
                    <a:p>
                      <a:r>
                        <a:rPr lang="en-US" altLang="en-US" sz="2400" dirty="0"/>
                        <a:t>vein</a:t>
                      </a:r>
                      <a:endParaRPr lang="en-US" sz="2400" dirty="0"/>
                    </a:p>
                  </a:txBody>
                  <a:tcPr/>
                </a:tc>
                <a:extLst>
                  <a:ext uri="{0D108BD9-81ED-4DB2-BD59-A6C34878D82A}">
                    <a16:rowId xmlns:a16="http://schemas.microsoft.com/office/drawing/2014/main" val="10005"/>
                  </a:ext>
                </a:extLst>
              </a:tr>
              <a:tr h="370840">
                <a:tc>
                  <a:txBody>
                    <a:bodyPr/>
                    <a:lstStyle/>
                    <a:p>
                      <a:r>
                        <a:rPr lang="en-US" altLang="en-US" sz="2400" b="1" dirty="0" err="1"/>
                        <a:t>ventricul</a:t>
                      </a:r>
                      <a:r>
                        <a:rPr lang="en-US" altLang="en-US" sz="2400" b="1" dirty="0"/>
                        <a:t>/o</a:t>
                      </a:r>
                      <a:endParaRPr lang="en-US" sz="2400" dirty="0"/>
                    </a:p>
                  </a:txBody>
                  <a:tcPr/>
                </a:tc>
                <a:tc>
                  <a:txBody>
                    <a:bodyPr/>
                    <a:lstStyle/>
                    <a:p>
                      <a:r>
                        <a:rPr lang="en-US" altLang="en-US" sz="2400" dirty="0"/>
                        <a:t>ventricle</a:t>
                      </a:r>
                      <a:endParaRPr lang="en-US" sz="2400" dirty="0"/>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425729499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1026"/>
          <p:cNvSpPr>
            <a:spLocks noGrp="1" noChangeArrowheads="1"/>
          </p:cNvSpPr>
          <p:nvPr>
            <p:ph type="title"/>
          </p:nvPr>
        </p:nvSpPr>
        <p:spPr>
          <a:xfrm>
            <a:off x="381000" y="152400"/>
            <a:ext cx="7772400" cy="1219200"/>
          </a:xfrm>
        </p:spPr>
        <p:txBody>
          <a:bodyPr/>
          <a:lstStyle/>
          <a:p>
            <a:pPr eaLnBrk="1" hangingPunct="1"/>
            <a:r>
              <a:rPr lang="en-US" altLang="en-US" dirty="0"/>
              <a:t>      QUICK QUIZ (Slide 1 of 4)</a:t>
            </a:r>
          </a:p>
        </p:txBody>
      </p:sp>
      <p:sp>
        <p:nvSpPr>
          <p:cNvPr id="59395" name="Rectangle 1027"/>
          <p:cNvSpPr>
            <a:spLocks noGrp="1" noChangeArrowheads="1"/>
          </p:cNvSpPr>
          <p:nvPr>
            <p:ph idx="1"/>
          </p:nvPr>
        </p:nvSpPr>
        <p:spPr>
          <a:xfrm>
            <a:off x="685800" y="1600200"/>
            <a:ext cx="6934200" cy="4495800"/>
          </a:xfrm>
        </p:spPr>
        <p:txBody>
          <a:bodyPr/>
          <a:lstStyle/>
          <a:p>
            <a:pPr marL="533400" indent="-533400" eaLnBrk="1" hangingPunct="1">
              <a:buFont typeface="Arial" panose="020B0604020202020204" pitchFamily="34" charset="0"/>
              <a:buAutoNum type="arabicPeriod"/>
            </a:pPr>
            <a:r>
              <a:rPr lang="en-US" altLang="en-US" b="1"/>
              <a:t>The double-layered membrane surrounding the heart is the:</a:t>
            </a:r>
            <a:endParaRPr lang="en-US" altLang="en-US" sz="1800" b="1"/>
          </a:p>
          <a:p>
            <a:pPr marL="914400" lvl="1" indent="-457200" eaLnBrk="1" hangingPunct="1">
              <a:buFont typeface="Arial" panose="020B0604020202020204" pitchFamily="34" charset="0"/>
              <a:buAutoNum type="alphaUcPeriod"/>
            </a:pPr>
            <a:r>
              <a:rPr lang="en-US" altLang="en-US" sz="3200">
                <a:ea typeface="MS PGothic" panose="020B0600070205080204" pitchFamily="34" charset="-128"/>
              </a:rPr>
              <a:t>pericardium</a:t>
            </a:r>
          </a:p>
          <a:p>
            <a:pPr marL="914400" lvl="1" indent="-457200" eaLnBrk="1" hangingPunct="1">
              <a:buFont typeface="Arial" panose="020B0604020202020204" pitchFamily="34" charset="0"/>
              <a:buAutoNum type="alphaUcPeriod"/>
            </a:pPr>
            <a:r>
              <a:rPr lang="en-US" altLang="en-US" sz="3200">
                <a:ea typeface="MS PGothic" panose="020B0600070205080204" pitchFamily="34" charset="-128"/>
              </a:rPr>
              <a:t>arteriole</a:t>
            </a:r>
          </a:p>
          <a:p>
            <a:pPr marL="914400" lvl="1" indent="-457200" eaLnBrk="1" hangingPunct="1">
              <a:buFont typeface="Arial" panose="020B0604020202020204" pitchFamily="34" charset="0"/>
              <a:buAutoNum type="alphaUcPeriod"/>
            </a:pPr>
            <a:r>
              <a:rPr lang="en-US" altLang="en-US" sz="3200">
                <a:ea typeface="MS PGothic" panose="020B0600070205080204" pitchFamily="34" charset="-128"/>
              </a:rPr>
              <a:t>endocardium</a:t>
            </a:r>
          </a:p>
          <a:p>
            <a:pPr marL="914400" lvl="1" indent="-457200" eaLnBrk="1" hangingPunct="1">
              <a:buFont typeface="Arial" panose="020B0604020202020204" pitchFamily="34" charset="0"/>
              <a:buAutoNum type="alphaUcPeriod"/>
            </a:pPr>
            <a:r>
              <a:rPr lang="en-US" altLang="en-US" sz="3200">
                <a:ea typeface="MS PGothic" panose="020B0600070205080204" pitchFamily="34" charset="-128"/>
              </a:rPr>
              <a:t>endothelium</a:t>
            </a:r>
            <a:endParaRPr lang="en-US" altLang="en-US">
              <a:ea typeface="MS PGothic" panose="020B0600070205080204" pitchFamily="34" charset="-128"/>
            </a:endParaRPr>
          </a:p>
        </p:txBody>
      </p:sp>
    </p:spTree>
    <p:extLst>
      <p:ext uri="{BB962C8B-B14F-4D97-AF65-F5344CB8AC3E}">
        <p14:creationId xmlns:p14="http://schemas.microsoft.com/office/powerpoint/2010/main" val="303406297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a:xfrm>
            <a:off x="381000" y="152400"/>
            <a:ext cx="7772400" cy="1219200"/>
          </a:xfrm>
        </p:spPr>
        <p:txBody>
          <a:bodyPr/>
          <a:lstStyle/>
          <a:p>
            <a:pPr eaLnBrk="1" hangingPunct="1"/>
            <a:r>
              <a:rPr lang="en-US" altLang="en-US" dirty="0"/>
              <a:t>      QUICK QUIZ (Slide 2 of 4)</a:t>
            </a:r>
          </a:p>
        </p:txBody>
      </p:sp>
      <p:sp>
        <p:nvSpPr>
          <p:cNvPr id="60419" name="Rectangle 3"/>
          <p:cNvSpPr>
            <a:spLocks noGrp="1" noChangeArrowheads="1"/>
          </p:cNvSpPr>
          <p:nvPr>
            <p:ph idx="1"/>
          </p:nvPr>
        </p:nvSpPr>
        <p:spPr>
          <a:xfrm>
            <a:off x="685800" y="1600200"/>
            <a:ext cx="6934200" cy="4495800"/>
          </a:xfrm>
        </p:spPr>
        <p:txBody>
          <a:bodyPr/>
          <a:lstStyle/>
          <a:p>
            <a:pPr marL="533400" indent="-533400" eaLnBrk="1" hangingPunct="1">
              <a:buFont typeface="Wingdings 2" panose="05020102010507070707" pitchFamily="18" charset="2"/>
              <a:buNone/>
            </a:pPr>
            <a:r>
              <a:rPr lang="en-US" altLang="en-US" b="1"/>
              <a:t>2. The contraction phase of the heartbeat is called: </a:t>
            </a:r>
            <a:endParaRPr lang="en-US" altLang="en-US" sz="2400"/>
          </a:p>
          <a:p>
            <a:pPr marL="914400" lvl="1" indent="-457200" eaLnBrk="1" hangingPunct="1">
              <a:buFont typeface="Arial" panose="020B0604020202020204" pitchFamily="34" charset="0"/>
              <a:buAutoNum type="alphaUcPeriod"/>
            </a:pPr>
            <a:r>
              <a:rPr lang="en-US" altLang="en-US" sz="3200">
                <a:ea typeface="MS PGothic" panose="020B0600070205080204" pitchFamily="34" charset="-128"/>
              </a:rPr>
              <a:t>diastole</a:t>
            </a:r>
          </a:p>
          <a:p>
            <a:pPr marL="914400" lvl="1" indent="-457200" eaLnBrk="1" hangingPunct="1">
              <a:buFont typeface="Arial" panose="020B0604020202020204" pitchFamily="34" charset="0"/>
              <a:buAutoNum type="alphaUcPeriod"/>
            </a:pPr>
            <a:r>
              <a:rPr lang="en-US" altLang="en-US" sz="3200">
                <a:ea typeface="MS PGothic" panose="020B0600070205080204" pitchFamily="34" charset="-128"/>
              </a:rPr>
              <a:t>vena cava</a:t>
            </a:r>
          </a:p>
          <a:p>
            <a:pPr marL="914400" lvl="1" indent="-457200" eaLnBrk="1" hangingPunct="1">
              <a:buFont typeface="Arial" panose="020B0604020202020204" pitchFamily="34" charset="0"/>
              <a:buAutoNum type="alphaUcPeriod"/>
            </a:pPr>
            <a:r>
              <a:rPr lang="en-US" altLang="en-US" sz="3200">
                <a:ea typeface="MS PGothic" panose="020B0600070205080204" pitchFamily="34" charset="-128"/>
              </a:rPr>
              <a:t>systole</a:t>
            </a:r>
          </a:p>
          <a:p>
            <a:pPr marL="914400" lvl="1" indent="-457200" eaLnBrk="1" hangingPunct="1">
              <a:buFont typeface="Arial" panose="020B0604020202020204" pitchFamily="34" charset="0"/>
              <a:buAutoNum type="alphaUcPeriod"/>
            </a:pPr>
            <a:r>
              <a:rPr lang="en-US" altLang="en-US" sz="3200">
                <a:ea typeface="MS PGothic" panose="020B0600070205080204" pitchFamily="34" charset="-128"/>
              </a:rPr>
              <a:t>septum</a:t>
            </a:r>
            <a:endParaRPr lang="en-US" altLang="en-US">
              <a:ea typeface="MS PGothic" panose="020B0600070205080204" pitchFamily="34" charset="-128"/>
            </a:endParaRPr>
          </a:p>
          <a:p>
            <a:pPr marL="533400" indent="-533400" eaLnBrk="1" hangingPunct="1">
              <a:buFont typeface="Wingdings 2" panose="05020102010507070707" pitchFamily="18" charset="2"/>
              <a:buNone/>
            </a:pPr>
            <a:endParaRPr lang="en-US" altLang="en-US"/>
          </a:p>
        </p:txBody>
      </p:sp>
    </p:spTree>
    <p:extLst>
      <p:ext uri="{BB962C8B-B14F-4D97-AF65-F5344CB8AC3E}">
        <p14:creationId xmlns:p14="http://schemas.microsoft.com/office/powerpoint/2010/main" val="249559788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1026"/>
          <p:cNvSpPr>
            <a:spLocks noGrp="1" noChangeArrowheads="1"/>
          </p:cNvSpPr>
          <p:nvPr>
            <p:ph type="title"/>
          </p:nvPr>
        </p:nvSpPr>
        <p:spPr>
          <a:xfrm>
            <a:off x="1066800" y="533400"/>
            <a:ext cx="7086600" cy="1143000"/>
          </a:xfrm>
        </p:spPr>
        <p:txBody>
          <a:bodyPr rtlCol="0">
            <a:normAutofit fontScale="90000"/>
          </a:bodyPr>
          <a:lstStyle/>
          <a:p>
            <a:pPr eaLnBrk="1" fontAlgn="auto" hangingPunct="1">
              <a:spcAft>
                <a:spcPts val="0"/>
              </a:spcAft>
              <a:defRPr/>
            </a:pPr>
            <a:r>
              <a:rPr lang="en-US" dirty="0"/>
              <a:t>Chapter 11</a:t>
            </a:r>
            <a:br>
              <a:rPr lang="en-US" dirty="0"/>
            </a:br>
            <a:r>
              <a:rPr lang="en-US" dirty="0"/>
              <a:t>Cardiovascular System </a:t>
            </a:r>
            <a:br>
              <a:rPr lang="en-US" dirty="0"/>
            </a:br>
            <a:r>
              <a:rPr lang="en-US" dirty="0"/>
              <a:t>Lesson 11.2</a:t>
            </a:r>
          </a:p>
        </p:txBody>
      </p:sp>
    </p:spTree>
    <p:extLst>
      <p:ext uri="{BB962C8B-B14F-4D97-AF65-F5344CB8AC3E}">
        <p14:creationId xmlns:p14="http://schemas.microsoft.com/office/powerpoint/2010/main" val="97340271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88" name="Rectangle 44"/>
          <p:cNvSpPr>
            <a:spLocks noGrp="1" noChangeArrowheads="1"/>
          </p:cNvSpPr>
          <p:nvPr>
            <p:ph type="title"/>
          </p:nvPr>
        </p:nvSpPr>
        <p:spPr>
          <a:xfrm>
            <a:off x="0" y="228600"/>
            <a:ext cx="9144000" cy="1219200"/>
          </a:xfrm>
        </p:spPr>
        <p:txBody>
          <a:bodyPr rtlCol="0">
            <a:normAutofit/>
          </a:bodyPr>
          <a:lstStyle/>
          <a:p>
            <a:pPr eaLnBrk="1" fontAlgn="auto" hangingPunct="1">
              <a:spcAft>
                <a:spcPts val="0"/>
              </a:spcAft>
              <a:defRPr/>
            </a:pPr>
            <a:r>
              <a:rPr lang="en-US" dirty="0"/>
              <a:t>Pathology: Heart (Slide 1 of 7)</a:t>
            </a:r>
          </a:p>
        </p:txBody>
      </p:sp>
      <p:sp>
        <p:nvSpPr>
          <p:cNvPr id="62467" name="Rectangle 45"/>
          <p:cNvSpPr>
            <a:spLocks noGrp="1" noChangeArrowheads="1"/>
          </p:cNvSpPr>
          <p:nvPr>
            <p:ph idx="1"/>
          </p:nvPr>
        </p:nvSpPr>
        <p:spPr>
          <a:xfrm>
            <a:off x="685800" y="1600200"/>
            <a:ext cx="6934200" cy="3200400"/>
          </a:xfrm>
        </p:spPr>
        <p:txBody>
          <a:bodyPr/>
          <a:lstStyle/>
          <a:p>
            <a:pPr eaLnBrk="1" hangingPunct="1">
              <a:buFont typeface="Wingdings 2" panose="05020102010507070707" pitchFamily="18" charset="2"/>
              <a:buNone/>
            </a:pPr>
            <a:r>
              <a:rPr lang="en-US" altLang="en-US" b="1"/>
              <a:t>Heart</a:t>
            </a:r>
          </a:p>
          <a:p>
            <a:pPr lvl="1" eaLnBrk="1" hangingPunct="1">
              <a:buFont typeface="Wingdings" panose="05000000000000000000" pitchFamily="2" charset="2"/>
              <a:buChar char="Ø"/>
            </a:pPr>
            <a:r>
              <a:rPr lang="en-US" altLang="en-US" b="1">
                <a:ea typeface="MS PGothic" panose="020B0600070205080204" pitchFamily="34" charset="-128"/>
              </a:rPr>
              <a:t>Arrhythmias</a:t>
            </a:r>
          </a:p>
          <a:p>
            <a:pPr lvl="2" eaLnBrk="1" hangingPunct="1"/>
            <a:r>
              <a:rPr lang="en-US" altLang="en-US" sz="2800">
                <a:ea typeface="MS PGothic" panose="020B0600070205080204" pitchFamily="34" charset="-128"/>
              </a:rPr>
              <a:t>Heart block (atrioventricular block)</a:t>
            </a:r>
          </a:p>
          <a:p>
            <a:pPr lvl="2" eaLnBrk="1" hangingPunct="1"/>
            <a:r>
              <a:rPr lang="en-US" altLang="en-US" sz="2800">
                <a:ea typeface="MS PGothic" panose="020B0600070205080204" pitchFamily="34" charset="-128"/>
              </a:rPr>
              <a:t>Flutter</a:t>
            </a:r>
          </a:p>
          <a:p>
            <a:pPr lvl="2" eaLnBrk="1" hangingPunct="1"/>
            <a:r>
              <a:rPr lang="en-US" altLang="en-US" sz="2800">
                <a:ea typeface="MS PGothic" panose="020B0600070205080204" pitchFamily="34" charset="-128"/>
              </a:rPr>
              <a:t>Fibrillation</a:t>
            </a:r>
          </a:p>
          <a:p>
            <a:pPr eaLnBrk="1" hangingPunct="1"/>
            <a:endParaRPr lang="en-US" altLang="en-US" b="1"/>
          </a:p>
        </p:txBody>
      </p:sp>
    </p:spTree>
    <p:extLst>
      <p:ext uri="{BB962C8B-B14F-4D97-AF65-F5344CB8AC3E}">
        <p14:creationId xmlns:p14="http://schemas.microsoft.com/office/powerpoint/2010/main" val="92934399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1" name="Rectangle 5"/>
          <p:cNvSpPr>
            <a:spLocks noGrp="1" noChangeArrowheads="1"/>
          </p:cNvSpPr>
          <p:nvPr>
            <p:ph type="title"/>
          </p:nvPr>
        </p:nvSpPr>
        <p:spPr>
          <a:xfrm>
            <a:off x="0" y="228600"/>
            <a:ext cx="9144000" cy="1219200"/>
          </a:xfrm>
        </p:spPr>
        <p:txBody>
          <a:bodyPr rtlCol="0">
            <a:normAutofit/>
          </a:bodyPr>
          <a:lstStyle/>
          <a:p>
            <a:pPr eaLnBrk="1" fontAlgn="auto" hangingPunct="1">
              <a:spcAft>
                <a:spcPts val="0"/>
              </a:spcAft>
              <a:defRPr/>
            </a:pPr>
            <a:r>
              <a:rPr lang="en-US" dirty="0"/>
              <a:t>Pathology:  Heart  (Slide 2 of 7)</a:t>
            </a:r>
          </a:p>
        </p:txBody>
      </p:sp>
      <p:sp>
        <p:nvSpPr>
          <p:cNvPr id="63491" name="Rectangle 6"/>
          <p:cNvSpPr>
            <a:spLocks noGrp="1" noChangeArrowheads="1"/>
          </p:cNvSpPr>
          <p:nvPr>
            <p:ph idx="1"/>
          </p:nvPr>
        </p:nvSpPr>
        <p:spPr>
          <a:xfrm>
            <a:off x="685800" y="1600200"/>
            <a:ext cx="6838950" cy="3546475"/>
          </a:xfrm>
        </p:spPr>
        <p:txBody>
          <a:bodyPr/>
          <a:lstStyle/>
          <a:p>
            <a:pPr eaLnBrk="1" hangingPunct="1">
              <a:buFont typeface="Wingdings 2" panose="05020102010507070707" pitchFamily="18" charset="2"/>
              <a:buNone/>
            </a:pPr>
            <a:r>
              <a:rPr lang="en-US" altLang="en-US" b="1"/>
              <a:t>Heart</a:t>
            </a:r>
          </a:p>
          <a:p>
            <a:pPr lvl="1" eaLnBrk="1" hangingPunct="1">
              <a:buFont typeface="Wingdings" panose="05000000000000000000" pitchFamily="2" charset="2"/>
              <a:buChar char="Ø"/>
            </a:pPr>
            <a:r>
              <a:rPr lang="en-US" altLang="en-US" b="1"/>
              <a:t>Congenital heart disease</a:t>
            </a:r>
          </a:p>
          <a:p>
            <a:pPr lvl="2" eaLnBrk="1" hangingPunct="1"/>
            <a:r>
              <a:rPr lang="en-US" altLang="en-US" sz="2800"/>
              <a:t>Coarctation of the aorta (CoA)</a:t>
            </a:r>
          </a:p>
          <a:p>
            <a:pPr lvl="2" eaLnBrk="1" hangingPunct="1"/>
            <a:r>
              <a:rPr lang="en-US" altLang="en-US" sz="2800"/>
              <a:t>Patent ductus arteriosus (PDA)</a:t>
            </a:r>
          </a:p>
          <a:p>
            <a:pPr lvl="2" eaLnBrk="1" hangingPunct="1"/>
            <a:r>
              <a:rPr lang="en-US" altLang="en-US" sz="2800"/>
              <a:t>Septal defects (ASD and VSD)</a:t>
            </a:r>
          </a:p>
          <a:p>
            <a:pPr lvl="2" eaLnBrk="1" hangingPunct="1"/>
            <a:r>
              <a:rPr lang="en-US" altLang="en-US" sz="2800"/>
              <a:t>Tetralogy of Fallot</a:t>
            </a:r>
          </a:p>
        </p:txBody>
      </p:sp>
    </p:spTree>
    <p:extLst>
      <p:ext uri="{BB962C8B-B14F-4D97-AF65-F5344CB8AC3E}">
        <p14:creationId xmlns:p14="http://schemas.microsoft.com/office/powerpoint/2010/main" val="19494324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4" name="Rectangle 4"/>
          <p:cNvSpPr>
            <a:spLocks noGrp="1" noChangeArrowheads="1"/>
          </p:cNvSpPr>
          <p:nvPr>
            <p:ph type="title"/>
          </p:nvPr>
        </p:nvSpPr>
        <p:spPr>
          <a:xfrm>
            <a:off x="0" y="228600"/>
            <a:ext cx="9144000" cy="1219200"/>
          </a:xfrm>
        </p:spPr>
        <p:txBody>
          <a:bodyPr rtlCol="0">
            <a:normAutofit/>
          </a:bodyPr>
          <a:lstStyle/>
          <a:p>
            <a:pPr eaLnBrk="1" fontAlgn="auto" hangingPunct="1">
              <a:spcAft>
                <a:spcPts val="0"/>
              </a:spcAft>
              <a:defRPr/>
            </a:pPr>
            <a:r>
              <a:rPr lang="en-US" dirty="0" err="1"/>
              <a:t>Pathology:Heart</a:t>
            </a:r>
            <a:r>
              <a:rPr lang="en-US" dirty="0"/>
              <a:t> ( Slide 3 of 7)</a:t>
            </a:r>
          </a:p>
        </p:txBody>
      </p:sp>
      <p:sp>
        <p:nvSpPr>
          <p:cNvPr id="64515" name="Rectangle 5"/>
          <p:cNvSpPr>
            <a:spLocks noGrp="1" noChangeArrowheads="1"/>
          </p:cNvSpPr>
          <p:nvPr>
            <p:ph idx="1"/>
          </p:nvPr>
        </p:nvSpPr>
        <p:spPr/>
        <p:txBody>
          <a:bodyPr/>
          <a:lstStyle/>
          <a:p>
            <a:pPr eaLnBrk="1" hangingPunct="1">
              <a:buFont typeface="Wingdings 2" panose="05020102010507070707" pitchFamily="18" charset="2"/>
              <a:buNone/>
            </a:pPr>
            <a:r>
              <a:rPr lang="en-US" altLang="en-US" b="1"/>
              <a:t>Heart</a:t>
            </a:r>
          </a:p>
          <a:p>
            <a:pPr lvl="1" eaLnBrk="1" hangingPunct="1">
              <a:buFont typeface="Wingdings" panose="05000000000000000000" pitchFamily="2" charset="2"/>
              <a:buChar char="Ø"/>
            </a:pPr>
            <a:r>
              <a:rPr lang="en-US" altLang="en-US" b="1"/>
              <a:t>Congestive</a:t>
            </a:r>
            <a:r>
              <a:rPr lang="en-US" altLang="en-US" b="1">
                <a:ea typeface="MS PGothic" panose="020B0600070205080204" pitchFamily="34" charset="-128"/>
              </a:rPr>
              <a:t> heart disease</a:t>
            </a:r>
            <a:r>
              <a:rPr lang="en-US" altLang="en-US" b="1">
                <a:solidFill>
                  <a:srgbClr val="000066"/>
                </a:solidFill>
                <a:ea typeface="MS PGothic" panose="020B0600070205080204" pitchFamily="34" charset="-128"/>
              </a:rPr>
              <a:t> </a:t>
            </a:r>
            <a:r>
              <a:rPr lang="en-US" altLang="en-US" b="1">
                <a:ea typeface="MS PGothic" panose="020B0600070205080204" pitchFamily="34" charset="-128"/>
              </a:rPr>
              <a:t>(CHF):</a:t>
            </a:r>
            <a:r>
              <a:rPr lang="en-US" altLang="en-US">
                <a:ea typeface="MS PGothic" panose="020B0600070205080204" pitchFamily="34" charset="-128"/>
              </a:rPr>
              <a:t> The heart is unable to pump the required amount of blood.</a:t>
            </a:r>
          </a:p>
          <a:p>
            <a:pPr lvl="2" eaLnBrk="1" hangingPunct="1"/>
            <a:r>
              <a:rPr lang="en-US" altLang="en-US" sz="2800">
                <a:ea typeface="MS PGothic" panose="020B0600070205080204" pitchFamily="34" charset="-128"/>
              </a:rPr>
              <a:t>In the U.S., primarily the result of high blood pressure and coronary artery disease (see next slide) </a:t>
            </a:r>
          </a:p>
          <a:p>
            <a:pPr lvl="2" eaLnBrk="1" hangingPunct="1"/>
            <a:r>
              <a:rPr lang="en-US" altLang="en-US" sz="2800">
                <a:ea typeface="MS PGothic" panose="020B0600070205080204" pitchFamily="34" charset="-128"/>
              </a:rPr>
              <a:t>Results in pulmonary edema</a:t>
            </a:r>
          </a:p>
          <a:p>
            <a:pPr lvl="2" eaLnBrk="1" hangingPunct="1"/>
            <a:r>
              <a:rPr lang="en-US" altLang="en-US" sz="2800">
                <a:ea typeface="MS PGothic" panose="020B0600070205080204" pitchFamily="34" charset="-128"/>
              </a:rPr>
              <a:t>Fatal if untreated</a:t>
            </a:r>
          </a:p>
          <a:p>
            <a:pPr eaLnBrk="1" hangingPunct="1">
              <a:buFont typeface="Wingdings 2" panose="05020102010507070707" pitchFamily="18" charset="2"/>
              <a:buNone/>
            </a:pPr>
            <a:endParaRPr lang="en-US" altLang="en-US"/>
          </a:p>
        </p:txBody>
      </p:sp>
    </p:spTree>
    <p:extLst>
      <p:ext uri="{BB962C8B-B14F-4D97-AF65-F5344CB8AC3E}">
        <p14:creationId xmlns:p14="http://schemas.microsoft.com/office/powerpoint/2010/main" val="54921327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2" name="Rectangle 4"/>
          <p:cNvSpPr>
            <a:spLocks noGrp="1" noChangeArrowheads="1"/>
          </p:cNvSpPr>
          <p:nvPr>
            <p:ph type="title"/>
          </p:nvPr>
        </p:nvSpPr>
        <p:spPr>
          <a:xfrm>
            <a:off x="0" y="228600"/>
            <a:ext cx="9144000" cy="1219200"/>
          </a:xfrm>
        </p:spPr>
        <p:txBody>
          <a:bodyPr rtlCol="0">
            <a:normAutofit/>
          </a:bodyPr>
          <a:lstStyle/>
          <a:p>
            <a:pPr eaLnBrk="1" fontAlgn="auto" hangingPunct="1">
              <a:spcAft>
                <a:spcPts val="0"/>
              </a:spcAft>
              <a:defRPr/>
            </a:pPr>
            <a:r>
              <a:rPr lang="en-US" dirty="0"/>
              <a:t>Pathology: Heart (Slide 4 of 7)</a:t>
            </a:r>
          </a:p>
        </p:txBody>
      </p:sp>
      <p:sp>
        <p:nvSpPr>
          <p:cNvPr id="37893" name="Rectangle 5"/>
          <p:cNvSpPr>
            <a:spLocks noGrp="1" noChangeArrowheads="1"/>
          </p:cNvSpPr>
          <p:nvPr>
            <p:ph idx="1"/>
          </p:nvPr>
        </p:nvSpPr>
        <p:spPr/>
        <p:txBody>
          <a:bodyPr rtlCol="0">
            <a:normAutofit lnSpcReduction="10000"/>
          </a:bodyPr>
          <a:lstStyle/>
          <a:p>
            <a:pPr eaLnBrk="1" fontAlgn="auto" hangingPunct="1">
              <a:spcAft>
                <a:spcPts val="0"/>
              </a:spcAft>
              <a:buFont typeface="Wingdings 2" pitchFamily="18" charset="2"/>
              <a:buNone/>
              <a:defRPr/>
            </a:pPr>
            <a:r>
              <a:rPr lang="en-US" b="1" dirty="0"/>
              <a:t>Heart</a:t>
            </a:r>
          </a:p>
          <a:p>
            <a:pPr lvl="1" eaLnBrk="1" fontAlgn="auto" hangingPunct="1">
              <a:spcAft>
                <a:spcPts val="0"/>
              </a:spcAft>
              <a:buFont typeface="Wingdings" pitchFamily="2" charset="2"/>
              <a:buChar char="Ø"/>
              <a:defRPr/>
            </a:pPr>
            <a:r>
              <a:rPr lang="en-US" b="1" dirty="0"/>
              <a:t>Coronary artery disease (CAD)</a:t>
            </a:r>
            <a:r>
              <a:rPr lang="en-US" dirty="0"/>
              <a:t> </a:t>
            </a:r>
          </a:p>
          <a:p>
            <a:pPr lvl="2" eaLnBrk="1" fontAlgn="auto" hangingPunct="1">
              <a:spcAft>
                <a:spcPts val="0"/>
              </a:spcAft>
              <a:defRPr/>
            </a:pPr>
            <a:r>
              <a:rPr lang="en-US" dirty="0"/>
              <a:t>Atherosclerosis</a:t>
            </a:r>
          </a:p>
          <a:p>
            <a:pPr marL="914400" lvl="2" indent="0" eaLnBrk="1" fontAlgn="auto" hangingPunct="1">
              <a:spcAft>
                <a:spcPts val="0"/>
              </a:spcAft>
              <a:buFont typeface="Arial" panose="020B0604020202020204" pitchFamily="34" charset="0"/>
              <a:buNone/>
              <a:defRPr/>
            </a:pPr>
            <a:r>
              <a:rPr lang="en-US" dirty="0"/>
              <a:t>	Thrombotic occlusion (occlusive/mural)</a:t>
            </a:r>
          </a:p>
          <a:p>
            <a:pPr marL="914400" lvl="2" indent="0" eaLnBrk="1" fontAlgn="auto" hangingPunct="1">
              <a:spcAft>
                <a:spcPts val="0"/>
              </a:spcAft>
              <a:buFont typeface="Arial" panose="020B0604020202020204" pitchFamily="34" charset="0"/>
              <a:buNone/>
              <a:defRPr/>
            </a:pPr>
            <a:r>
              <a:rPr lang="en-US" dirty="0"/>
              <a:t>	Ischemia</a:t>
            </a:r>
          </a:p>
          <a:p>
            <a:pPr marL="914400" lvl="2" indent="0" eaLnBrk="1" fontAlgn="auto" hangingPunct="1">
              <a:spcAft>
                <a:spcPts val="0"/>
              </a:spcAft>
              <a:buFont typeface="Arial" panose="020B0604020202020204" pitchFamily="34" charset="0"/>
              <a:buNone/>
              <a:defRPr/>
            </a:pPr>
            <a:r>
              <a:rPr lang="en-US" dirty="0"/>
              <a:t>	Necrosis</a:t>
            </a:r>
          </a:p>
          <a:p>
            <a:pPr marL="914400" lvl="2" indent="0" eaLnBrk="1" fontAlgn="auto" hangingPunct="1">
              <a:spcAft>
                <a:spcPts val="0"/>
              </a:spcAft>
              <a:buFont typeface="Arial" panose="020B0604020202020204" pitchFamily="34" charset="0"/>
              <a:buNone/>
              <a:defRPr/>
            </a:pPr>
            <a:r>
              <a:rPr lang="en-US" dirty="0"/>
              <a:t>	Infarction</a:t>
            </a:r>
          </a:p>
          <a:p>
            <a:pPr lvl="2" eaLnBrk="1" fontAlgn="auto" hangingPunct="1">
              <a:spcAft>
                <a:spcPts val="0"/>
              </a:spcAft>
              <a:defRPr/>
            </a:pPr>
            <a:r>
              <a:rPr lang="en-US" dirty="0"/>
              <a:t>Acute Coronary Syndromes (ACS)</a:t>
            </a:r>
          </a:p>
          <a:p>
            <a:pPr marL="914400" lvl="2" indent="0" eaLnBrk="1" fontAlgn="auto" hangingPunct="1">
              <a:spcAft>
                <a:spcPts val="0"/>
              </a:spcAft>
              <a:buFont typeface="Arial" panose="020B0604020202020204" pitchFamily="34" charset="0"/>
              <a:buNone/>
              <a:defRPr/>
            </a:pPr>
            <a:r>
              <a:rPr lang="en-US" dirty="0"/>
              <a:t>	Unstable angina</a:t>
            </a:r>
          </a:p>
          <a:p>
            <a:pPr marL="914400" lvl="2" indent="0" eaLnBrk="1" fontAlgn="auto" hangingPunct="1">
              <a:spcAft>
                <a:spcPts val="0"/>
              </a:spcAft>
              <a:buFont typeface="Arial" panose="020B0604020202020204" pitchFamily="34" charset="0"/>
              <a:buNone/>
              <a:defRPr/>
            </a:pPr>
            <a:r>
              <a:rPr lang="en-US" dirty="0"/>
              <a:t>	Myocardial infarction (MI)</a:t>
            </a:r>
          </a:p>
        </p:txBody>
      </p:sp>
    </p:spTree>
    <p:extLst>
      <p:ext uri="{BB962C8B-B14F-4D97-AF65-F5344CB8AC3E}">
        <p14:creationId xmlns:p14="http://schemas.microsoft.com/office/powerpoint/2010/main" val="132983803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6" name="Rectangle 4"/>
          <p:cNvSpPr>
            <a:spLocks noGrp="1" noChangeArrowheads="1"/>
          </p:cNvSpPr>
          <p:nvPr>
            <p:ph type="title"/>
          </p:nvPr>
        </p:nvSpPr>
        <p:spPr>
          <a:xfrm>
            <a:off x="0" y="228600"/>
            <a:ext cx="9144000" cy="1219200"/>
          </a:xfrm>
        </p:spPr>
        <p:txBody>
          <a:bodyPr rtlCol="0">
            <a:normAutofit/>
          </a:bodyPr>
          <a:lstStyle/>
          <a:p>
            <a:pPr eaLnBrk="1" fontAlgn="auto" hangingPunct="1">
              <a:spcAft>
                <a:spcPts val="0"/>
              </a:spcAft>
              <a:defRPr/>
            </a:pPr>
            <a:r>
              <a:rPr lang="en-US" dirty="0"/>
              <a:t>Pathology: Heart (Slide 5 of 7)</a:t>
            </a:r>
          </a:p>
        </p:txBody>
      </p:sp>
      <p:sp>
        <p:nvSpPr>
          <p:cNvPr id="66563" name="Rectangle 5"/>
          <p:cNvSpPr>
            <a:spLocks noGrp="1" noChangeArrowheads="1"/>
          </p:cNvSpPr>
          <p:nvPr>
            <p:ph idx="1"/>
          </p:nvPr>
        </p:nvSpPr>
        <p:spPr/>
        <p:txBody>
          <a:bodyPr/>
          <a:lstStyle/>
          <a:p>
            <a:pPr marL="533400" indent="-533400" eaLnBrk="1" hangingPunct="1">
              <a:buFont typeface="Times" panose="02020603050405020304" pitchFamily="18" charset="0"/>
              <a:buNone/>
            </a:pPr>
            <a:r>
              <a:rPr lang="en-US" altLang="en-US" b="1"/>
              <a:t>Heart</a:t>
            </a:r>
          </a:p>
          <a:p>
            <a:pPr lvl="1" eaLnBrk="1" hangingPunct="1">
              <a:buFont typeface="Wingdings" panose="05000000000000000000" pitchFamily="2" charset="2"/>
              <a:buChar char="Ø"/>
            </a:pPr>
            <a:r>
              <a:rPr lang="en-US" altLang="en-US" b="1"/>
              <a:t>Coronary artery disease (CAD)</a:t>
            </a:r>
            <a:r>
              <a:rPr lang="en-US" altLang="en-US"/>
              <a:t> </a:t>
            </a:r>
          </a:p>
          <a:p>
            <a:pPr lvl="2" eaLnBrk="1" hangingPunct="1"/>
            <a:r>
              <a:rPr lang="en-US" altLang="en-US"/>
              <a:t>Drug therapies for CAD </a:t>
            </a:r>
          </a:p>
          <a:p>
            <a:pPr marL="1828800" lvl="4" indent="0" eaLnBrk="1" hangingPunct="1">
              <a:buFont typeface="Arial" panose="020B0604020202020204" pitchFamily="34" charset="0"/>
              <a:buNone/>
            </a:pPr>
            <a:r>
              <a:rPr lang="en-US" altLang="en-US" sz="2400"/>
              <a:t>Nitrates (nitroglycerin)</a:t>
            </a:r>
          </a:p>
          <a:p>
            <a:pPr marL="1828800" lvl="4" indent="0" eaLnBrk="1" hangingPunct="1">
              <a:buFont typeface="Arial" panose="020B0604020202020204" pitchFamily="34" charset="0"/>
              <a:buNone/>
            </a:pPr>
            <a:r>
              <a:rPr lang="en-US" altLang="en-US" sz="2400"/>
              <a:t>Aspirin</a:t>
            </a:r>
          </a:p>
          <a:p>
            <a:pPr marL="1828800" lvl="4" indent="0" eaLnBrk="1" hangingPunct="1">
              <a:buFont typeface="Arial" panose="020B0604020202020204" pitchFamily="34" charset="0"/>
              <a:buNone/>
            </a:pPr>
            <a:r>
              <a:rPr lang="en-US" altLang="en-US" sz="2400"/>
              <a:t>Beta-blockers</a:t>
            </a:r>
          </a:p>
          <a:p>
            <a:pPr marL="1828800" lvl="4" indent="0" eaLnBrk="1" hangingPunct="1">
              <a:buFont typeface="Arial" panose="020B0604020202020204" pitchFamily="34" charset="0"/>
              <a:buNone/>
            </a:pPr>
            <a:r>
              <a:rPr lang="en-US" altLang="en-US" sz="2400"/>
              <a:t>ACE inhibitors</a:t>
            </a:r>
          </a:p>
          <a:p>
            <a:pPr marL="1828800" lvl="4" indent="0" eaLnBrk="1" hangingPunct="1">
              <a:buFont typeface="Arial" panose="020B0604020202020204" pitchFamily="34" charset="0"/>
              <a:buNone/>
            </a:pPr>
            <a:r>
              <a:rPr lang="en-US" altLang="en-US" sz="2400"/>
              <a:t>Calcium channel blockers</a:t>
            </a:r>
          </a:p>
          <a:p>
            <a:pPr marL="1828800" lvl="4" indent="0" eaLnBrk="1" hangingPunct="1">
              <a:buFont typeface="Arial" panose="020B0604020202020204" pitchFamily="34" charset="0"/>
              <a:buNone/>
            </a:pPr>
            <a:r>
              <a:rPr lang="en-US" altLang="en-US" sz="2400"/>
              <a:t>Statins</a:t>
            </a:r>
          </a:p>
        </p:txBody>
      </p:sp>
    </p:spTree>
    <p:extLst>
      <p:ext uri="{BB962C8B-B14F-4D97-AF65-F5344CB8AC3E}">
        <p14:creationId xmlns:p14="http://schemas.microsoft.com/office/powerpoint/2010/main" val="416947595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0" name="Rectangle 4"/>
          <p:cNvSpPr>
            <a:spLocks noGrp="1" noChangeArrowheads="1"/>
          </p:cNvSpPr>
          <p:nvPr>
            <p:ph type="title"/>
          </p:nvPr>
        </p:nvSpPr>
        <p:spPr>
          <a:xfrm>
            <a:off x="0" y="228600"/>
            <a:ext cx="9144000" cy="1219200"/>
          </a:xfrm>
        </p:spPr>
        <p:txBody>
          <a:bodyPr rtlCol="0">
            <a:normAutofit/>
          </a:bodyPr>
          <a:lstStyle/>
          <a:p>
            <a:pPr eaLnBrk="1" fontAlgn="auto" hangingPunct="1">
              <a:spcAft>
                <a:spcPts val="0"/>
              </a:spcAft>
              <a:defRPr/>
            </a:pPr>
            <a:r>
              <a:rPr lang="en-US" dirty="0"/>
              <a:t>Pathology: Heart (Slide 6 of 7)</a:t>
            </a:r>
          </a:p>
        </p:txBody>
      </p:sp>
      <p:sp>
        <p:nvSpPr>
          <p:cNvPr id="67587" name="Rectangle 5"/>
          <p:cNvSpPr>
            <a:spLocks noGrp="1" noChangeArrowheads="1"/>
          </p:cNvSpPr>
          <p:nvPr>
            <p:ph idx="1"/>
          </p:nvPr>
        </p:nvSpPr>
        <p:spPr/>
        <p:txBody>
          <a:bodyPr/>
          <a:lstStyle/>
          <a:p>
            <a:pPr marL="533400" indent="-533400" eaLnBrk="1" hangingPunct="1">
              <a:buFont typeface="Times" panose="02020603050405020304" pitchFamily="18" charset="0"/>
              <a:buNone/>
            </a:pPr>
            <a:r>
              <a:rPr lang="en-US" altLang="en-US" b="1"/>
              <a:t>Heart</a:t>
            </a:r>
          </a:p>
          <a:p>
            <a:pPr lvl="1" eaLnBrk="1" hangingPunct="1">
              <a:buFont typeface="Wingdings" panose="05000000000000000000" pitchFamily="2" charset="2"/>
              <a:buChar char="Ø"/>
            </a:pPr>
            <a:r>
              <a:rPr lang="en-US" altLang="en-US" b="1"/>
              <a:t>Coronary artery disease (CAD)</a:t>
            </a:r>
            <a:r>
              <a:rPr lang="en-US" altLang="en-US"/>
              <a:t> </a:t>
            </a:r>
          </a:p>
          <a:p>
            <a:pPr lvl="2" eaLnBrk="1" hangingPunct="1"/>
            <a:r>
              <a:rPr lang="en-US" altLang="en-US"/>
              <a:t>Surgical therapies for CAD </a:t>
            </a:r>
            <a:endParaRPr lang="en-US" altLang="en-US" b="1"/>
          </a:p>
          <a:p>
            <a:pPr marL="1371600" lvl="3" indent="0" eaLnBrk="1" hangingPunct="1">
              <a:buFont typeface="Arial" panose="020B0604020202020204" pitchFamily="34" charset="0"/>
              <a:buNone/>
            </a:pPr>
            <a:r>
              <a:rPr lang="en-US" altLang="en-US" sz="2400"/>
              <a:t>Coronary artery bypass grafting (CABG)</a:t>
            </a:r>
          </a:p>
          <a:p>
            <a:pPr marL="1371600" lvl="3" indent="0" eaLnBrk="1" hangingPunct="1">
              <a:buFont typeface="Arial" panose="020B0604020202020204" pitchFamily="34" charset="0"/>
              <a:buNone/>
            </a:pPr>
            <a:r>
              <a:rPr lang="en-US" altLang="en-US" sz="2400"/>
              <a:t>Percutaneous coronary intervention (PCI)</a:t>
            </a:r>
          </a:p>
        </p:txBody>
      </p:sp>
    </p:spTree>
    <p:extLst>
      <p:ext uri="{BB962C8B-B14F-4D97-AF65-F5344CB8AC3E}">
        <p14:creationId xmlns:p14="http://schemas.microsoft.com/office/powerpoint/2010/main" val="253526152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4" name="Rectangle 4"/>
          <p:cNvSpPr>
            <a:spLocks noGrp="1" noChangeArrowheads="1"/>
          </p:cNvSpPr>
          <p:nvPr>
            <p:ph type="title"/>
          </p:nvPr>
        </p:nvSpPr>
        <p:spPr>
          <a:xfrm>
            <a:off x="0" y="228600"/>
            <a:ext cx="9144000" cy="1219200"/>
          </a:xfrm>
        </p:spPr>
        <p:txBody>
          <a:bodyPr rtlCol="0">
            <a:normAutofit/>
          </a:bodyPr>
          <a:lstStyle/>
          <a:p>
            <a:pPr eaLnBrk="1" fontAlgn="auto" hangingPunct="1">
              <a:spcAft>
                <a:spcPts val="0"/>
              </a:spcAft>
              <a:defRPr/>
            </a:pPr>
            <a:r>
              <a:rPr lang="en-US" dirty="0"/>
              <a:t>Pathology: Heart (Slide 7 of 7)</a:t>
            </a:r>
          </a:p>
        </p:txBody>
      </p:sp>
      <p:sp>
        <p:nvSpPr>
          <p:cNvPr id="68611" name="Rectangle 5"/>
          <p:cNvSpPr>
            <a:spLocks noGrp="1" noChangeArrowheads="1"/>
          </p:cNvSpPr>
          <p:nvPr>
            <p:ph idx="1"/>
          </p:nvPr>
        </p:nvSpPr>
        <p:spPr/>
        <p:txBody>
          <a:bodyPr/>
          <a:lstStyle/>
          <a:p>
            <a:pPr marL="533400" indent="-533400" eaLnBrk="1" hangingPunct="1">
              <a:buFont typeface="Times" panose="02020603050405020304" pitchFamily="18" charset="0"/>
              <a:buNone/>
            </a:pPr>
            <a:r>
              <a:rPr lang="en-US" altLang="en-US" b="1"/>
              <a:t>Heart</a:t>
            </a:r>
          </a:p>
          <a:p>
            <a:pPr lvl="1" eaLnBrk="1" hangingPunct="1">
              <a:buFont typeface="Wingdings" panose="05000000000000000000" pitchFamily="2" charset="2"/>
              <a:buChar char="Ø"/>
            </a:pPr>
            <a:r>
              <a:rPr lang="en-US" altLang="en-US" b="1"/>
              <a:t>Other pathologic conditions</a:t>
            </a:r>
          </a:p>
          <a:p>
            <a:pPr lvl="2" eaLnBrk="1" hangingPunct="1"/>
            <a:r>
              <a:rPr lang="en-US" altLang="en-US"/>
              <a:t>Endocarditis (vegetations)</a:t>
            </a:r>
          </a:p>
          <a:p>
            <a:pPr lvl="2" eaLnBrk="1" hangingPunct="1"/>
            <a:r>
              <a:rPr lang="en-US" altLang="en-US"/>
              <a:t>Hypertensive heart disease</a:t>
            </a:r>
          </a:p>
          <a:p>
            <a:pPr lvl="2" eaLnBrk="1" hangingPunct="1"/>
            <a:r>
              <a:rPr lang="en-US" altLang="en-US"/>
              <a:t>Mitral valve prolapse (MVP)</a:t>
            </a:r>
          </a:p>
          <a:p>
            <a:pPr lvl="2" eaLnBrk="1" hangingPunct="1"/>
            <a:r>
              <a:rPr lang="en-US" altLang="en-US"/>
              <a:t>Murmur</a:t>
            </a:r>
          </a:p>
          <a:p>
            <a:pPr lvl="2" eaLnBrk="1" hangingPunct="1"/>
            <a:r>
              <a:rPr lang="en-US" altLang="en-US"/>
              <a:t>Pericarditis</a:t>
            </a:r>
          </a:p>
          <a:p>
            <a:pPr lvl="2" eaLnBrk="1" hangingPunct="1"/>
            <a:r>
              <a:rPr lang="en-US" altLang="en-US"/>
              <a:t>Rheumatic heart disease</a:t>
            </a:r>
          </a:p>
        </p:txBody>
      </p:sp>
    </p:spTree>
    <p:extLst>
      <p:ext uri="{BB962C8B-B14F-4D97-AF65-F5344CB8AC3E}">
        <p14:creationId xmlns:p14="http://schemas.microsoft.com/office/powerpoint/2010/main" val="326017498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8" name="Rectangle 4"/>
          <p:cNvSpPr>
            <a:spLocks noGrp="1" noChangeArrowheads="1"/>
          </p:cNvSpPr>
          <p:nvPr>
            <p:ph type="title"/>
          </p:nvPr>
        </p:nvSpPr>
        <p:spPr>
          <a:xfrm>
            <a:off x="0" y="228600"/>
            <a:ext cx="9144000" cy="1219200"/>
          </a:xfrm>
        </p:spPr>
        <p:txBody>
          <a:bodyPr rtlCol="0">
            <a:normAutofit fontScale="90000"/>
          </a:bodyPr>
          <a:lstStyle/>
          <a:p>
            <a:pPr eaLnBrk="1" fontAlgn="auto" hangingPunct="1">
              <a:spcAft>
                <a:spcPts val="0"/>
              </a:spcAft>
              <a:defRPr/>
            </a:pPr>
            <a:r>
              <a:rPr lang="en-US" dirty="0"/>
              <a:t>Pathology:</a:t>
            </a:r>
            <a:br>
              <a:rPr lang="en-US" dirty="0"/>
            </a:br>
            <a:r>
              <a:rPr lang="en-US" dirty="0"/>
              <a:t>Blood Vessels</a:t>
            </a:r>
          </a:p>
        </p:txBody>
      </p:sp>
      <p:sp>
        <p:nvSpPr>
          <p:cNvPr id="69635" name="Rectangle 5"/>
          <p:cNvSpPr>
            <a:spLocks noGrp="1" noChangeArrowheads="1"/>
          </p:cNvSpPr>
          <p:nvPr>
            <p:ph idx="1"/>
          </p:nvPr>
        </p:nvSpPr>
        <p:spPr>
          <a:xfrm>
            <a:off x="381000" y="1676400"/>
            <a:ext cx="6834188" cy="3629025"/>
          </a:xfrm>
        </p:spPr>
        <p:txBody>
          <a:bodyPr/>
          <a:lstStyle/>
          <a:p>
            <a:pPr marL="533400" indent="-533400" eaLnBrk="1" hangingPunct="1">
              <a:lnSpc>
                <a:spcPct val="90000"/>
              </a:lnSpc>
              <a:buFont typeface="Arial" panose="020B0604020202020204" pitchFamily="34" charset="0"/>
              <a:buNone/>
            </a:pPr>
            <a:r>
              <a:rPr lang="en-US" altLang="en-US" b="1"/>
              <a:t>Blood vessels</a:t>
            </a:r>
          </a:p>
          <a:p>
            <a:pPr lvl="1" eaLnBrk="1" hangingPunct="1">
              <a:lnSpc>
                <a:spcPct val="90000"/>
              </a:lnSpc>
              <a:buFont typeface="Wingdings" panose="05000000000000000000" pitchFamily="2" charset="2"/>
              <a:buChar char="Ø"/>
            </a:pPr>
            <a:r>
              <a:rPr lang="en-US" altLang="en-US"/>
              <a:t>Aneurysm</a:t>
            </a:r>
          </a:p>
          <a:p>
            <a:pPr lvl="1" eaLnBrk="1" hangingPunct="1">
              <a:lnSpc>
                <a:spcPct val="90000"/>
              </a:lnSpc>
              <a:buFont typeface="Wingdings" panose="05000000000000000000" pitchFamily="2" charset="2"/>
              <a:buChar char="Ø"/>
            </a:pPr>
            <a:r>
              <a:rPr lang="en-US" altLang="en-US"/>
              <a:t>Deep vein thrombosis (DVT)</a:t>
            </a:r>
          </a:p>
          <a:p>
            <a:pPr lvl="1" eaLnBrk="1" hangingPunct="1">
              <a:lnSpc>
                <a:spcPct val="90000"/>
              </a:lnSpc>
              <a:buFont typeface="Wingdings" panose="05000000000000000000" pitchFamily="2" charset="2"/>
              <a:buChar char="Ø"/>
            </a:pPr>
            <a:r>
              <a:rPr lang="en-US" altLang="en-US"/>
              <a:t>Hypertension (HTN)</a:t>
            </a:r>
          </a:p>
          <a:p>
            <a:pPr lvl="1" eaLnBrk="1" hangingPunct="1">
              <a:lnSpc>
                <a:spcPct val="90000"/>
              </a:lnSpc>
              <a:buFont typeface="Wingdings" panose="05000000000000000000" pitchFamily="2" charset="2"/>
              <a:buChar char="Ø"/>
            </a:pPr>
            <a:r>
              <a:rPr lang="en-US" altLang="en-US"/>
              <a:t>Peripheral vascular disease (PVD)</a:t>
            </a:r>
          </a:p>
          <a:p>
            <a:pPr lvl="1" eaLnBrk="1" hangingPunct="1">
              <a:lnSpc>
                <a:spcPct val="90000"/>
              </a:lnSpc>
              <a:buFont typeface="Wingdings" panose="05000000000000000000" pitchFamily="2" charset="2"/>
              <a:buChar char="Ø"/>
            </a:pPr>
            <a:r>
              <a:rPr lang="en-US" altLang="en-US"/>
              <a:t>Raynaud’s disease</a:t>
            </a:r>
          </a:p>
          <a:p>
            <a:pPr lvl="1" eaLnBrk="1" hangingPunct="1">
              <a:lnSpc>
                <a:spcPct val="90000"/>
              </a:lnSpc>
              <a:buFont typeface="Wingdings" panose="05000000000000000000" pitchFamily="2" charset="2"/>
              <a:buChar char="Ø"/>
            </a:pPr>
            <a:r>
              <a:rPr lang="en-US" altLang="en-US"/>
              <a:t>Varicose veins</a:t>
            </a:r>
          </a:p>
        </p:txBody>
      </p:sp>
    </p:spTree>
    <p:extLst>
      <p:ext uri="{BB962C8B-B14F-4D97-AF65-F5344CB8AC3E}">
        <p14:creationId xmlns:p14="http://schemas.microsoft.com/office/powerpoint/2010/main" val="344227283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1026"/>
          <p:cNvSpPr>
            <a:spLocks noGrp="1" noChangeArrowheads="1"/>
          </p:cNvSpPr>
          <p:nvPr>
            <p:ph type="title"/>
          </p:nvPr>
        </p:nvSpPr>
        <p:spPr>
          <a:xfrm>
            <a:off x="304800" y="152400"/>
            <a:ext cx="7772400" cy="1219200"/>
          </a:xfrm>
        </p:spPr>
        <p:txBody>
          <a:bodyPr/>
          <a:lstStyle/>
          <a:p>
            <a:pPr eaLnBrk="1" hangingPunct="1"/>
            <a:r>
              <a:rPr lang="en-US" altLang="en-US" dirty="0"/>
              <a:t>      QUICK QUIZ (Slide 3 of 4)</a:t>
            </a:r>
          </a:p>
        </p:txBody>
      </p:sp>
      <p:sp>
        <p:nvSpPr>
          <p:cNvPr id="70659" name="Rectangle 1027"/>
          <p:cNvSpPr>
            <a:spLocks noGrp="1" noChangeArrowheads="1"/>
          </p:cNvSpPr>
          <p:nvPr>
            <p:ph idx="1"/>
          </p:nvPr>
        </p:nvSpPr>
        <p:spPr>
          <a:xfrm>
            <a:off x="685800" y="1600200"/>
            <a:ext cx="7543800" cy="4495800"/>
          </a:xfrm>
        </p:spPr>
        <p:txBody>
          <a:bodyPr/>
          <a:lstStyle/>
          <a:p>
            <a:pPr marL="533400" indent="-533400" eaLnBrk="1" hangingPunct="1">
              <a:buFont typeface="Wingdings 2" panose="05020102010507070707" pitchFamily="18" charset="2"/>
              <a:buNone/>
            </a:pPr>
            <a:r>
              <a:rPr lang="en-US" altLang="en-US" b="1"/>
              <a:t>3.  Which arrhythmia refers to rapid, random, inefficient, and irregular contractions of the atria and ventricles (350 beats or more per minute)?</a:t>
            </a:r>
          </a:p>
          <a:p>
            <a:pPr marL="914400" lvl="1" indent="-457200" eaLnBrk="1" hangingPunct="1">
              <a:buFont typeface="Arial" panose="020B0604020202020204" pitchFamily="34" charset="0"/>
              <a:buAutoNum type="alphaUcPeriod"/>
            </a:pPr>
            <a:r>
              <a:rPr lang="en-US" altLang="en-US" sz="3200">
                <a:ea typeface="MS PGothic" panose="020B0600070205080204" pitchFamily="34" charset="-128"/>
              </a:rPr>
              <a:t>Fibrillation</a:t>
            </a:r>
          </a:p>
          <a:p>
            <a:pPr marL="914400" lvl="1" indent="-457200" eaLnBrk="1" hangingPunct="1">
              <a:buFont typeface="Arial" panose="020B0604020202020204" pitchFamily="34" charset="0"/>
              <a:buAutoNum type="alphaUcPeriod"/>
            </a:pPr>
            <a:r>
              <a:rPr lang="en-US" altLang="en-US" sz="3200">
                <a:ea typeface="MS PGothic" panose="020B0600070205080204" pitchFamily="34" charset="-128"/>
              </a:rPr>
              <a:t>Flutter</a:t>
            </a:r>
          </a:p>
          <a:p>
            <a:pPr marL="914400" lvl="1" indent="-457200" eaLnBrk="1" hangingPunct="1">
              <a:buFont typeface="Arial" panose="020B0604020202020204" pitchFamily="34" charset="0"/>
              <a:buAutoNum type="alphaUcPeriod"/>
            </a:pPr>
            <a:r>
              <a:rPr lang="en-US" altLang="en-US" sz="3200">
                <a:ea typeface="MS PGothic" panose="020B0600070205080204" pitchFamily="34" charset="-128"/>
              </a:rPr>
              <a:t>Bradycardia</a:t>
            </a:r>
            <a:endParaRPr lang="en-US" altLang="en-US">
              <a:ea typeface="MS PGothic" panose="020B0600070205080204" pitchFamily="34" charset="-128"/>
            </a:endParaRPr>
          </a:p>
        </p:txBody>
      </p:sp>
    </p:spTree>
    <p:extLst>
      <p:ext uri="{BB962C8B-B14F-4D97-AF65-F5344CB8AC3E}">
        <p14:creationId xmlns:p14="http://schemas.microsoft.com/office/powerpoint/2010/main" val="87049923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2" name="Rectangle 1028"/>
          <p:cNvSpPr>
            <a:spLocks noGrp="1" noChangeArrowheads="1"/>
          </p:cNvSpPr>
          <p:nvPr>
            <p:ph type="ctrTitle"/>
          </p:nvPr>
        </p:nvSpPr>
        <p:spPr>
          <a:xfrm>
            <a:off x="990600" y="457200"/>
            <a:ext cx="7010400" cy="889000"/>
          </a:xfrm>
        </p:spPr>
        <p:txBody>
          <a:bodyPr rtlCol="0">
            <a:normAutofit fontScale="90000"/>
          </a:bodyPr>
          <a:lstStyle/>
          <a:p>
            <a:pPr eaLnBrk="1" fontAlgn="auto" hangingPunct="1">
              <a:spcAft>
                <a:spcPts val="0"/>
              </a:spcAft>
              <a:defRPr/>
            </a:pPr>
            <a:r>
              <a:rPr lang="en-US" dirty="0"/>
              <a:t>Chapter 11</a:t>
            </a:r>
            <a:br>
              <a:rPr lang="en-US" dirty="0"/>
            </a:br>
            <a:r>
              <a:rPr lang="en-US" dirty="0"/>
              <a:t>Lesson 11.3</a:t>
            </a:r>
          </a:p>
        </p:txBody>
      </p:sp>
    </p:spTree>
    <p:extLst>
      <p:ext uri="{BB962C8B-B14F-4D97-AF65-F5344CB8AC3E}">
        <p14:creationId xmlns:p14="http://schemas.microsoft.com/office/powerpoint/2010/main" val="257611179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4"/>
          <p:cNvSpPr>
            <a:spLocks noGrp="1" noChangeArrowheads="1"/>
          </p:cNvSpPr>
          <p:nvPr>
            <p:ph type="title"/>
          </p:nvPr>
        </p:nvSpPr>
        <p:spPr/>
        <p:txBody>
          <a:bodyPr/>
          <a:lstStyle/>
          <a:p>
            <a:pPr eaLnBrk="1" hangingPunct="1"/>
            <a:r>
              <a:rPr lang="en-US" altLang="en-US"/>
              <a:t>Laboratory Tests</a:t>
            </a:r>
          </a:p>
        </p:txBody>
      </p:sp>
      <p:sp>
        <p:nvSpPr>
          <p:cNvPr id="72707" name="Rectangle 5"/>
          <p:cNvSpPr>
            <a:spLocks noGrp="1" noChangeArrowheads="1"/>
          </p:cNvSpPr>
          <p:nvPr>
            <p:ph idx="1"/>
          </p:nvPr>
        </p:nvSpPr>
        <p:spPr/>
        <p:txBody>
          <a:bodyPr/>
          <a:lstStyle/>
          <a:p>
            <a:pPr eaLnBrk="1" hangingPunct="1"/>
            <a:r>
              <a:rPr lang="en-US" altLang="en-US"/>
              <a:t>BNP test</a:t>
            </a:r>
          </a:p>
          <a:p>
            <a:pPr eaLnBrk="1" hangingPunct="1"/>
            <a:r>
              <a:rPr lang="en-US" altLang="en-US"/>
              <a:t>Cardia biomarkers</a:t>
            </a:r>
          </a:p>
          <a:p>
            <a:pPr eaLnBrk="1" hangingPunct="1"/>
            <a:r>
              <a:rPr lang="en-US" altLang="en-US"/>
              <a:t>Lipid test profile</a:t>
            </a:r>
          </a:p>
          <a:p>
            <a:pPr eaLnBrk="1" hangingPunct="1"/>
            <a:r>
              <a:rPr lang="en-US" altLang="en-US"/>
              <a:t>Lipoprotein electrophoresis</a:t>
            </a:r>
          </a:p>
        </p:txBody>
      </p:sp>
    </p:spTree>
    <p:extLst>
      <p:ext uri="{BB962C8B-B14F-4D97-AF65-F5344CB8AC3E}">
        <p14:creationId xmlns:p14="http://schemas.microsoft.com/office/powerpoint/2010/main" val="393906637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5" name="Rectangle 5"/>
          <p:cNvSpPr>
            <a:spLocks noGrp="1" noChangeArrowheads="1"/>
          </p:cNvSpPr>
          <p:nvPr>
            <p:ph type="title"/>
          </p:nvPr>
        </p:nvSpPr>
        <p:spPr/>
        <p:txBody>
          <a:bodyPr rtlCol="0">
            <a:normAutofit fontScale="90000"/>
          </a:bodyPr>
          <a:lstStyle/>
          <a:p>
            <a:pPr eaLnBrk="1" fontAlgn="auto" hangingPunct="1">
              <a:spcAft>
                <a:spcPts val="0"/>
              </a:spcAft>
              <a:defRPr/>
            </a:pPr>
            <a:r>
              <a:rPr lang="en-US" dirty="0"/>
              <a:t>Clinical Procedures: Diagnostic</a:t>
            </a:r>
            <a:br>
              <a:rPr lang="en-US" dirty="0"/>
            </a:br>
            <a:r>
              <a:rPr lang="en-US" dirty="0"/>
              <a:t>(Slide 1 of 3)</a:t>
            </a:r>
          </a:p>
        </p:txBody>
      </p:sp>
      <p:sp>
        <p:nvSpPr>
          <p:cNvPr id="73731" name="Rectangle 6"/>
          <p:cNvSpPr>
            <a:spLocks noGrp="1" noChangeArrowheads="1"/>
          </p:cNvSpPr>
          <p:nvPr>
            <p:ph sz="half" idx="1"/>
          </p:nvPr>
        </p:nvSpPr>
        <p:spPr>
          <a:xfrm>
            <a:off x="685800" y="1641475"/>
            <a:ext cx="7150100" cy="4454525"/>
          </a:xfrm>
        </p:spPr>
        <p:txBody>
          <a:bodyPr/>
          <a:lstStyle/>
          <a:p>
            <a:pPr marL="457200" indent="-457200" eaLnBrk="1" hangingPunct="1">
              <a:lnSpc>
                <a:spcPct val="90000"/>
              </a:lnSpc>
              <a:buFont typeface="Times" panose="02020603050405020304" pitchFamily="18" charset="0"/>
              <a:buNone/>
            </a:pPr>
            <a:r>
              <a:rPr lang="en-US" altLang="en-US" b="1"/>
              <a:t>X-ray</a:t>
            </a:r>
          </a:p>
          <a:p>
            <a:pPr marL="838200" lvl="1" indent="-381000" eaLnBrk="1" hangingPunct="1">
              <a:lnSpc>
                <a:spcPct val="90000"/>
              </a:lnSpc>
              <a:buFont typeface="Wingdings" panose="05000000000000000000" pitchFamily="2" charset="2"/>
              <a:buChar char="Ø"/>
            </a:pPr>
            <a:r>
              <a:rPr lang="en-US" altLang="en-US">
                <a:ea typeface="MS PGothic" panose="020B0600070205080204" pitchFamily="34" charset="-128"/>
              </a:rPr>
              <a:t>Angiography and arteriography</a:t>
            </a:r>
          </a:p>
          <a:p>
            <a:pPr marL="838200" lvl="1" indent="-381000" eaLnBrk="1" hangingPunct="1">
              <a:lnSpc>
                <a:spcPct val="90000"/>
              </a:lnSpc>
              <a:buFont typeface="Wingdings" panose="05000000000000000000" pitchFamily="2" charset="2"/>
              <a:buChar char="Ø"/>
            </a:pPr>
            <a:r>
              <a:rPr lang="en-US" altLang="en-US">
                <a:ea typeface="MS PGothic" panose="020B0600070205080204" pitchFamily="34" charset="-128"/>
              </a:rPr>
              <a:t>Computerized tomography angiography</a:t>
            </a:r>
          </a:p>
          <a:p>
            <a:pPr marL="838200" lvl="1" indent="-381000" eaLnBrk="1" hangingPunct="1">
              <a:lnSpc>
                <a:spcPct val="90000"/>
              </a:lnSpc>
              <a:buFont typeface="Wingdings" panose="05000000000000000000" pitchFamily="2" charset="2"/>
              <a:buChar char="Ø"/>
            </a:pPr>
            <a:r>
              <a:rPr lang="en-US" altLang="en-US">
                <a:ea typeface="MS PGothic" panose="020B0600070205080204" pitchFamily="34" charset="-128"/>
              </a:rPr>
              <a:t>Digital subtraction angiography (DSA)</a:t>
            </a:r>
          </a:p>
          <a:p>
            <a:pPr marL="838200" lvl="1" indent="-381000" eaLnBrk="1" hangingPunct="1">
              <a:lnSpc>
                <a:spcPct val="90000"/>
              </a:lnSpc>
              <a:buFont typeface="Wingdings" panose="05000000000000000000" pitchFamily="2" charset="2"/>
              <a:buChar char="Ø"/>
            </a:pPr>
            <a:r>
              <a:rPr lang="en-US" altLang="en-US">
                <a:ea typeface="MS PGothic" panose="020B0600070205080204" pitchFamily="34" charset="-128"/>
              </a:rPr>
              <a:t>Electron beam computed tomography (EBCT or EBT) </a:t>
            </a:r>
          </a:p>
          <a:p>
            <a:pPr marL="457200" indent="-457200" eaLnBrk="1" hangingPunct="1">
              <a:lnSpc>
                <a:spcPct val="90000"/>
              </a:lnSpc>
              <a:buFont typeface="Times" panose="02020603050405020304" pitchFamily="18" charset="0"/>
              <a:buChar char="&lt;"/>
            </a:pPr>
            <a:endParaRPr lang="en-US" altLang="en-US" sz="1000" b="1"/>
          </a:p>
          <a:p>
            <a:pPr marL="457200" indent="-457200" eaLnBrk="1" hangingPunct="1">
              <a:lnSpc>
                <a:spcPct val="90000"/>
              </a:lnSpc>
              <a:buFont typeface="Times" panose="02020603050405020304" pitchFamily="18" charset="0"/>
              <a:buNone/>
            </a:pPr>
            <a:r>
              <a:rPr lang="en-US" altLang="en-US" b="1"/>
              <a:t>Ultrasound tests</a:t>
            </a:r>
          </a:p>
          <a:p>
            <a:pPr marL="838200" lvl="1" indent="-381000" eaLnBrk="1" hangingPunct="1">
              <a:lnSpc>
                <a:spcPct val="90000"/>
              </a:lnSpc>
              <a:buFont typeface="Wingdings" panose="05000000000000000000" pitchFamily="2" charset="2"/>
              <a:buChar char="Ø"/>
            </a:pPr>
            <a:r>
              <a:rPr lang="en-US" altLang="en-US">
                <a:ea typeface="MS PGothic" panose="020B0600070205080204" pitchFamily="34" charset="-128"/>
              </a:rPr>
              <a:t>Doppler ultrasound</a:t>
            </a:r>
          </a:p>
          <a:p>
            <a:pPr marL="838200" lvl="1" indent="-381000" eaLnBrk="1" hangingPunct="1">
              <a:lnSpc>
                <a:spcPct val="90000"/>
              </a:lnSpc>
              <a:buFont typeface="Wingdings" panose="05000000000000000000" pitchFamily="2" charset="2"/>
              <a:buChar char="Ø"/>
            </a:pPr>
            <a:r>
              <a:rPr lang="en-US" altLang="en-US">
                <a:ea typeface="MS PGothic" panose="020B0600070205080204" pitchFamily="34" charset="-128"/>
              </a:rPr>
              <a:t>Echocardiography (ECHO)</a:t>
            </a:r>
          </a:p>
          <a:p>
            <a:pPr marL="457200" indent="-457200" eaLnBrk="1" hangingPunct="1">
              <a:lnSpc>
                <a:spcPct val="90000"/>
              </a:lnSpc>
            </a:pPr>
            <a:endParaRPr lang="en-US" altLang="en-US" sz="2400"/>
          </a:p>
        </p:txBody>
      </p:sp>
    </p:spTree>
    <p:extLst>
      <p:ext uri="{BB962C8B-B14F-4D97-AF65-F5344CB8AC3E}">
        <p14:creationId xmlns:p14="http://schemas.microsoft.com/office/powerpoint/2010/main" val="290887395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32" name="Rectangle 8"/>
          <p:cNvSpPr>
            <a:spLocks noGrp="1" noChangeArrowheads="1"/>
          </p:cNvSpPr>
          <p:nvPr>
            <p:ph type="title"/>
          </p:nvPr>
        </p:nvSpPr>
        <p:spPr/>
        <p:txBody>
          <a:bodyPr rtlCol="0">
            <a:normAutofit fontScale="90000"/>
          </a:bodyPr>
          <a:lstStyle/>
          <a:p>
            <a:pPr eaLnBrk="1" fontAlgn="auto" hangingPunct="1">
              <a:spcAft>
                <a:spcPts val="0"/>
              </a:spcAft>
              <a:defRPr/>
            </a:pPr>
            <a:r>
              <a:rPr lang="en-US" dirty="0"/>
              <a:t>Clinical Procedures: Diagnostic</a:t>
            </a:r>
            <a:br>
              <a:rPr lang="en-US" dirty="0"/>
            </a:br>
            <a:r>
              <a:rPr lang="en-US" dirty="0"/>
              <a:t>(Slide 2 of 3)</a:t>
            </a:r>
          </a:p>
        </p:txBody>
      </p:sp>
      <p:sp>
        <p:nvSpPr>
          <p:cNvPr id="74755" name="Rectangle 9"/>
          <p:cNvSpPr>
            <a:spLocks noGrp="1" noChangeArrowheads="1"/>
          </p:cNvSpPr>
          <p:nvPr>
            <p:ph sz="half" idx="1"/>
          </p:nvPr>
        </p:nvSpPr>
        <p:spPr>
          <a:xfrm>
            <a:off x="685800" y="1600200"/>
            <a:ext cx="6934200" cy="3657600"/>
          </a:xfrm>
        </p:spPr>
        <p:txBody>
          <a:bodyPr/>
          <a:lstStyle/>
          <a:p>
            <a:pPr marL="457200" indent="-457200" eaLnBrk="1" hangingPunct="1">
              <a:buFont typeface="Times" panose="02020603050405020304" pitchFamily="18" charset="0"/>
              <a:buNone/>
            </a:pPr>
            <a:r>
              <a:rPr lang="en-US" altLang="en-US" b="1"/>
              <a:t>Nuclear cardiology</a:t>
            </a:r>
          </a:p>
          <a:p>
            <a:pPr marL="838200" lvl="1" indent="-381000" eaLnBrk="1" hangingPunct="1">
              <a:buFont typeface="Wingdings" panose="05000000000000000000" pitchFamily="2" charset="2"/>
              <a:buChar char="Ø"/>
            </a:pPr>
            <a:r>
              <a:rPr lang="en-US" altLang="en-US"/>
              <a:t>Positron emission tomography (PET) scan</a:t>
            </a:r>
          </a:p>
          <a:p>
            <a:pPr marL="838200" lvl="1" indent="-381000" eaLnBrk="1" hangingPunct="1">
              <a:buFont typeface="Wingdings" panose="05000000000000000000" pitchFamily="2" charset="2"/>
              <a:buChar char="Ø"/>
            </a:pPr>
            <a:r>
              <a:rPr lang="en-US" altLang="en-US"/>
              <a:t>Technetium TC 99m scan</a:t>
            </a:r>
          </a:p>
          <a:p>
            <a:pPr marL="838200" lvl="1" indent="-381000" eaLnBrk="1" hangingPunct="1">
              <a:buFont typeface="Wingdings" panose="05000000000000000000" pitchFamily="2" charset="2"/>
              <a:buChar char="Ø"/>
            </a:pPr>
            <a:r>
              <a:rPr lang="en-US" altLang="en-US"/>
              <a:t>Thallium-201 scan</a:t>
            </a:r>
          </a:p>
          <a:p>
            <a:pPr marL="838200" lvl="1" indent="-381000" eaLnBrk="1" hangingPunct="1">
              <a:buFont typeface="Times" panose="02020603050405020304" pitchFamily="18" charset="0"/>
              <a:buNone/>
            </a:pPr>
            <a:endParaRPr lang="en-US" altLang="en-US" sz="1800" b="1"/>
          </a:p>
          <a:p>
            <a:pPr marL="457200" indent="-457200" eaLnBrk="1" hangingPunct="1">
              <a:buFont typeface="Times" panose="02020603050405020304" pitchFamily="18" charset="0"/>
              <a:buNone/>
            </a:pPr>
            <a:r>
              <a:rPr lang="en-US" altLang="en-US" b="1"/>
              <a:t>Magnetic resonance imaging (MRI)</a:t>
            </a:r>
          </a:p>
          <a:p>
            <a:pPr marL="838200" lvl="1" indent="-381000" eaLnBrk="1" hangingPunct="1">
              <a:buFont typeface="Wingdings" panose="05000000000000000000" pitchFamily="2" charset="2"/>
              <a:buChar char="Ø"/>
            </a:pPr>
            <a:r>
              <a:rPr lang="en-US" altLang="en-US" sz="2800"/>
              <a:t>Cardiac MRI</a:t>
            </a:r>
          </a:p>
        </p:txBody>
      </p:sp>
    </p:spTree>
    <p:extLst>
      <p:ext uri="{BB962C8B-B14F-4D97-AF65-F5344CB8AC3E}">
        <p14:creationId xmlns:p14="http://schemas.microsoft.com/office/powerpoint/2010/main" val="361798524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2" name="Rectangle 4"/>
          <p:cNvSpPr>
            <a:spLocks noGrp="1" noChangeArrowheads="1"/>
          </p:cNvSpPr>
          <p:nvPr>
            <p:ph type="title"/>
          </p:nvPr>
        </p:nvSpPr>
        <p:spPr/>
        <p:txBody>
          <a:bodyPr rtlCol="0">
            <a:normAutofit fontScale="90000"/>
          </a:bodyPr>
          <a:lstStyle/>
          <a:p>
            <a:pPr eaLnBrk="1" fontAlgn="auto" hangingPunct="1">
              <a:spcAft>
                <a:spcPts val="0"/>
              </a:spcAft>
              <a:defRPr/>
            </a:pPr>
            <a:r>
              <a:rPr lang="en-US" dirty="0"/>
              <a:t>Clinical Procedures: Diagnostic</a:t>
            </a:r>
            <a:br>
              <a:rPr lang="en-US" dirty="0"/>
            </a:br>
            <a:r>
              <a:rPr lang="en-US" dirty="0"/>
              <a:t>(Slide 3 of 3)</a:t>
            </a:r>
          </a:p>
        </p:txBody>
      </p:sp>
      <p:sp>
        <p:nvSpPr>
          <p:cNvPr id="75779" name="Rectangle 5"/>
          <p:cNvSpPr>
            <a:spLocks noGrp="1" noChangeArrowheads="1"/>
          </p:cNvSpPr>
          <p:nvPr>
            <p:ph idx="1"/>
          </p:nvPr>
        </p:nvSpPr>
        <p:spPr>
          <a:xfrm>
            <a:off x="685800" y="1600200"/>
            <a:ext cx="7620000" cy="4114800"/>
          </a:xfrm>
        </p:spPr>
        <p:txBody>
          <a:bodyPr/>
          <a:lstStyle/>
          <a:p>
            <a:pPr marL="533400" indent="-533400" eaLnBrk="1" hangingPunct="1">
              <a:buFont typeface="Times" panose="02020603050405020304" pitchFamily="18" charset="0"/>
              <a:buNone/>
            </a:pPr>
            <a:r>
              <a:rPr lang="en-US" altLang="en-US" b="1"/>
              <a:t>Other diagnostic procedures</a:t>
            </a:r>
          </a:p>
          <a:p>
            <a:pPr marL="914400" lvl="1" indent="-457200" eaLnBrk="1" hangingPunct="1">
              <a:buFont typeface="Wingdings" panose="05000000000000000000" pitchFamily="2" charset="2"/>
              <a:buChar char="Ø"/>
            </a:pPr>
            <a:r>
              <a:rPr lang="en-US" altLang="en-US"/>
              <a:t>Cardiac catheterization</a:t>
            </a:r>
          </a:p>
          <a:p>
            <a:pPr marL="914400" lvl="1" indent="-457200" eaLnBrk="1" hangingPunct="1">
              <a:buFont typeface="Wingdings" panose="05000000000000000000" pitchFamily="2" charset="2"/>
              <a:buChar char="Ø"/>
            </a:pPr>
            <a:r>
              <a:rPr lang="en-US" altLang="en-US"/>
              <a:t>Electrocardiography (ECG, EKG)</a:t>
            </a:r>
          </a:p>
          <a:p>
            <a:pPr marL="914400" lvl="1" indent="-457200" eaLnBrk="1" hangingPunct="1">
              <a:buFont typeface="Wingdings" panose="05000000000000000000" pitchFamily="2" charset="2"/>
              <a:buChar char="Ø"/>
            </a:pPr>
            <a:r>
              <a:rPr lang="en-US" altLang="en-US"/>
              <a:t>Holter monitoring</a:t>
            </a:r>
          </a:p>
          <a:p>
            <a:pPr marL="914400" lvl="1" indent="-457200" eaLnBrk="1" hangingPunct="1">
              <a:buFont typeface="Wingdings" panose="05000000000000000000" pitchFamily="2" charset="2"/>
              <a:buChar char="Ø"/>
            </a:pPr>
            <a:r>
              <a:rPr lang="en-US" altLang="en-US"/>
              <a:t>Stress test</a:t>
            </a:r>
          </a:p>
        </p:txBody>
      </p:sp>
    </p:spTree>
    <p:extLst>
      <p:ext uri="{BB962C8B-B14F-4D97-AF65-F5344CB8AC3E}">
        <p14:creationId xmlns:p14="http://schemas.microsoft.com/office/powerpoint/2010/main" val="195099913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4"/>
          <p:cNvSpPr>
            <a:spLocks noGrp="1" noChangeArrowheads="1"/>
          </p:cNvSpPr>
          <p:nvPr>
            <p:ph type="title"/>
          </p:nvPr>
        </p:nvSpPr>
        <p:spPr/>
        <p:txBody>
          <a:bodyPr/>
          <a:lstStyle/>
          <a:p>
            <a:pPr eaLnBrk="1" hangingPunct="1"/>
            <a:r>
              <a:rPr lang="en-US" altLang="en-US" dirty="0"/>
              <a:t>Clinical Procedures: Treatment</a:t>
            </a:r>
            <a:br>
              <a:rPr lang="en-US" altLang="en-US" dirty="0"/>
            </a:br>
            <a:r>
              <a:rPr lang="en-US" altLang="en-US" dirty="0"/>
              <a:t>(Slide 1 of 2)</a:t>
            </a:r>
          </a:p>
        </p:txBody>
      </p:sp>
      <p:sp>
        <p:nvSpPr>
          <p:cNvPr id="77827" name="Rectangle 5"/>
          <p:cNvSpPr>
            <a:spLocks noGrp="1" noChangeArrowheads="1"/>
          </p:cNvSpPr>
          <p:nvPr>
            <p:ph idx="1"/>
          </p:nvPr>
        </p:nvSpPr>
        <p:spPr>
          <a:xfrm>
            <a:off x="685800" y="1600200"/>
            <a:ext cx="8458200" cy="4289425"/>
          </a:xfrm>
        </p:spPr>
        <p:txBody>
          <a:bodyPr/>
          <a:lstStyle/>
          <a:p>
            <a:pPr eaLnBrk="1" hangingPunct="1"/>
            <a:r>
              <a:rPr lang="en-US" altLang="en-US"/>
              <a:t>Cardioversion (defibrillation)</a:t>
            </a:r>
          </a:p>
          <a:p>
            <a:pPr eaLnBrk="1" hangingPunct="1"/>
            <a:r>
              <a:rPr lang="en-US" altLang="en-US"/>
              <a:t>Endarterectomy</a:t>
            </a:r>
          </a:p>
          <a:p>
            <a:pPr eaLnBrk="1" hangingPunct="1"/>
            <a:r>
              <a:rPr lang="en-US" altLang="en-US"/>
              <a:t>Extracorporeal circulation</a:t>
            </a:r>
          </a:p>
          <a:p>
            <a:pPr eaLnBrk="1" hangingPunct="1"/>
            <a:r>
              <a:rPr lang="en-US" altLang="en-US"/>
              <a:t>Heart transplantation</a:t>
            </a:r>
          </a:p>
          <a:p>
            <a:pPr eaLnBrk="1" hangingPunct="1"/>
            <a:r>
              <a:rPr lang="en-US" altLang="en-US"/>
              <a:t>Thrombolytic therapy</a:t>
            </a:r>
          </a:p>
          <a:p>
            <a:pPr eaLnBrk="1" hangingPunct="1"/>
            <a:r>
              <a:rPr lang="en-US" altLang="en-US"/>
              <a:t>Transcatheter aortic valve replacement (TAVR)</a:t>
            </a:r>
          </a:p>
        </p:txBody>
      </p:sp>
    </p:spTree>
    <p:extLst>
      <p:ext uri="{BB962C8B-B14F-4D97-AF65-F5344CB8AC3E}">
        <p14:creationId xmlns:p14="http://schemas.microsoft.com/office/powerpoint/2010/main" val="98233537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4"/>
          <p:cNvSpPr>
            <a:spLocks noGrp="1" noChangeArrowheads="1"/>
          </p:cNvSpPr>
          <p:nvPr>
            <p:ph type="title"/>
          </p:nvPr>
        </p:nvSpPr>
        <p:spPr/>
        <p:txBody>
          <a:bodyPr/>
          <a:lstStyle/>
          <a:p>
            <a:pPr eaLnBrk="1" hangingPunct="1"/>
            <a:r>
              <a:rPr lang="en-US" altLang="en-US" dirty="0"/>
              <a:t>Clinical Procedures: Treatment</a:t>
            </a:r>
            <a:br>
              <a:rPr lang="en-US" altLang="en-US" dirty="0"/>
            </a:br>
            <a:r>
              <a:rPr lang="en-US" altLang="en-US" dirty="0"/>
              <a:t>(Slide 2 of 2)</a:t>
            </a:r>
          </a:p>
        </p:txBody>
      </p:sp>
      <p:sp>
        <p:nvSpPr>
          <p:cNvPr id="78851" name="Rectangle 6"/>
          <p:cNvSpPr>
            <a:spLocks noGrp="1" noChangeArrowheads="1"/>
          </p:cNvSpPr>
          <p:nvPr>
            <p:ph sz="half" idx="1"/>
          </p:nvPr>
        </p:nvSpPr>
        <p:spPr>
          <a:xfrm>
            <a:off x="704850" y="1975161"/>
            <a:ext cx="4038600" cy="4120840"/>
          </a:xfrm>
        </p:spPr>
        <p:txBody>
          <a:bodyPr/>
          <a:lstStyle/>
          <a:p>
            <a:pPr marL="0" indent="0" eaLnBrk="1" hangingPunct="1">
              <a:buFont typeface="Arial" panose="020B0604020202020204" pitchFamily="34" charset="0"/>
              <a:buNone/>
            </a:pPr>
            <a:r>
              <a:rPr lang="en-US" altLang="en-US" sz="2400" b="1" dirty="0"/>
              <a:t>Coronary artery bypass graft (CABG) surgery</a:t>
            </a:r>
          </a:p>
          <a:p>
            <a:pPr marL="0" indent="0" eaLnBrk="1" hangingPunct="1">
              <a:buFont typeface="Arial" panose="020B0604020202020204" pitchFamily="34" charset="0"/>
              <a:buNone/>
            </a:pPr>
            <a:r>
              <a:rPr lang="en-US" altLang="en-US" sz="2400" b="1" dirty="0"/>
              <a:t>1,</a:t>
            </a:r>
            <a:r>
              <a:rPr lang="en-US" altLang="en-US" sz="2400" dirty="0"/>
              <a:t> A section of a vein is removed from the leg and anastomosed to a coronary artery to bypass an area of arteriosclerotic blockage.  </a:t>
            </a:r>
          </a:p>
          <a:p>
            <a:pPr marL="0" indent="0" eaLnBrk="1" hangingPunct="1">
              <a:buFont typeface="Arial" panose="020B0604020202020204" pitchFamily="34" charset="0"/>
              <a:buNone/>
            </a:pPr>
            <a:r>
              <a:rPr lang="en-US" altLang="en-US" sz="2400" b="1" dirty="0"/>
              <a:t>2, </a:t>
            </a:r>
            <a:r>
              <a:rPr lang="en-US" altLang="en-US" sz="2400" dirty="0"/>
              <a:t>An internal mammary artery is grafted to a coronary artery to bypass blockage.</a:t>
            </a:r>
          </a:p>
        </p:txBody>
      </p:sp>
      <p:pic>
        <p:nvPicPr>
          <p:cNvPr id="6" name="Picture 6" descr="Diagram of the heart showing the position of the vein bypass graft from the leg and of the artery bypass graft from the chest."/>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l="41766"/>
          <a:stretch>
            <a:fillRect/>
          </a:stretch>
        </p:blipFill>
        <p:spPr bwMode="auto">
          <a:xfrm>
            <a:off x="4800600" y="1975160"/>
            <a:ext cx="3886200" cy="363355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170992522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title"/>
          </p:nvPr>
        </p:nvSpPr>
        <p:spPr/>
        <p:txBody>
          <a:bodyPr/>
          <a:lstStyle/>
          <a:p>
            <a:pPr eaLnBrk="1" hangingPunct="1"/>
            <a:r>
              <a:rPr lang="en-US" altLang="en-US"/>
              <a:t>Treatment Procedures</a:t>
            </a:r>
          </a:p>
        </p:txBody>
      </p:sp>
      <p:sp>
        <p:nvSpPr>
          <p:cNvPr id="80899" name="Rectangle 3"/>
          <p:cNvSpPr>
            <a:spLocks noGrp="1" noChangeArrowheads="1"/>
          </p:cNvSpPr>
          <p:nvPr>
            <p:ph sz="half" idx="1"/>
          </p:nvPr>
        </p:nvSpPr>
        <p:spPr>
          <a:xfrm>
            <a:off x="685800" y="1600200"/>
            <a:ext cx="3581400" cy="4525963"/>
          </a:xfrm>
        </p:spPr>
        <p:txBody>
          <a:bodyPr/>
          <a:lstStyle/>
          <a:p>
            <a:pPr eaLnBrk="1" hangingPunct="1"/>
            <a:r>
              <a:rPr lang="en-US" altLang="en-US" sz="2400" dirty="0"/>
              <a:t>Percutaneous coronary intervention (PCI)</a:t>
            </a:r>
          </a:p>
          <a:p>
            <a:pPr lvl="1" eaLnBrk="1" hangingPunct="1">
              <a:buFont typeface="Wingdings" panose="05000000000000000000" pitchFamily="2" charset="2"/>
              <a:buChar char="Ø"/>
            </a:pPr>
            <a:r>
              <a:rPr lang="en-US" altLang="en-US" sz="2400" dirty="0"/>
              <a:t>Includes: percutaneous transluminal coronary angioplasty (PTCA), stent placement, laser angioplasty, and </a:t>
            </a:r>
            <a:r>
              <a:rPr lang="en-US" altLang="en-US" sz="2400" dirty="0" err="1"/>
              <a:t>atherectomy</a:t>
            </a:r>
            <a:endParaRPr lang="en-US" altLang="en-US" sz="2400" dirty="0"/>
          </a:p>
        </p:txBody>
      </p:sp>
      <p:pic>
        <p:nvPicPr>
          <p:cNvPr id="6" name="Picture 8" descr="Percutaneous coronary intervention (PCI) is a procedure whereby a balloon-tipped catheter is inserted into a coronary artery to open the artery; stents are inserted, inflated, and left in place."/>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4495800" y="1905000"/>
            <a:ext cx="4132842" cy="338204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306742061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57200" y="228600"/>
            <a:ext cx="8229600" cy="1143000"/>
          </a:xfrm>
        </p:spPr>
        <p:txBody>
          <a:bodyPr/>
          <a:lstStyle/>
          <a:p>
            <a:r>
              <a:rPr lang="en-US" dirty="0"/>
              <a:t>Abbreviations (Slide 1 of 9)</a:t>
            </a:r>
          </a:p>
        </p:txBody>
      </p:sp>
      <p:graphicFrame>
        <p:nvGraphicFramePr>
          <p:cNvPr id="8" name="Content Placeholder 7" descr="Group 1of 9 Abbreviations with corresponding meanings."/>
          <p:cNvGraphicFramePr>
            <a:graphicFrameLocks noGrp="1"/>
          </p:cNvGraphicFramePr>
          <p:nvPr>
            <p:ph idx="1"/>
            <p:extLst>
              <p:ext uri="{D42A27DB-BD31-4B8C-83A1-F6EECF244321}">
                <p14:modId xmlns:p14="http://schemas.microsoft.com/office/powerpoint/2010/main" val="2067145495"/>
              </p:ext>
            </p:extLst>
          </p:nvPr>
        </p:nvGraphicFramePr>
        <p:xfrm>
          <a:off x="457200" y="1143000"/>
          <a:ext cx="8229600" cy="5191760"/>
        </p:xfrm>
        <a:graphic>
          <a:graphicData uri="http://schemas.openxmlformats.org/drawingml/2006/table">
            <a:tbl>
              <a:tblPr firstRow="1" bandRow="1">
                <a:tableStyleId>{C083E6E3-FA7D-4D7B-A595-EF9225AFEA82}</a:tableStyleId>
              </a:tblPr>
              <a:tblGrid>
                <a:gridCol w="2057400">
                  <a:extLst>
                    <a:ext uri="{9D8B030D-6E8A-4147-A177-3AD203B41FA5}">
                      <a16:colId xmlns:a16="http://schemas.microsoft.com/office/drawing/2014/main" val="20000"/>
                    </a:ext>
                  </a:extLst>
                </a:gridCol>
                <a:gridCol w="6172200">
                  <a:extLst>
                    <a:ext uri="{9D8B030D-6E8A-4147-A177-3AD203B41FA5}">
                      <a16:colId xmlns:a16="http://schemas.microsoft.com/office/drawing/2014/main" val="20001"/>
                    </a:ext>
                  </a:extLst>
                </a:gridCol>
              </a:tblGrid>
              <a:tr h="370840">
                <a:tc>
                  <a:txBody>
                    <a:bodyPr/>
                    <a:lstStyle/>
                    <a:p>
                      <a:r>
                        <a:rPr lang="en-US" sz="1800" dirty="0"/>
                        <a:t>Abbreviation</a:t>
                      </a:r>
                    </a:p>
                  </a:txBody>
                  <a:tcPr/>
                </a:tc>
                <a:tc>
                  <a:txBody>
                    <a:bodyPr/>
                    <a:lstStyle/>
                    <a:p>
                      <a:r>
                        <a:rPr lang="en-US" sz="1800" dirty="0"/>
                        <a:t>Meaning</a:t>
                      </a:r>
                    </a:p>
                  </a:txBody>
                  <a:tcPr/>
                </a:tc>
                <a:extLst>
                  <a:ext uri="{0D108BD9-81ED-4DB2-BD59-A6C34878D82A}">
                    <a16:rowId xmlns:a16="http://schemas.microsoft.com/office/drawing/2014/main" val="10000"/>
                  </a:ext>
                </a:extLst>
              </a:tr>
              <a:tr h="370840">
                <a:tc>
                  <a:txBody>
                    <a:bodyPr/>
                    <a:lstStyle/>
                    <a:p>
                      <a:r>
                        <a:rPr lang="en-US" sz="1800" dirty="0"/>
                        <a:t>AAA</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1800" dirty="0"/>
                        <a:t>Abdominal aortic aneurysm</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t>ACE inhibitor</a:t>
                      </a:r>
                      <a:endParaRPr lang="en-US" sz="1800" dirty="0">
                        <a:ea typeface="ＭＳ Ｐゴシック"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1800" dirty="0"/>
                        <a:t>Angiotensin-converting enzyme inhibitor</a:t>
                      </a:r>
                    </a:p>
                  </a:txBody>
                  <a:tcPr/>
                </a:tc>
                <a:extLst>
                  <a:ext uri="{0D108BD9-81ED-4DB2-BD59-A6C34878D82A}">
                    <a16:rowId xmlns:a16="http://schemas.microsoft.com/office/drawing/2014/main" val="10002"/>
                  </a:ext>
                </a:extLst>
              </a:tr>
              <a:tr h="370840">
                <a:tc>
                  <a:txBody>
                    <a:bodyPr/>
                    <a:lstStyle/>
                    <a:p>
                      <a:r>
                        <a:rPr lang="en-US" sz="1800" dirty="0"/>
                        <a:t>ACLS</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1800" dirty="0"/>
                        <a:t>Advanced cardiac life support</a:t>
                      </a:r>
                    </a:p>
                  </a:txBody>
                  <a:tcPr/>
                </a:tc>
                <a:extLst>
                  <a:ext uri="{0D108BD9-81ED-4DB2-BD59-A6C34878D82A}">
                    <a16:rowId xmlns:a16="http://schemas.microsoft.com/office/drawing/2014/main" val="10003"/>
                  </a:ext>
                </a:extLst>
              </a:tr>
              <a:tr h="370840">
                <a:tc>
                  <a:txBody>
                    <a:bodyPr/>
                    <a:lstStyle/>
                    <a:p>
                      <a:r>
                        <a:rPr lang="en-US" sz="1800" dirty="0"/>
                        <a:t>ACS</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1800" dirty="0"/>
                        <a:t>Acute coronary syndrome</a:t>
                      </a:r>
                    </a:p>
                  </a:txBody>
                  <a:tcPr/>
                </a:tc>
                <a:extLst>
                  <a:ext uri="{0D108BD9-81ED-4DB2-BD59-A6C34878D82A}">
                    <a16:rowId xmlns:a16="http://schemas.microsoft.com/office/drawing/2014/main" val="10004"/>
                  </a:ext>
                </a:extLst>
              </a:tr>
              <a:tr h="370840">
                <a:tc>
                  <a:txBody>
                    <a:bodyPr/>
                    <a:lstStyle/>
                    <a:p>
                      <a:r>
                        <a:rPr lang="en-US" sz="1800" dirty="0"/>
                        <a:t>ADP</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1800" dirty="0"/>
                        <a:t>Adenosine </a:t>
                      </a:r>
                      <a:r>
                        <a:rPr lang="en-US" altLang="en-US" sz="1800" dirty="0" err="1"/>
                        <a:t>diphosphate</a:t>
                      </a:r>
                      <a:endParaRPr lang="en-US" altLang="en-US" sz="1800" dirty="0"/>
                    </a:p>
                  </a:txBody>
                  <a:tcPr/>
                </a:tc>
                <a:extLst>
                  <a:ext uri="{0D108BD9-81ED-4DB2-BD59-A6C34878D82A}">
                    <a16:rowId xmlns:a16="http://schemas.microsoft.com/office/drawing/2014/main" val="10005"/>
                  </a:ext>
                </a:extLst>
              </a:tr>
              <a:tr h="370840">
                <a:tc>
                  <a:txBody>
                    <a:bodyPr/>
                    <a:lstStyle/>
                    <a:p>
                      <a:r>
                        <a:rPr lang="en-US" sz="1800" dirty="0"/>
                        <a:t>AED</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1800" dirty="0"/>
                        <a:t>Automatic external defibrillator</a:t>
                      </a:r>
                    </a:p>
                  </a:txBody>
                  <a:tcPr/>
                </a:tc>
                <a:extLst>
                  <a:ext uri="{0D108BD9-81ED-4DB2-BD59-A6C34878D82A}">
                    <a16:rowId xmlns:a16="http://schemas.microsoft.com/office/drawing/2014/main" val="10006"/>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t>AF, a-fib</a:t>
                      </a:r>
                      <a:endParaRPr lang="en-US" sz="1800" dirty="0">
                        <a:ea typeface="ＭＳ Ｐゴシック"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1800" dirty="0"/>
                        <a:t>Atrial fibrillation</a:t>
                      </a:r>
                    </a:p>
                  </a:txBody>
                  <a:tcPr/>
                </a:tc>
                <a:extLst>
                  <a:ext uri="{0D108BD9-81ED-4DB2-BD59-A6C34878D82A}">
                    <a16:rowId xmlns:a16="http://schemas.microsoft.com/office/drawing/2014/main" val="10007"/>
                  </a:ext>
                </a:extLst>
              </a:tr>
              <a:tr h="370840">
                <a:tc>
                  <a:txBody>
                    <a:bodyPr/>
                    <a:lstStyle/>
                    <a:p>
                      <a:r>
                        <a:rPr lang="en-US" sz="1800" dirty="0"/>
                        <a:t>AICD</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1800" dirty="0"/>
                        <a:t>Automatic implantable </a:t>
                      </a:r>
                      <a:r>
                        <a:rPr lang="en-US" altLang="en-US" sz="1800" dirty="0" err="1"/>
                        <a:t>cardioverter</a:t>
                      </a:r>
                      <a:r>
                        <a:rPr lang="en-US" altLang="en-US" sz="1800" dirty="0"/>
                        <a:t>-defibrillator</a:t>
                      </a:r>
                    </a:p>
                  </a:txBody>
                  <a:tcPr/>
                </a:tc>
                <a:extLst>
                  <a:ext uri="{0D108BD9-81ED-4DB2-BD59-A6C34878D82A}">
                    <a16:rowId xmlns:a16="http://schemas.microsoft.com/office/drawing/2014/main" val="10008"/>
                  </a:ext>
                </a:extLst>
              </a:tr>
              <a:tr h="370840">
                <a:tc>
                  <a:txBody>
                    <a:bodyPr/>
                    <a:lstStyle/>
                    <a:p>
                      <a:r>
                        <a:rPr lang="en-US" sz="1800" dirty="0"/>
                        <a:t>AMI</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1800" dirty="0"/>
                        <a:t>Acute myocardial infarction</a:t>
                      </a:r>
                    </a:p>
                  </a:txBody>
                  <a:tcPr/>
                </a:tc>
                <a:extLst>
                  <a:ext uri="{0D108BD9-81ED-4DB2-BD59-A6C34878D82A}">
                    <a16:rowId xmlns:a16="http://schemas.microsoft.com/office/drawing/2014/main" val="10009"/>
                  </a:ext>
                </a:extLst>
              </a:tr>
              <a:tr h="370840">
                <a:tc>
                  <a:txBody>
                    <a:bodyPr/>
                    <a:lstStyle/>
                    <a:p>
                      <a:r>
                        <a:rPr lang="en-US" sz="1800" dirty="0"/>
                        <a:t>ARVD</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1800" dirty="0" err="1"/>
                        <a:t>Arrhythmogenic</a:t>
                      </a:r>
                      <a:r>
                        <a:rPr lang="en-US" altLang="en-US" sz="1800" dirty="0"/>
                        <a:t> right ventricular dysplasia</a:t>
                      </a:r>
                    </a:p>
                  </a:txBody>
                  <a:tcPr/>
                </a:tc>
                <a:extLst>
                  <a:ext uri="{0D108BD9-81ED-4DB2-BD59-A6C34878D82A}">
                    <a16:rowId xmlns:a16="http://schemas.microsoft.com/office/drawing/2014/main" val="10010"/>
                  </a:ext>
                </a:extLst>
              </a:tr>
              <a:tr h="370840">
                <a:tc>
                  <a:txBody>
                    <a:bodyPr/>
                    <a:lstStyle/>
                    <a:p>
                      <a:r>
                        <a:rPr lang="en-US" sz="1800" dirty="0"/>
                        <a:t>ARB</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1800" dirty="0" err="1"/>
                        <a:t>angiotension</a:t>
                      </a:r>
                      <a:r>
                        <a:rPr lang="en-US" altLang="en-US" sz="1800" dirty="0"/>
                        <a:t> II receptor blocker</a:t>
                      </a:r>
                    </a:p>
                  </a:txBody>
                  <a:tcPr/>
                </a:tc>
                <a:extLst>
                  <a:ext uri="{0D108BD9-81ED-4DB2-BD59-A6C34878D82A}">
                    <a16:rowId xmlns:a16="http://schemas.microsoft.com/office/drawing/2014/main" val="10011"/>
                  </a:ext>
                </a:extLst>
              </a:tr>
              <a:tr h="370840">
                <a:tc>
                  <a:txBody>
                    <a:bodyPr/>
                    <a:lstStyle/>
                    <a:p>
                      <a:r>
                        <a:rPr lang="en-US" sz="1800" dirty="0"/>
                        <a:t>AS</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1800" dirty="0"/>
                        <a:t>Aortic stenosis</a:t>
                      </a:r>
                    </a:p>
                  </a:txBody>
                  <a:tcPr/>
                </a:tc>
                <a:extLst>
                  <a:ext uri="{0D108BD9-81ED-4DB2-BD59-A6C34878D82A}">
                    <a16:rowId xmlns:a16="http://schemas.microsoft.com/office/drawing/2014/main" val="10012"/>
                  </a:ext>
                </a:extLst>
              </a:tr>
              <a:tr h="370840">
                <a:tc>
                  <a:txBody>
                    <a:bodyPr/>
                    <a:lstStyle/>
                    <a:p>
                      <a:r>
                        <a:rPr lang="en-US" sz="1800" dirty="0"/>
                        <a:t>ASD</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1800" dirty="0"/>
                        <a:t>Atrial </a:t>
                      </a:r>
                      <a:r>
                        <a:rPr lang="en-US" altLang="en-US" sz="1800" dirty="0" err="1"/>
                        <a:t>septal</a:t>
                      </a:r>
                      <a:r>
                        <a:rPr lang="en-US" altLang="en-US" sz="1800" dirty="0"/>
                        <a:t> defect</a:t>
                      </a:r>
                    </a:p>
                  </a:txBody>
                  <a:tcPr/>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338425331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Abbreviations (Slide 2 of 9)</a:t>
            </a:r>
          </a:p>
        </p:txBody>
      </p:sp>
      <p:graphicFrame>
        <p:nvGraphicFramePr>
          <p:cNvPr id="8" name="Content Placeholder 7" descr="Group 2 of 9 Abbreviations with corresponding meanings."/>
          <p:cNvGraphicFramePr>
            <a:graphicFrameLocks noGrp="1"/>
          </p:cNvGraphicFramePr>
          <p:nvPr>
            <p:ph idx="1"/>
            <p:extLst>
              <p:ext uri="{D42A27DB-BD31-4B8C-83A1-F6EECF244321}">
                <p14:modId xmlns:p14="http://schemas.microsoft.com/office/powerpoint/2010/main" val="2150380130"/>
              </p:ext>
            </p:extLst>
          </p:nvPr>
        </p:nvGraphicFramePr>
        <p:xfrm>
          <a:off x="457200" y="1219200"/>
          <a:ext cx="8229600" cy="5212080"/>
        </p:xfrm>
        <a:graphic>
          <a:graphicData uri="http://schemas.openxmlformats.org/drawingml/2006/table">
            <a:tbl>
              <a:tblPr firstRow="1" bandRow="1">
                <a:tableStyleId>{C083E6E3-FA7D-4D7B-A595-EF9225AFEA82}</a:tableStyleId>
              </a:tblPr>
              <a:tblGrid>
                <a:gridCol w="1981200">
                  <a:extLst>
                    <a:ext uri="{9D8B030D-6E8A-4147-A177-3AD203B41FA5}">
                      <a16:colId xmlns:a16="http://schemas.microsoft.com/office/drawing/2014/main" val="20000"/>
                    </a:ext>
                  </a:extLst>
                </a:gridCol>
                <a:gridCol w="6248400">
                  <a:extLst>
                    <a:ext uri="{9D8B030D-6E8A-4147-A177-3AD203B41FA5}">
                      <a16:colId xmlns:a16="http://schemas.microsoft.com/office/drawing/2014/main" val="20001"/>
                    </a:ext>
                  </a:extLst>
                </a:gridCol>
              </a:tblGrid>
              <a:tr h="370840">
                <a:tc>
                  <a:txBody>
                    <a:bodyPr/>
                    <a:lstStyle/>
                    <a:p>
                      <a:r>
                        <a:rPr lang="en-US" sz="2400" dirty="0"/>
                        <a:t>Abbreviation</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000" dirty="0"/>
                        <a:t>AV, A-V</a:t>
                      </a:r>
                    </a:p>
                  </a:txBody>
                  <a:tcPr/>
                </a:tc>
                <a:tc>
                  <a:txBody>
                    <a:bodyPr/>
                    <a:lstStyle/>
                    <a:p>
                      <a:r>
                        <a:rPr lang="en-US" altLang="en-US" sz="2000" dirty="0" err="1"/>
                        <a:t>Atrioventricular</a:t>
                      </a:r>
                      <a:endParaRPr lang="en-US" sz="2000" dirty="0"/>
                    </a:p>
                  </a:txBody>
                  <a:tcPr/>
                </a:tc>
                <a:extLst>
                  <a:ext uri="{0D108BD9-81ED-4DB2-BD59-A6C34878D82A}">
                    <a16:rowId xmlns:a16="http://schemas.microsoft.com/office/drawing/2014/main" val="10001"/>
                  </a:ext>
                </a:extLst>
              </a:tr>
              <a:tr h="370840">
                <a:tc>
                  <a:txBody>
                    <a:bodyPr/>
                    <a:lstStyle/>
                    <a:p>
                      <a:r>
                        <a:rPr lang="en-US" altLang="en-US" sz="2000" dirty="0"/>
                        <a:t>AVR</a:t>
                      </a:r>
                      <a:endParaRPr lang="en-US" sz="20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000" dirty="0"/>
                        <a:t>Aortic valve replacement</a:t>
                      </a:r>
                    </a:p>
                  </a:txBody>
                  <a:tcPr/>
                </a:tc>
                <a:extLst>
                  <a:ext uri="{0D108BD9-81ED-4DB2-BD59-A6C34878D82A}">
                    <a16:rowId xmlns:a16="http://schemas.microsoft.com/office/drawing/2014/main" val="10002"/>
                  </a:ext>
                </a:extLst>
              </a:tr>
              <a:tr h="370840">
                <a:tc>
                  <a:txBody>
                    <a:bodyPr/>
                    <a:lstStyle/>
                    <a:p>
                      <a:r>
                        <a:rPr lang="en-US" altLang="en-US" sz="2000" dirty="0"/>
                        <a:t>BBB</a:t>
                      </a:r>
                      <a:endParaRPr lang="en-US" sz="20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000" dirty="0"/>
                        <a:t>Bundle branch block</a:t>
                      </a:r>
                    </a:p>
                  </a:txBody>
                  <a:tcPr/>
                </a:tc>
                <a:extLst>
                  <a:ext uri="{0D108BD9-81ED-4DB2-BD59-A6C34878D82A}">
                    <a16:rowId xmlns:a16="http://schemas.microsoft.com/office/drawing/2014/main" val="10003"/>
                  </a:ext>
                </a:extLst>
              </a:tr>
              <a:tr h="370840">
                <a:tc>
                  <a:txBody>
                    <a:bodyPr/>
                    <a:lstStyle/>
                    <a:p>
                      <a:r>
                        <a:rPr lang="en-US" altLang="en-US" sz="2000" dirty="0"/>
                        <a:t>BNP</a:t>
                      </a:r>
                      <a:endParaRPr lang="en-US" sz="20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000" dirty="0"/>
                        <a:t>Brain natriuretic peptide</a:t>
                      </a:r>
                    </a:p>
                  </a:txBody>
                  <a:tcPr/>
                </a:tc>
                <a:extLst>
                  <a:ext uri="{0D108BD9-81ED-4DB2-BD59-A6C34878D82A}">
                    <a16:rowId xmlns:a16="http://schemas.microsoft.com/office/drawing/2014/main" val="10004"/>
                  </a:ext>
                </a:extLst>
              </a:tr>
              <a:tr h="370840">
                <a:tc>
                  <a:txBody>
                    <a:bodyPr/>
                    <a:lstStyle/>
                    <a:p>
                      <a:r>
                        <a:rPr lang="en-US" altLang="en-US" sz="2000" dirty="0"/>
                        <a:t>BP</a:t>
                      </a:r>
                      <a:endParaRPr lang="en-US" sz="20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000" dirty="0"/>
                        <a:t>Blood pressure</a:t>
                      </a:r>
                    </a:p>
                  </a:txBody>
                  <a:tcPr/>
                </a:tc>
                <a:extLst>
                  <a:ext uri="{0D108BD9-81ED-4DB2-BD59-A6C34878D82A}">
                    <a16:rowId xmlns:a16="http://schemas.microsoft.com/office/drawing/2014/main" val="10005"/>
                  </a:ext>
                </a:extLst>
              </a:tr>
              <a:tr h="370840">
                <a:tc>
                  <a:txBody>
                    <a:bodyPr/>
                    <a:lstStyle/>
                    <a:p>
                      <a:r>
                        <a:rPr lang="en-US" altLang="en-US" sz="2000" dirty="0"/>
                        <a:t>CABG</a:t>
                      </a:r>
                      <a:endParaRPr lang="en-US" sz="20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000" dirty="0"/>
                        <a:t>Coronary artery bypass grafting</a:t>
                      </a:r>
                    </a:p>
                  </a:txBody>
                  <a:tcPr/>
                </a:tc>
                <a:extLst>
                  <a:ext uri="{0D108BD9-81ED-4DB2-BD59-A6C34878D82A}">
                    <a16:rowId xmlns:a16="http://schemas.microsoft.com/office/drawing/2014/main" val="10006"/>
                  </a:ext>
                </a:extLst>
              </a:tr>
              <a:tr h="370840">
                <a:tc>
                  <a:txBody>
                    <a:bodyPr/>
                    <a:lstStyle/>
                    <a:p>
                      <a:r>
                        <a:rPr lang="en-US" altLang="en-US" sz="2000" dirty="0"/>
                        <a:t>CAD</a:t>
                      </a:r>
                      <a:endParaRPr lang="en-US" sz="20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000" dirty="0"/>
                        <a:t>Coronary artery disease</a:t>
                      </a:r>
                    </a:p>
                  </a:txBody>
                  <a:tcPr/>
                </a:tc>
                <a:extLst>
                  <a:ext uri="{0D108BD9-81ED-4DB2-BD59-A6C34878D82A}">
                    <a16:rowId xmlns:a16="http://schemas.microsoft.com/office/drawing/2014/main" val="10007"/>
                  </a:ext>
                </a:extLst>
              </a:tr>
              <a:tr h="370840">
                <a:tc>
                  <a:txBody>
                    <a:bodyPr/>
                    <a:lstStyle/>
                    <a:p>
                      <a:r>
                        <a:rPr lang="en-US" altLang="en-US" sz="2000" dirty="0"/>
                        <a:t>CCU</a:t>
                      </a:r>
                      <a:endParaRPr lang="en-US" sz="20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000" dirty="0"/>
                        <a:t>Coronary care unit</a:t>
                      </a:r>
                    </a:p>
                  </a:txBody>
                  <a:tcPr/>
                </a:tc>
                <a:extLst>
                  <a:ext uri="{0D108BD9-81ED-4DB2-BD59-A6C34878D82A}">
                    <a16:rowId xmlns:a16="http://schemas.microsoft.com/office/drawing/2014/main" val="10008"/>
                  </a:ext>
                </a:extLst>
              </a:tr>
              <a:tr h="370840">
                <a:tc>
                  <a:txBody>
                    <a:bodyPr/>
                    <a:lstStyle/>
                    <a:p>
                      <a:r>
                        <a:rPr lang="en-US" altLang="en-US" sz="2000" dirty="0" err="1"/>
                        <a:t>Cath</a:t>
                      </a:r>
                      <a:endParaRPr lang="en-US" sz="2000" dirty="0"/>
                    </a:p>
                  </a:txBody>
                  <a:tcPr/>
                </a:tc>
                <a:tc>
                  <a:txBody>
                    <a:bodyPr/>
                    <a:lstStyle/>
                    <a:p>
                      <a:r>
                        <a:rPr lang="en-US" altLang="en-US" sz="2000" dirty="0"/>
                        <a:t>Catheterization</a:t>
                      </a:r>
                      <a:endParaRPr lang="en-US" sz="2000" dirty="0"/>
                    </a:p>
                  </a:txBody>
                  <a:tcPr/>
                </a:tc>
                <a:extLst>
                  <a:ext uri="{0D108BD9-81ED-4DB2-BD59-A6C34878D82A}">
                    <a16:rowId xmlns:a16="http://schemas.microsoft.com/office/drawing/2014/main" val="10009"/>
                  </a:ext>
                </a:extLst>
              </a:tr>
              <a:tr h="370840">
                <a:tc>
                  <a:txBody>
                    <a:bodyPr/>
                    <a:lstStyle/>
                    <a:p>
                      <a:r>
                        <a:rPr lang="en-US" altLang="en-US" sz="2000" dirty="0"/>
                        <a:t>CHF</a:t>
                      </a:r>
                      <a:endParaRPr lang="en-US" sz="20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000" dirty="0"/>
                        <a:t>Congestive heart failure</a:t>
                      </a:r>
                    </a:p>
                  </a:txBody>
                  <a:tcPr/>
                </a:tc>
                <a:extLst>
                  <a:ext uri="{0D108BD9-81ED-4DB2-BD59-A6C34878D82A}">
                    <a16:rowId xmlns:a16="http://schemas.microsoft.com/office/drawing/2014/main" val="10010"/>
                  </a:ext>
                </a:extLst>
              </a:tr>
              <a:tr h="370840">
                <a:tc>
                  <a:txBody>
                    <a:bodyPr/>
                    <a:lstStyle/>
                    <a:p>
                      <a:r>
                        <a:rPr lang="en-US" altLang="en-US" sz="2000" dirty="0"/>
                        <a:t>CK</a:t>
                      </a:r>
                      <a:endParaRPr lang="en-US" sz="20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000" dirty="0"/>
                        <a:t>Creatinine kinase</a:t>
                      </a:r>
                    </a:p>
                  </a:txBody>
                  <a:tcPr/>
                </a:tc>
                <a:extLst>
                  <a:ext uri="{0D108BD9-81ED-4DB2-BD59-A6C34878D82A}">
                    <a16:rowId xmlns:a16="http://schemas.microsoft.com/office/drawing/2014/main" val="10011"/>
                  </a:ext>
                </a:extLst>
              </a:tr>
              <a:tr h="370840">
                <a:tc>
                  <a:txBody>
                    <a:bodyPr/>
                    <a:lstStyle/>
                    <a:p>
                      <a:r>
                        <a:rPr lang="en-US" altLang="en-US" sz="2000" dirty="0"/>
                        <a:t>CoA</a:t>
                      </a:r>
                      <a:endParaRPr lang="en-US" sz="20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000" dirty="0" err="1"/>
                        <a:t>Coarctation</a:t>
                      </a:r>
                      <a:r>
                        <a:rPr lang="en-US" altLang="en-US" sz="2000" dirty="0"/>
                        <a:t> of the aorta</a:t>
                      </a:r>
                    </a:p>
                  </a:txBody>
                  <a:tcPr/>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316273037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Abbreviations (Slide 3 of 9)</a:t>
            </a:r>
          </a:p>
        </p:txBody>
      </p:sp>
      <p:graphicFrame>
        <p:nvGraphicFramePr>
          <p:cNvPr id="8" name="Content Placeholder 7" descr="Group 3 of 9 Abbreviations with corresponding meanings."/>
          <p:cNvGraphicFramePr>
            <a:graphicFrameLocks noGrp="1"/>
          </p:cNvGraphicFramePr>
          <p:nvPr>
            <p:ph idx="1"/>
            <p:extLst>
              <p:ext uri="{D42A27DB-BD31-4B8C-83A1-F6EECF244321}">
                <p14:modId xmlns:p14="http://schemas.microsoft.com/office/powerpoint/2010/main" val="4044636525"/>
              </p:ext>
            </p:extLst>
          </p:nvPr>
        </p:nvGraphicFramePr>
        <p:xfrm>
          <a:off x="457200" y="1295400"/>
          <a:ext cx="8229600" cy="5120640"/>
        </p:xfrm>
        <a:graphic>
          <a:graphicData uri="http://schemas.openxmlformats.org/drawingml/2006/table">
            <a:tbl>
              <a:tblPr firstRow="1" bandRow="1">
                <a:tableStyleId>{C083E6E3-FA7D-4D7B-A595-EF9225AFEA82}</a:tableStyleId>
              </a:tblPr>
              <a:tblGrid>
                <a:gridCol w="1981200">
                  <a:extLst>
                    <a:ext uri="{9D8B030D-6E8A-4147-A177-3AD203B41FA5}">
                      <a16:colId xmlns:a16="http://schemas.microsoft.com/office/drawing/2014/main" val="20000"/>
                    </a:ext>
                  </a:extLst>
                </a:gridCol>
                <a:gridCol w="6248400">
                  <a:extLst>
                    <a:ext uri="{9D8B030D-6E8A-4147-A177-3AD203B41FA5}">
                      <a16:colId xmlns:a16="http://schemas.microsoft.com/office/drawing/2014/main" val="20001"/>
                    </a:ext>
                  </a:extLst>
                </a:gridCol>
              </a:tblGrid>
              <a:tr h="370840">
                <a:tc>
                  <a:txBody>
                    <a:bodyPr/>
                    <a:lstStyle/>
                    <a:p>
                      <a:r>
                        <a:rPr lang="en-US" sz="2400" dirty="0"/>
                        <a:t>Abbreviation</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altLang="en-US" sz="2000" dirty="0"/>
                        <a:t>CPR</a:t>
                      </a:r>
                      <a:endParaRPr lang="en-US" sz="20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000" dirty="0"/>
                        <a:t>Cardiopulmonary resuscitation</a:t>
                      </a:r>
                    </a:p>
                  </a:txBody>
                  <a:tcPr/>
                </a:tc>
                <a:extLst>
                  <a:ext uri="{0D108BD9-81ED-4DB2-BD59-A6C34878D82A}">
                    <a16:rowId xmlns:a16="http://schemas.microsoft.com/office/drawing/2014/main" val="10001"/>
                  </a:ext>
                </a:extLst>
              </a:tr>
              <a:tr h="370840">
                <a:tc>
                  <a:txBody>
                    <a:bodyPr/>
                    <a:lstStyle/>
                    <a:p>
                      <a:r>
                        <a:rPr lang="en-US" altLang="en-US" sz="2000" dirty="0"/>
                        <a:t>CRT</a:t>
                      </a:r>
                      <a:endParaRPr lang="en-US" sz="20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000" dirty="0"/>
                        <a:t>Cardiac resynchronization therapy</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000" dirty="0"/>
                        <a:t>CTNI or </a:t>
                      </a:r>
                      <a:r>
                        <a:rPr lang="en-US" altLang="en-US" sz="2000" dirty="0" err="1"/>
                        <a:t>cTnI</a:t>
                      </a:r>
                      <a:r>
                        <a:rPr lang="en-US" altLang="en-US" sz="2000" dirty="0"/>
                        <a:t>; CTNT or </a:t>
                      </a:r>
                      <a:r>
                        <a:rPr lang="en-US" altLang="en-US" sz="2000" dirty="0" err="1"/>
                        <a:t>cTnT</a:t>
                      </a:r>
                      <a:endParaRPr lang="en-US" altLang="en-US" sz="20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000" dirty="0"/>
                        <a:t>Cardiac troponin-I and cardiac troponin-T</a:t>
                      </a:r>
                    </a:p>
                  </a:txBody>
                  <a:tcPr/>
                </a:tc>
                <a:extLst>
                  <a:ext uri="{0D108BD9-81ED-4DB2-BD59-A6C34878D82A}">
                    <a16:rowId xmlns:a16="http://schemas.microsoft.com/office/drawing/2014/main" val="10003"/>
                  </a:ext>
                </a:extLst>
              </a:tr>
              <a:tr h="370840">
                <a:tc>
                  <a:txBody>
                    <a:bodyPr/>
                    <a:lstStyle/>
                    <a:p>
                      <a:r>
                        <a:rPr lang="en-US" altLang="en-US" sz="2000" dirty="0"/>
                        <a:t>DES</a:t>
                      </a:r>
                      <a:endParaRPr lang="en-US" sz="20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000" dirty="0"/>
                        <a:t>Drug-eluting stent</a:t>
                      </a:r>
                    </a:p>
                  </a:txBody>
                  <a:tcPr/>
                </a:tc>
                <a:extLst>
                  <a:ext uri="{0D108BD9-81ED-4DB2-BD59-A6C34878D82A}">
                    <a16:rowId xmlns:a16="http://schemas.microsoft.com/office/drawing/2014/main" val="10004"/>
                  </a:ext>
                </a:extLst>
              </a:tr>
              <a:tr h="370840">
                <a:tc>
                  <a:txBody>
                    <a:bodyPr/>
                    <a:lstStyle/>
                    <a:p>
                      <a:r>
                        <a:rPr lang="en-US" altLang="en-US" sz="2000" dirty="0"/>
                        <a:t>DSA</a:t>
                      </a:r>
                      <a:endParaRPr lang="en-US" sz="20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000" dirty="0"/>
                        <a:t>Digital subtraction angiography</a:t>
                      </a:r>
                    </a:p>
                  </a:txBody>
                  <a:tcPr/>
                </a:tc>
                <a:extLst>
                  <a:ext uri="{0D108BD9-81ED-4DB2-BD59-A6C34878D82A}">
                    <a16:rowId xmlns:a16="http://schemas.microsoft.com/office/drawing/2014/main" val="10005"/>
                  </a:ext>
                </a:extLst>
              </a:tr>
              <a:tr h="370840">
                <a:tc>
                  <a:txBody>
                    <a:bodyPr/>
                    <a:lstStyle/>
                    <a:p>
                      <a:r>
                        <a:rPr lang="en-US" altLang="en-US" sz="2000" dirty="0"/>
                        <a:t>DVT</a:t>
                      </a:r>
                      <a:endParaRPr lang="en-US" sz="20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000" dirty="0"/>
                        <a:t>Deep vein thrombosis</a:t>
                      </a:r>
                    </a:p>
                  </a:txBody>
                  <a:tcPr/>
                </a:tc>
                <a:extLst>
                  <a:ext uri="{0D108BD9-81ED-4DB2-BD59-A6C34878D82A}">
                    <a16:rowId xmlns:a16="http://schemas.microsoft.com/office/drawing/2014/main" val="10006"/>
                  </a:ext>
                </a:extLst>
              </a:tr>
              <a:tr h="370840">
                <a:tc>
                  <a:txBody>
                    <a:bodyPr/>
                    <a:lstStyle/>
                    <a:p>
                      <a:r>
                        <a:rPr lang="en-US" altLang="en-US" sz="2000" dirty="0"/>
                        <a:t>ECMO</a:t>
                      </a:r>
                      <a:endParaRPr lang="en-US" sz="20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000" dirty="0"/>
                        <a:t>Extracorporeal membrane oxygenation</a:t>
                      </a:r>
                    </a:p>
                  </a:txBody>
                  <a:tcPr/>
                </a:tc>
                <a:extLst>
                  <a:ext uri="{0D108BD9-81ED-4DB2-BD59-A6C34878D82A}">
                    <a16:rowId xmlns:a16="http://schemas.microsoft.com/office/drawing/2014/main" val="10007"/>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000" dirty="0"/>
                        <a:t>ECG; also EKG</a:t>
                      </a:r>
                    </a:p>
                  </a:txBody>
                  <a:tcPr/>
                </a:tc>
                <a:tc>
                  <a:txBody>
                    <a:bodyPr/>
                    <a:lstStyle/>
                    <a:p>
                      <a:r>
                        <a:rPr lang="en-US" altLang="en-US" sz="2000" dirty="0"/>
                        <a:t>Electrocardiography</a:t>
                      </a:r>
                      <a:endParaRPr lang="en-US" sz="2000" dirty="0"/>
                    </a:p>
                  </a:txBody>
                  <a:tcPr/>
                </a:tc>
                <a:extLst>
                  <a:ext uri="{0D108BD9-81ED-4DB2-BD59-A6C34878D82A}">
                    <a16:rowId xmlns:a16="http://schemas.microsoft.com/office/drawing/2014/main" val="10008"/>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000" dirty="0"/>
                        <a:t>ECHO</a:t>
                      </a:r>
                    </a:p>
                  </a:txBody>
                  <a:tcPr/>
                </a:tc>
                <a:tc>
                  <a:txBody>
                    <a:bodyPr/>
                    <a:lstStyle/>
                    <a:p>
                      <a:r>
                        <a:rPr lang="en-US" altLang="en-US" sz="2000" dirty="0"/>
                        <a:t>Echocardiography</a:t>
                      </a:r>
                      <a:endParaRPr lang="en-US" sz="2000" dirty="0"/>
                    </a:p>
                  </a:txBody>
                  <a:tcPr/>
                </a:tc>
                <a:extLst>
                  <a:ext uri="{0D108BD9-81ED-4DB2-BD59-A6C34878D82A}">
                    <a16:rowId xmlns:a16="http://schemas.microsoft.com/office/drawing/2014/main" val="10009"/>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000" dirty="0"/>
                        <a:t>EF</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000" dirty="0"/>
                        <a:t>Ejection fraction</a:t>
                      </a:r>
                    </a:p>
                  </a:txBody>
                  <a:tcPr/>
                </a:tc>
                <a:extLst>
                  <a:ext uri="{0D108BD9-81ED-4DB2-BD59-A6C34878D82A}">
                    <a16:rowId xmlns:a16="http://schemas.microsoft.com/office/drawing/2014/main" val="1001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000" dirty="0"/>
                        <a:t>EPS</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000" dirty="0"/>
                        <a:t>Electrophysiology study</a:t>
                      </a:r>
                    </a:p>
                  </a:txBody>
                  <a:tcPr/>
                </a:tc>
                <a:extLst>
                  <a:ext uri="{0D108BD9-81ED-4DB2-BD59-A6C34878D82A}">
                    <a16:rowId xmlns:a16="http://schemas.microsoft.com/office/drawing/2014/main" val="10011"/>
                  </a:ext>
                </a:extLst>
              </a:tr>
            </a:tbl>
          </a:graphicData>
        </a:graphic>
      </p:graphicFrame>
    </p:spTree>
    <p:extLst>
      <p:ext uri="{BB962C8B-B14F-4D97-AF65-F5344CB8AC3E}">
        <p14:creationId xmlns:p14="http://schemas.microsoft.com/office/powerpoint/2010/main" val="406837591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Abbreviations (Slide 4 of 9)</a:t>
            </a:r>
          </a:p>
        </p:txBody>
      </p:sp>
      <p:graphicFrame>
        <p:nvGraphicFramePr>
          <p:cNvPr id="8" name="Content Placeholder 7" descr="Group 4 of 9 Abbreviations with corresponding meanings."/>
          <p:cNvGraphicFramePr>
            <a:graphicFrameLocks noGrp="1"/>
          </p:cNvGraphicFramePr>
          <p:nvPr>
            <p:ph idx="1"/>
            <p:extLst>
              <p:ext uri="{D42A27DB-BD31-4B8C-83A1-F6EECF244321}">
                <p14:modId xmlns:p14="http://schemas.microsoft.com/office/powerpoint/2010/main" val="3158205429"/>
              </p:ext>
            </p:extLst>
          </p:nvPr>
        </p:nvGraphicFramePr>
        <p:xfrm>
          <a:off x="457200" y="1295400"/>
          <a:ext cx="8229600" cy="4480560"/>
        </p:xfrm>
        <a:graphic>
          <a:graphicData uri="http://schemas.openxmlformats.org/drawingml/2006/table">
            <a:tbl>
              <a:tblPr firstRow="1" bandRow="1">
                <a:tableStyleId>{C083E6E3-FA7D-4D7B-A595-EF9225AFEA82}</a:tableStyleId>
              </a:tblPr>
              <a:tblGrid>
                <a:gridCol w="1981200">
                  <a:extLst>
                    <a:ext uri="{9D8B030D-6E8A-4147-A177-3AD203B41FA5}">
                      <a16:colId xmlns:a16="http://schemas.microsoft.com/office/drawing/2014/main" val="20000"/>
                    </a:ext>
                  </a:extLst>
                </a:gridCol>
                <a:gridCol w="6248400">
                  <a:extLst>
                    <a:ext uri="{9D8B030D-6E8A-4147-A177-3AD203B41FA5}">
                      <a16:colId xmlns:a16="http://schemas.microsoft.com/office/drawing/2014/main" val="20001"/>
                    </a:ext>
                  </a:extLst>
                </a:gridCol>
              </a:tblGrid>
              <a:tr h="370840">
                <a:tc>
                  <a:txBody>
                    <a:bodyPr/>
                    <a:lstStyle/>
                    <a:p>
                      <a:r>
                        <a:rPr lang="en-US" sz="2400" dirty="0"/>
                        <a:t>Abbreviation</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altLang="en-US" sz="2400" dirty="0"/>
                        <a:t>ETT</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Exercise tolerance test</a:t>
                      </a:r>
                      <a:endParaRPr lang="en-US" altLang="en-US" sz="2400" dirty="0">
                        <a:ea typeface="MS PGothic" panose="020B0600070205080204" pitchFamily="34" charset="-128"/>
                      </a:endParaRP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ETT-MIBI</a:t>
                      </a:r>
                    </a:p>
                  </a:txBody>
                  <a:tcPr/>
                </a:tc>
                <a:tc>
                  <a:txBody>
                    <a:bodyPr/>
                    <a:lstStyle/>
                    <a:p>
                      <a:pPr marL="0" indent="0" eaLnBrk="1" hangingPunct="1">
                        <a:buFont typeface="Wingdings 2" panose="05020102010507070707" pitchFamily="18" charset="2"/>
                        <a:buNone/>
                      </a:pPr>
                      <a:r>
                        <a:rPr lang="en-US" altLang="en-US" sz="2400" dirty="0"/>
                        <a:t>Exercise tolerance test combined with a radioactive tracer</a:t>
                      </a:r>
                      <a:r>
                        <a:rPr lang="en-US" altLang="en-US" sz="2400" baseline="0" dirty="0"/>
                        <a:t> </a:t>
                      </a:r>
                      <a:r>
                        <a:rPr lang="en-US" altLang="en-US" sz="2400" dirty="0"/>
                        <a:t>(</a:t>
                      </a:r>
                      <a:r>
                        <a:rPr lang="en-US" altLang="en-US" sz="2400" dirty="0" err="1"/>
                        <a:t>sestamibi</a:t>
                      </a:r>
                      <a:r>
                        <a:rPr lang="en-US" altLang="en-US" sz="2400" dirty="0"/>
                        <a:t>) scan</a:t>
                      </a:r>
                      <a:endParaRPr lang="en-US" altLang="en-US" sz="2400" dirty="0">
                        <a:ea typeface="MS PGothic" panose="020B0600070205080204" pitchFamily="34" charset="-128"/>
                      </a:endParaRPr>
                    </a:p>
                  </a:txBody>
                  <a:tcPr/>
                </a:tc>
                <a:extLst>
                  <a:ext uri="{0D108BD9-81ED-4DB2-BD59-A6C34878D82A}">
                    <a16:rowId xmlns:a16="http://schemas.microsoft.com/office/drawing/2014/main" val="10002"/>
                  </a:ext>
                </a:extLst>
              </a:tr>
              <a:tr h="370840">
                <a:tc>
                  <a:txBody>
                    <a:bodyPr/>
                    <a:lstStyle/>
                    <a:p>
                      <a:r>
                        <a:rPr lang="en-US" altLang="en-US" sz="2400" dirty="0"/>
                        <a:t>EVAR</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Endovascular aneurysm repair</a:t>
                      </a:r>
                      <a:endParaRPr lang="en-US" altLang="en-US" sz="2400" dirty="0">
                        <a:ea typeface="MS PGothic" panose="020B0600070205080204" pitchFamily="34" charset="-128"/>
                      </a:endParaRPr>
                    </a:p>
                  </a:txBody>
                  <a:tcPr/>
                </a:tc>
                <a:extLst>
                  <a:ext uri="{0D108BD9-81ED-4DB2-BD59-A6C34878D82A}">
                    <a16:rowId xmlns:a16="http://schemas.microsoft.com/office/drawing/2014/main" val="10003"/>
                  </a:ext>
                </a:extLst>
              </a:tr>
              <a:tr h="370840">
                <a:tc>
                  <a:txBody>
                    <a:bodyPr/>
                    <a:lstStyle/>
                    <a:p>
                      <a:r>
                        <a:rPr lang="en-US" altLang="en-US" sz="2400" dirty="0"/>
                        <a:t>FFR</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Fractional flow reserve</a:t>
                      </a:r>
                      <a:endParaRPr lang="en-US" altLang="en-US" sz="2400" dirty="0">
                        <a:ea typeface="MS PGothic" panose="020B0600070205080204" pitchFamily="34" charset="-128"/>
                      </a:endParaRPr>
                    </a:p>
                  </a:txBody>
                  <a:tcPr/>
                </a:tc>
                <a:extLst>
                  <a:ext uri="{0D108BD9-81ED-4DB2-BD59-A6C34878D82A}">
                    <a16:rowId xmlns:a16="http://schemas.microsoft.com/office/drawing/2014/main" val="10004"/>
                  </a:ext>
                </a:extLst>
              </a:tr>
              <a:tr h="370840">
                <a:tc>
                  <a:txBody>
                    <a:bodyPr/>
                    <a:lstStyle/>
                    <a:p>
                      <a:r>
                        <a:rPr lang="en-US" altLang="en-US" sz="2400" dirty="0"/>
                        <a:t>HDL</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High-density lipoprotein</a:t>
                      </a:r>
                      <a:endParaRPr lang="en-US" altLang="en-US" sz="2400" dirty="0">
                        <a:ea typeface="MS PGothic" panose="020B0600070205080204" pitchFamily="34" charset="-128"/>
                      </a:endParaRPr>
                    </a:p>
                  </a:txBody>
                  <a:tcPr/>
                </a:tc>
                <a:extLst>
                  <a:ext uri="{0D108BD9-81ED-4DB2-BD59-A6C34878D82A}">
                    <a16:rowId xmlns:a16="http://schemas.microsoft.com/office/drawing/2014/main" val="10005"/>
                  </a:ext>
                </a:extLst>
              </a:tr>
              <a:tr h="370840">
                <a:tc>
                  <a:txBody>
                    <a:bodyPr/>
                    <a:lstStyle/>
                    <a:p>
                      <a:r>
                        <a:rPr lang="en-US" altLang="en-US" sz="2400" dirty="0" err="1"/>
                        <a:t>hsCRP</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High sensitivity C-reactive protein</a:t>
                      </a:r>
                      <a:endParaRPr lang="en-US" altLang="en-US" sz="2400" dirty="0">
                        <a:ea typeface="MS PGothic" panose="020B0600070205080204" pitchFamily="34" charset="-128"/>
                      </a:endParaRPr>
                    </a:p>
                  </a:txBody>
                  <a:tcPr/>
                </a:tc>
                <a:extLst>
                  <a:ext uri="{0D108BD9-81ED-4DB2-BD59-A6C34878D82A}">
                    <a16:rowId xmlns:a16="http://schemas.microsoft.com/office/drawing/2014/main" val="10006"/>
                  </a:ext>
                </a:extLst>
              </a:tr>
              <a:tr h="370840">
                <a:tc>
                  <a:txBody>
                    <a:bodyPr/>
                    <a:lstStyle/>
                    <a:p>
                      <a:r>
                        <a:rPr lang="en-US" altLang="en-US" sz="2400" dirty="0"/>
                        <a:t>HTN</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Hypertension (high blood pressure)</a:t>
                      </a:r>
                      <a:endParaRPr lang="en-US" altLang="en-US" sz="2400" dirty="0">
                        <a:ea typeface="MS PGothic" panose="020B0600070205080204" pitchFamily="34" charset="-128"/>
                      </a:endParaRPr>
                    </a:p>
                  </a:txBody>
                  <a:tcPr/>
                </a:tc>
                <a:extLst>
                  <a:ext uri="{0D108BD9-81ED-4DB2-BD59-A6C34878D82A}">
                    <a16:rowId xmlns:a16="http://schemas.microsoft.com/office/drawing/2014/main" val="10007"/>
                  </a:ext>
                </a:extLst>
              </a:tr>
              <a:tr h="370840">
                <a:tc>
                  <a:txBody>
                    <a:bodyPr/>
                    <a:lstStyle/>
                    <a:p>
                      <a:r>
                        <a:rPr lang="en-US" altLang="en-US" sz="2400" dirty="0"/>
                        <a:t>IABP</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Intra-aortic balloon pump</a:t>
                      </a:r>
                      <a:endParaRPr lang="en-US" altLang="en-US" sz="2400" dirty="0">
                        <a:ea typeface="MS PGothic" panose="020B0600070205080204" pitchFamily="34" charset="-128"/>
                      </a:endParaRPr>
                    </a:p>
                  </a:txBody>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5579705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Abbreviations (Slide 5 of 9)</a:t>
            </a:r>
          </a:p>
        </p:txBody>
      </p:sp>
      <p:graphicFrame>
        <p:nvGraphicFramePr>
          <p:cNvPr id="8" name="Content Placeholder 7" descr="Group 5 of 9 Abbreviations with corresponding meanings."/>
          <p:cNvGraphicFramePr>
            <a:graphicFrameLocks noGrp="1"/>
          </p:cNvGraphicFramePr>
          <p:nvPr>
            <p:ph idx="1"/>
            <p:extLst>
              <p:ext uri="{D42A27DB-BD31-4B8C-83A1-F6EECF244321}">
                <p14:modId xmlns:p14="http://schemas.microsoft.com/office/powerpoint/2010/main" val="2884212279"/>
              </p:ext>
            </p:extLst>
          </p:nvPr>
        </p:nvGraphicFramePr>
        <p:xfrm>
          <a:off x="457200" y="1295400"/>
          <a:ext cx="8229600" cy="3657600"/>
        </p:xfrm>
        <a:graphic>
          <a:graphicData uri="http://schemas.openxmlformats.org/drawingml/2006/table">
            <a:tbl>
              <a:tblPr firstRow="1" bandRow="1">
                <a:tableStyleId>{C083E6E3-FA7D-4D7B-A595-EF9225AFEA82}</a:tableStyleId>
              </a:tblPr>
              <a:tblGrid>
                <a:gridCol w="1981200">
                  <a:extLst>
                    <a:ext uri="{9D8B030D-6E8A-4147-A177-3AD203B41FA5}">
                      <a16:colId xmlns:a16="http://schemas.microsoft.com/office/drawing/2014/main" val="20000"/>
                    </a:ext>
                  </a:extLst>
                </a:gridCol>
                <a:gridCol w="6248400">
                  <a:extLst>
                    <a:ext uri="{9D8B030D-6E8A-4147-A177-3AD203B41FA5}">
                      <a16:colId xmlns:a16="http://schemas.microsoft.com/office/drawing/2014/main" val="20001"/>
                    </a:ext>
                  </a:extLst>
                </a:gridCol>
              </a:tblGrid>
              <a:tr h="370840">
                <a:tc>
                  <a:txBody>
                    <a:bodyPr/>
                    <a:lstStyle/>
                    <a:p>
                      <a:r>
                        <a:rPr lang="en-US" sz="2400" dirty="0"/>
                        <a:t>Abbreviation</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altLang="en-US" sz="2400" dirty="0"/>
                        <a:t>ICD</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Implantable </a:t>
                      </a:r>
                      <a:r>
                        <a:rPr lang="en-US" altLang="en-US" sz="2400" dirty="0" err="1"/>
                        <a:t>cardioverter</a:t>
                      </a:r>
                      <a:r>
                        <a:rPr lang="en-US" altLang="en-US" sz="2400" dirty="0"/>
                        <a:t>-defibrillator</a:t>
                      </a:r>
                      <a:endParaRPr lang="en-US" altLang="en-US" sz="2400" dirty="0">
                        <a:ea typeface="MS PGothic" panose="020B0600070205080204" pitchFamily="34" charset="-128"/>
                      </a:endParaRPr>
                    </a:p>
                  </a:txBody>
                  <a:tcPr/>
                </a:tc>
                <a:extLst>
                  <a:ext uri="{0D108BD9-81ED-4DB2-BD59-A6C34878D82A}">
                    <a16:rowId xmlns:a16="http://schemas.microsoft.com/office/drawing/2014/main" val="10001"/>
                  </a:ext>
                </a:extLst>
              </a:tr>
              <a:tr h="370840">
                <a:tc>
                  <a:txBody>
                    <a:bodyPr/>
                    <a:lstStyle/>
                    <a:p>
                      <a:r>
                        <a:rPr lang="en-US" altLang="en-US" sz="2400" dirty="0"/>
                        <a:t>IVUS</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Intravascular ultrasound</a:t>
                      </a:r>
                      <a:endParaRPr lang="en-US" altLang="en-US" sz="2400" dirty="0">
                        <a:ea typeface="MS PGothic" panose="020B0600070205080204" pitchFamily="34" charset="-128"/>
                      </a:endParaRPr>
                    </a:p>
                  </a:txBody>
                  <a:tcPr/>
                </a:tc>
                <a:extLst>
                  <a:ext uri="{0D108BD9-81ED-4DB2-BD59-A6C34878D82A}">
                    <a16:rowId xmlns:a16="http://schemas.microsoft.com/office/drawing/2014/main" val="10002"/>
                  </a:ext>
                </a:extLst>
              </a:tr>
              <a:tr h="370840">
                <a:tc>
                  <a:txBody>
                    <a:bodyPr/>
                    <a:lstStyle/>
                    <a:p>
                      <a:r>
                        <a:rPr lang="en-US" altLang="en-US" sz="2400" dirty="0"/>
                        <a:t>LAD</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Left anterior descending (coronary artery)</a:t>
                      </a:r>
                      <a:endParaRPr lang="en-US" altLang="en-US" sz="2400" dirty="0">
                        <a:ea typeface="MS PGothic" panose="020B0600070205080204" pitchFamily="34" charset="-128"/>
                      </a:endParaRPr>
                    </a:p>
                  </a:txBody>
                  <a:tcPr/>
                </a:tc>
                <a:extLst>
                  <a:ext uri="{0D108BD9-81ED-4DB2-BD59-A6C34878D82A}">
                    <a16:rowId xmlns:a16="http://schemas.microsoft.com/office/drawing/2014/main" val="10003"/>
                  </a:ext>
                </a:extLst>
              </a:tr>
              <a:tr h="370840">
                <a:tc>
                  <a:txBody>
                    <a:bodyPr/>
                    <a:lstStyle/>
                    <a:p>
                      <a:r>
                        <a:rPr lang="en-US" altLang="en-US" sz="2400" dirty="0"/>
                        <a:t>LDL</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Low-density lipoprotein</a:t>
                      </a:r>
                      <a:endParaRPr lang="en-US" altLang="en-US" sz="2400" dirty="0">
                        <a:ea typeface="MS PGothic" panose="020B0600070205080204" pitchFamily="34" charset="-128"/>
                      </a:endParaRPr>
                    </a:p>
                  </a:txBody>
                  <a:tcPr/>
                </a:tc>
                <a:extLst>
                  <a:ext uri="{0D108BD9-81ED-4DB2-BD59-A6C34878D82A}">
                    <a16:rowId xmlns:a16="http://schemas.microsoft.com/office/drawing/2014/main" val="10004"/>
                  </a:ext>
                </a:extLst>
              </a:tr>
              <a:tr h="370840">
                <a:tc>
                  <a:txBody>
                    <a:bodyPr/>
                    <a:lstStyle/>
                    <a:p>
                      <a:r>
                        <a:rPr lang="en-US" altLang="en-US" sz="2400" dirty="0"/>
                        <a:t>LMWH</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Low-molecular-weight heparin</a:t>
                      </a:r>
                      <a:endParaRPr lang="en-US" altLang="en-US" sz="2400" dirty="0">
                        <a:ea typeface="MS PGothic" panose="020B0600070205080204" pitchFamily="34" charset="-128"/>
                      </a:endParaRPr>
                    </a:p>
                  </a:txBody>
                  <a:tcPr/>
                </a:tc>
                <a:extLst>
                  <a:ext uri="{0D108BD9-81ED-4DB2-BD59-A6C34878D82A}">
                    <a16:rowId xmlns:a16="http://schemas.microsoft.com/office/drawing/2014/main" val="10005"/>
                  </a:ext>
                </a:extLst>
              </a:tr>
              <a:tr h="370840">
                <a:tc>
                  <a:txBody>
                    <a:bodyPr/>
                    <a:lstStyle/>
                    <a:p>
                      <a:r>
                        <a:rPr lang="en-US" altLang="en-US" sz="2400" dirty="0"/>
                        <a:t>LV</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Left ventricle</a:t>
                      </a:r>
                      <a:endParaRPr lang="en-US" altLang="en-US" sz="2400" dirty="0">
                        <a:ea typeface="MS PGothic" panose="020B0600070205080204" pitchFamily="34" charset="-128"/>
                      </a:endParaRPr>
                    </a:p>
                  </a:txBody>
                  <a:tcPr/>
                </a:tc>
                <a:extLst>
                  <a:ext uri="{0D108BD9-81ED-4DB2-BD59-A6C34878D82A}">
                    <a16:rowId xmlns:a16="http://schemas.microsoft.com/office/drawing/2014/main" val="10006"/>
                  </a:ext>
                </a:extLst>
              </a:tr>
              <a:tr h="370840">
                <a:tc>
                  <a:txBody>
                    <a:bodyPr/>
                    <a:lstStyle/>
                    <a:p>
                      <a:r>
                        <a:rPr lang="en-US" altLang="en-US" sz="2400" dirty="0"/>
                        <a:t>LVAD</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Left ventricular assist device</a:t>
                      </a:r>
                      <a:endParaRPr lang="en-US" altLang="en-US" sz="2400" dirty="0">
                        <a:ea typeface="MS PGothic" panose="020B0600070205080204" pitchFamily="34" charset="-128"/>
                      </a:endParaRPr>
                    </a:p>
                  </a:txBody>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36004219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Abbreviations (Slide 6 of 9)</a:t>
            </a:r>
          </a:p>
        </p:txBody>
      </p:sp>
      <p:graphicFrame>
        <p:nvGraphicFramePr>
          <p:cNvPr id="8" name="Content Placeholder 7" descr="Group 6 of 9 Abbreviations with corresponding meanings."/>
          <p:cNvGraphicFramePr>
            <a:graphicFrameLocks noGrp="1"/>
          </p:cNvGraphicFramePr>
          <p:nvPr>
            <p:ph idx="1"/>
            <p:extLst>
              <p:ext uri="{D42A27DB-BD31-4B8C-83A1-F6EECF244321}">
                <p14:modId xmlns:p14="http://schemas.microsoft.com/office/powerpoint/2010/main" val="1716455297"/>
              </p:ext>
            </p:extLst>
          </p:nvPr>
        </p:nvGraphicFramePr>
        <p:xfrm>
          <a:off x="457200" y="1295400"/>
          <a:ext cx="8229600" cy="3200400"/>
        </p:xfrm>
        <a:graphic>
          <a:graphicData uri="http://schemas.openxmlformats.org/drawingml/2006/table">
            <a:tbl>
              <a:tblPr firstRow="1" bandRow="1">
                <a:tableStyleId>{C083E6E3-FA7D-4D7B-A595-EF9225AFEA82}</a:tableStyleId>
              </a:tblPr>
              <a:tblGrid>
                <a:gridCol w="1981200">
                  <a:extLst>
                    <a:ext uri="{9D8B030D-6E8A-4147-A177-3AD203B41FA5}">
                      <a16:colId xmlns:a16="http://schemas.microsoft.com/office/drawing/2014/main" val="20000"/>
                    </a:ext>
                  </a:extLst>
                </a:gridCol>
                <a:gridCol w="6248400">
                  <a:extLst>
                    <a:ext uri="{9D8B030D-6E8A-4147-A177-3AD203B41FA5}">
                      <a16:colId xmlns:a16="http://schemas.microsoft.com/office/drawing/2014/main" val="20001"/>
                    </a:ext>
                  </a:extLst>
                </a:gridCol>
              </a:tblGrid>
              <a:tr h="370840">
                <a:tc>
                  <a:txBody>
                    <a:bodyPr/>
                    <a:lstStyle/>
                    <a:p>
                      <a:r>
                        <a:rPr lang="en-US" sz="2400" dirty="0"/>
                        <a:t>Abbreviation</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altLang="en-US" sz="2400" dirty="0"/>
                        <a:t>LVH</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Left ventricular hypertrophy</a:t>
                      </a:r>
                      <a:endParaRPr lang="en-US" altLang="en-US" sz="2400" dirty="0">
                        <a:ea typeface="MS PGothic" panose="020B0600070205080204" pitchFamily="34" charset="-128"/>
                      </a:endParaRPr>
                    </a:p>
                  </a:txBody>
                  <a:tcPr/>
                </a:tc>
                <a:extLst>
                  <a:ext uri="{0D108BD9-81ED-4DB2-BD59-A6C34878D82A}">
                    <a16:rowId xmlns:a16="http://schemas.microsoft.com/office/drawing/2014/main" val="10001"/>
                  </a:ext>
                </a:extLst>
              </a:tr>
              <a:tr h="370840">
                <a:tc>
                  <a:txBody>
                    <a:bodyPr/>
                    <a:lstStyle/>
                    <a:p>
                      <a:r>
                        <a:rPr lang="en-US" altLang="en-US" sz="2400" dirty="0"/>
                        <a:t>MI</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Myocardial infarction</a:t>
                      </a:r>
                      <a:endParaRPr lang="en-US" altLang="en-US" sz="2400" dirty="0">
                        <a:ea typeface="MS PGothic" panose="020B0600070205080204" pitchFamily="34" charset="-128"/>
                      </a:endParaRPr>
                    </a:p>
                  </a:txBody>
                  <a:tcPr/>
                </a:tc>
                <a:extLst>
                  <a:ext uri="{0D108BD9-81ED-4DB2-BD59-A6C34878D82A}">
                    <a16:rowId xmlns:a16="http://schemas.microsoft.com/office/drawing/2014/main" val="10002"/>
                  </a:ext>
                </a:extLst>
              </a:tr>
              <a:tr h="370840">
                <a:tc>
                  <a:txBody>
                    <a:bodyPr/>
                    <a:lstStyle/>
                    <a:p>
                      <a:r>
                        <a:rPr lang="en-US" altLang="en-US" sz="2400" dirty="0"/>
                        <a:t>MUGA</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Multiple-gated acquisition scan</a:t>
                      </a:r>
                      <a:endParaRPr lang="en-US" altLang="en-US" sz="2400" dirty="0">
                        <a:ea typeface="MS PGothic" panose="020B0600070205080204" pitchFamily="34" charset="-128"/>
                      </a:endParaRPr>
                    </a:p>
                  </a:txBody>
                  <a:tcPr/>
                </a:tc>
                <a:extLst>
                  <a:ext uri="{0D108BD9-81ED-4DB2-BD59-A6C34878D82A}">
                    <a16:rowId xmlns:a16="http://schemas.microsoft.com/office/drawing/2014/main" val="10003"/>
                  </a:ext>
                </a:extLst>
              </a:tr>
              <a:tr h="370840">
                <a:tc>
                  <a:txBody>
                    <a:bodyPr/>
                    <a:lstStyle/>
                    <a:p>
                      <a:r>
                        <a:rPr lang="en-US" altLang="en-US" sz="2400" dirty="0"/>
                        <a:t>MVP</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Mitral valve prolapse</a:t>
                      </a:r>
                      <a:endParaRPr lang="en-US" altLang="en-US" sz="2400" dirty="0">
                        <a:ea typeface="MS PGothic" panose="020B0600070205080204" pitchFamily="34" charset="-128"/>
                      </a:endParaRPr>
                    </a:p>
                  </a:txBody>
                  <a:tcPr/>
                </a:tc>
                <a:extLst>
                  <a:ext uri="{0D108BD9-81ED-4DB2-BD59-A6C34878D82A}">
                    <a16:rowId xmlns:a16="http://schemas.microsoft.com/office/drawing/2014/main" val="10004"/>
                  </a:ext>
                </a:extLst>
              </a:tr>
              <a:tr h="370840">
                <a:tc>
                  <a:txBody>
                    <a:bodyPr/>
                    <a:lstStyle/>
                    <a:p>
                      <a:r>
                        <a:rPr lang="en-US" altLang="en-US" sz="2400" dirty="0"/>
                        <a:t>NSR</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Normal sinus rhythm</a:t>
                      </a:r>
                      <a:endParaRPr lang="en-US" altLang="en-US" sz="2400" dirty="0">
                        <a:ea typeface="MS PGothic" panose="020B0600070205080204" pitchFamily="34" charset="-128"/>
                      </a:endParaRPr>
                    </a:p>
                  </a:txBody>
                  <a:tcPr/>
                </a:tc>
                <a:extLst>
                  <a:ext uri="{0D108BD9-81ED-4DB2-BD59-A6C34878D82A}">
                    <a16:rowId xmlns:a16="http://schemas.microsoft.com/office/drawing/2014/main" val="10006"/>
                  </a:ext>
                </a:extLst>
              </a:tr>
              <a:tr h="370840">
                <a:tc>
                  <a:txBody>
                    <a:bodyPr/>
                    <a:lstStyle/>
                    <a:p>
                      <a:r>
                        <a:rPr lang="en-US" altLang="en-US" sz="2400" dirty="0"/>
                        <a:t>NSTEMI</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Non-ST elevation myocardial infarction</a:t>
                      </a:r>
                      <a:endParaRPr lang="en-US" altLang="en-US" sz="2400" dirty="0">
                        <a:ea typeface="MS PGothic" panose="020B0600070205080204" pitchFamily="34" charset="-128"/>
                      </a:endParaRPr>
                    </a:p>
                  </a:txBody>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346836746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Abbreviations (Slide 7 of 9)</a:t>
            </a:r>
          </a:p>
        </p:txBody>
      </p:sp>
      <p:graphicFrame>
        <p:nvGraphicFramePr>
          <p:cNvPr id="8" name="Content Placeholder 7" descr="Group 7 of 9 Abbreviations with corresponding meanings."/>
          <p:cNvGraphicFramePr>
            <a:graphicFrameLocks noGrp="1"/>
          </p:cNvGraphicFramePr>
          <p:nvPr>
            <p:ph idx="1"/>
            <p:extLst>
              <p:ext uri="{D42A27DB-BD31-4B8C-83A1-F6EECF244321}">
                <p14:modId xmlns:p14="http://schemas.microsoft.com/office/powerpoint/2010/main" val="3363010256"/>
              </p:ext>
            </p:extLst>
          </p:nvPr>
        </p:nvGraphicFramePr>
        <p:xfrm>
          <a:off x="457200" y="1295400"/>
          <a:ext cx="8229600" cy="4023360"/>
        </p:xfrm>
        <a:graphic>
          <a:graphicData uri="http://schemas.openxmlformats.org/drawingml/2006/table">
            <a:tbl>
              <a:tblPr firstRow="1" bandRow="1">
                <a:tableStyleId>{C083E6E3-FA7D-4D7B-A595-EF9225AFEA82}</a:tableStyleId>
              </a:tblPr>
              <a:tblGrid>
                <a:gridCol w="1981200">
                  <a:extLst>
                    <a:ext uri="{9D8B030D-6E8A-4147-A177-3AD203B41FA5}">
                      <a16:colId xmlns:a16="http://schemas.microsoft.com/office/drawing/2014/main" val="20000"/>
                    </a:ext>
                  </a:extLst>
                </a:gridCol>
                <a:gridCol w="6248400">
                  <a:extLst>
                    <a:ext uri="{9D8B030D-6E8A-4147-A177-3AD203B41FA5}">
                      <a16:colId xmlns:a16="http://schemas.microsoft.com/office/drawing/2014/main" val="20001"/>
                    </a:ext>
                  </a:extLst>
                </a:gridCol>
              </a:tblGrid>
              <a:tr h="370840">
                <a:tc>
                  <a:txBody>
                    <a:bodyPr/>
                    <a:lstStyle/>
                    <a:p>
                      <a:r>
                        <a:rPr lang="en-US" sz="2400" dirty="0"/>
                        <a:t>Abbreviation</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NT-</a:t>
                      </a:r>
                      <a:r>
                        <a:rPr lang="en-US" altLang="en-US" sz="2400" dirty="0" err="1"/>
                        <a:t>proBNP</a:t>
                      </a:r>
                      <a:endParaRPr lang="en-US" alt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N-terminal pro-peptide of BNP</a:t>
                      </a:r>
                      <a:endParaRPr lang="en-US" altLang="en-US" sz="2400" dirty="0">
                        <a:ea typeface="MS PGothic" panose="020B0600070205080204" pitchFamily="34" charset="-128"/>
                      </a:endParaRPr>
                    </a:p>
                  </a:txBody>
                  <a:tcPr/>
                </a:tc>
                <a:extLst>
                  <a:ext uri="{0D108BD9-81ED-4DB2-BD59-A6C34878D82A}">
                    <a16:rowId xmlns:a16="http://schemas.microsoft.com/office/drawing/2014/main" val="10001"/>
                  </a:ext>
                </a:extLst>
              </a:tr>
              <a:tr h="370840">
                <a:tc>
                  <a:txBody>
                    <a:bodyPr/>
                    <a:lstStyle/>
                    <a:p>
                      <a:r>
                        <a:rPr lang="en-US" altLang="en-US" sz="2400" dirty="0"/>
                        <a:t>PAC</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Premature atrial contraction</a:t>
                      </a:r>
                      <a:endParaRPr lang="en-US" altLang="en-US" sz="2400" dirty="0">
                        <a:ea typeface="MS PGothic" panose="020B0600070205080204" pitchFamily="34" charset="-128"/>
                      </a:endParaRPr>
                    </a:p>
                  </a:txBody>
                  <a:tcPr/>
                </a:tc>
                <a:extLst>
                  <a:ext uri="{0D108BD9-81ED-4DB2-BD59-A6C34878D82A}">
                    <a16:rowId xmlns:a16="http://schemas.microsoft.com/office/drawing/2014/main" val="10002"/>
                  </a:ext>
                </a:extLst>
              </a:tr>
              <a:tr h="370840">
                <a:tc>
                  <a:txBody>
                    <a:bodyPr/>
                    <a:lstStyle/>
                    <a:p>
                      <a:r>
                        <a:rPr lang="en-US" altLang="en-US" sz="2400" dirty="0"/>
                        <a:t>PCI</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Percutaneous coronary intervention</a:t>
                      </a:r>
                      <a:endParaRPr lang="en-US" altLang="en-US" sz="2400" dirty="0">
                        <a:ea typeface="MS PGothic" panose="020B0600070205080204" pitchFamily="34" charset="-128"/>
                      </a:endParaRPr>
                    </a:p>
                  </a:txBody>
                  <a:tcPr/>
                </a:tc>
                <a:extLst>
                  <a:ext uri="{0D108BD9-81ED-4DB2-BD59-A6C34878D82A}">
                    <a16:rowId xmlns:a16="http://schemas.microsoft.com/office/drawing/2014/main" val="10003"/>
                  </a:ext>
                </a:extLst>
              </a:tr>
              <a:tr h="370840">
                <a:tc>
                  <a:txBody>
                    <a:bodyPr/>
                    <a:lstStyle/>
                    <a:p>
                      <a:r>
                        <a:rPr lang="en-US" altLang="en-US" sz="2400" dirty="0"/>
                        <a:t>PDA</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Patent </a:t>
                      </a:r>
                      <a:r>
                        <a:rPr lang="en-US" altLang="en-US" sz="2400" dirty="0" err="1"/>
                        <a:t>ductus</a:t>
                      </a:r>
                      <a:r>
                        <a:rPr lang="en-US" altLang="en-US" sz="2400" dirty="0"/>
                        <a:t> </a:t>
                      </a:r>
                      <a:r>
                        <a:rPr lang="en-US" altLang="en-US" sz="2400" dirty="0" err="1"/>
                        <a:t>arteriosus</a:t>
                      </a:r>
                      <a:r>
                        <a:rPr lang="en-US" altLang="en-US" sz="2400" dirty="0"/>
                        <a:t>; posterior descending artery</a:t>
                      </a:r>
                      <a:endParaRPr lang="en-US" altLang="en-US" sz="2400" dirty="0">
                        <a:ea typeface="MS PGothic" panose="020B0600070205080204" pitchFamily="34" charset="-128"/>
                      </a:endParaRPr>
                    </a:p>
                  </a:txBody>
                  <a:tcPr/>
                </a:tc>
                <a:extLst>
                  <a:ext uri="{0D108BD9-81ED-4DB2-BD59-A6C34878D82A}">
                    <a16:rowId xmlns:a16="http://schemas.microsoft.com/office/drawing/2014/main" val="10004"/>
                  </a:ext>
                </a:extLst>
              </a:tr>
              <a:tr h="370840">
                <a:tc>
                  <a:txBody>
                    <a:bodyPr/>
                    <a:lstStyle/>
                    <a:p>
                      <a:r>
                        <a:rPr lang="en-US" altLang="en-US" sz="2400" dirty="0"/>
                        <a:t>PE</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Pulmonary embolus</a:t>
                      </a:r>
                      <a:endParaRPr lang="en-US" altLang="en-US" sz="2400" dirty="0">
                        <a:ea typeface="MS PGothic" panose="020B0600070205080204" pitchFamily="34" charset="-128"/>
                      </a:endParaRPr>
                    </a:p>
                  </a:txBody>
                  <a:tcPr/>
                </a:tc>
                <a:extLst>
                  <a:ext uri="{0D108BD9-81ED-4DB2-BD59-A6C34878D82A}">
                    <a16:rowId xmlns:a16="http://schemas.microsoft.com/office/drawing/2014/main" val="10005"/>
                  </a:ext>
                </a:extLst>
              </a:tr>
              <a:tr h="370840">
                <a:tc>
                  <a:txBody>
                    <a:bodyPr/>
                    <a:lstStyle/>
                    <a:p>
                      <a:r>
                        <a:rPr lang="en-US" altLang="en-US" sz="2400" dirty="0"/>
                        <a:t>PVC</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Premature ventricular contraction</a:t>
                      </a:r>
                      <a:endParaRPr lang="en-US" altLang="en-US" sz="2400" dirty="0">
                        <a:ea typeface="MS PGothic" panose="020B0600070205080204" pitchFamily="34" charset="-128"/>
                      </a:endParaRPr>
                    </a:p>
                  </a:txBody>
                  <a:tcPr/>
                </a:tc>
                <a:extLst>
                  <a:ext uri="{0D108BD9-81ED-4DB2-BD59-A6C34878D82A}">
                    <a16:rowId xmlns:a16="http://schemas.microsoft.com/office/drawing/2014/main" val="10006"/>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SA, S-A node</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err="1"/>
                        <a:t>Sinoatrial</a:t>
                      </a:r>
                      <a:r>
                        <a:rPr lang="en-US" altLang="en-US" sz="2400" dirty="0"/>
                        <a:t> node</a:t>
                      </a:r>
                      <a:endParaRPr lang="en-US" altLang="en-US" sz="2400" dirty="0">
                        <a:ea typeface="MS PGothic" panose="020B0600070205080204" pitchFamily="34" charset="-128"/>
                      </a:endParaRPr>
                    </a:p>
                  </a:txBody>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250449289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Abbreviations (Slide 8 of 9)</a:t>
            </a:r>
          </a:p>
        </p:txBody>
      </p:sp>
      <p:graphicFrame>
        <p:nvGraphicFramePr>
          <p:cNvPr id="8" name="Content Placeholder 7" descr="Group 8 of 9 Abbreviations with corresponding meanings."/>
          <p:cNvGraphicFramePr>
            <a:graphicFrameLocks noGrp="1"/>
          </p:cNvGraphicFramePr>
          <p:nvPr>
            <p:ph idx="1"/>
            <p:extLst>
              <p:ext uri="{D42A27DB-BD31-4B8C-83A1-F6EECF244321}">
                <p14:modId xmlns:p14="http://schemas.microsoft.com/office/powerpoint/2010/main" val="1085030118"/>
              </p:ext>
            </p:extLst>
          </p:nvPr>
        </p:nvGraphicFramePr>
        <p:xfrm>
          <a:off x="457200" y="1295400"/>
          <a:ext cx="8229600" cy="4114800"/>
        </p:xfrm>
        <a:graphic>
          <a:graphicData uri="http://schemas.openxmlformats.org/drawingml/2006/table">
            <a:tbl>
              <a:tblPr firstRow="1" bandRow="1">
                <a:tableStyleId>{C083E6E3-FA7D-4D7B-A595-EF9225AFEA82}</a:tableStyleId>
              </a:tblPr>
              <a:tblGrid>
                <a:gridCol w="1981200">
                  <a:extLst>
                    <a:ext uri="{9D8B030D-6E8A-4147-A177-3AD203B41FA5}">
                      <a16:colId xmlns:a16="http://schemas.microsoft.com/office/drawing/2014/main" val="20000"/>
                    </a:ext>
                  </a:extLst>
                </a:gridCol>
                <a:gridCol w="6248400">
                  <a:extLst>
                    <a:ext uri="{9D8B030D-6E8A-4147-A177-3AD203B41FA5}">
                      <a16:colId xmlns:a16="http://schemas.microsoft.com/office/drawing/2014/main" val="20001"/>
                    </a:ext>
                  </a:extLst>
                </a:gridCol>
              </a:tblGrid>
              <a:tr h="370840">
                <a:tc>
                  <a:txBody>
                    <a:bodyPr/>
                    <a:lstStyle/>
                    <a:p>
                      <a:r>
                        <a:rPr lang="en-US" sz="2400" dirty="0"/>
                        <a:t>Abbreviation</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altLang="en-US" sz="2400" dirty="0"/>
                        <a:t>SCD</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Sudden cardiac death</a:t>
                      </a:r>
                    </a:p>
                  </a:txBody>
                  <a:tcPr/>
                </a:tc>
                <a:extLst>
                  <a:ext uri="{0D108BD9-81ED-4DB2-BD59-A6C34878D82A}">
                    <a16:rowId xmlns:a16="http://schemas.microsoft.com/office/drawing/2014/main" val="10001"/>
                  </a:ext>
                </a:extLst>
              </a:tr>
              <a:tr h="370840">
                <a:tc>
                  <a:txBody>
                    <a:bodyPr/>
                    <a:lstStyle/>
                    <a:p>
                      <a:r>
                        <a:rPr lang="en-US" altLang="en-US" sz="2400" dirty="0"/>
                        <a:t>SOB</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Shortness of breath</a:t>
                      </a:r>
                    </a:p>
                  </a:txBody>
                  <a:tcPr/>
                </a:tc>
                <a:extLst>
                  <a:ext uri="{0D108BD9-81ED-4DB2-BD59-A6C34878D82A}">
                    <a16:rowId xmlns:a16="http://schemas.microsoft.com/office/drawing/2014/main" val="10002"/>
                  </a:ext>
                </a:extLst>
              </a:tr>
              <a:tr h="370840">
                <a:tc>
                  <a:txBody>
                    <a:bodyPr/>
                    <a:lstStyle/>
                    <a:p>
                      <a:r>
                        <a:rPr lang="en-US" altLang="en-US" sz="2400" dirty="0"/>
                        <a:t>SPECT</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Single photon emission computed tomography</a:t>
                      </a:r>
                    </a:p>
                  </a:txBody>
                  <a:tcPr/>
                </a:tc>
                <a:extLst>
                  <a:ext uri="{0D108BD9-81ED-4DB2-BD59-A6C34878D82A}">
                    <a16:rowId xmlns:a16="http://schemas.microsoft.com/office/drawing/2014/main" val="10003"/>
                  </a:ext>
                </a:extLst>
              </a:tr>
              <a:tr h="370840">
                <a:tc>
                  <a:txBody>
                    <a:bodyPr/>
                    <a:lstStyle/>
                    <a:p>
                      <a:r>
                        <a:rPr lang="en-US" altLang="en-US" sz="2400" dirty="0"/>
                        <a:t>STEMI</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ST elevation myocardial infarction</a:t>
                      </a:r>
                    </a:p>
                  </a:txBody>
                  <a:tcPr/>
                </a:tc>
                <a:extLst>
                  <a:ext uri="{0D108BD9-81ED-4DB2-BD59-A6C34878D82A}">
                    <a16:rowId xmlns:a16="http://schemas.microsoft.com/office/drawing/2014/main" val="10004"/>
                  </a:ext>
                </a:extLst>
              </a:tr>
              <a:tr h="370840">
                <a:tc>
                  <a:txBody>
                    <a:bodyPr/>
                    <a:lstStyle/>
                    <a:p>
                      <a:r>
                        <a:rPr lang="en-US" altLang="en-US" sz="2400" dirty="0"/>
                        <a:t>SVT</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Supraventricular tachycardia</a:t>
                      </a:r>
                    </a:p>
                  </a:txBody>
                  <a:tcPr/>
                </a:tc>
                <a:extLst>
                  <a:ext uri="{0D108BD9-81ED-4DB2-BD59-A6C34878D82A}">
                    <a16:rowId xmlns:a16="http://schemas.microsoft.com/office/drawing/2014/main" val="10005"/>
                  </a:ext>
                </a:extLst>
              </a:tr>
              <a:tr h="370840">
                <a:tc>
                  <a:txBody>
                    <a:bodyPr/>
                    <a:lstStyle/>
                    <a:p>
                      <a:r>
                        <a:rPr lang="en-US" altLang="en-US" sz="2400" dirty="0"/>
                        <a:t>TAVR</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err="1"/>
                        <a:t>Transcatheter</a:t>
                      </a:r>
                      <a:r>
                        <a:rPr lang="en-US" altLang="en-US" sz="2400" dirty="0"/>
                        <a:t> aortic valve replacement</a:t>
                      </a:r>
                    </a:p>
                  </a:txBody>
                  <a:tcPr/>
                </a:tc>
                <a:extLst>
                  <a:ext uri="{0D108BD9-81ED-4DB2-BD59-A6C34878D82A}">
                    <a16:rowId xmlns:a16="http://schemas.microsoft.com/office/drawing/2014/main" val="10006"/>
                  </a:ext>
                </a:extLst>
              </a:tr>
              <a:tr h="370840">
                <a:tc>
                  <a:txBody>
                    <a:bodyPr/>
                    <a:lstStyle/>
                    <a:p>
                      <a:r>
                        <a:rPr lang="en-US" altLang="en-US" sz="2400" dirty="0"/>
                        <a:t>TEE</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err="1"/>
                        <a:t>Transesophageal</a:t>
                      </a:r>
                      <a:r>
                        <a:rPr lang="en-US" altLang="en-US" sz="2400" dirty="0"/>
                        <a:t> echocardiography</a:t>
                      </a:r>
                    </a:p>
                  </a:txBody>
                  <a:tcPr/>
                </a:tc>
                <a:extLst>
                  <a:ext uri="{0D108BD9-81ED-4DB2-BD59-A6C34878D82A}">
                    <a16:rowId xmlns:a16="http://schemas.microsoft.com/office/drawing/2014/main" val="10007"/>
                  </a:ext>
                </a:extLst>
              </a:tr>
              <a:tr h="370840">
                <a:tc>
                  <a:txBody>
                    <a:bodyPr/>
                    <a:lstStyle/>
                    <a:p>
                      <a:r>
                        <a:rPr lang="en-US" altLang="en-US" sz="2400" dirty="0"/>
                        <a:t>TEVAR</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Thoracic endovascular aneurysm repair</a:t>
                      </a:r>
                    </a:p>
                  </a:txBody>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18780046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Abbreviations (Slide 9 of 9)</a:t>
            </a:r>
          </a:p>
        </p:txBody>
      </p:sp>
      <p:graphicFrame>
        <p:nvGraphicFramePr>
          <p:cNvPr id="8" name="Content Placeholder 7" descr="Group 9 of 9 Abbreviations with corresponding meanings."/>
          <p:cNvGraphicFramePr>
            <a:graphicFrameLocks noGrp="1"/>
          </p:cNvGraphicFramePr>
          <p:nvPr>
            <p:ph idx="1"/>
            <p:extLst>
              <p:ext uri="{D42A27DB-BD31-4B8C-83A1-F6EECF244321}">
                <p14:modId xmlns:p14="http://schemas.microsoft.com/office/powerpoint/2010/main" val="1496665347"/>
              </p:ext>
            </p:extLst>
          </p:nvPr>
        </p:nvGraphicFramePr>
        <p:xfrm>
          <a:off x="457200" y="1295400"/>
          <a:ext cx="8229600" cy="3657600"/>
        </p:xfrm>
        <a:graphic>
          <a:graphicData uri="http://schemas.openxmlformats.org/drawingml/2006/table">
            <a:tbl>
              <a:tblPr firstRow="1" bandRow="1">
                <a:tableStyleId>{C083E6E3-FA7D-4D7B-A595-EF9225AFEA82}</a:tableStyleId>
              </a:tblPr>
              <a:tblGrid>
                <a:gridCol w="1981200">
                  <a:extLst>
                    <a:ext uri="{9D8B030D-6E8A-4147-A177-3AD203B41FA5}">
                      <a16:colId xmlns:a16="http://schemas.microsoft.com/office/drawing/2014/main" val="20000"/>
                    </a:ext>
                  </a:extLst>
                </a:gridCol>
                <a:gridCol w="6248400">
                  <a:extLst>
                    <a:ext uri="{9D8B030D-6E8A-4147-A177-3AD203B41FA5}">
                      <a16:colId xmlns:a16="http://schemas.microsoft.com/office/drawing/2014/main" val="20001"/>
                    </a:ext>
                  </a:extLst>
                </a:gridCol>
              </a:tblGrid>
              <a:tr h="370840">
                <a:tc>
                  <a:txBody>
                    <a:bodyPr/>
                    <a:lstStyle/>
                    <a:p>
                      <a:r>
                        <a:rPr lang="en-US" sz="2400" dirty="0"/>
                        <a:t>Abbreviation</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altLang="en-US" sz="2400" dirty="0"/>
                        <a:t>TGA</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Transposition of the great arteries</a:t>
                      </a:r>
                    </a:p>
                  </a:txBody>
                  <a:tcPr/>
                </a:tc>
                <a:extLst>
                  <a:ext uri="{0D108BD9-81ED-4DB2-BD59-A6C34878D82A}">
                    <a16:rowId xmlns:a16="http://schemas.microsoft.com/office/drawing/2014/main" val="10001"/>
                  </a:ext>
                </a:extLst>
              </a:tr>
              <a:tr h="370840">
                <a:tc>
                  <a:txBody>
                    <a:bodyPr/>
                    <a:lstStyle/>
                    <a:p>
                      <a:r>
                        <a:rPr lang="en-US" altLang="en-US" sz="2400" dirty="0" err="1"/>
                        <a:t>tPA</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Tissue-type plasminogen activator</a:t>
                      </a:r>
                    </a:p>
                  </a:txBody>
                  <a:tcPr/>
                </a:tc>
                <a:extLst>
                  <a:ext uri="{0D108BD9-81ED-4DB2-BD59-A6C34878D82A}">
                    <a16:rowId xmlns:a16="http://schemas.microsoft.com/office/drawing/2014/main" val="10002"/>
                  </a:ext>
                </a:extLst>
              </a:tr>
              <a:tr h="370840">
                <a:tc>
                  <a:txBody>
                    <a:bodyPr/>
                    <a:lstStyle/>
                    <a:p>
                      <a:r>
                        <a:rPr lang="en-US" altLang="en-US" sz="2400" dirty="0"/>
                        <a:t>UA</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Unstable angina</a:t>
                      </a:r>
                    </a:p>
                  </a:txBody>
                  <a:tcPr/>
                </a:tc>
                <a:extLst>
                  <a:ext uri="{0D108BD9-81ED-4DB2-BD59-A6C34878D82A}">
                    <a16:rowId xmlns:a16="http://schemas.microsoft.com/office/drawing/2014/main" val="10003"/>
                  </a:ext>
                </a:extLst>
              </a:tr>
              <a:tr h="370840">
                <a:tc>
                  <a:txBody>
                    <a:bodyPr/>
                    <a:lstStyle/>
                    <a:p>
                      <a:r>
                        <a:rPr lang="en-US" altLang="en-US" sz="2400" dirty="0"/>
                        <a:t>VF</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Ventricular fibrillation</a:t>
                      </a:r>
                    </a:p>
                  </a:txBody>
                  <a:tcPr/>
                </a:tc>
                <a:extLst>
                  <a:ext uri="{0D108BD9-81ED-4DB2-BD59-A6C34878D82A}">
                    <a16:rowId xmlns:a16="http://schemas.microsoft.com/office/drawing/2014/main" val="10004"/>
                  </a:ext>
                </a:extLst>
              </a:tr>
              <a:tr h="370840">
                <a:tc>
                  <a:txBody>
                    <a:bodyPr/>
                    <a:lstStyle/>
                    <a:p>
                      <a:r>
                        <a:rPr lang="en-US" altLang="en-US" sz="2400" dirty="0"/>
                        <a:t>VSD</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Ventricular </a:t>
                      </a:r>
                      <a:r>
                        <a:rPr lang="en-US" altLang="en-US" sz="2400" dirty="0" err="1"/>
                        <a:t>septal</a:t>
                      </a:r>
                      <a:r>
                        <a:rPr lang="en-US" altLang="en-US" sz="2400" dirty="0"/>
                        <a:t> defect</a:t>
                      </a:r>
                    </a:p>
                  </a:txBody>
                  <a:tcPr/>
                </a:tc>
                <a:extLst>
                  <a:ext uri="{0D108BD9-81ED-4DB2-BD59-A6C34878D82A}">
                    <a16:rowId xmlns:a16="http://schemas.microsoft.com/office/drawing/2014/main" val="10005"/>
                  </a:ext>
                </a:extLst>
              </a:tr>
              <a:tr h="370840">
                <a:tc>
                  <a:txBody>
                    <a:bodyPr/>
                    <a:lstStyle/>
                    <a:p>
                      <a:r>
                        <a:rPr lang="en-US" altLang="en-US" sz="2400" dirty="0"/>
                        <a:t>VT</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Ventricular tachycardia</a:t>
                      </a:r>
                    </a:p>
                  </a:txBody>
                  <a:tcPr/>
                </a:tc>
                <a:extLst>
                  <a:ext uri="{0D108BD9-81ED-4DB2-BD59-A6C34878D82A}">
                    <a16:rowId xmlns:a16="http://schemas.microsoft.com/office/drawing/2014/main" val="10006"/>
                  </a:ext>
                </a:extLst>
              </a:tr>
              <a:tr h="370840">
                <a:tc>
                  <a:txBody>
                    <a:bodyPr/>
                    <a:lstStyle/>
                    <a:p>
                      <a:r>
                        <a:rPr lang="en-US" altLang="en-US" sz="2400" dirty="0"/>
                        <a:t>WPW</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Wolff-Parkinson-White syndrome</a:t>
                      </a:r>
                    </a:p>
                  </a:txBody>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394603720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1026"/>
          <p:cNvSpPr>
            <a:spLocks noGrp="1" noChangeArrowheads="1"/>
          </p:cNvSpPr>
          <p:nvPr>
            <p:ph type="title"/>
          </p:nvPr>
        </p:nvSpPr>
        <p:spPr>
          <a:xfrm>
            <a:off x="381000" y="152400"/>
            <a:ext cx="7772400" cy="1219200"/>
          </a:xfrm>
        </p:spPr>
        <p:txBody>
          <a:bodyPr/>
          <a:lstStyle/>
          <a:p>
            <a:pPr eaLnBrk="1" hangingPunct="1"/>
            <a:r>
              <a:rPr lang="en-US" altLang="en-US" dirty="0"/>
              <a:t>      </a:t>
            </a:r>
            <a:r>
              <a:rPr lang="en-US" altLang="en-US" sz="3600" dirty="0"/>
              <a:t>QUICK QUIZ (Slide 4 of 4)</a:t>
            </a:r>
            <a:r>
              <a:rPr lang="en-US" altLang="en-US" sz="4800" dirty="0"/>
              <a:t>	</a:t>
            </a:r>
          </a:p>
        </p:txBody>
      </p:sp>
      <p:sp>
        <p:nvSpPr>
          <p:cNvPr id="100355" name="Rectangle 1027"/>
          <p:cNvSpPr>
            <a:spLocks noGrp="1" noChangeArrowheads="1"/>
          </p:cNvSpPr>
          <p:nvPr>
            <p:ph idx="1"/>
          </p:nvPr>
        </p:nvSpPr>
        <p:spPr>
          <a:xfrm>
            <a:off x="685800" y="1600200"/>
            <a:ext cx="7620000" cy="4495800"/>
          </a:xfrm>
        </p:spPr>
        <p:txBody>
          <a:bodyPr/>
          <a:lstStyle/>
          <a:p>
            <a:pPr marL="533400" indent="-533400" eaLnBrk="1" hangingPunct="1">
              <a:buFont typeface="Wingdings 2" panose="05020102010507070707" pitchFamily="18" charset="2"/>
              <a:buNone/>
            </a:pPr>
            <a:r>
              <a:rPr lang="en-US" altLang="en-US" b="1"/>
              <a:t>4.  Which procedure involves insertion of a balloon-tipped catheter into a coronary artery?</a:t>
            </a:r>
          </a:p>
          <a:p>
            <a:pPr marL="533400" indent="-533400" eaLnBrk="1" hangingPunct="1">
              <a:lnSpc>
                <a:spcPct val="65000"/>
              </a:lnSpc>
              <a:buFont typeface="Wingdings 2" panose="05020102010507070707" pitchFamily="18" charset="2"/>
              <a:buNone/>
            </a:pPr>
            <a:r>
              <a:rPr lang="en-US" altLang="en-US" sz="2400"/>
              <a:t>	</a:t>
            </a:r>
          </a:p>
          <a:p>
            <a:pPr marL="914400" lvl="1" indent="-457200" eaLnBrk="1" hangingPunct="1">
              <a:buFont typeface="Arial" panose="020B0604020202020204" pitchFamily="34" charset="0"/>
              <a:buAutoNum type="alphaUcPeriod"/>
            </a:pPr>
            <a:r>
              <a:rPr lang="en-US" altLang="en-US" sz="3200">
                <a:ea typeface="MS PGothic" panose="020B0600070205080204" pitchFamily="34" charset="-128"/>
              </a:rPr>
              <a:t>Thrombolytic therapy</a:t>
            </a:r>
          </a:p>
          <a:p>
            <a:pPr marL="914400" lvl="1" indent="-457200" eaLnBrk="1" hangingPunct="1">
              <a:buFont typeface="Arial" panose="020B0604020202020204" pitchFamily="34" charset="0"/>
              <a:buAutoNum type="alphaUcPeriod"/>
            </a:pPr>
            <a:r>
              <a:rPr lang="en-US" altLang="en-US" sz="3200">
                <a:ea typeface="MS PGothic" panose="020B0600070205080204" pitchFamily="34" charset="-128"/>
              </a:rPr>
              <a:t>Coronary artery bypass grafting</a:t>
            </a:r>
          </a:p>
          <a:p>
            <a:pPr marL="914400" lvl="1" indent="-457200" eaLnBrk="1" hangingPunct="1">
              <a:buFont typeface="Arial" panose="020B0604020202020204" pitchFamily="34" charset="0"/>
              <a:buAutoNum type="alphaUcPeriod"/>
            </a:pPr>
            <a:r>
              <a:rPr lang="en-US" altLang="en-US" sz="3200">
                <a:ea typeface="MS PGothic" panose="020B0600070205080204" pitchFamily="34" charset="-128"/>
              </a:rPr>
              <a:t>Percutaneous coronary intervention</a:t>
            </a:r>
          </a:p>
          <a:p>
            <a:pPr marL="914400" lvl="1" indent="-457200" eaLnBrk="1" hangingPunct="1">
              <a:buFont typeface="Arial" panose="020B0604020202020204" pitchFamily="34" charset="0"/>
              <a:buAutoNum type="alphaUcPeriod"/>
            </a:pPr>
            <a:r>
              <a:rPr lang="en-US" altLang="en-US" sz="3200">
                <a:ea typeface="MS PGothic" panose="020B0600070205080204" pitchFamily="34" charset="-128"/>
              </a:rPr>
              <a:t>Endarterectomy</a:t>
            </a:r>
            <a:endParaRPr lang="en-US" altLang="en-US">
              <a:ea typeface="MS PGothic" panose="020B0600070205080204" pitchFamily="34" charset="-128"/>
            </a:endParaRPr>
          </a:p>
        </p:txBody>
      </p:sp>
    </p:spTree>
    <p:extLst>
      <p:ext uri="{BB962C8B-B14F-4D97-AF65-F5344CB8AC3E}">
        <p14:creationId xmlns:p14="http://schemas.microsoft.com/office/powerpoint/2010/main" val="312483880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Review Sheet – Combining Forms</a:t>
            </a:r>
            <a:br>
              <a:rPr lang="en-US" dirty="0"/>
            </a:br>
            <a:r>
              <a:rPr lang="en-US" sz="4000" dirty="0"/>
              <a:t>(Slide 1 of 8)</a:t>
            </a:r>
          </a:p>
        </p:txBody>
      </p:sp>
      <p:graphicFrame>
        <p:nvGraphicFramePr>
          <p:cNvPr id="7" name="Content Placeholder 6" descr="Group 1 of 4 combining forms from the Review Sheet of the text.  The following slide lists these same combining forms with corresponding meanings."/>
          <p:cNvGraphicFramePr>
            <a:graphicFrameLocks noGrp="1"/>
          </p:cNvGraphicFramePr>
          <p:nvPr>
            <p:ph idx="1"/>
            <p:extLst>
              <p:ext uri="{D42A27DB-BD31-4B8C-83A1-F6EECF244321}">
                <p14:modId xmlns:p14="http://schemas.microsoft.com/office/powerpoint/2010/main" val="2299897451"/>
              </p:ext>
            </p:extLst>
          </p:nvPr>
        </p:nvGraphicFramePr>
        <p:xfrm>
          <a:off x="3276600" y="1828800"/>
          <a:ext cx="2590800" cy="3657600"/>
        </p:xfrm>
        <a:graphic>
          <a:graphicData uri="http://schemas.openxmlformats.org/drawingml/2006/table">
            <a:tbl>
              <a:tblPr firstRow="1" bandRow="1">
                <a:tableStyleId>{21E4AEA4-8DFA-4A89-87EB-49C32662AFE0}</a:tableStyleId>
              </a:tblPr>
              <a:tblGrid>
                <a:gridCol w="2590800">
                  <a:extLst>
                    <a:ext uri="{9D8B030D-6E8A-4147-A177-3AD203B41FA5}">
                      <a16:colId xmlns:a16="http://schemas.microsoft.com/office/drawing/2014/main" val="20000"/>
                    </a:ext>
                  </a:extLst>
                </a:gridCol>
              </a:tblGrid>
              <a:tr h="370840">
                <a:tc>
                  <a:txBody>
                    <a:bodyPr/>
                    <a:lstStyle/>
                    <a:p>
                      <a:r>
                        <a:rPr lang="en-US" sz="2400" dirty="0"/>
                        <a:t>Combining Form</a:t>
                      </a:r>
                    </a:p>
                  </a:txBody>
                  <a:tcPr/>
                </a:tc>
                <a:extLst>
                  <a:ext uri="{0D108BD9-81ED-4DB2-BD59-A6C34878D82A}">
                    <a16:rowId xmlns:a16="http://schemas.microsoft.com/office/drawing/2014/main" val="10000"/>
                  </a:ext>
                </a:extLst>
              </a:tr>
              <a:tr h="370840">
                <a:tc>
                  <a:txBody>
                    <a:bodyPr/>
                    <a:lstStyle/>
                    <a:p>
                      <a:r>
                        <a:rPr lang="en-US" altLang="en-US" sz="2400" b="1" dirty="0"/>
                        <a:t>aneurysm/o</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b="1" dirty="0" err="1"/>
                        <a:t>angi</a:t>
                      </a:r>
                      <a:r>
                        <a:rPr lang="en-US" altLang="en-US" sz="2400" b="1" dirty="0"/>
                        <a:t>/o</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b="1" dirty="0" err="1"/>
                        <a:t>aort</a:t>
                      </a:r>
                      <a:r>
                        <a:rPr lang="en-US" altLang="en-US" sz="2400" b="1" dirty="0"/>
                        <a:t>/o</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b="1" dirty="0" err="1"/>
                        <a:t>arter</a:t>
                      </a:r>
                      <a:r>
                        <a:rPr lang="en-US" altLang="en-US" sz="2400" b="1" dirty="0"/>
                        <a:t>/o</a:t>
                      </a:r>
                      <a:endParaRPr lang="en-US" sz="2400" dirty="0"/>
                    </a:p>
                  </a:txBody>
                  <a:tcPr/>
                </a:tc>
                <a:extLst>
                  <a:ext uri="{0D108BD9-81ED-4DB2-BD59-A6C34878D82A}">
                    <a16:rowId xmlns:a16="http://schemas.microsoft.com/office/drawing/2014/main" val="10004"/>
                  </a:ext>
                </a:extLst>
              </a:tr>
              <a:tr h="370840">
                <a:tc>
                  <a:txBody>
                    <a:bodyPr/>
                    <a:lstStyle/>
                    <a:p>
                      <a:r>
                        <a:rPr lang="en-US" altLang="en-US" sz="2400" b="1" dirty="0" err="1"/>
                        <a:t>arteri</a:t>
                      </a:r>
                      <a:r>
                        <a:rPr lang="en-US" altLang="en-US" sz="2400" b="1" dirty="0"/>
                        <a:t>/o</a:t>
                      </a:r>
                      <a:endParaRPr lang="en-US" sz="2400" dirty="0"/>
                    </a:p>
                  </a:txBody>
                  <a:tcPr/>
                </a:tc>
                <a:extLst>
                  <a:ext uri="{0D108BD9-81ED-4DB2-BD59-A6C34878D82A}">
                    <a16:rowId xmlns:a16="http://schemas.microsoft.com/office/drawing/2014/main" val="10005"/>
                  </a:ext>
                </a:extLst>
              </a:tr>
              <a:tr h="370840">
                <a:tc>
                  <a:txBody>
                    <a:bodyPr/>
                    <a:lstStyle/>
                    <a:p>
                      <a:r>
                        <a:rPr lang="en-US" altLang="en-US" sz="2400" b="1" dirty="0" err="1"/>
                        <a:t>ather</a:t>
                      </a:r>
                      <a:r>
                        <a:rPr lang="en-US" altLang="en-US" sz="2400" b="1" dirty="0"/>
                        <a:t>/o</a:t>
                      </a:r>
                      <a:endParaRPr lang="en-US" sz="2400" dirty="0"/>
                    </a:p>
                  </a:txBody>
                  <a:tcPr/>
                </a:tc>
                <a:extLst>
                  <a:ext uri="{0D108BD9-81ED-4DB2-BD59-A6C34878D82A}">
                    <a16:rowId xmlns:a16="http://schemas.microsoft.com/office/drawing/2014/main" val="10006"/>
                  </a:ext>
                </a:extLst>
              </a:tr>
              <a:tr h="370840">
                <a:tc>
                  <a:txBody>
                    <a:bodyPr/>
                    <a:lstStyle/>
                    <a:p>
                      <a:r>
                        <a:rPr lang="en-US" altLang="en-US" sz="2400" b="1" dirty="0" err="1"/>
                        <a:t>atri</a:t>
                      </a:r>
                      <a:r>
                        <a:rPr lang="en-US" altLang="en-US" sz="2400" b="1" dirty="0"/>
                        <a:t>/o</a:t>
                      </a:r>
                      <a:endParaRPr lang="en-US" sz="2400" dirty="0"/>
                    </a:p>
                  </a:txBody>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402560095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Review Sheet – Combining Forms</a:t>
            </a:r>
            <a:br>
              <a:rPr lang="en-US" dirty="0"/>
            </a:br>
            <a:r>
              <a:rPr lang="en-US" sz="4000" dirty="0"/>
              <a:t>(Slide 2 of 8)</a:t>
            </a:r>
          </a:p>
        </p:txBody>
      </p:sp>
      <p:graphicFrame>
        <p:nvGraphicFramePr>
          <p:cNvPr id="7" name="Content Placeholder 6" descr="Group 1 of 4 combining forms from the Review Sheet of the text with their corresponding meanings"/>
          <p:cNvGraphicFramePr>
            <a:graphicFrameLocks noGrp="1"/>
          </p:cNvGraphicFramePr>
          <p:nvPr>
            <p:ph idx="1"/>
            <p:extLst>
              <p:ext uri="{D42A27DB-BD31-4B8C-83A1-F6EECF244321}">
                <p14:modId xmlns:p14="http://schemas.microsoft.com/office/powerpoint/2010/main" val="4254196063"/>
              </p:ext>
            </p:extLst>
          </p:nvPr>
        </p:nvGraphicFramePr>
        <p:xfrm>
          <a:off x="457200" y="1600200"/>
          <a:ext cx="8229600" cy="3657600"/>
        </p:xfrm>
        <a:graphic>
          <a:graphicData uri="http://schemas.openxmlformats.org/drawingml/2006/table">
            <a:tbl>
              <a:tblPr firstRow="1" bandRow="1">
                <a:tableStyleId>{21E4AEA4-8DFA-4A89-87EB-49C32662AFE0}</a:tableStyleId>
              </a:tblPr>
              <a:tblGrid>
                <a:gridCol w="2590800">
                  <a:extLst>
                    <a:ext uri="{9D8B030D-6E8A-4147-A177-3AD203B41FA5}">
                      <a16:colId xmlns:a16="http://schemas.microsoft.com/office/drawing/2014/main" val="20000"/>
                    </a:ext>
                  </a:extLst>
                </a:gridCol>
                <a:gridCol w="5638800">
                  <a:extLst>
                    <a:ext uri="{9D8B030D-6E8A-4147-A177-3AD203B41FA5}">
                      <a16:colId xmlns:a16="http://schemas.microsoft.com/office/drawing/2014/main" val="20001"/>
                    </a:ext>
                  </a:extLst>
                </a:gridCol>
              </a:tblGrid>
              <a:tr h="370840">
                <a:tc>
                  <a:txBody>
                    <a:bodyPr/>
                    <a:lstStyle/>
                    <a:p>
                      <a:r>
                        <a:rPr lang="en-US" sz="2400" dirty="0"/>
                        <a:t>Combining Form</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altLang="en-US" sz="2400" b="1" dirty="0"/>
                        <a:t>aneurysm/o</a:t>
                      </a:r>
                      <a:endParaRPr lang="en-US" sz="2400" dirty="0"/>
                    </a:p>
                  </a:txBody>
                  <a:tcPr/>
                </a:tc>
                <a:tc>
                  <a:txBody>
                    <a:bodyPr/>
                    <a:lstStyle/>
                    <a:p>
                      <a:r>
                        <a:rPr lang="en-US" altLang="en-US" sz="2400" dirty="0"/>
                        <a:t>aneurysm</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b="1" dirty="0" err="1"/>
                        <a:t>angi</a:t>
                      </a:r>
                      <a:r>
                        <a:rPr lang="en-US" altLang="en-US" sz="2400" b="1" dirty="0"/>
                        <a:t>/o</a:t>
                      </a:r>
                      <a:endParaRPr lang="en-US" sz="2400" dirty="0"/>
                    </a:p>
                  </a:txBody>
                  <a:tcPr/>
                </a:tc>
                <a:tc>
                  <a:txBody>
                    <a:bodyPr/>
                    <a:lstStyle/>
                    <a:p>
                      <a:r>
                        <a:rPr lang="en-US" altLang="en-US" sz="2400" dirty="0"/>
                        <a:t>vessel</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b="1" dirty="0" err="1"/>
                        <a:t>aort</a:t>
                      </a:r>
                      <a:r>
                        <a:rPr lang="en-US" altLang="en-US" sz="2400" b="1" dirty="0"/>
                        <a:t>/o</a:t>
                      </a:r>
                      <a:endParaRPr lang="en-US" sz="2400" dirty="0"/>
                    </a:p>
                  </a:txBody>
                  <a:tcPr/>
                </a:tc>
                <a:tc>
                  <a:txBody>
                    <a:bodyPr/>
                    <a:lstStyle/>
                    <a:p>
                      <a:r>
                        <a:rPr lang="en-US" altLang="en-US" sz="2400" dirty="0"/>
                        <a:t>aorta</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b="1" dirty="0" err="1"/>
                        <a:t>arter</a:t>
                      </a:r>
                      <a:r>
                        <a:rPr lang="en-US" altLang="en-US" sz="2400" b="1" dirty="0"/>
                        <a:t>/o</a:t>
                      </a:r>
                      <a:endParaRPr lang="en-US" sz="2400" dirty="0"/>
                    </a:p>
                  </a:txBody>
                  <a:tcPr/>
                </a:tc>
                <a:tc>
                  <a:txBody>
                    <a:bodyPr/>
                    <a:lstStyle/>
                    <a:p>
                      <a:r>
                        <a:rPr lang="en-US" altLang="en-US" sz="2400" dirty="0"/>
                        <a:t>artery</a:t>
                      </a:r>
                      <a:endParaRPr lang="en-US" sz="2400" dirty="0"/>
                    </a:p>
                  </a:txBody>
                  <a:tcPr/>
                </a:tc>
                <a:extLst>
                  <a:ext uri="{0D108BD9-81ED-4DB2-BD59-A6C34878D82A}">
                    <a16:rowId xmlns:a16="http://schemas.microsoft.com/office/drawing/2014/main" val="10004"/>
                  </a:ext>
                </a:extLst>
              </a:tr>
              <a:tr h="370840">
                <a:tc>
                  <a:txBody>
                    <a:bodyPr/>
                    <a:lstStyle/>
                    <a:p>
                      <a:r>
                        <a:rPr lang="en-US" altLang="en-US" sz="2400" b="1" dirty="0" err="1"/>
                        <a:t>arteri</a:t>
                      </a:r>
                      <a:r>
                        <a:rPr lang="en-US" altLang="en-US" sz="2400" b="1" dirty="0"/>
                        <a:t>/o</a:t>
                      </a:r>
                      <a:endParaRPr lang="en-US" sz="2400" dirty="0"/>
                    </a:p>
                  </a:txBody>
                  <a:tcPr/>
                </a:tc>
                <a:tc>
                  <a:txBody>
                    <a:bodyPr/>
                    <a:lstStyle/>
                    <a:p>
                      <a:r>
                        <a:rPr lang="en-US" altLang="en-US" sz="2400" dirty="0"/>
                        <a:t>artery</a:t>
                      </a:r>
                      <a:endParaRPr lang="en-US" sz="2400" dirty="0"/>
                    </a:p>
                  </a:txBody>
                  <a:tcPr/>
                </a:tc>
                <a:extLst>
                  <a:ext uri="{0D108BD9-81ED-4DB2-BD59-A6C34878D82A}">
                    <a16:rowId xmlns:a16="http://schemas.microsoft.com/office/drawing/2014/main" val="10005"/>
                  </a:ext>
                </a:extLst>
              </a:tr>
              <a:tr h="370840">
                <a:tc>
                  <a:txBody>
                    <a:bodyPr/>
                    <a:lstStyle/>
                    <a:p>
                      <a:r>
                        <a:rPr lang="en-US" altLang="en-US" sz="2400" b="1" dirty="0" err="1"/>
                        <a:t>ather</a:t>
                      </a:r>
                      <a:r>
                        <a:rPr lang="en-US" altLang="en-US" sz="2400" b="1" dirty="0"/>
                        <a:t>/o</a:t>
                      </a:r>
                      <a:endParaRPr lang="en-US" sz="2400" dirty="0"/>
                    </a:p>
                  </a:txBody>
                  <a:tcPr/>
                </a:tc>
                <a:tc>
                  <a:txBody>
                    <a:bodyPr/>
                    <a:lstStyle/>
                    <a:p>
                      <a:r>
                        <a:rPr lang="en-US" altLang="en-US" sz="2400" dirty="0"/>
                        <a:t>yellowish plaque</a:t>
                      </a:r>
                      <a:endParaRPr lang="en-US" sz="2400" dirty="0"/>
                    </a:p>
                  </a:txBody>
                  <a:tcPr/>
                </a:tc>
                <a:extLst>
                  <a:ext uri="{0D108BD9-81ED-4DB2-BD59-A6C34878D82A}">
                    <a16:rowId xmlns:a16="http://schemas.microsoft.com/office/drawing/2014/main" val="10006"/>
                  </a:ext>
                </a:extLst>
              </a:tr>
              <a:tr h="370840">
                <a:tc>
                  <a:txBody>
                    <a:bodyPr/>
                    <a:lstStyle/>
                    <a:p>
                      <a:r>
                        <a:rPr lang="en-US" altLang="en-US" sz="2400" b="1" dirty="0" err="1"/>
                        <a:t>atri</a:t>
                      </a:r>
                      <a:r>
                        <a:rPr lang="en-US" altLang="en-US" sz="2400" b="1" dirty="0"/>
                        <a:t>/o</a:t>
                      </a:r>
                      <a:endParaRPr lang="en-US" sz="2400" dirty="0"/>
                    </a:p>
                  </a:txBody>
                  <a:tcPr/>
                </a:tc>
                <a:tc>
                  <a:txBody>
                    <a:bodyPr/>
                    <a:lstStyle/>
                    <a:p>
                      <a:r>
                        <a:rPr lang="en-US" altLang="en-US" sz="2400" dirty="0"/>
                        <a:t>atrium</a:t>
                      </a:r>
                      <a:endParaRPr lang="en-US" sz="2400" dirty="0"/>
                    </a:p>
                  </a:txBody>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208706667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Review Sheet – Combining Forms</a:t>
            </a:r>
            <a:br>
              <a:rPr lang="en-US" dirty="0"/>
            </a:br>
            <a:r>
              <a:rPr lang="en-US" sz="4000" dirty="0"/>
              <a:t>(Slide 3 of 8)</a:t>
            </a:r>
          </a:p>
        </p:txBody>
      </p:sp>
      <p:graphicFrame>
        <p:nvGraphicFramePr>
          <p:cNvPr id="7" name="Content Placeholder 6" descr="Group 2 of 4 combining forms from the Review Sheet of the text.  The following slide lists these same combining forms with corresponding meanings."/>
          <p:cNvGraphicFramePr>
            <a:graphicFrameLocks noGrp="1"/>
          </p:cNvGraphicFramePr>
          <p:nvPr>
            <p:ph idx="1"/>
            <p:extLst>
              <p:ext uri="{D42A27DB-BD31-4B8C-83A1-F6EECF244321}">
                <p14:modId xmlns:p14="http://schemas.microsoft.com/office/powerpoint/2010/main" val="3496120585"/>
              </p:ext>
            </p:extLst>
          </p:nvPr>
        </p:nvGraphicFramePr>
        <p:xfrm>
          <a:off x="3276600" y="1752600"/>
          <a:ext cx="2590800" cy="4572000"/>
        </p:xfrm>
        <a:graphic>
          <a:graphicData uri="http://schemas.openxmlformats.org/drawingml/2006/table">
            <a:tbl>
              <a:tblPr firstRow="1" bandRow="1">
                <a:tableStyleId>{21E4AEA4-8DFA-4A89-87EB-49C32662AFE0}</a:tableStyleId>
              </a:tblPr>
              <a:tblGrid>
                <a:gridCol w="2590800">
                  <a:extLst>
                    <a:ext uri="{9D8B030D-6E8A-4147-A177-3AD203B41FA5}">
                      <a16:colId xmlns:a16="http://schemas.microsoft.com/office/drawing/2014/main" val="20000"/>
                    </a:ext>
                  </a:extLst>
                </a:gridCol>
              </a:tblGrid>
              <a:tr h="370840">
                <a:tc>
                  <a:txBody>
                    <a:bodyPr/>
                    <a:lstStyle/>
                    <a:p>
                      <a:r>
                        <a:rPr lang="en-US" sz="2400" dirty="0"/>
                        <a:t>Combining Form</a:t>
                      </a:r>
                    </a:p>
                  </a:txBody>
                  <a:tcPr/>
                </a:tc>
                <a:extLst>
                  <a:ext uri="{0D108BD9-81ED-4DB2-BD59-A6C34878D82A}">
                    <a16:rowId xmlns:a16="http://schemas.microsoft.com/office/drawing/2014/main" val="10000"/>
                  </a:ext>
                </a:extLst>
              </a:tr>
              <a:tr h="370840">
                <a:tc>
                  <a:txBody>
                    <a:bodyPr/>
                    <a:lstStyle/>
                    <a:p>
                      <a:r>
                        <a:rPr lang="en-US" altLang="en-US" sz="2400" b="1" dirty="0" err="1"/>
                        <a:t>axill</a:t>
                      </a:r>
                      <a:r>
                        <a:rPr lang="en-US" altLang="en-US" sz="2400" b="1" dirty="0"/>
                        <a:t>/o</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b="1" dirty="0" err="1"/>
                        <a:t>brachi</a:t>
                      </a:r>
                      <a:r>
                        <a:rPr lang="en-US" altLang="en-US" sz="2400" b="1" dirty="0"/>
                        <a:t>/o</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b="1" dirty="0" err="1"/>
                        <a:t>cardi</a:t>
                      </a:r>
                      <a:r>
                        <a:rPr lang="en-US" altLang="en-US" sz="2400" b="1" dirty="0"/>
                        <a:t>/o</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b="1" dirty="0"/>
                        <a:t>cholesterol/o</a:t>
                      </a:r>
                      <a:endParaRPr lang="en-US" sz="2400" dirty="0"/>
                    </a:p>
                  </a:txBody>
                  <a:tcPr/>
                </a:tc>
                <a:extLst>
                  <a:ext uri="{0D108BD9-81ED-4DB2-BD59-A6C34878D82A}">
                    <a16:rowId xmlns:a16="http://schemas.microsoft.com/office/drawing/2014/main" val="10004"/>
                  </a:ext>
                </a:extLst>
              </a:tr>
              <a:tr h="370840">
                <a:tc>
                  <a:txBody>
                    <a:bodyPr/>
                    <a:lstStyle/>
                    <a:p>
                      <a:r>
                        <a:rPr lang="en-US" altLang="en-US" sz="2400" b="1" dirty="0" err="1"/>
                        <a:t>coron</a:t>
                      </a:r>
                      <a:r>
                        <a:rPr lang="en-US" altLang="en-US" sz="2400" b="1" dirty="0"/>
                        <a:t>/o</a:t>
                      </a:r>
                      <a:endParaRPr lang="en-US" sz="2400" dirty="0"/>
                    </a:p>
                  </a:txBody>
                  <a:tcPr/>
                </a:tc>
                <a:extLst>
                  <a:ext uri="{0D108BD9-81ED-4DB2-BD59-A6C34878D82A}">
                    <a16:rowId xmlns:a16="http://schemas.microsoft.com/office/drawing/2014/main" val="10005"/>
                  </a:ext>
                </a:extLst>
              </a:tr>
              <a:tr h="370840">
                <a:tc>
                  <a:txBody>
                    <a:bodyPr/>
                    <a:lstStyle/>
                    <a:p>
                      <a:r>
                        <a:rPr lang="en-US" altLang="en-US" sz="2400" b="1" dirty="0"/>
                        <a:t>cyan/o</a:t>
                      </a:r>
                      <a:endParaRPr lang="en-US" sz="2400" dirty="0"/>
                    </a:p>
                  </a:txBody>
                  <a:tcPr/>
                </a:tc>
                <a:extLst>
                  <a:ext uri="{0D108BD9-81ED-4DB2-BD59-A6C34878D82A}">
                    <a16:rowId xmlns:a16="http://schemas.microsoft.com/office/drawing/2014/main" val="10006"/>
                  </a:ext>
                </a:extLst>
              </a:tr>
              <a:tr h="370840">
                <a:tc>
                  <a:txBody>
                    <a:bodyPr/>
                    <a:lstStyle/>
                    <a:p>
                      <a:r>
                        <a:rPr lang="en-US" altLang="en-US" sz="2400" b="1" dirty="0" err="1"/>
                        <a:t>isch</a:t>
                      </a:r>
                      <a:r>
                        <a:rPr lang="en-US" altLang="en-US" sz="2400" b="1" dirty="0"/>
                        <a:t>/o</a:t>
                      </a:r>
                      <a:endParaRPr lang="en-US" sz="2400" dirty="0"/>
                    </a:p>
                  </a:txBody>
                  <a:tcPr/>
                </a:tc>
                <a:extLst>
                  <a:ext uri="{0D108BD9-81ED-4DB2-BD59-A6C34878D82A}">
                    <a16:rowId xmlns:a16="http://schemas.microsoft.com/office/drawing/2014/main" val="10007"/>
                  </a:ext>
                </a:extLst>
              </a:tr>
              <a:tr h="370840">
                <a:tc>
                  <a:txBody>
                    <a:bodyPr/>
                    <a:lstStyle/>
                    <a:p>
                      <a:r>
                        <a:rPr lang="en-US" altLang="en-US" sz="2400" b="1" dirty="0"/>
                        <a:t>my/o</a:t>
                      </a:r>
                      <a:endParaRPr lang="en-US" sz="2400" dirty="0"/>
                    </a:p>
                  </a:txBody>
                  <a:tcPr/>
                </a:tc>
                <a:extLst>
                  <a:ext uri="{0D108BD9-81ED-4DB2-BD59-A6C34878D82A}">
                    <a16:rowId xmlns:a16="http://schemas.microsoft.com/office/drawing/2014/main" val="10008"/>
                  </a:ext>
                </a:extLst>
              </a:tr>
              <a:tr h="370840">
                <a:tc>
                  <a:txBody>
                    <a:bodyPr/>
                    <a:lstStyle/>
                    <a:p>
                      <a:r>
                        <a:rPr lang="en-US" altLang="en-US" sz="2400" b="1" dirty="0" err="1"/>
                        <a:t>myx</a:t>
                      </a:r>
                      <a:r>
                        <a:rPr lang="en-US" altLang="en-US" sz="2400" b="1" dirty="0"/>
                        <a:t>/o</a:t>
                      </a:r>
                      <a:endParaRPr lang="en-US" sz="2400" dirty="0"/>
                    </a:p>
                  </a:txBody>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316672965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Review Sheet – Combining Forms</a:t>
            </a:r>
            <a:br>
              <a:rPr lang="en-US" dirty="0"/>
            </a:br>
            <a:r>
              <a:rPr lang="en-US" sz="4000" dirty="0"/>
              <a:t>(Slide 4 of 8)</a:t>
            </a:r>
          </a:p>
        </p:txBody>
      </p:sp>
      <p:graphicFrame>
        <p:nvGraphicFramePr>
          <p:cNvPr id="7" name="Content Placeholder 6" descr="Group 2 of 4 combining forms from the Review Sheet of the text with their corresponding meanings"/>
          <p:cNvGraphicFramePr>
            <a:graphicFrameLocks noGrp="1"/>
          </p:cNvGraphicFramePr>
          <p:nvPr>
            <p:ph idx="1"/>
            <p:extLst>
              <p:ext uri="{D42A27DB-BD31-4B8C-83A1-F6EECF244321}">
                <p14:modId xmlns:p14="http://schemas.microsoft.com/office/powerpoint/2010/main" val="1473259397"/>
              </p:ext>
            </p:extLst>
          </p:nvPr>
        </p:nvGraphicFramePr>
        <p:xfrm>
          <a:off x="457200" y="1600200"/>
          <a:ext cx="8229600" cy="4572000"/>
        </p:xfrm>
        <a:graphic>
          <a:graphicData uri="http://schemas.openxmlformats.org/drawingml/2006/table">
            <a:tbl>
              <a:tblPr firstRow="1" bandRow="1">
                <a:tableStyleId>{21E4AEA4-8DFA-4A89-87EB-49C32662AFE0}</a:tableStyleId>
              </a:tblPr>
              <a:tblGrid>
                <a:gridCol w="2590800">
                  <a:extLst>
                    <a:ext uri="{9D8B030D-6E8A-4147-A177-3AD203B41FA5}">
                      <a16:colId xmlns:a16="http://schemas.microsoft.com/office/drawing/2014/main" val="20000"/>
                    </a:ext>
                  </a:extLst>
                </a:gridCol>
                <a:gridCol w="5638800">
                  <a:extLst>
                    <a:ext uri="{9D8B030D-6E8A-4147-A177-3AD203B41FA5}">
                      <a16:colId xmlns:a16="http://schemas.microsoft.com/office/drawing/2014/main" val="20001"/>
                    </a:ext>
                  </a:extLst>
                </a:gridCol>
              </a:tblGrid>
              <a:tr h="370840">
                <a:tc>
                  <a:txBody>
                    <a:bodyPr/>
                    <a:lstStyle/>
                    <a:p>
                      <a:r>
                        <a:rPr lang="en-US" sz="2400" dirty="0"/>
                        <a:t>Combining Form</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altLang="en-US" sz="2400" b="1" dirty="0" err="1"/>
                        <a:t>axill</a:t>
                      </a:r>
                      <a:r>
                        <a:rPr lang="en-US" altLang="en-US" sz="2400" b="1" dirty="0"/>
                        <a:t>/o</a:t>
                      </a:r>
                      <a:endParaRPr lang="en-US" sz="2400" dirty="0"/>
                    </a:p>
                  </a:txBody>
                  <a:tcPr/>
                </a:tc>
                <a:tc>
                  <a:txBody>
                    <a:bodyPr/>
                    <a:lstStyle/>
                    <a:p>
                      <a:r>
                        <a:rPr lang="en-US" altLang="en-US" sz="2400" dirty="0"/>
                        <a:t>armpit</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b="1" dirty="0" err="1"/>
                        <a:t>brachi</a:t>
                      </a:r>
                      <a:r>
                        <a:rPr lang="en-US" altLang="en-US" sz="2400" b="1" dirty="0"/>
                        <a:t>/o</a:t>
                      </a:r>
                      <a:endParaRPr lang="en-US" sz="2400" dirty="0"/>
                    </a:p>
                  </a:txBody>
                  <a:tcPr/>
                </a:tc>
                <a:tc>
                  <a:txBody>
                    <a:bodyPr/>
                    <a:lstStyle/>
                    <a:p>
                      <a:r>
                        <a:rPr lang="en-US" altLang="en-US" sz="2400" dirty="0"/>
                        <a:t>arm</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b="1" dirty="0" err="1"/>
                        <a:t>cardi</a:t>
                      </a:r>
                      <a:r>
                        <a:rPr lang="en-US" altLang="en-US" sz="2400" b="1" dirty="0"/>
                        <a:t>/o</a:t>
                      </a:r>
                      <a:endParaRPr lang="en-US" sz="2400" dirty="0"/>
                    </a:p>
                  </a:txBody>
                  <a:tcPr/>
                </a:tc>
                <a:tc>
                  <a:txBody>
                    <a:bodyPr/>
                    <a:lstStyle/>
                    <a:p>
                      <a:r>
                        <a:rPr lang="en-US" altLang="en-US" sz="2400" dirty="0"/>
                        <a:t>heart</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b="1" dirty="0"/>
                        <a:t>cholesterol/o</a:t>
                      </a:r>
                      <a:endParaRPr lang="en-US" sz="2400" dirty="0"/>
                    </a:p>
                  </a:txBody>
                  <a:tcPr/>
                </a:tc>
                <a:tc>
                  <a:txBody>
                    <a:bodyPr/>
                    <a:lstStyle/>
                    <a:p>
                      <a:r>
                        <a:rPr lang="en-US" altLang="en-US" sz="2400" dirty="0"/>
                        <a:t>cholesterol</a:t>
                      </a:r>
                      <a:endParaRPr lang="en-US" sz="2400" dirty="0"/>
                    </a:p>
                  </a:txBody>
                  <a:tcPr/>
                </a:tc>
                <a:extLst>
                  <a:ext uri="{0D108BD9-81ED-4DB2-BD59-A6C34878D82A}">
                    <a16:rowId xmlns:a16="http://schemas.microsoft.com/office/drawing/2014/main" val="10004"/>
                  </a:ext>
                </a:extLst>
              </a:tr>
              <a:tr h="370840">
                <a:tc>
                  <a:txBody>
                    <a:bodyPr/>
                    <a:lstStyle/>
                    <a:p>
                      <a:r>
                        <a:rPr lang="en-US" altLang="en-US" sz="2400" b="1" dirty="0" err="1"/>
                        <a:t>coron</a:t>
                      </a:r>
                      <a:r>
                        <a:rPr lang="en-US" altLang="en-US" sz="2400" b="1" dirty="0"/>
                        <a:t>/o</a:t>
                      </a:r>
                      <a:endParaRPr lang="en-US" sz="2400" dirty="0"/>
                    </a:p>
                  </a:txBody>
                  <a:tcPr/>
                </a:tc>
                <a:tc>
                  <a:txBody>
                    <a:bodyPr/>
                    <a:lstStyle/>
                    <a:p>
                      <a:r>
                        <a:rPr lang="en-US" altLang="en-US" sz="2400" dirty="0"/>
                        <a:t>heart</a:t>
                      </a:r>
                      <a:endParaRPr lang="en-US" sz="2400" dirty="0"/>
                    </a:p>
                  </a:txBody>
                  <a:tcPr/>
                </a:tc>
                <a:extLst>
                  <a:ext uri="{0D108BD9-81ED-4DB2-BD59-A6C34878D82A}">
                    <a16:rowId xmlns:a16="http://schemas.microsoft.com/office/drawing/2014/main" val="10005"/>
                  </a:ext>
                </a:extLst>
              </a:tr>
              <a:tr h="370840">
                <a:tc>
                  <a:txBody>
                    <a:bodyPr/>
                    <a:lstStyle/>
                    <a:p>
                      <a:r>
                        <a:rPr lang="en-US" altLang="en-US" sz="2400" b="1" dirty="0"/>
                        <a:t>cyan/o</a:t>
                      </a:r>
                      <a:endParaRPr lang="en-US" sz="2400" dirty="0"/>
                    </a:p>
                  </a:txBody>
                  <a:tcPr/>
                </a:tc>
                <a:tc>
                  <a:txBody>
                    <a:bodyPr/>
                    <a:lstStyle/>
                    <a:p>
                      <a:r>
                        <a:rPr lang="en-US" altLang="en-US" sz="2400" dirty="0"/>
                        <a:t>blue</a:t>
                      </a:r>
                      <a:endParaRPr lang="en-US" sz="2400" dirty="0"/>
                    </a:p>
                  </a:txBody>
                  <a:tcPr/>
                </a:tc>
                <a:extLst>
                  <a:ext uri="{0D108BD9-81ED-4DB2-BD59-A6C34878D82A}">
                    <a16:rowId xmlns:a16="http://schemas.microsoft.com/office/drawing/2014/main" val="10006"/>
                  </a:ext>
                </a:extLst>
              </a:tr>
              <a:tr h="370840">
                <a:tc>
                  <a:txBody>
                    <a:bodyPr/>
                    <a:lstStyle/>
                    <a:p>
                      <a:r>
                        <a:rPr lang="en-US" altLang="en-US" sz="2400" b="1" dirty="0" err="1"/>
                        <a:t>isch</a:t>
                      </a:r>
                      <a:r>
                        <a:rPr lang="en-US" altLang="en-US" sz="2400" b="1" dirty="0"/>
                        <a:t>/o</a:t>
                      </a:r>
                      <a:endParaRPr lang="en-US" sz="2400" dirty="0"/>
                    </a:p>
                  </a:txBody>
                  <a:tcPr/>
                </a:tc>
                <a:tc>
                  <a:txBody>
                    <a:bodyPr/>
                    <a:lstStyle/>
                    <a:p>
                      <a:r>
                        <a:rPr lang="en-US" altLang="en-US" sz="2400" dirty="0"/>
                        <a:t>to hold back</a:t>
                      </a:r>
                      <a:endParaRPr lang="en-US" sz="2400" dirty="0"/>
                    </a:p>
                  </a:txBody>
                  <a:tcPr/>
                </a:tc>
                <a:extLst>
                  <a:ext uri="{0D108BD9-81ED-4DB2-BD59-A6C34878D82A}">
                    <a16:rowId xmlns:a16="http://schemas.microsoft.com/office/drawing/2014/main" val="10007"/>
                  </a:ext>
                </a:extLst>
              </a:tr>
              <a:tr h="370840">
                <a:tc>
                  <a:txBody>
                    <a:bodyPr/>
                    <a:lstStyle/>
                    <a:p>
                      <a:r>
                        <a:rPr lang="en-US" altLang="en-US" sz="2400" b="1" dirty="0"/>
                        <a:t>my/o</a:t>
                      </a:r>
                      <a:endParaRPr lang="en-US" sz="2400" dirty="0"/>
                    </a:p>
                  </a:txBody>
                  <a:tcPr/>
                </a:tc>
                <a:tc>
                  <a:txBody>
                    <a:bodyPr/>
                    <a:lstStyle/>
                    <a:p>
                      <a:r>
                        <a:rPr lang="en-US" altLang="en-US" sz="2400" dirty="0"/>
                        <a:t>muscle</a:t>
                      </a:r>
                      <a:endParaRPr lang="en-US" sz="2400" dirty="0"/>
                    </a:p>
                  </a:txBody>
                  <a:tcPr/>
                </a:tc>
                <a:extLst>
                  <a:ext uri="{0D108BD9-81ED-4DB2-BD59-A6C34878D82A}">
                    <a16:rowId xmlns:a16="http://schemas.microsoft.com/office/drawing/2014/main" val="10008"/>
                  </a:ext>
                </a:extLst>
              </a:tr>
              <a:tr h="370840">
                <a:tc>
                  <a:txBody>
                    <a:bodyPr/>
                    <a:lstStyle/>
                    <a:p>
                      <a:r>
                        <a:rPr lang="en-US" altLang="en-US" sz="2400" b="1" dirty="0" err="1"/>
                        <a:t>myx</a:t>
                      </a:r>
                      <a:r>
                        <a:rPr lang="en-US" altLang="en-US" sz="2400" b="1" dirty="0"/>
                        <a:t>/o</a:t>
                      </a:r>
                      <a:endParaRPr lang="en-US" sz="2400" dirty="0"/>
                    </a:p>
                  </a:txBody>
                  <a:tcPr/>
                </a:tc>
                <a:tc>
                  <a:txBody>
                    <a:bodyPr/>
                    <a:lstStyle/>
                    <a:p>
                      <a:r>
                        <a:rPr lang="en-US" altLang="en-US" sz="2400" dirty="0"/>
                        <a:t>mucus</a:t>
                      </a:r>
                      <a:endParaRPr lang="en-US" sz="2400" dirty="0"/>
                    </a:p>
                  </a:txBody>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99814843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Review Sheet – Combining Forms</a:t>
            </a:r>
            <a:br>
              <a:rPr lang="en-US" dirty="0"/>
            </a:br>
            <a:r>
              <a:rPr lang="en-US" sz="4000" dirty="0"/>
              <a:t>(Slide 5 of 8)</a:t>
            </a:r>
          </a:p>
        </p:txBody>
      </p:sp>
      <p:graphicFrame>
        <p:nvGraphicFramePr>
          <p:cNvPr id="7" name="Content Placeholder 6" descr="Group 3 of 4 combining forms from the Review Sheet of the text.  The following slide lists these same combining forms with corresponding meanings."/>
          <p:cNvGraphicFramePr>
            <a:graphicFrameLocks noGrp="1"/>
          </p:cNvGraphicFramePr>
          <p:nvPr>
            <p:ph idx="1"/>
            <p:extLst>
              <p:ext uri="{D42A27DB-BD31-4B8C-83A1-F6EECF244321}">
                <p14:modId xmlns:p14="http://schemas.microsoft.com/office/powerpoint/2010/main" val="643626697"/>
              </p:ext>
            </p:extLst>
          </p:nvPr>
        </p:nvGraphicFramePr>
        <p:xfrm>
          <a:off x="3276600" y="1828800"/>
          <a:ext cx="2590800" cy="4114800"/>
        </p:xfrm>
        <a:graphic>
          <a:graphicData uri="http://schemas.openxmlformats.org/drawingml/2006/table">
            <a:tbl>
              <a:tblPr firstRow="1" bandRow="1">
                <a:tableStyleId>{21E4AEA4-8DFA-4A89-87EB-49C32662AFE0}</a:tableStyleId>
              </a:tblPr>
              <a:tblGrid>
                <a:gridCol w="2590800">
                  <a:extLst>
                    <a:ext uri="{9D8B030D-6E8A-4147-A177-3AD203B41FA5}">
                      <a16:colId xmlns:a16="http://schemas.microsoft.com/office/drawing/2014/main" val="20000"/>
                    </a:ext>
                  </a:extLst>
                </a:gridCol>
              </a:tblGrid>
              <a:tr h="370840">
                <a:tc>
                  <a:txBody>
                    <a:bodyPr/>
                    <a:lstStyle/>
                    <a:p>
                      <a:r>
                        <a:rPr lang="en-US" sz="2400" dirty="0"/>
                        <a:t>Combining Form</a:t>
                      </a:r>
                    </a:p>
                  </a:txBody>
                  <a:tcPr/>
                </a:tc>
                <a:extLst>
                  <a:ext uri="{0D108BD9-81ED-4DB2-BD59-A6C34878D82A}">
                    <a16:rowId xmlns:a16="http://schemas.microsoft.com/office/drawing/2014/main" val="10000"/>
                  </a:ext>
                </a:extLst>
              </a:tr>
              <a:tr h="370840">
                <a:tc>
                  <a:txBody>
                    <a:bodyPr/>
                    <a:lstStyle/>
                    <a:p>
                      <a:r>
                        <a:rPr lang="en-US" altLang="en-US" sz="2400" b="1" dirty="0"/>
                        <a:t>ox/o</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b="1" dirty="0" err="1"/>
                        <a:t>pericardi</a:t>
                      </a:r>
                      <a:r>
                        <a:rPr lang="en-US" altLang="en-US" sz="2400" b="1" dirty="0"/>
                        <a:t>/o</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b="1" dirty="0" err="1"/>
                        <a:t>phleb</a:t>
                      </a:r>
                      <a:r>
                        <a:rPr lang="en-US" altLang="en-US" sz="2400" b="1" dirty="0"/>
                        <a:t>/o</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b="1" dirty="0" err="1"/>
                        <a:t>pulmon</a:t>
                      </a:r>
                      <a:r>
                        <a:rPr lang="en-US" altLang="en-US" sz="2400" b="1" dirty="0"/>
                        <a:t>/o</a:t>
                      </a:r>
                      <a:endParaRPr lang="en-US" sz="2400" dirty="0"/>
                    </a:p>
                  </a:txBody>
                  <a:tcPr/>
                </a:tc>
                <a:extLst>
                  <a:ext uri="{0D108BD9-81ED-4DB2-BD59-A6C34878D82A}">
                    <a16:rowId xmlns:a16="http://schemas.microsoft.com/office/drawing/2014/main" val="10004"/>
                  </a:ext>
                </a:extLst>
              </a:tr>
              <a:tr h="370840">
                <a:tc>
                  <a:txBody>
                    <a:bodyPr/>
                    <a:lstStyle/>
                    <a:p>
                      <a:r>
                        <a:rPr lang="en-US" altLang="en-US" sz="2400" b="1" dirty="0" err="1"/>
                        <a:t>rrhythm</a:t>
                      </a:r>
                      <a:r>
                        <a:rPr lang="en-US" altLang="en-US" sz="2400" b="1" dirty="0"/>
                        <a:t>/o</a:t>
                      </a:r>
                      <a:endParaRPr lang="en-US" sz="2400" dirty="0"/>
                    </a:p>
                  </a:txBody>
                  <a:tcPr/>
                </a:tc>
                <a:extLst>
                  <a:ext uri="{0D108BD9-81ED-4DB2-BD59-A6C34878D82A}">
                    <a16:rowId xmlns:a16="http://schemas.microsoft.com/office/drawing/2014/main" val="10005"/>
                  </a:ext>
                </a:extLst>
              </a:tr>
              <a:tr h="370840">
                <a:tc>
                  <a:txBody>
                    <a:bodyPr/>
                    <a:lstStyle/>
                    <a:p>
                      <a:r>
                        <a:rPr lang="en-US" altLang="en-US" sz="2400" b="1" dirty="0" err="1"/>
                        <a:t>sphygm</a:t>
                      </a:r>
                      <a:r>
                        <a:rPr lang="en-US" altLang="en-US" sz="2400" b="1" dirty="0"/>
                        <a:t>/o</a:t>
                      </a:r>
                      <a:endParaRPr lang="en-US" sz="2400" dirty="0"/>
                    </a:p>
                  </a:txBody>
                  <a:tcPr/>
                </a:tc>
                <a:extLst>
                  <a:ext uri="{0D108BD9-81ED-4DB2-BD59-A6C34878D82A}">
                    <a16:rowId xmlns:a16="http://schemas.microsoft.com/office/drawing/2014/main" val="10006"/>
                  </a:ext>
                </a:extLst>
              </a:tr>
              <a:tr h="370840">
                <a:tc>
                  <a:txBody>
                    <a:bodyPr/>
                    <a:lstStyle/>
                    <a:p>
                      <a:r>
                        <a:rPr lang="en-US" altLang="en-US" sz="2400" b="1" dirty="0" err="1"/>
                        <a:t>steth</a:t>
                      </a:r>
                      <a:r>
                        <a:rPr lang="en-US" altLang="en-US" sz="2400" b="1" dirty="0"/>
                        <a:t>/o</a:t>
                      </a:r>
                      <a:endParaRPr lang="en-US" sz="2400" dirty="0"/>
                    </a:p>
                  </a:txBody>
                  <a:tcPr/>
                </a:tc>
                <a:extLst>
                  <a:ext uri="{0D108BD9-81ED-4DB2-BD59-A6C34878D82A}">
                    <a16:rowId xmlns:a16="http://schemas.microsoft.com/office/drawing/2014/main" val="10007"/>
                  </a:ext>
                </a:extLst>
              </a:tr>
              <a:tr h="370840">
                <a:tc>
                  <a:txBody>
                    <a:bodyPr/>
                    <a:lstStyle/>
                    <a:p>
                      <a:r>
                        <a:rPr lang="en-US" altLang="en-US" sz="2400" b="1" dirty="0" err="1"/>
                        <a:t>thromb</a:t>
                      </a:r>
                      <a:r>
                        <a:rPr lang="en-US" altLang="en-US" sz="2400" b="1" dirty="0"/>
                        <a:t>/o</a:t>
                      </a:r>
                      <a:endParaRPr lang="en-US" sz="2400" dirty="0"/>
                    </a:p>
                  </a:txBody>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1551351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Review Sheet – Combining Forms</a:t>
            </a:r>
            <a:br>
              <a:rPr lang="en-US" dirty="0"/>
            </a:br>
            <a:r>
              <a:rPr lang="en-US" sz="4000" dirty="0"/>
              <a:t>(Slide 6 of 8)</a:t>
            </a:r>
          </a:p>
        </p:txBody>
      </p:sp>
      <p:graphicFrame>
        <p:nvGraphicFramePr>
          <p:cNvPr id="7" name="Content Placeholder 6" descr="Group 3 of 4 combining forms from the Review Sheet of the text with their corresponding meanings"/>
          <p:cNvGraphicFramePr>
            <a:graphicFrameLocks noGrp="1"/>
          </p:cNvGraphicFramePr>
          <p:nvPr>
            <p:ph idx="1"/>
            <p:extLst>
              <p:ext uri="{D42A27DB-BD31-4B8C-83A1-F6EECF244321}">
                <p14:modId xmlns:p14="http://schemas.microsoft.com/office/powerpoint/2010/main" val="2664369755"/>
              </p:ext>
            </p:extLst>
          </p:nvPr>
        </p:nvGraphicFramePr>
        <p:xfrm>
          <a:off x="457200" y="1600200"/>
          <a:ext cx="8229600" cy="4114800"/>
        </p:xfrm>
        <a:graphic>
          <a:graphicData uri="http://schemas.openxmlformats.org/drawingml/2006/table">
            <a:tbl>
              <a:tblPr firstRow="1" bandRow="1">
                <a:tableStyleId>{21E4AEA4-8DFA-4A89-87EB-49C32662AFE0}</a:tableStyleId>
              </a:tblPr>
              <a:tblGrid>
                <a:gridCol w="2590800">
                  <a:extLst>
                    <a:ext uri="{9D8B030D-6E8A-4147-A177-3AD203B41FA5}">
                      <a16:colId xmlns:a16="http://schemas.microsoft.com/office/drawing/2014/main" val="20000"/>
                    </a:ext>
                  </a:extLst>
                </a:gridCol>
                <a:gridCol w="5638800">
                  <a:extLst>
                    <a:ext uri="{9D8B030D-6E8A-4147-A177-3AD203B41FA5}">
                      <a16:colId xmlns:a16="http://schemas.microsoft.com/office/drawing/2014/main" val="20001"/>
                    </a:ext>
                  </a:extLst>
                </a:gridCol>
              </a:tblGrid>
              <a:tr h="370840">
                <a:tc>
                  <a:txBody>
                    <a:bodyPr/>
                    <a:lstStyle/>
                    <a:p>
                      <a:r>
                        <a:rPr lang="en-US" sz="2400" dirty="0"/>
                        <a:t>Combining Form</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altLang="en-US" sz="2400" b="1" dirty="0"/>
                        <a:t>ox/o</a:t>
                      </a:r>
                      <a:endParaRPr lang="en-US" sz="2400" dirty="0"/>
                    </a:p>
                  </a:txBody>
                  <a:tcPr/>
                </a:tc>
                <a:tc>
                  <a:txBody>
                    <a:bodyPr/>
                    <a:lstStyle/>
                    <a:p>
                      <a:r>
                        <a:rPr lang="en-US" altLang="en-US" sz="2400" dirty="0"/>
                        <a:t>oxygen</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b="1" dirty="0" err="1"/>
                        <a:t>pericardi</a:t>
                      </a:r>
                      <a:r>
                        <a:rPr lang="en-US" altLang="en-US" sz="2400" b="1" dirty="0"/>
                        <a:t>/o</a:t>
                      </a:r>
                      <a:endParaRPr lang="en-US" sz="2400" dirty="0"/>
                    </a:p>
                  </a:txBody>
                  <a:tcPr/>
                </a:tc>
                <a:tc>
                  <a:txBody>
                    <a:bodyPr/>
                    <a:lstStyle/>
                    <a:p>
                      <a:r>
                        <a:rPr lang="en-US" altLang="en-US" sz="2400" dirty="0"/>
                        <a:t>pericardium</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b="1" dirty="0" err="1"/>
                        <a:t>phleb</a:t>
                      </a:r>
                      <a:r>
                        <a:rPr lang="en-US" altLang="en-US" sz="2400" b="1" dirty="0"/>
                        <a:t>/o</a:t>
                      </a:r>
                      <a:endParaRPr lang="en-US" sz="2400" dirty="0"/>
                    </a:p>
                  </a:txBody>
                  <a:tcPr/>
                </a:tc>
                <a:tc>
                  <a:txBody>
                    <a:bodyPr/>
                    <a:lstStyle/>
                    <a:p>
                      <a:r>
                        <a:rPr lang="en-US" altLang="en-US" sz="2400" dirty="0"/>
                        <a:t>vein</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b="1" dirty="0" err="1"/>
                        <a:t>pulmon</a:t>
                      </a:r>
                      <a:r>
                        <a:rPr lang="en-US" altLang="en-US" sz="2400" b="1" dirty="0"/>
                        <a:t>/o</a:t>
                      </a:r>
                      <a:endParaRPr lang="en-US" sz="2400" dirty="0"/>
                    </a:p>
                  </a:txBody>
                  <a:tcPr/>
                </a:tc>
                <a:tc>
                  <a:txBody>
                    <a:bodyPr/>
                    <a:lstStyle/>
                    <a:p>
                      <a:r>
                        <a:rPr lang="en-US" altLang="en-US" sz="2400" dirty="0"/>
                        <a:t>long</a:t>
                      </a:r>
                      <a:endParaRPr lang="en-US" sz="2400" dirty="0"/>
                    </a:p>
                  </a:txBody>
                  <a:tcPr/>
                </a:tc>
                <a:extLst>
                  <a:ext uri="{0D108BD9-81ED-4DB2-BD59-A6C34878D82A}">
                    <a16:rowId xmlns:a16="http://schemas.microsoft.com/office/drawing/2014/main" val="10004"/>
                  </a:ext>
                </a:extLst>
              </a:tr>
              <a:tr h="370840">
                <a:tc>
                  <a:txBody>
                    <a:bodyPr/>
                    <a:lstStyle/>
                    <a:p>
                      <a:r>
                        <a:rPr lang="en-US" altLang="en-US" sz="2400" b="1" dirty="0" err="1"/>
                        <a:t>rrhythm</a:t>
                      </a:r>
                      <a:r>
                        <a:rPr lang="en-US" altLang="en-US" sz="2400" b="1" dirty="0"/>
                        <a:t>/o</a:t>
                      </a:r>
                      <a:endParaRPr lang="en-US" sz="2400" dirty="0"/>
                    </a:p>
                  </a:txBody>
                  <a:tcPr/>
                </a:tc>
                <a:tc>
                  <a:txBody>
                    <a:bodyPr/>
                    <a:lstStyle/>
                    <a:p>
                      <a:r>
                        <a:rPr lang="en-US" altLang="en-US" sz="2400" dirty="0"/>
                        <a:t>rhythm</a:t>
                      </a:r>
                      <a:endParaRPr lang="en-US" sz="2400" dirty="0"/>
                    </a:p>
                  </a:txBody>
                  <a:tcPr/>
                </a:tc>
                <a:extLst>
                  <a:ext uri="{0D108BD9-81ED-4DB2-BD59-A6C34878D82A}">
                    <a16:rowId xmlns:a16="http://schemas.microsoft.com/office/drawing/2014/main" val="10005"/>
                  </a:ext>
                </a:extLst>
              </a:tr>
              <a:tr h="370840">
                <a:tc>
                  <a:txBody>
                    <a:bodyPr/>
                    <a:lstStyle/>
                    <a:p>
                      <a:r>
                        <a:rPr lang="en-US" altLang="en-US" sz="2400" b="1" dirty="0" err="1"/>
                        <a:t>sphygm</a:t>
                      </a:r>
                      <a:r>
                        <a:rPr lang="en-US" altLang="en-US" sz="2400" b="1" dirty="0"/>
                        <a:t>/o</a:t>
                      </a:r>
                      <a:endParaRPr lang="en-US" sz="2400" dirty="0"/>
                    </a:p>
                  </a:txBody>
                  <a:tcPr/>
                </a:tc>
                <a:tc>
                  <a:txBody>
                    <a:bodyPr/>
                    <a:lstStyle/>
                    <a:p>
                      <a:r>
                        <a:rPr lang="en-US" altLang="en-US" sz="2400" dirty="0"/>
                        <a:t>pulse</a:t>
                      </a:r>
                      <a:endParaRPr lang="en-US" sz="2400" dirty="0"/>
                    </a:p>
                  </a:txBody>
                  <a:tcPr/>
                </a:tc>
                <a:extLst>
                  <a:ext uri="{0D108BD9-81ED-4DB2-BD59-A6C34878D82A}">
                    <a16:rowId xmlns:a16="http://schemas.microsoft.com/office/drawing/2014/main" val="10006"/>
                  </a:ext>
                </a:extLst>
              </a:tr>
              <a:tr h="370840">
                <a:tc>
                  <a:txBody>
                    <a:bodyPr/>
                    <a:lstStyle/>
                    <a:p>
                      <a:r>
                        <a:rPr lang="en-US" altLang="en-US" sz="2400" b="1" dirty="0" err="1"/>
                        <a:t>steth</a:t>
                      </a:r>
                      <a:r>
                        <a:rPr lang="en-US" altLang="en-US" sz="2400" b="1" dirty="0"/>
                        <a:t>/o</a:t>
                      </a:r>
                      <a:endParaRPr lang="en-US" sz="2400" dirty="0"/>
                    </a:p>
                  </a:txBody>
                  <a:tcPr/>
                </a:tc>
                <a:tc>
                  <a:txBody>
                    <a:bodyPr/>
                    <a:lstStyle/>
                    <a:p>
                      <a:r>
                        <a:rPr lang="en-US" altLang="en-US" sz="2400" dirty="0"/>
                        <a:t>chest</a:t>
                      </a:r>
                      <a:endParaRPr lang="en-US" sz="2400" dirty="0"/>
                    </a:p>
                  </a:txBody>
                  <a:tcPr/>
                </a:tc>
                <a:extLst>
                  <a:ext uri="{0D108BD9-81ED-4DB2-BD59-A6C34878D82A}">
                    <a16:rowId xmlns:a16="http://schemas.microsoft.com/office/drawing/2014/main" val="10007"/>
                  </a:ext>
                </a:extLst>
              </a:tr>
              <a:tr h="370840">
                <a:tc>
                  <a:txBody>
                    <a:bodyPr/>
                    <a:lstStyle/>
                    <a:p>
                      <a:r>
                        <a:rPr lang="en-US" altLang="en-US" sz="2400" b="1" dirty="0" err="1"/>
                        <a:t>thromb</a:t>
                      </a:r>
                      <a:r>
                        <a:rPr lang="en-US" altLang="en-US" sz="2400" b="1" dirty="0"/>
                        <a:t>/o</a:t>
                      </a:r>
                      <a:endParaRPr lang="en-US" sz="2400" dirty="0"/>
                    </a:p>
                  </a:txBody>
                  <a:tcPr/>
                </a:tc>
                <a:tc>
                  <a:txBody>
                    <a:bodyPr/>
                    <a:lstStyle/>
                    <a:p>
                      <a:r>
                        <a:rPr lang="en-US" altLang="en-US" sz="2400" dirty="0"/>
                        <a:t>clot</a:t>
                      </a:r>
                      <a:endParaRPr lang="en-US" sz="2400" dirty="0"/>
                    </a:p>
                  </a:txBody>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1173401487"/>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Review Sheet – Combining Forms</a:t>
            </a:r>
            <a:br>
              <a:rPr lang="en-US" dirty="0"/>
            </a:br>
            <a:r>
              <a:rPr lang="en-US" sz="4000" dirty="0"/>
              <a:t>(Slide 7 of 8)</a:t>
            </a:r>
          </a:p>
        </p:txBody>
      </p:sp>
      <p:graphicFrame>
        <p:nvGraphicFramePr>
          <p:cNvPr id="7" name="Content Placeholder 6" descr="Group 4 of 4 combining forms from the Review Sheet of the text.  The following slide lists these same combining forms with corresponding meanings."/>
          <p:cNvGraphicFramePr>
            <a:graphicFrameLocks noGrp="1"/>
          </p:cNvGraphicFramePr>
          <p:nvPr>
            <p:ph idx="1"/>
            <p:extLst>
              <p:ext uri="{D42A27DB-BD31-4B8C-83A1-F6EECF244321}">
                <p14:modId xmlns:p14="http://schemas.microsoft.com/office/powerpoint/2010/main" val="3828890893"/>
              </p:ext>
            </p:extLst>
          </p:nvPr>
        </p:nvGraphicFramePr>
        <p:xfrm>
          <a:off x="3276600" y="2057400"/>
          <a:ext cx="2590800" cy="3200400"/>
        </p:xfrm>
        <a:graphic>
          <a:graphicData uri="http://schemas.openxmlformats.org/drawingml/2006/table">
            <a:tbl>
              <a:tblPr firstRow="1" bandRow="1">
                <a:tableStyleId>{21E4AEA4-8DFA-4A89-87EB-49C32662AFE0}</a:tableStyleId>
              </a:tblPr>
              <a:tblGrid>
                <a:gridCol w="2590800">
                  <a:extLst>
                    <a:ext uri="{9D8B030D-6E8A-4147-A177-3AD203B41FA5}">
                      <a16:colId xmlns:a16="http://schemas.microsoft.com/office/drawing/2014/main" val="20000"/>
                    </a:ext>
                  </a:extLst>
                </a:gridCol>
              </a:tblGrid>
              <a:tr h="370840">
                <a:tc>
                  <a:txBody>
                    <a:bodyPr/>
                    <a:lstStyle/>
                    <a:p>
                      <a:r>
                        <a:rPr lang="en-US" sz="2400" dirty="0"/>
                        <a:t>Combining Form</a:t>
                      </a:r>
                    </a:p>
                  </a:txBody>
                  <a:tcPr/>
                </a:tc>
                <a:extLst>
                  <a:ext uri="{0D108BD9-81ED-4DB2-BD59-A6C34878D82A}">
                    <a16:rowId xmlns:a16="http://schemas.microsoft.com/office/drawing/2014/main" val="10000"/>
                  </a:ext>
                </a:extLst>
              </a:tr>
              <a:tr h="370840">
                <a:tc>
                  <a:txBody>
                    <a:bodyPr/>
                    <a:lstStyle/>
                    <a:p>
                      <a:r>
                        <a:rPr lang="en-US" altLang="en-US" sz="2400" b="1" dirty="0" err="1"/>
                        <a:t>valvul</a:t>
                      </a:r>
                      <a:r>
                        <a:rPr lang="en-US" altLang="en-US" sz="2400" b="1" dirty="0"/>
                        <a:t>/o</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b="1" dirty="0" err="1"/>
                        <a:t>valv</a:t>
                      </a:r>
                      <a:r>
                        <a:rPr lang="en-US" altLang="en-US" sz="2400" b="1" dirty="0"/>
                        <a:t>/o</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b="1" dirty="0"/>
                        <a:t>vas/o</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b="1" dirty="0" err="1"/>
                        <a:t>vascul</a:t>
                      </a:r>
                      <a:r>
                        <a:rPr lang="en-US" altLang="en-US" sz="2400" b="1" dirty="0"/>
                        <a:t>/o</a:t>
                      </a:r>
                      <a:endParaRPr lang="en-US" sz="2400" dirty="0"/>
                    </a:p>
                  </a:txBody>
                  <a:tcPr/>
                </a:tc>
                <a:extLst>
                  <a:ext uri="{0D108BD9-81ED-4DB2-BD59-A6C34878D82A}">
                    <a16:rowId xmlns:a16="http://schemas.microsoft.com/office/drawing/2014/main" val="10004"/>
                  </a:ext>
                </a:extLst>
              </a:tr>
              <a:tr h="370840">
                <a:tc>
                  <a:txBody>
                    <a:bodyPr/>
                    <a:lstStyle/>
                    <a:p>
                      <a:r>
                        <a:rPr lang="en-US" altLang="en-US" sz="2400" b="1" dirty="0" err="1"/>
                        <a:t>ven</a:t>
                      </a:r>
                      <a:r>
                        <a:rPr lang="en-US" altLang="en-US" sz="2400" b="1" dirty="0"/>
                        <a:t>/o, </a:t>
                      </a:r>
                      <a:r>
                        <a:rPr lang="en-US" altLang="en-US" sz="2400" b="1" dirty="0" err="1"/>
                        <a:t>ven</a:t>
                      </a:r>
                      <a:r>
                        <a:rPr lang="en-US" altLang="en-US" sz="2400" b="1" dirty="0"/>
                        <a:t>/</a:t>
                      </a:r>
                      <a:r>
                        <a:rPr lang="en-US" altLang="en-US" sz="2400" b="1" dirty="0" err="1"/>
                        <a:t>i</a:t>
                      </a:r>
                      <a:endParaRPr lang="en-US" sz="2400" dirty="0"/>
                    </a:p>
                  </a:txBody>
                  <a:tcPr/>
                </a:tc>
                <a:extLst>
                  <a:ext uri="{0D108BD9-81ED-4DB2-BD59-A6C34878D82A}">
                    <a16:rowId xmlns:a16="http://schemas.microsoft.com/office/drawing/2014/main" val="10005"/>
                  </a:ext>
                </a:extLst>
              </a:tr>
              <a:tr h="370840">
                <a:tc>
                  <a:txBody>
                    <a:bodyPr/>
                    <a:lstStyle/>
                    <a:p>
                      <a:r>
                        <a:rPr lang="en-US" altLang="en-US" sz="2400" b="1" dirty="0" err="1"/>
                        <a:t>ventricul</a:t>
                      </a:r>
                      <a:r>
                        <a:rPr lang="en-US" altLang="en-US" sz="2400" b="1" dirty="0"/>
                        <a:t>/o</a:t>
                      </a:r>
                      <a:endParaRPr lang="en-US" sz="2400" dirty="0"/>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4158428942"/>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Review Sheet – Combining Forms</a:t>
            </a:r>
            <a:br>
              <a:rPr lang="en-US" dirty="0"/>
            </a:br>
            <a:r>
              <a:rPr lang="en-US" sz="4000" dirty="0"/>
              <a:t>(Slide 8 of 8)</a:t>
            </a:r>
          </a:p>
        </p:txBody>
      </p:sp>
      <p:graphicFrame>
        <p:nvGraphicFramePr>
          <p:cNvPr id="7" name="Content Placeholder 6" descr="Group 4 of 4 combining forms from the Review Sheet of the text with their corresponding meanings"/>
          <p:cNvGraphicFramePr>
            <a:graphicFrameLocks noGrp="1"/>
          </p:cNvGraphicFramePr>
          <p:nvPr>
            <p:ph idx="1"/>
            <p:extLst>
              <p:ext uri="{D42A27DB-BD31-4B8C-83A1-F6EECF244321}">
                <p14:modId xmlns:p14="http://schemas.microsoft.com/office/powerpoint/2010/main" val="3483755866"/>
              </p:ext>
            </p:extLst>
          </p:nvPr>
        </p:nvGraphicFramePr>
        <p:xfrm>
          <a:off x="457200" y="1600200"/>
          <a:ext cx="8229600" cy="3200400"/>
        </p:xfrm>
        <a:graphic>
          <a:graphicData uri="http://schemas.openxmlformats.org/drawingml/2006/table">
            <a:tbl>
              <a:tblPr firstRow="1" bandRow="1">
                <a:tableStyleId>{21E4AEA4-8DFA-4A89-87EB-49C32662AFE0}</a:tableStyleId>
              </a:tblPr>
              <a:tblGrid>
                <a:gridCol w="2590800">
                  <a:extLst>
                    <a:ext uri="{9D8B030D-6E8A-4147-A177-3AD203B41FA5}">
                      <a16:colId xmlns:a16="http://schemas.microsoft.com/office/drawing/2014/main" val="20000"/>
                    </a:ext>
                  </a:extLst>
                </a:gridCol>
                <a:gridCol w="5638800">
                  <a:extLst>
                    <a:ext uri="{9D8B030D-6E8A-4147-A177-3AD203B41FA5}">
                      <a16:colId xmlns:a16="http://schemas.microsoft.com/office/drawing/2014/main" val="20001"/>
                    </a:ext>
                  </a:extLst>
                </a:gridCol>
              </a:tblGrid>
              <a:tr h="370840">
                <a:tc>
                  <a:txBody>
                    <a:bodyPr/>
                    <a:lstStyle/>
                    <a:p>
                      <a:r>
                        <a:rPr lang="en-US" sz="2400" dirty="0"/>
                        <a:t>Combining Form</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altLang="en-US" sz="2400" b="1" dirty="0" err="1"/>
                        <a:t>valvul</a:t>
                      </a:r>
                      <a:r>
                        <a:rPr lang="en-US" altLang="en-US" sz="2400" b="1" dirty="0"/>
                        <a:t>/o</a:t>
                      </a:r>
                      <a:endParaRPr lang="en-US" sz="2400" dirty="0"/>
                    </a:p>
                  </a:txBody>
                  <a:tcPr/>
                </a:tc>
                <a:tc>
                  <a:txBody>
                    <a:bodyPr/>
                    <a:lstStyle/>
                    <a:p>
                      <a:r>
                        <a:rPr lang="en-US" altLang="en-US" sz="2400" dirty="0"/>
                        <a:t>valve</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b="1" dirty="0" err="1"/>
                        <a:t>valv</a:t>
                      </a:r>
                      <a:r>
                        <a:rPr lang="en-US" altLang="en-US" sz="2400" b="1" dirty="0"/>
                        <a:t>/o</a:t>
                      </a:r>
                      <a:endParaRPr lang="en-US" sz="2400" dirty="0"/>
                    </a:p>
                  </a:txBody>
                  <a:tcPr/>
                </a:tc>
                <a:tc>
                  <a:txBody>
                    <a:bodyPr/>
                    <a:lstStyle/>
                    <a:p>
                      <a:r>
                        <a:rPr lang="en-US" altLang="en-US" sz="2400" dirty="0"/>
                        <a:t>valve</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b="1" dirty="0"/>
                        <a:t>vas/o</a:t>
                      </a:r>
                      <a:endParaRPr lang="en-US" sz="2400" dirty="0"/>
                    </a:p>
                  </a:txBody>
                  <a:tcPr/>
                </a:tc>
                <a:tc>
                  <a:txBody>
                    <a:bodyPr/>
                    <a:lstStyle/>
                    <a:p>
                      <a:r>
                        <a:rPr lang="en-US" altLang="en-US" sz="2400" dirty="0"/>
                        <a:t>vessel</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b="1" dirty="0" err="1"/>
                        <a:t>vascul</a:t>
                      </a:r>
                      <a:r>
                        <a:rPr lang="en-US" altLang="en-US" sz="2400" b="1" dirty="0"/>
                        <a:t>/o</a:t>
                      </a:r>
                      <a:endParaRPr lang="en-US" sz="2400" dirty="0"/>
                    </a:p>
                  </a:txBody>
                  <a:tcPr/>
                </a:tc>
                <a:tc>
                  <a:txBody>
                    <a:bodyPr/>
                    <a:lstStyle/>
                    <a:p>
                      <a:r>
                        <a:rPr lang="en-US" altLang="en-US" sz="2400" dirty="0"/>
                        <a:t>vessel</a:t>
                      </a:r>
                      <a:endParaRPr lang="en-US" sz="2400" dirty="0"/>
                    </a:p>
                  </a:txBody>
                  <a:tcPr/>
                </a:tc>
                <a:extLst>
                  <a:ext uri="{0D108BD9-81ED-4DB2-BD59-A6C34878D82A}">
                    <a16:rowId xmlns:a16="http://schemas.microsoft.com/office/drawing/2014/main" val="10004"/>
                  </a:ext>
                </a:extLst>
              </a:tr>
              <a:tr h="370840">
                <a:tc>
                  <a:txBody>
                    <a:bodyPr/>
                    <a:lstStyle/>
                    <a:p>
                      <a:r>
                        <a:rPr lang="en-US" altLang="en-US" sz="2400" b="1" dirty="0" err="1"/>
                        <a:t>ven</a:t>
                      </a:r>
                      <a:r>
                        <a:rPr lang="en-US" altLang="en-US" sz="2400" b="1" dirty="0"/>
                        <a:t>/o, </a:t>
                      </a:r>
                      <a:r>
                        <a:rPr lang="en-US" altLang="en-US" sz="2400" b="1" dirty="0" err="1"/>
                        <a:t>ven</a:t>
                      </a:r>
                      <a:r>
                        <a:rPr lang="en-US" altLang="en-US" sz="2400" b="1" dirty="0"/>
                        <a:t>/</a:t>
                      </a:r>
                      <a:r>
                        <a:rPr lang="en-US" altLang="en-US" sz="2400" b="1" dirty="0" err="1"/>
                        <a:t>i</a:t>
                      </a:r>
                      <a:endParaRPr lang="en-US" sz="2400" dirty="0"/>
                    </a:p>
                  </a:txBody>
                  <a:tcPr/>
                </a:tc>
                <a:tc>
                  <a:txBody>
                    <a:bodyPr/>
                    <a:lstStyle/>
                    <a:p>
                      <a:r>
                        <a:rPr lang="en-US" altLang="en-US" sz="2400" dirty="0"/>
                        <a:t>vein</a:t>
                      </a:r>
                      <a:endParaRPr lang="en-US" sz="2400" dirty="0"/>
                    </a:p>
                  </a:txBody>
                  <a:tcPr/>
                </a:tc>
                <a:extLst>
                  <a:ext uri="{0D108BD9-81ED-4DB2-BD59-A6C34878D82A}">
                    <a16:rowId xmlns:a16="http://schemas.microsoft.com/office/drawing/2014/main" val="10005"/>
                  </a:ext>
                </a:extLst>
              </a:tr>
              <a:tr h="370840">
                <a:tc>
                  <a:txBody>
                    <a:bodyPr/>
                    <a:lstStyle/>
                    <a:p>
                      <a:r>
                        <a:rPr lang="en-US" altLang="en-US" sz="2400" b="1" dirty="0" err="1"/>
                        <a:t>ventricul</a:t>
                      </a:r>
                      <a:r>
                        <a:rPr lang="en-US" altLang="en-US" sz="2400" b="1" dirty="0"/>
                        <a:t>/o</a:t>
                      </a:r>
                      <a:endParaRPr lang="en-US" sz="2400" dirty="0"/>
                    </a:p>
                  </a:txBody>
                  <a:tcPr/>
                </a:tc>
                <a:tc>
                  <a:txBody>
                    <a:bodyPr/>
                    <a:lstStyle/>
                    <a:p>
                      <a:r>
                        <a:rPr lang="en-US" altLang="en-US" sz="2400" dirty="0"/>
                        <a:t>ventricle</a:t>
                      </a:r>
                      <a:endParaRPr lang="en-US" sz="2400" dirty="0"/>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888208405"/>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sz="4200" dirty="0"/>
              <a:t>Review Sheet – Suffixes (Slide 1 of 4)</a:t>
            </a:r>
          </a:p>
        </p:txBody>
      </p:sp>
      <p:graphicFrame>
        <p:nvGraphicFramePr>
          <p:cNvPr id="7" name="Content Placeholder 6" descr="Group 1 of 2  Suffixes from the Review Sheet of the text.  The following slide lists these same suffixes with corresponding meanings."/>
          <p:cNvGraphicFramePr>
            <a:graphicFrameLocks noGrp="1"/>
          </p:cNvGraphicFramePr>
          <p:nvPr>
            <p:ph idx="1"/>
            <p:extLst>
              <p:ext uri="{D42A27DB-BD31-4B8C-83A1-F6EECF244321}">
                <p14:modId xmlns:p14="http://schemas.microsoft.com/office/powerpoint/2010/main" val="1678970357"/>
              </p:ext>
            </p:extLst>
          </p:nvPr>
        </p:nvGraphicFramePr>
        <p:xfrm>
          <a:off x="3276600" y="1752600"/>
          <a:ext cx="2590800" cy="3200400"/>
        </p:xfrm>
        <a:graphic>
          <a:graphicData uri="http://schemas.openxmlformats.org/drawingml/2006/table">
            <a:tbl>
              <a:tblPr firstRow="1" bandRow="1">
                <a:tableStyleId>{21E4AEA4-8DFA-4A89-87EB-49C32662AFE0}</a:tableStyleId>
              </a:tblPr>
              <a:tblGrid>
                <a:gridCol w="2590800">
                  <a:extLst>
                    <a:ext uri="{9D8B030D-6E8A-4147-A177-3AD203B41FA5}">
                      <a16:colId xmlns:a16="http://schemas.microsoft.com/office/drawing/2014/main" val="20000"/>
                    </a:ext>
                  </a:extLst>
                </a:gridCol>
              </a:tblGrid>
              <a:tr h="370840">
                <a:tc>
                  <a:txBody>
                    <a:bodyPr/>
                    <a:lstStyle/>
                    <a:p>
                      <a:r>
                        <a:rPr lang="en-US" sz="2400" dirty="0"/>
                        <a:t>Suffix</a:t>
                      </a:r>
                    </a:p>
                  </a:txBody>
                  <a:tcPr/>
                </a:tc>
                <a:extLst>
                  <a:ext uri="{0D108BD9-81ED-4DB2-BD59-A6C34878D82A}">
                    <a16:rowId xmlns:a16="http://schemas.microsoft.com/office/drawing/2014/main" val="10000"/>
                  </a:ext>
                </a:extLst>
              </a:tr>
              <a:tr h="370840">
                <a:tc>
                  <a:txBody>
                    <a:bodyPr/>
                    <a:lstStyle/>
                    <a:p>
                      <a:r>
                        <a:rPr lang="en-US" altLang="en-US" sz="2400" b="1" dirty="0"/>
                        <a:t>-constriction</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b="1" dirty="0"/>
                        <a:t>-dilation</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b="1" dirty="0"/>
                        <a:t>-</a:t>
                      </a:r>
                      <a:r>
                        <a:rPr lang="en-US" altLang="en-US" sz="2400" b="1" dirty="0" err="1"/>
                        <a:t>emia</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b="1" dirty="0"/>
                        <a:t>-</a:t>
                      </a:r>
                      <a:r>
                        <a:rPr lang="en-US" altLang="en-US" sz="2400" b="1" dirty="0" err="1"/>
                        <a:t>graphy</a:t>
                      </a:r>
                      <a:endParaRPr lang="en-US" sz="2400" dirty="0"/>
                    </a:p>
                  </a:txBody>
                  <a:tcPr/>
                </a:tc>
                <a:extLst>
                  <a:ext uri="{0D108BD9-81ED-4DB2-BD59-A6C34878D82A}">
                    <a16:rowId xmlns:a16="http://schemas.microsoft.com/office/drawing/2014/main" val="10004"/>
                  </a:ext>
                </a:extLst>
              </a:tr>
              <a:tr h="370840">
                <a:tc>
                  <a:txBody>
                    <a:bodyPr/>
                    <a:lstStyle/>
                    <a:p>
                      <a:r>
                        <a:rPr lang="en-US" altLang="en-US" sz="2400" b="1" dirty="0"/>
                        <a:t>-</a:t>
                      </a:r>
                      <a:r>
                        <a:rPr lang="en-US" altLang="en-US" sz="2400" b="1" dirty="0" err="1"/>
                        <a:t>lysis</a:t>
                      </a:r>
                      <a:endParaRPr lang="en-US" sz="2400" dirty="0"/>
                    </a:p>
                  </a:txBody>
                  <a:tcPr/>
                </a:tc>
                <a:extLst>
                  <a:ext uri="{0D108BD9-81ED-4DB2-BD59-A6C34878D82A}">
                    <a16:rowId xmlns:a16="http://schemas.microsoft.com/office/drawing/2014/main" val="10005"/>
                  </a:ext>
                </a:extLst>
              </a:tr>
              <a:tr h="370840">
                <a:tc>
                  <a:txBody>
                    <a:bodyPr/>
                    <a:lstStyle/>
                    <a:p>
                      <a:r>
                        <a:rPr lang="en-US" altLang="en-US" sz="2400" b="1" dirty="0"/>
                        <a:t>-</a:t>
                      </a:r>
                      <a:r>
                        <a:rPr lang="en-US" altLang="en-US" sz="2400" b="1" dirty="0" err="1"/>
                        <a:t>megaly</a:t>
                      </a:r>
                      <a:endParaRPr lang="en-US" sz="2400" dirty="0"/>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180320104"/>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sz="4200" dirty="0"/>
              <a:t>Review Sheet – Suffixes (Slide 2 of 4)</a:t>
            </a:r>
          </a:p>
        </p:txBody>
      </p:sp>
      <p:graphicFrame>
        <p:nvGraphicFramePr>
          <p:cNvPr id="7" name="Content Placeholder 6" descr="Group 1 of 2 Suffixes from the Review Sheet of the text with their corresponding meanings"/>
          <p:cNvGraphicFramePr>
            <a:graphicFrameLocks noGrp="1"/>
          </p:cNvGraphicFramePr>
          <p:nvPr>
            <p:ph idx="1"/>
            <p:extLst>
              <p:ext uri="{D42A27DB-BD31-4B8C-83A1-F6EECF244321}">
                <p14:modId xmlns:p14="http://schemas.microsoft.com/office/powerpoint/2010/main" val="2083868602"/>
              </p:ext>
            </p:extLst>
          </p:nvPr>
        </p:nvGraphicFramePr>
        <p:xfrm>
          <a:off x="457200" y="1600200"/>
          <a:ext cx="8229600" cy="3566160"/>
        </p:xfrm>
        <a:graphic>
          <a:graphicData uri="http://schemas.openxmlformats.org/drawingml/2006/table">
            <a:tbl>
              <a:tblPr firstRow="1" bandRow="1">
                <a:tableStyleId>{21E4AEA4-8DFA-4A89-87EB-49C32662AFE0}</a:tableStyleId>
              </a:tblPr>
              <a:tblGrid>
                <a:gridCol w="2590800">
                  <a:extLst>
                    <a:ext uri="{9D8B030D-6E8A-4147-A177-3AD203B41FA5}">
                      <a16:colId xmlns:a16="http://schemas.microsoft.com/office/drawing/2014/main" val="20000"/>
                    </a:ext>
                  </a:extLst>
                </a:gridCol>
                <a:gridCol w="5638800">
                  <a:extLst>
                    <a:ext uri="{9D8B030D-6E8A-4147-A177-3AD203B41FA5}">
                      <a16:colId xmlns:a16="http://schemas.microsoft.com/office/drawing/2014/main" val="20001"/>
                    </a:ext>
                  </a:extLst>
                </a:gridCol>
              </a:tblGrid>
              <a:tr h="370840">
                <a:tc>
                  <a:txBody>
                    <a:bodyPr/>
                    <a:lstStyle/>
                    <a:p>
                      <a:r>
                        <a:rPr lang="en-US" sz="2400" dirty="0"/>
                        <a:t>Suffix</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altLang="en-US" sz="2400" b="1" dirty="0"/>
                        <a:t>-constriction</a:t>
                      </a:r>
                      <a:endParaRPr lang="en-US" sz="2400" dirty="0"/>
                    </a:p>
                  </a:txBody>
                  <a:tcPr/>
                </a:tc>
                <a:tc>
                  <a:txBody>
                    <a:bodyPr/>
                    <a:lstStyle/>
                    <a:p>
                      <a:r>
                        <a:rPr lang="en-US" altLang="en-US" sz="2400" dirty="0"/>
                        <a:t>narrowing</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b="1" dirty="0"/>
                        <a:t>-dilation</a:t>
                      </a:r>
                      <a:endParaRPr lang="en-US" sz="2400" dirty="0"/>
                    </a:p>
                  </a:txBody>
                  <a:tcPr/>
                </a:tc>
                <a:tc>
                  <a:txBody>
                    <a:bodyPr/>
                    <a:lstStyle/>
                    <a:p>
                      <a:r>
                        <a:rPr lang="en-US" altLang="en-US" sz="2400" dirty="0"/>
                        <a:t>widening; stretching; expanding</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b="1" dirty="0"/>
                        <a:t>-</a:t>
                      </a:r>
                      <a:r>
                        <a:rPr lang="en-US" altLang="en-US" sz="2400" b="1" dirty="0" err="1"/>
                        <a:t>emia</a:t>
                      </a:r>
                      <a:endParaRPr lang="en-US" sz="2400" dirty="0"/>
                    </a:p>
                  </a:txBody>
                  <a:tcPr/>
                </a:tc>
                <a:tc>
                  <a:txBody>
                    <a:bodyPr/>
                    <a:lstStyle/>
                    <a:p>
                      <a:r>
                        <a:rPr lang="en-US" altLang="en-US" sz="2400" dirty="0"/>
                        <a:t>blood condition</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b="1" dirty="0"/>
                        <a:t>-</a:t>
                      </a:r>
                      <a:r>
                        <a:rPr lang="en-US" altLang="en-US" sz="2400" b="1" dirty="0" err="1"/>
                        <a:t>graphy</a:t>
                      </a:r>
                      <a:endParaRPr lang="en-US" sz="2400" dirty="0"/>
                    </a:p>
                  </a:txBody>
                  <a:tcPr/>
                </a:tc>
                <a:tc>
                  <a:txBody>
                    <a:bodyPr/>
                    <a:lstStyle/>
                    <a:p>
                      <a:r>
                        <a:rPr lang="en-US" altLang="en-US" sz="2400" dirty="0"/>
                        <a:t>process of recording</a:t>
                      </a:r>
                      <a:endParaRPr lang="en-US" sz="2400" dirty="0"/>
                    </a:p>
                  </a:txBody>
                  <a:tcPr/>
                </a:tc>
                <a:extLst>
                  <a:ext uri="{0D108BD9-81ED-4DB2-BD59-A6C34878D82A}">
                    <a16:rowId xmlns:a16="http://schemas.microsoft.com/office/drawing/2014/main" val="10004"/>
                  </a:ext>
                </a:extLst>
              </a:tr>
              <a:tr h="370840">
                <a:tc>
                  <a:txBody>
                    <a:bodyPr/>
                    <a:lstStyle/>
                    <a:p>
                      <a:r>
                        <a:rPr lang="en-US" altLang="en-US" sz="2400" b="1" dirty="0"/>
                        <a:t>-</a:t>
                      </a:r>
                      <a:r>
                        <a:rPr lang="en-US" altLang="en-US" sz="2400" b="1" dirty="0" err="1"/>
                        <a:t>lysis</a:t>
                      </a:r>
                      <a:endParaRPr lang="en-US" sz="2400" dirty="0"/>
                    </a:p>
                  </a:txBody>
                  <a:tcPr/>
                </a:tc>
                <a:tc>
                  <a:txBody>
                    <a:bodyPr/>
                    <a:lstStyle/>
                    <a:p>
                      <a:pPr eaLnBrk="1" hangingPunct="1"/>
                      <a:r>
                        <a:rPr lang="en-US" altLang="en-US" sz="2400" dirty="0"/>
                        <a:t>breakdown; separation; destruction;</a:t>
                      </a:r>
                      <a:r>
                        <a:rPr lang="en-US" altLang="en-US" sz="2400" baseline="0" dirty="0"/>
                        <a:t> </a:t>
                      </a:r>
                      <a:r>
                        <a:rPr lang="en-US" altLang="en-US" sz="2400" dirty="0"/>
                        <a:t>loosening</a:t>
                      </a:r>
                    </a:p>
                  </a:txBody>
                  <a:tcPr/>
                </a:tc>
                <a:extLst>
                  <a:ext uri="{0D108BD9-81ED-4DB2-BD59-A6C34878D82A}">
                    <a16:rowId xmlns:a16="http://schemas.microsoft.com/office/drawing/2014/main" val="10005"/>
                  </a:ext>
                </a:extLst>
              </a:tr>
              <a:tr h="370840">
                <a:tc>
                  <a:txBody>
                    <a:bodyPr/>
                    <a:lstStyle/>
                    <a:p>
                      <a:r>
                        <a:rPr lang="en-US" altLang="en-US" sz="2400" b="1" dirty="0"/>
                        <a:t>-</a:t>
                      </a:r>
                      <a:r>
                        <a:rPr lang="en-US" altLang="en-US" sz="2400" b="1" dirty="0" err="1"/>
                        <a:t>megaly</a:t>
                      </a:r>
                      <a:endParaRPr lang="en-US" sz="2400" dirty="0"/>
                    </a:p>
                  </a:txBody>
                  <a:tcPr/>
                </a:tc>
                <a:tc>
                  <a:txBody>
                    <a:bodyPr/>
                    <a:lstStyle/>
                    <a:p>
                      <a:r>
                        <a:rPr lang="en-US" altLang="en-US" sz="2400" dirty="0"/>
                        <a:t>enlargement</a:t>
                      </a:r>
                      <a:endParaRPr lang="en-US" sz="2400" dirty="0"/>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381384196"/>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sz="4200" dirty="0"/>
              <a:t>Review Sheet – Suffixes (Slide 3 of 4)</a:t>
            </a:r>
          </a:p>
        </p:txBody>
      </p:sp>
      <p:graphicFrame>
        <p:nvGraphicFramePr>
          <p:cNvPr id="7" name="Content Placeholder 6" descr="Group 2 of 2  Suffixes from the Review Sheet of the text.  The following slide lists these same suffixes with corresponding meanings."/>
          <p:cNvGraphicFramePr>
            <a:graphicFrameLocks noGrp="1"/>
          </p:cNvGraphicFramePr>
          <p:nvPr>
            <p:ph idx="1"/>
            <p:extLst>
              <p:ext uri="{D42A27DB-BD31-4B8C-83A1-F6EECF244321}">
                <p14:modId xmlns:p14="http://schemas.microsoft.com/office/powerpoint/2010/main" val="1978537497"/>
              </p:ext>
            </p:extLst>
          </p:nvPr>
        </p:nvGraphicFramePr>
        <p:xfrm>
          <a:off x="3276600" y="1752600"/>
          <a:ext cx="2590800" cy="3657600"/>
        </p:xfrm>
        <a:graphic>
          <a:graphicData uri="http://schemas.openxmlformats.org/drawingml/2006/table">
            <a:tbl>
              <a:tblPr firstRow="1" bandRow="1">
                <a:tableStyleId>{21E4AEA4-8DFA-4A89-87EB-49C32662AFE0}</a:tableStyleId>
              </a:tblPr>
              <a:tblGrid>
                <a:gridCol w="2590800">
                  <a:extLst>
                    <a:ext uri="{9D8B030D-6E8A-4147-A177-3AD203B41FA5}">
                      <a16:colId xmlns:a16="http://schemas.microsoft.com/office/drawing/2014/main" val="20000"/>
                    </a:ext>
                  </a:extLst>
                </a:gridCol>
              </a:tblGrid>
              <a:tr h="370840">
                <a:tc>
                  <a:txBody>
                    <a:bodyPr/>
                    <a:lstStyle/>
                    <a:p>
                      <a:r>
                        <a:rPr lang="en-US" sz="2400" dirty="0"/>
                        <a:t>Suffix</a:t>
                      </a:r>
                    </a:p>
                  </a:txBody>
                  <a:tcPr/>
                </a:tc>
                <a:extLst>
                  <a:ext uri="{0D108BD9-81ED-4DB2-BD59-A6C34878D82A}">
                    <a16:rowId xmlns:a16="http://schemas.microsoft.com/office/drawing/2014/main" val="10000"/>
                  </a:ext>
                </a:extLst>
              </a:tr>
              <a:tr h="370840">
                <a:tc>
                  <a:txBody>
                    <a:bodyPr/>
                    <a:lstStyle/>
                    <a:p>
                      <a:r>
                        <a:rPr lang="en-US" altLang="en-US" sz="2400" b="1" dirty="0"/>
                        <a:t>-meter</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b="1" dirty="0"/>
                        <a:t>-</a:t>
                      </a:r>
                      <a:r>
                        <a:rPr lang="en-US" altLang="en-US" sz="2400" b="1" dirty="0" err="1"/>
                        <a:t>oma</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b="1" dirty="0"/>
                        <a:t>-</a:t>
                      </a:r>
                      <a:r>
                        <a:rPr lang="en-US" altLang="en-US" sz="2400" b="1" dirty="0" err="1"/>
                        <a:t>osis</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b="1" dirty="0"/>
                        <a:t>-</a:t>
                      </a:r>
                      <a:r>
                        <a:rPr lang="en-US" altLang="en-US" sz="2400" b="1" dirty="0" err="1"/>
                        <a:t>plasty</a:t>
                      </a:r>
                      <a:endParaRPr lang="en-US" sz="2400" dirty="0"/>
                    </a:p>
                  </a:txBody>
                  <a:tcPr/>
                </a:tc>
                <a:extLst>
                  <a:ext uri="{0D108BD9-81ED-4DB2-BD59-A6C34878D82A}">
                    <a16:rowId xmlns:a16="http://schemas.microsoft.com/office/drawing/2014/main" val="10004"/>
                  </a:ext>
                </a:extLst>
              </a:tr>
              <a:tr h="370840">
                <a:tc>
                  <a:txBody>
                    <a:bodyPr/>
                    <a:lstStyle/>
                    <a:p>
                      <a:r>
                        <a:rPr lang="en-US" altLang="en-US" sz="2400" b="1" dirty="0"/>
                        <a:t>-sclerosis</a:t>
                      </a:r>
                      <a:endParaRPr lang="en-US" sz="2400" dirty="0"/>
                    </a:p>
                  </a:txBody>
                  <a:tcPr/>
                </a:tc>
                <a:extLst>
                  <a:ext uri="{0D108BD9-81ED-4DB2-BD59-A6C34878D82A}">
                    <a16:rowId xmlns:a16="http://schemas.microsoft.com/office/drawing/2014/main" val="10005"/>
                  </a:ext>
                </a:extLst>
              </a:tr>
              <a:tr h="370840">
                <a:tc>
                  <a:txBody>
                    <a:bodyPr/>
                    <a:lstStyle/>
                    <a:p>
                      <a:r>
                        <a:rPr lang="en-US" altLang="en-US" sz="2400" b="1" dirty="0"/>
                        <a:t>-stenosis</a:t>
                      </a:r>
                      <a:endParaRPr lang="en-US" sz="2400" dirty="0"/>
                    </a:p>
                  </a:txBody>
                  <a:tcPr/>
                </a:tc>
                <a:extLst>
                  <a:ext uri="{0D108BD9-81ED-4DB2-BD59-A6C34878D82A}">
                    <a16:rowId xmlns:a16="http://schemas.microsoft.com/office/drawing/2014/main" val="10006"/>
                  </a:ext>
                </a:extLst>
              </a:tr>
              <a:tr h="370840">
                <a:tc>
                  <a:txBody>
                    <a:bodyPr/>
                    <a:lstStyle/>
                    <a:p>
                      <a:r>
                        <a:rPr lang="en-US" altLang="en-US" sz="2400" b="1" dirty="0"/>
                        <a:t>-</a:t>
                      </a:r>
                      <a:r>
                        <a:rPr lang="en-US" altLang="en-US" sz="2400" b="1" dirty="0" err="1"/>
                        <a:t>tomy</a:t>
                      </a:r>
                      <a:endParaRPr lang="en-US" sz="2400" dirty="0"/>
                    </a:p>
                  </a:txBody>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1448483466"/>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sz="4200" dirty="0"/>
              <a:t>Review Sheet – Suffixes (Slide 4 of 4)</a:t>
            </a:r>
          </a:p>
        </p:txBody>
      </p:sp>
      <p:graphicFrame>
        <p:nvGraphicFramePr>
          <p:cNvPr id="7" name="Content Placeholder 6" descr="Group 2 of 2 Suffixes from the Review Sheet of the text with their corresponding meanings"/>
          <p:cNvGraphicFramePr>
            <a:graphicFrameLocks noGrp="1"/>
          </p:cNvGraphicFramePr>
          <p:nvPr>
            <p:ph idx="1"/>
            <p:extLst>
              <p:ext uri="{D42A27DB-BD31-4B8C-83A1-F6EECF244321}">
                <p14:modId xmlns:p14="http://schemas.microsoft.com/office/powerpoint/2010/main" val="47564658"/>
              </p:ext>
            </p:extLst>
          </p:nvPr>
        </p:nvGraphicFramePr>
        <p:xfrm>
          <a:off x="457200" y="1600200"/>
          <a:ext cx="8229600" cy="3657600"/>
        </p:xfrm>
        <a:graphic>
          <a:graphicData uri="http://schemas.openxmlformats.org/drawingml/2006/table">
            <a:tbl>
              <a:tblPr firstRow="1" bandRow="1">
                <a:tableStyleId>{21E4AEA4-8DFA-4A89-87EB-49C32662AFE0}</a:tableStyleId>
              </a:tblPr>
              <a:tblGrid>
                <a:gridCol w="2590800">
                  <a:extLst>
                    <a:ext uri="{9D8B030D-6E8A-4147-A177-3AD203B41FA5}">
                      <a16:colId xmlns:a16="http://schemas.microsoft.com/office/drawing/2014/main" val="20000"/>
                    </a:ext>
                  </a:extLst>
                </a:gridCol>
                <a:gridCol w="5638800">
                  <a:extLst>
                    <a:ext uri="{9D8B030D-6E8A-4147-A177-3AD203B41FA5}">
                      <a16:colId xmlns:a16="http://schemas.microsoft.com/office/drawing/2014/main" val="20001"/>
                    </a:ext>
                  </a:extLst>
                </a:gridCol>
              </a:tblGrid>
              <a:tr h="370840">
                <a:tc>
                  <a:txBody>
                    <a:bodyPr/>
                    <a:lstStyle/>
                    <a:p>
                      <a:r>
                        <a:rPr lang="en-US" sz="2400" dirty="0"/>
                        <a:t>Suffix</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altLang="en-US" sz="2400" b="1" dirty="0"/>
                        <a:t>-meter</a:t>
                      </a:r>
                      <a:endParaRPr lang="en-US" sz="2400" dirty="0"/>
                    </a:p>
                  </a:txBody>
                  <a:tcPr/>
                </a:tc>
                <a:tc>
                  <a:txBody>
                    <a:bodyPr/>
                    <a:lstStyle/>
                    <a:p>
                      <a:r>
                        <a:rPr lang="en-US" altLang="en-US" sz="2400" dirty="0"/>
                        <a:t>measure</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b="1" dirty="0"/>
                        <a:t>-</a:t>
                      </a:r>
                      <a:r>
                        <a:rPr lang="en-US" altLang="en-US" sz="2400" b="1" dirty="0" err="1"/>
                        <a:t>oma</a:t>
                      </a:r>
                      <a:endParaRPr lang="en-US" sz="2400" dirty="0"/>
                    </a:p>
                  </a:txBody>
                  <a:tcPr/>
                </a:tc>
                <a:tc>
                  <a:txBody>
                    <a:bodyPr/>
                    <a:lstStyle/>
                    <a:p>
                      <a:r>
                        <a:rPr lang="en-US" altLang="en-US" sz="2400" dirty="0"/>
                        <a:t>tumor; mass; fluid collection</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b="1" dirty="0"/>
                        <a:t>-</a:t>
                      </a:r>
                      <a:r>
                        <a:rPr lang="en-US" altLang="en-US" sz="2400" b="1" dirty="0" err="1"/>
                        <a:t>osis</a:t>
                      </a:r>
                      <a:endParaRPr lang="en-US" sz="2400" dirty="0"/>
                    </a:p>
                  </a:txBody>
                  <a:tcPr/>
                </a:tc>
                <a:tc>
                  <a:txBody>
                    <a:bodyPr/>
                    <a:lstStyle/>
                    <a:p>
                      <a:r>
                        <a:rPr lang="en-US" altLang="en-US" sz="2400" dirty="0"/>
                        <a:t>condition; usually abnormal</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b="1" dirty="0"/>
                        <a:t>-</a:t>
                      </a:r>
                      <a:r>
                        <a:rPr lang="en-US" altLang="en-US" sz="2400" b="1" dirty="0" err="1"/>
                        <a:t>plasty</a:t>
                      </a:r>
                      <a:endParaRPr lang="en-US" sz="2400" dirty="0"/>
                    </a:p>
                  </a:txBody>
                  <a:tcPr/>
                </a:tc>
                <a:tc>
                  <a:txBody>
                    <a:bodyPr/>
                    <a:lstStyle/>
                    <a:p>
                      <a:r>
                        <a:rPr lang="en-US" altLang="en-US" sz="2400" dirty="0"/>
                        <a:t>surgical repair</a:t>
                      </a:r>
                      <a:endParaRPr lang="en-US" sz="2400" dirty="0"/>
                    </a:p>
                  </a:txBody>
                  <a:tcPr/>
                </a:tc>
                <a:extLst>
                  <a:ext uri="{0D108BD9-81ED-4DB2-BD59-A6C34878D82A}">
                    <a16:rowId xmlns:a16="http://schemas.microsoft.com/office/drawing/2014/main" val="10004"/>
                  </a:ext>
                </a:extLst>
              </a:tr>
              <a:tr h="370840">
                <a:tc>
                  <a:txBody>
                    <a:bodyPr/>
                    <a:lstStyle/>
                    <a:p>
                      <a:r>
                        <a:rPr lang="en-US" altLang="en-US" sz="2400" b="1" dirty="0"/>
                        <a:t>-sclerosis</a:t>
                      </a:r>
                      <a:endParaRPr lang="en-US" sz="2400" dirty="0"/>
                    </a:p>
                  </a:txBody>
                  <a:tcPr/>
                </a:tc>
                <a:tc>
                  <a:txBody>
                    <a:bodyPr/>
                    <a:lstStyle/>
                    <a:p>
                      <a:r>
                        <a:rPr lang="en-US" altLang="en-US" sz="2400" dirty="0"/>
                        <a:t>hardening</a:t>
                      </a:r>
                      <a:endParaRPr lang="en-US" sz="2400" dirty="0"/>
                    </a:p>
                  </a:txBody>
                  <a:tcPr/>
                </a:tc>
                <a:extLst>
                  <a:ext uri="{0D108BD9-81ED-4DB2-BD59-A6C34878D82A}">
                    <a16:rowId xmlns:a16="http://schemas.microsoft.com/office/drawing/2014/main" val="10005"/>
                  </a:ext>
                </a:extLst>
              </a:tr>
              <a:tr h="370840">
                <a:tc>
                  <a:txBody>
                    <a:bodyPr/>
                    <a:lstStyle/>
                    <a:p>
                      <a:r>
                        <a:rPr lang="en-US" altLang="en-US" sz="2400" b="1" dirty="0"/>
                        <a:t>-stenosis</a:t>
                      </a:r>
                      <a:endParaRPr lang="en-US" sz="2400" dirty="0"/>
                    </a:p>
                  </a:txBody>
                  <a:tcPr/>
                </a:tc>
                <a:tc>
                  <a:txBody>
                    <a:bodyPr/>
                    <a:lstStyle/>
                    <a:p>
                      <a:r>
                        <a:rPr lang="en-US" altLang="en-US" sz="2400" dirty="0"/>
                        <a:t>tightening; structure</a:t>
                      </a:r>
                      <a:endParaRPr lang="en-US" sz="2400" dirty="0"/>
                    </a:p>
                  </a:txBody>
                  <a:tcPr/>
                </a:tc>
                <a:extLst>
                  <a:ext uri="{0D108BD9-81ED-4DB2-BD59-A6C34878D82A}">
                    <a16:rowId xmlns:a16="http://schemas.microsoft.com/office/drawing/2014/main" val="10006"/>
                  </a:ext>
                </a:extLst>
              </a:tr>
              <a:tr h="370840">
                <a:tc>
                  <a:txBody>
                    <a:bodyPr/>
                    <a:lstStyle/>
                    <a:p>
                      <a:r>
                        <a:rPr lang="en-US" altLang="en-US" sz="2400" b="1" dirty="0"/>
                        <a:t>-</a:t>
                      </a:r>
                      <a:r>
                        <a:rPr lang="en-US" altLang="en-US" sz="2400" b="1" dirty="0" err="1"/>
                        <a:t>tomy</a:t>
                      </a:r>
                      <a:endParaRPr lang="en-US" sz="2400" dirty="0"/>
                    </a:p>
                  </a:txBody>
                  <a:tcPr/>
                </a:tc>
                <a:tc>
                  <a:txBody>
                    <a:bodyPr/>
                    <a:lstStyle/>
                    <a:p>
                      <a:r>
                        <a:rPr lang="en-US" altLang="en-US" sz="2400" dirty="0"/>
                        <a:t>process of cutting</a:t>
                      </a:r>
                      <a:endParaRPr lang="en-US" sz="2400" dirty="0"/>
                    </a:p>
                  </a:txBody>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3574302176"/>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sz="4200" dirty="0"/>
              <a:t>Review Sheet – Prefixes (Slide 1 of 4)</a:t>
            </a:r>
          </a:p>
        </p:txBody>
      </p:sp>
      <p:graphicFrame>
        <p:nvGraphicFramePr>
          <p:cNvPr id="7" name="Content Placeholder 6" descr="Group 1 of 2 Prefixes from the Review Sheet of the text.  The following slide lists these same prefixes with corresponding meanings."/>
          <p:cNvGraphicFramePr>
            <a:graphicFrameLocks noGrp="1"/>
          </p:cNvGraphicFramePr>
          <p:nvPr>
            <p:ph idx="1"/>
            <p:extLst>
              <p:ext uri="{D42A27DB-BD31-4B8C-83A1-F6EECF244321}">
                <p14:modId xmlns:p14="http://schemas.microsoft.com/office/powerpoint/2010/main" val="3804203497"/>
              </p:ext>
            </p:extLst>
          </p:nvPr>
        </p:nvGraphicFramePr>
        <p:xfrm>
          <a:off x="3429000" y="2133600"/>
          <a:ext cx="2590800" cy="3200400"/>
        </p:xfrm>
        <a:graphic>
          <a:graphicData uri="http://schemas.openxmlformats.org/drawingml/2006/table">
            <a:tbl>
              <a:tblPr firstRow="1" bandRow="1">
                <a:tableStyleId>{21E4AEA4-8DFA-4A89-87EB-49C32662AFE0}</a:tableStyleId>
              </a:tblPr>
              <a:tblGrid>
                <a:gridCol w="2590800">
                  <a:extLst>
                    <a:ext uri="{9D8B030D-6E8A-4147-A177-3AD203B41FA5}">
                      <a16:colId xmlns:a16="http://schemas.microsoft.com/office/drawing/2014/main" val="20000"/>
                    </a:ext>
                  </a:extLst>
                </a:gridCol>
              </a:tblGrid>
              <a:tr h="370840">
                <a:tc>
                  <a:txBody>
                    <a:bodyPr/>
                    <a:lstStyle/>
                    <a:p>
                      <a:r>
                        <a:rPr lang="en-US" sz="2400" dirty="0"/>
                        <a:t>Prefix</a:t>
                      </a:r>
                    </a:p>
                  </a:txBody>
                  <a:tcPr/>
                </a:tc>
                <a:extLst>
                  <a:ext uri="{0D108BD9-81ED-4DB2-BD59-A6C34878D82A}">
                    <a16:rowId xmlns:a16="http://schemas.microsoft.com/office/drawing/2014/main" val="10000"/>
                  </a:ext>
                </a:extLst>
              </a:tr>
              <a:tr h="370840">
                <a:tc>
                  <a:txBody>
                    <a:bodyPr/>
                    <a:lstStyle/>
                    <a:p>
                      <a:r>
                        <a:rPr lang="en-US" altLang="en-US" sz="2400" b="1" dirty="0"/>
                        <a:t>a-, an</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b="1" dirty="0" err="1"/>
                        <a:t>brady</a:t>
                      </a:r>
                      <a:r>
                        <a:rPr lang="en-US" altLang="en-US" sz="2400" b="1" dirty="0"/>
                        <a:t>-</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b="1" dirty="0"/>
                        <a:t>de-</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b="1" dirty="0" err="1"/>
                        <a:t>dys</a:t>
                      </a:r>
                      <a:r>
                        <a:rPr lang="en-US" altLang="en-US" sz="2400" b="1" dirty="0"/>
                        <a:t>-</a:t>
                      </a:r>
                      <a:endParaRPr lang="en-US" sz="2400" dirty="0"/>
                    </a:p>
                  </a:txBody>
                  <a:tcPr/>
                </a:tc>
                <a:extLst>
                  <a:ext uri="{0D108BD9-81ED-4DB2-BD59-A6C34878D82A}">
                    <a16:rowId xmlns:a16="http://schemas.microsoft.com/office/drawing/2014/main" val="10004"/>
                  </a:ext>
                </a:extLst>
              </a:tr>
              <a:tr h="370840">
                <a:tc>
                  <a:txBody>
                    <a:bodyPr/>
                    <a:lstStyle/>
                    <a:p>
                      <a:r>
                        <a:rPr lang="en-US" altLang="en-US" sz="2400" b="1" dirty="0" err="1"/>
                        <a:t>endo</a:t>
                      </a:r>
                      <a:r>
                        <a:rPr lang="en-US" altLang="en-US" sz="2400" b="1" dirty="0"/>
                        <a:t>-</a:t>
                      </a:r>
                      <a:endParaRPr lang="en-US" sz="2400" dirty="0"/>
                    </a:p>
                  </a:txBody>
                  <a:tcPr/>
                </a:tc>
                <a:extLst>
                  <a:ext uri="{0D108BD9-81ED-4DB2-BD59-A6C34878D82A}">
                    <a16:rowId xmlns:a16="http://schemas.microsoft.com/office/drawing/2014/main" val="10005"/>
                  </a:ext>
                </a:extLst>
              </a:tr>
              <a:tr h="370840">
                <a:tc>
                  <a:txBody>
                    <a:bodyPr/>
                    <a:lstStyle/>
                    <a:p>
                      <a:r>
                        <a:rPr lang="en-US" altLang="en-US" sz="2400" b="1" dirty="0"/>
                        <a:t>hyper-</a:t>
                      </a:r>
                      <a:endParaRPr lang="en-US" sz="2400" dirty="0"/>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27647816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sz="4200" dirty="0"/>
              <a:t>Review Sheet – Prefixes (Slide 2 of 4)</a:t>
            </a:r>
          </a:p>
        </p:txBody>
      </p:sp>
      <p:graphicFrame>
        <p:nvGraphicFramePr>
          <p:cNvPr id="7" name="Content Placeholder 6" descr="Group 1 of 2 Prefixes from the Review Sheet of the text with their corresponding meanings"/>
          <p:cNvGraphicFramePr>
            <a:graphicFrameLocks noGrp="1"/>
          </p:cNvGraphicFramePr>
          <p:nvPr>
            <p:ph idx="1"/>
            <p:extLst>
              <p:ext uri="{D42A27DB-BD31-4B8C-83A1-F6EECF244321}">
                <p14:modId xmlns:p14="http://schemas.microsoft.com/office/powerpoint/2010/main" val="3938014205"/>
              </p:ext>
            </p:extLst>
          </p:nvPr>
        </p:nvGraphicFramePr>
        <p:xfrm>
          <a:off x="457200" y="1600200"/>
          <a:ext cx="8229600" cy="3200400"/>
        </p:xfrm>
        <a:graphic>
          <a:graphicData uri="http://schemas.openxmlformats.org/drawingml/2006/table">
            <a:tbl>
              <a:tblPr firstRow="1" bandRow="1">
                <a:tableStyleId>{21E4AEA4-8DFA-4A89-87EB-49C32662AFE0}</a:tableStyleId>
              </a:tblPr>
              <a:tblGrid>
                <a:gridCol w="2590800">
                  <a:extLst>
                    <a:ext uri="{9D8B030D-6E8A-4147-A177-3AD203B41FA5}">
                      <a16:colId xmlns:a16="http://schemas.microsoft.com/office/drawing/2014/main" val="20000"/>
                    </a:ext>
                  </a:extLst>
                </a:gridCol>
                <a:gridCol w="5638800">
                  <a:extLst>
                    <a:ext uri="{9D8B030D-6E8A-4147-A177-3AD203B41FA5}">
                      <a16:colId xmlns:a16="http://schemas.microsoft.com/office/drawing/2014/main" val="20001"/>
                    </a:ext>
                  </a:extLst>
                </a:gridCol>
              </a:tblGrid>
              <a:tr h="370840">
                <a:tc>
                  <a:txBody>
                    <a:bodyPr/>
                    <a:lstStyle/>
                    <a:p>
                      <a:r>
                        <a:rPr lang="en-US" sz="2400" dirty="0"/>
                        <a:t>Prefix</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altLang="en-US" sz="2400" b="1" dirty="0"/>
                        <a:t>a-, an</a:t>
                      </a:r>
                      <a:endParaRPr lang="en-US" sz="2400" dirty="0"/>
                    </a:p>
                  </a:txBody>
                  <a:tcPr/>
                </a:tc>
                <a:tc>
                  <a:txBody>
                    <a:bodyPr/>
                    <a:lstStyle/>
                    <a:p>
                      <a:r>
                        <a:rPr lang="en-US" altLang="en-US" sz="2400" dirty="0"/>
                        <a:t>no; not; without</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b="1" dirty="0" err="1"/>
                        <a:t>brady</a:t>
                      </a:r>
                      <a:r>
                        <a:rPr lang="en-US" altLang="en-US" sz="2400" b="1" dirty="0"/>
                        <a:t>-</a:t>
                      </a:r>
                      <a:endParaRPr lang="en-US" sz="2400" dirty="0"/>
                    </a:p>
                  </a:txBody>
                  <a:tcPr/>
                </a:tc>
                <a:tc>
                  <a:txBody>
                    <a:bodyPr/>
                    <a:lstStyle/>
                    <a:p>
                      <a:r>
                        <a:rPr lang="en-US" altLang="en-US" sz="2400" dirty="0"/>
                        <a:t>slow</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b="1" dirty="0"/>
                        <a:t>de-</a:t>
                      </a:r>
                      <a:endParaRPr lang="en-US" sz="2400" dirty="0"/>
                    </a:p>
                  </a:txBody>
                  <a:tcPr/>
                </a:tc>
                <a:tc>
                  <a:txBody>
                    <a:bodyPr/>
                    <a:lstStyle/>
                    <a:p>
                      <a:r>
                        <a:rPr lang="en-US" altLang="en-US" sz="2400" dirty="0"/>
                        <a:t>lack of; down; less; removal of</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b="1" dirty="0" err="1"/>
                        <a:t>dys</a:t>
                      </a:r>
                      <a:r>
                        <a:rPr lang="en-US" altLang="en-US" sz="2400" b="1" dirty="0"/>
                        <a:t>-</a:t>
                      </a:r>
                      <a:endParaRPr lang="en-US" sz="2400" dirty="0"/>
                    </a:p>
                  </a:txBody>
                  <a:tcPr/>
                </a:tc>
                <a:tc>
                  <a:txBody>
                    <a:bodyPr/>
                    <a:lstStyle/>
                    <a:p>
                      <a:r>
                        <a:rPr lang="en-US" altLang="en-US" sz="2400" dirty="0"/>
                        <a:t>bad; painful; difficult; abnormal</a:t>
                      </a:r>
                      <a:endParaRPr lang="en-US" sz="2400" dirty="0"/>
                    </a:p>
                  </a:txBody>
                  <a:tcPr/>
                </a:tc>
                <a:extLst>
                  <a:ext uri="{0D108BD9-81ED-4DB2-BD59-A6C34878D82A}">
                    <a16:rowId xmlns:a16="http://schemas.microsoft.com/office/drawing/2014/main" val="10004"/>
                  </a:ext>
                </a:extLst>
              </a:tr>
              <a:tr h="370840">
                <a:tc>
                  <a:txBody>
                    <a:bodyPr/>
                    <a:lstStyle/>
                    <a:p>
                      <a:r>
                        <a:rPr lang="en-US" altLang="en-US" sz="2400" b="1" dirty="0" err="1"/>
                        <a:t>endo</a:t>
                      </a:r>
                      <a:r>
                        <a:rPr lang="en-US" altLang="en-US" sz="2400" b="1" dirty="0"/>
                        <a:t>-</a:t>
                      </a:r>
                      <a:endParaRPr lang="en-US" sz="2400" dirty="0"/>
                    </a:p>
                  </a:txBody>
                  <a:tcPr/>
                </a:tc>
                <a:tc>
                  <a:txBody>
                    <a:bodyPr/>
                    <a:lstStyle/>
                    <a:p>
                      <a:r>
                        <a:rPr lang="en-US" altLang="en-US" sz="2400" dirty="0"/>
                        <a:t>in; within</a:t>
                      </a:r>
                      <a:endParaRPr lang="en-US" sz="2400" dirty="0"/>
                    </a:p>
                  </a:txBody>
                  <a:tcPr/>
                </a:tc>
                <a:extLst>
                  <a:ext uri="{0D108BD9-81ED-4DB2-BD59-A6C34878D82A}">
                    <a16:rowId xmlns:a16="http://schemas.microsoft.com/office/drawing/2014/main" val="10005"/>
                  </a:ext>
                </a:extLst>
              </a:tr>
              <a:tr h="370840">
                <a:tc>
                  <a:txBody>
                    <a:bodyPr/>
                    <a:lstStyle/>
                    <a:p>
                      <a:r>
                        <a:rPr lang="en-US" altLang="en-US" sz="2400" b="1" dirty="0"/>
                        <a:t>hyper-</a:t>
                      </a:r>
                      <a:endParaRPr lang="en-US" sz="2400" dirty="0"/>
                    </a:p>
                  </a:txBody>
                  <a:tcPr/>
                </a:tc>
                <a:tc>
                  <a:txBody>
                    <a:bodyPr/>
                    <a:lstStyle/>
                    <a:p>
                      <a:r>
                        <a:rPr lang="en-US" altLang="en-US" sz="2400" dirty="0"/>
                        <a:t>above; excessive</a:t>
                      </a:r>
                      <a:endParaRPr lang="en-US" sz="2400" dirty="0"/>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183864846"/>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sz="4200" dirty="0"/>
              <a:t>Review Sheet – Prefixes (Slide 3 of 4)</a:t>
            </a:r>
          </a:p>
        </p:txBody>
      </p:sp>
      <p:graphicFrame>
        <p:nvGraphicFramePr>
          <p:cNvPr id="7" name="Content Placeholder 6" descr="Group 2 of 2 Prefixes from the Review Sheet of the text.  The following slide lists these same prefixes with corresponding meanings."/>
          <p:cNvGraphicFramePr>
            <a:graphicFrameLocks noGrp="1"/>
          </p:cNvGraphicFramePr>
          <p:nvPr>
            <p:ph idx="1"/>
            <p:extLst>
              <p:ext uri="{D42A27DB-BD31-4B8C-83A1-F6EECF244321}">
                <p14:modId xmlns:p14="http://schemas.microsoft.com/office/powerpoint/2010/main" val="2436058604"/>
              </p:ext>
            </p:extLst>
          </p:nvPr>
        </p:nvGraphicFramePr>
        <p:xfrm>
          <a:off x="3276600" y="1905000"/>
          <a:ext cx="2590800" cy="3200400"/>
        </p:xfrm>
        <a:graphic>
          <a:graphicData uri="http://schemas.openxmlformats.org/drawingml/2006/table">
            <a:tbl>
              <a:tblPr firstRow="1" bandRow="1">
                <a:tableStyleId>{21E4AEA4-8DFA-4A89-87EB-49C32662AFE0}</a:tableStyleId>
              </a:tblPr>
              <a:tblGrid>
                <a:gridCol w="2590800">
                  <a:extLst>
                    <a:ext uri="{9D8B030D-6E8A-4147-A177-3AD203B41FA5}">
                      <a16:colId xmlns:a16="http://schemas.microsoft.com/office/drawing/2014/main" val="20000"/>
                    </a:ext>
                  </a:extLst>
                </a:gridCol>
              </a:tblGrid>
              <a:tr h="370840">
                <a:tc>
                  <a:txBody>
                    <a:bodyPr/>
                    <a:lstStyle/>
                    <a:p>
                      <a:r>
                        <a:rPr lang="en-US" sz="2400" dirty="0"/>
                        <a:t>Prefix</a:t>
                      </a:r>
                    </a:p>
                  </a:txBody>
                  <a:tcPr/>
                </a:tc>
                <a:extLst>
                  <a:ext uri="{0D108BD9-81ED-4DB2-BD59-A6C34878D82A}">
                    <a16:rowId xmlns:a16="http://schemas.microsoft.com/office/drawing/2014/main" val="10000"/>
                  </a:ext>
                </a:extLst>
              </a:tr>
              <a:tr h="370840">
                <a:tc>
                  <a:txBody>
                    <a:bodyPr/>
                    <a:lstStyle/>
                    <a:p>
                      <a:r>
                        <a:rPr lang="en-US" altLang="en-US" sz="2400" b="1" dirty="0"/>
                        <a:t>hypo-</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b="1" dirty="0"/>
                        <a:t>inter-</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b="1" dirty="0" err="1"/>
                        <a:t>peri</a:t>
                      </a:r>
                      <a:r>
                        <a:rPr lang="en-US" altLang="en-US" sz="2400" b="1" dirty="0"/>
                        <a:t>-</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b="1" dirty="0" err="1"/>
                        <a:t>tachy</a:t>
                      </a:r>
                      <a:r>
                        <a:rPr lang="en-US" altLang="en-US" sz="2400" b="1" dirty="0"/>
                        <a:t>-</a:t>
                      </a:r>
                      <a:endParaRPr lang="en-US" sz="2400" dirty="0"/>
                    </a:p>
                  </a:txBody>
                  <a:tcPr/>
                </a:tc>
                <a:extLst>
                  <a:ext uri="{0D108BD9-81ED-4DB2-BD59-A6C34878D82A}">
                    <a16:rowId xmlns:a16="http://schemas.microsoft.com/office/drawing/2014/main" val="10004"/>
                  </a:ext>
                </a:extLst>
              </a:tr>
              <a:tr h="370840">
                <a:tc>
                  <a:txBody>
                    <a:bodyPr/>
                    <a:lstStyle/>
                    <a:p>
                      <a:r>
                        <a:rPr lang="en-US" altLang="en-US" sz="2400" b="1" dirty="0"/>
                        <a:t>tetra-</a:t>
                      </a:r>
                      <a:endParaRPr lang="en-US" sz="2400" dirty="0"/>
                    </a:p>
                  </a:txBody>
                  <a:tcPr/>
                </a:tc>
                <a:extLst>
                  <a:ext uri="{0D108BD9-81ED-4DB2-BD59-A6C34878D82A}">
                    <a16:rowId xmlns:a16="http://schemas.microsoft.com/office/drawing/2014/main" val="10005"/>
                  </a:ext>
                </a:extLst>
              </a:tr>
              <a:tr h="370840">
                <a:tc>
                  <a:txBody>
                    <a:bodyPr/>
                    <a:lstStyle/>
                    <a:p>
                      <a:r>
                        <a:rPr lang="en-US" altLang="en-US" sz="2400" b="1" dirty="0"/>
                        <a:t>tri-</a:t>
                      </a:r>
                      <a:endParaRPr lang="en-US" sz="2400" dirty="0"/>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831447387"/>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sz="4200" dirty="0"/>
              <a:t>Review Sheet – Prefixes (Slide 4 of 4)</a:t>
            </a:r>
          </a:p>
        </p:txBody>
      </p:sp>
      <p:graphicFrame>
        <p:nvGraphicFramePr>
          <p:cNvPr id="7" name="Content Placeholder 6" descr="Group 2 of 2 Prefixes from the Review Sheet of the text with their corresponding meanings"/>
          <p:cNvGraphicFramePr>
            <a:graphicFrameLocks noGrp="1"/>
          </p:cNvGraphicFramePr>
          <p:nvPr>
            <p:ph idx="1"/>
            <p:extLst>
              <p:ext uri="{D42A27DB-BD31-4B8C-83A1-F6EECF244321}">
                <p14:modId xmlns:p14="http://schemas.microsoft.com/office/powerpoint/2010/main" val="2008745508"/>
              </p:ext>
            </p:extLst>
          </p:nvPr>
        </p:nvGraphicFramePr>
        <p:xfrm>
          <a:off x="457200" y="1600200"/>
          <a:ext cx="8229600" cy="3230563"/>
        </p:xfrm>
        <a:graphic>
          <a:graphicData uri="http://schemas.openxmlformats.org/drawingml/2006/table">
            <a:tbl>
              <a:tblPr firstRow="1" bandRow="1">
                <a:tableStyleId>{21E4AEA4-8DFA-4A89-87EB-49C32662AFE0}</a:tableStyleId>
              </a:tblPr>
              <a:tblGrid>
                <a:gridCol w="2590800">
                  <a:extLst>
                    <a:ext uri="{9D8B030D-6E8A-4147-A177-3AD203B41FA5}">
                      <a16:colId xmlns:a16="http://schemas.microsoft.com/office/drawing/2014/main" val="20000"/>
                    </a:ext>
                  </a:extLst>
                </a:gridCol>
                <a:gridCol w="5638800">
                  <a:extLst>
                    <a:ext uri="{9D8B030D-6E8A-4147-A177-3AD203B41FA5}">
                      <a16:colId xmlns:a16="http://schemas.microsoft.com/office/drawing/2014/main" val="20001"/>
                    </a:ext>
                  </a:extLst>
                </a:gridCol>
              </a:tblGrid>
              <a:tr h="370840">
                <a:tc>
                  <a:txBody>
                    <a:bodyPr/>
                    <a:lstStyle/>
                    <a:p>
                      <a:r>
                        <a:rPr lang="en-US" sz="2400" dirty="0"/>
                        <a:t>Prefix</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altLang="en-US" sz="2400" b="1" dirty="0"/>
                        <a:t>hypo-</a:t>
                      </a:r>
                      <a:endParaRPr lang="en-US" sz="2400" dirty="0"/>
                    </a:p>
                  </a:txBody>
                  <a:tcPr/>
                </a:tc>
                <a:tc>
                  <a:txBody>
                    <a:bodyPr/>
                    <a:lstStyle/>
                    <a:p>
                      <a:pPr eaLnBrk="1" hangingPunct="1">
                        <a:lnSpc>
                          <a:spcPct val="115000"/>
                        </a:lnSpc>
                      </a:pPr>
                      <a:r>
                        <a:rPr lang="en-US" altLang="en-US" sz="2400" dirty="0"/>
                        <a:t>deficient; below; under; less than normal</a:t>
                      </a:r>
                    </a:p>
                  </a:txBody>
                  <a:tcPr/>
                </a:tc>
                <a:extLst>
                  <a:ext uri="{0D108BD9-81ED-4DB2-BD59-A6C34878D82A}">
                    <a16:rowId xmlns:a16="http://schemas.microsoft.com/office/drawing/2014/main" val="10001"/>
                  </a:ext>
                </a:extLst>
              </a:tr>
              <a:tr h="370840">
                <a:tc>
                  <a:txBody>
                    <a:bodyPr/>
                    <a:lstStyle/>
                    <a:p>
                      <a:r>
                        <a:rPr lang="en-US" altLang="en-US" sz="2400" b="1" dirty="0"/>
                        <a:t>inter-</a:t>
                      </a:r>
                      <a:endParaRPr lang="en-US" sz="2400" dirty="0"/>
                    </a:p>
                  </a:txBody>
                  <a:tcPr/>
                </a:tc>
                <a:tc>
                  <a:txBody>
                    <a:bodyPr/>
                    <a:lstStyle/>
                    <a:p>
                      <a:r>
                        <a:rPr lang="en-US" altLang="en-US" sz="2400" dirty="0"/>
                        <a:t>between</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b="1" dirty="0" err="1"/>
                        <a:t>peri</a:t>
                      </a:r>
                      <a:r>
                        <a:rPr lang="en-US" altLang="en-US" sz="2400" b="1" dirty="0"/>
                        <a:t>-</a:t>
                      </a:r>
                      <a:endParaRPr lang="en-US" sz="2400" dirty="0"/>
                    </a:p>
                  </a:txBody>
                  <a:tcPr/>
                </a:tc>
                <a:tc>
                  <a:txBody>
                    <a:bodyPr/>
                    <a:lstStyle/>
                    <a:p>
                      <a:r>
                        <a:rPr lang="en-US" altLang="en-US" sz="2400" dirty="0"/>
                        <a:t>surrounding</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b="1" dirty="0" err="1"/>
                        <a:t>tachy</a:t>
                      </a:r>
                      <a:r>
                        <a:rPr lang="en-US" altLang="en-US" sz="2400" b="1" dirty="0"/>
                        <a:t>-</a:t>
                      </a:r>
                      <a:endParaRPr lang="en-US" sz="2400" dirty="0"/>
                    </a:p>
                  </a:txBody>
                  <a:tcPr/>
                </a:tc>
                <a:tc>
                  <a:txBody>
                    <a:bodyPr/>
                    <a:lstStyle/>
                    <a:p>
                      <a:r>
                        <a:rPr lang="en-US" altLang="en-US" sz="2400" dirty="0"/>
                        <a:t>fast</a:t>
                      </a:r>
                      <a:endParaRPr lang="en-US" sz="2400" dirty="0"/>
                    </a:p>
                  </a:txBody>
                  <a:tcPr/>
                </a:tc>
                <a:extLst>
                  <a:ext uri="{0D108BD9-81ED-4DB2-BD59-A6C34878D82A}">
                    <a16:rowId xmlns:a16="http://schemas.microsoft.com/office/drawing/2014/main" val="10004"/>
                  </a:ext>
                </a:extLst>
              </a:tr>
              <a:tr h="370840">
                <a:tc>
                  <a:txBody>
                    <a:bodyPr/>
                    <a:lstStyle/>
                    <a:p>
                      <a:r>
                        <a:rPr lang="en-US" altLang="en-US" sz="2400" b="1" dirty="0"/>
                        <a:t>tetra-</a:t>
                      </a:r>
                      <a:endParaRPr lang="en-US" sz="2400" dirty="0"/>
                    </a:p>
                  </a:txBody>
                  <a:tcPr/>
                </a:tc>
                <a:tc>
                  <a:txBody>
                    <a:bodyPr/>
                    <a:lstStyle/>
                    <a:p>
                      <a:r>
                        <a:rPr lang="en-US" altLang="en-US" sz="2400" dirty="0"/>
                        <a:t>four</a:t>
                      </a:r>
                      <a:endParaRPr lang="en-US" sz="2400" dirty="0"/>
                    </a:p>
                  </a:txBody>
                  <a:tcPr/>
                </a:tc>
                <a:extLst>
                  <a:ext uri="{0D108BD9-81ED-4DB2-BD59-A6C34878D82A}">
                    <a16:rowId xmlns:a16="http://schemas.microsoft.com/office/drawing/2014/main" val="10005"/>
                  </a:ext>
                </a:extLst>
              </a:tr>
              <a:tr h="370840">
                <a:tc>
                  <a:txBody>
                    <a:bodyPr/>
                    <a:lstStyle/>
                    <a:p>
                      <a:r>
                        <a:rPr lang="en-US" altLang="en-US" sz="2400" b="1" dirty="0"/>
                        <a:t>tri-</a:t>
                      </a:r>
                      <a:endParaRPr lang="en-US" sz="2400" dirty="0"/>
                    </a:p>
                  </a:txBody>
                  <a:tcPr/>
                </a:tc>
                <a:tc>
                  <a:txBody>
                    <a:bodyPr/>
                    <a:lstStyle/>
                    <a:p>
                      <a:r>
                        <a:rPr lang="en-US" altLang="en-US" sz="2400" dirty="0"/>
                        <a:t>three</a:t>
                      </a:r>
                      <a:endParaRPr lang="en-US" sz="2400" dirty="0"/>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93941993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4304</TotalTime>
  <Words>4501</Words>
  <Application>Microsoft Office PowerPoint</Application>
  <PresentationFormat>On-screen Show (4:3)</PresentationFormat>
  <Paragraphs>938</Paragraphs>
  <Slides>94</Slides>
  <Notes>43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94</vt:i4>
      </vt:variant>
    </vt:vector>
  </HeadingPairs>
  <TitlesOfParts>
    <vt:vector size="103" baseType="lpstr">
      <vt:lpstr>MS PGothic</vt:lpstr>
      <vt:lpstr>MS PGothic</vt:lpstr>
      <vt:lpstr>Arial</vt:lpstr>
      <vt:lpstr>Calibri</vt:lpstr>
      <vt:lpstr>Times</vt:lpstr>
      <vt:lpstr>Times New Roman</vt:lpstr>
      <vt:lpstr>Wingdings</vt:lpstr>
      <vt:lpstr>Wingdings 2</vt:lpstr>
      <vt:lpstr>Office Theme</vt:lpstr>
      <vt:lpstr>The Language of Medicine 13th edition</vt:lpstr>
      <vt:lpstr>Chapter 11 Cardiovascular System</vt:lpstr>
      <vt:lpstr>Chapter Goals (Slide 1 of 2)</vt:lpstr>
      <vt:lpstr>Chapter Goals (Slide 2 of 2)</vt:lpstr>
      <vt:lpstr>Chapter 11 Lesson 11.1</vt:lpstr>
      <vt:lpstr>Introduction</vt:lpstr>
      <vt:lpstr>Blood Vessels and the  Circulation of Blood</vt:lpstr>
      <vt:lpstr>Blood Vessels</vt:lpstr>
      <vt:lpstr>Blood Circulation/Systemic Circulation</vt:lpstr>
      <vt:lpstr>The Aorta and Arteries</vt:lpstr>
      <vt:lpstr>Anatomy of the Heart </vt:lpstr>
      <vt:lpstr>Major Valves of the Heart</vt:lpstr>
      <vt:lpstr>Pathway of Blood  through the Heart</vt:lpstr>
      <vt:lpstr>Heartbeat</vt:lpstr>
      <vt:lpstr>Heart Sounds</vt:lpstr>
      <vt:lpstr>Phases of the Heartbeat</vt:lpstr>
      <vt:lpstr>Conduction System of the Heart  (slide 1 of 2)</vt:lpstr>
      <vt:lpstr> Conduction System of the Heart  (slide 2 of 2)</vt:lpstr>
      <vt:lpstr>Electrocardiogram (slide 1 of 3)</vt:lpstr>
      <vt:lpstr>Electrocardiogram (slide 2 of 3)</vt:lpstr>
      <vt:lpstr>Electrocardiogram (slide 3 of 3)</vt:lpstr>
      <vt:lpstr>Blood Pressure</vt:lpstr>
      <vt:lpstr>Vocabulary (Slide 1 of 22)</vt:lpstr>
      <vt:lpstr>Vocabulary (Slide 2 of 22)</vt:lpstr>
      <vt:lpstr>Vocabulary (Slide 3 of 22)</vt:lpstr>
      <vt:lpstr>Vocabulary (Slide 4 of 22)</vt:lpstr>
      <vt:lpstr>Vocabulary (Slide 5 of 22)</vt:lpstr>
      <vt:lpstr>Vocabulary (Slide 6 of 22)</vt:lpstr>
      <vt:lpstr>Vocabulary (Slide 7 of 22)</vt:lpstr>
      <vt:lpstr>Vocabulary (Slide 8 of 22)</vt:lpstr>
      <vt:lpstr>Vocabulary (Slide 9 of 22)</vt:lpstr>
      <vt:lpstr>Vocabulary (Slide 10 of 22)</vt:lpstr>
      <vt:lpstr>Vocabulary (Slide 11 of 22)</vt:lpstr>
      <vt:lpstr>Vocabulary (Slide 12 of 22)</vt:lpstr>
      <vt:lpstr>Vocabulary (Slide 13 of 22)</vt:lpstr>
      <vt:lpstr>Vocabulary (Slide 14 of 22)</vt:lpstr>
      <vt:lpstr>Vocabulary (Slide 15 of 22)</vt:lpstr>
      <vt:lpstr>Vocabulary (Slide 16 of 22)</vt:lpstr>
      <vt:lpstr>Vocabulary (Slide 17 of 22)</vt:lpstr>
      <vt:lpstr>Vocabulary (Slide 18 of 22)</vt:lpstr>
      <vt:lpstr>Vocabulary (Slide 19 of 22)</vt:lpstr>
      <vt:lpstr>Vocabulary (Slide 20 of 22)</vt:lpstr>
      <vt:lpstr>Vocabulary (Slide 21 of 22)</vt:lpstr>
      <vt:lpstr>Vocabulary (Slide 22 of 22)</vt:lpstr>
      <vt:lpstr>Combining Forms and Terminology (Slide 1 of 4)</vt:lpstr>
      <vt:lpstr>Combining Forms and Terminology (Slide 2 of 4)</vt:lpstr>
      <vt:lpstr>Combining Forms and Terminology (Slide 3 of 4)</vt:lpstr>
      <vt:lpstr>Combining Forms and Terminology (Slide 4 of 4)</vt:lpstr>
      <vt:lpstr>      QUICK QUIZ (Slide 1 of 4)</vt:lpstr>
      <vt:lpstr>      QUICK QUIZ (Slide 2 of 4)</vt:lpstr>
      <vt:lpstr>Chapter 11 Cardiovascular System  Lesson 11.2</vt:lpstr>
      <vt:lpstr>Pathology: Heart (Slide 1 of 7)</vt:lpstr>
      <vt:lpstr>Pathology:  Heart  (Slide 2 of 7)</vt:lpstr>
      <vt:lpstr>Pathology:Heart ( Slide 3 of 7)</vt:lpstr>
      <vt:lpstr>Pathology: Heart (Slide 4 of 7)</vt:lpstr>
      <vt:lpstr>Pathology: Heart (Slide 5 of 7)</vt:lpstr>
      <vt:lpstr>Pathology: Heart (Slide 6 of 7)</vt:lpstr>
      <vt:lpstr>Pathology: Heart (Slide 7 of 7)</vt:lpstr>
      <vt:lpstr>Pathology: Blood Vessels</vt:lpstr>
      <vt:lpstr>      QUICK QUIZ (Slide 3 of 4)</vt:lpstr>
      <vt:lpstr>Chapter 11 Lesson 11.3</vt:lpstr>
      <vt:lpstr>Laboratory Tests</vt:lpstr>
      <vt:lpstr>Clinical Procedures: Diagnostic (Slide 1 of 3)</vt:lpstr>
      <vt:lpstr>Clinical Procedures: Diagnostic (Slide 2 of 3)</vt:lpstr>
      <vt:lpstr>Clinical Procedures: Diagnostic (Slide 3 of 3)</vt:lpstr>
      <vt:lpstr>Clinical Procedures: Treatment (Slide 1 of 2)</vt:lpstr>
      <vt:lpstr>Clinical Procedures: Treatment (Slide 2 of 2)</vt:lpstr>
      <vt:lpstr>Treatment Procedures</vt:lpstr>
      <vt:lpstr>Abbreviations (Slide 1 of 9)</vt:lpstr>
      <vt:lpstr>Abbreviations (Slide 2 of 9)</vt:lpstr>
      <vt:lpstr>Abbreviations (Slide 3 of 9)</vt:lpstr>
      <vt:lpstr>Abbreviations (Slide 4 of 9)</vt:lpstr>
      <vt:lpstr>Abbreviations (Slide 5 of 9)</vt:lpstr>
      <vt:lpstr>Abbreviations (Slide 6 of 9)</vt:lpstr>
      <vt:lpstr>Abbreviations (Slide 7 of 9)</vt:lpstr>
      <vt:lpstr>Abbreviations (Slide 8 of 9)</vt:lpstr>
      <vt:lpstr>Abbreviations (Slide 9 of 9)</vt:lpstr>
      <vt:lpstr>      QUICK QUIZ (Slide 4 of 4) </vt:lpstr>
      <vt:lpstr>Review Sheet – Combining Forms (Slide 1 of 8)</vt:lpstr>
      <vt:lpstr>Review Sheet – Combining Forms (Slide 2 of 8)</vt:lpstr>
      <vt:lpstr>Review Sheet – Combining Forms (Slide 3 of 8)</vt:lpstr>
      <vt:lpstr>Review Sheet – Combining Forms (Slide 4 of 8)</vt:lpstr>
      <vt:lpstr>Review Sheet – Combining Forms (Slide 5 of 8)</vt:lpstr>
      <vt:lpstr>Review Sheet – Combining Forms (Slide 6 of 8)</vt:lpstr>
      <vt:lpstr>Review Sheet – Combining Forms (Slide 7 of 8)</vt:lpstr>
      <vt:lpstr>Review Sheet – Combining Forms (Slide 8 of 8)</vt:lpstr>
      <vt:lpstr>Review Sheet – Suffixes (Slide 1 of 4)</vt:lpstr>
      <vt:lpstr>Review Sheet – Suffixes (Slide 2 of 4)</vt:lpstr>
      <vt:lpstr>Review Sheet – Suffixes (Slide 3 of 4)</vt:lpstr>
      <vt:lpstr>Review Sheet – Suffixes (Slide 4 of 4)</vt:lpstr>
      <vt:lpstr>Review Sheet – Prefixes (Slide 1 of 4)</vt:lpstr>
      <vt:lpstr>Review Sheet – Prefixes (Slide 2 of 4)</vt:lpstr>
      <vt:lpstr>Review Sheet – Prefixes (Slide 3 of 4)</vt:lpstr>
      <vt:lpstr>Review Sheet – Prefixes (Slide 4 of 4)</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Language of Medicine A Write-in Text Explaining Medical Terms 7th Edition Davi-Ellen Chabner, B.A., M.A.T.</dc:title>
  <dc:creator>dell</dc:creator>
  <cp:lastModifiedBy>Jyoti Tyagi (IL-IN)</cp:lastModifiedBy>
  <cp:revision>302</cp:revision>
  <cp:lastPrinted>2007-04-13T22:20:09Z</cp:lastPrinted>
  <dcterms:created xsi:type="dcterms:W3CDTF">2004-11-01T16:15:23Z</dcterms:created>
  <dcterms:modified xsi:type="dcterms:W3CDTF">2023-12-07T04:26:54Z</dcterms:modified>
</cp:coreProperties>
</file>